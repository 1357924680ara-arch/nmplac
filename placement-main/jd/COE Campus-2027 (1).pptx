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IBM Plex Sans"/>
      <p:regular r:id="rId25"/>
      <p:bold r:id="rId26"/>
      <p:italic r:id="rId27"/>
      <p:boldItalic r:id="rId28"/>
    </p:embeddedFont>
    <p:embeddedFont>
      <p:font typeface="Montserrat SemiBold"/>
      <p:regular r:id="rId29"/>
      <p:bold r:id="rId30"/>
      <p:italic r:id="rId31"/>
      <p:boldItalic r:id="rId32"/>
    </p:embeddedFont>
    <p:embeddedFont>
      <p:font typeface="Montserrat"/>
      <p:regular r:id="rId33"/>
      <p:bold r:id="rId34"/>
      <p:italic r:id="rId35"/>
      <p:boldItalic r:id="rId36"/>
    </p:embeddedFont>
    <p:embeddedFont>
      <p:font typeface="Montserrat Medium"/>
      <p:regular r:id="rId37"/>
      <p:bold r:id="rId38"/>
      <p:italic r:id="rId39"/>
      <p:boldItalic r:id="rId40"/>
    </p:embeddedFont>
    <p:embeddedFont>
      <p:font typeface="Montserrat Light"/>
      <p:regular r:id="rId41"/>
      <p:bold r:id="rId42"/>
      <p:italic r:id="rId43"/>
      <p:boldItalic r:id="rId44"/>
    </p:embeddedFont>
    <p:embeddedFont>
      <p:font typeface="Montserrat ExtraLight"/>
      <p:regular r:id="rId45"/>
      <p:bold r:id="rId46"/>
      <p:italic r:id="rId47"/>
      <p:boldItalic r:id="rId48"/>
    </p:embeddedFont>
    <p:embeddedFont>
      <p:font typeface="Arial Black"/>
      <p:regular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0" roundtripDataSignature="AMtx7mihvpU5NTsbx054Fi7SAyQLnkgK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8F28BD-A5D3-4F48-8E5D-2E6F7DAD82E8}">
  <a:tblStyle styleId="{7B8F28BD-A5D3-4F48-8E5D-2E6F7DAD82E8}"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7EF"/>
          </a:solidFill>
        </a:fill>
      </a:tcStyle>
    </a:wholeTbl>
    <a:band1H>
      <a:tcTxStyle b="off" i="off"/>
      <a:tcStyle>
        <a:fill>
          <a:solidFill>
            <a:srgbClr val="CCCCDD"/>
          </a:solidFill>
        </a:fill>
      </a:tcStyle>
    </a:band1H>
    <a:band2H>
      <a:tcTxStyle b="off" i="off"/>
    </a:band2H>
    <a:band1V>
      <a:tcTxStyle b="off" i="off"/>
      <a:tcStyle>
        <a:fill>
          <a:solidFill>
            <a:srgbClr val="CCCCDD"/>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B8DA7938-C4DD-4422-957C-2B2A7D6E2E49}"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Medium-boldItalic.fntdata"/><Relationship Id="rId42" Type="http://schemas.openxmlformats.org/officeDocument/2006/relationships/font" Target="fonts/MontserratLight-bold.fntdata"/><Relationship Id="rId41" Type="http://schemas.openxmlformats.org/officeDocument/2006/relationships/font" Target="fonts/MontserratLight-regular.fntdata"/><Relationship Id="rId44" Type="http://schemas.openxmlformats.org/officeDocument/2006/relationships/font" Target="fonts/MontserratLight-boldItalic.fntdata"/><Relationship Id="rId43" Type="http://schemas.openxmlformats.org/officeDocument/2006/relationships/font" Target="fonts/MontserratLight-italic.fntdata"/><Relationship Id="rId46" Type="http://schemas.openxmlformats.org/officeDocument/2006/relationships/font" Target="fonts/MontserratExtraLight-bold.fntdata"/><Relationship Id="rId45" Type="http://schemas.openxmlformats.org/officeDocument/2006/relationships/font" Target="fonts/MontserratExtra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MontserratExtraLight-boldItalic.fntdata"/><Relationship Id="rId47" Type="http://schemas.openxmlformats.org/officeDocument/2006/relationships/font" Target="fonts/MontserratExtraLight-italic.fntdata"/><Relationship Id="rId49"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ontserratSemiBold-italic.fntdata"/><Relationship Id="rId30" Type="http://schemas.openxmlformats.org/officeDocument/2006/relationships/font" Target="fonts/MontserratSemiBold-bold.fntdata"/><Relationship Id="rId33" Type="http://schemas.openxmlformats.org/officeDocument/2006/relationships/font" Target="fonts/Montserrat-regular.fntdata"/><Relationship Id="rId32" Type="http://schemas.openxmlformats.org/officeDocument/2006/relationships/font" Target="fonts/MontserratSemiBold-boldItalic.fntdata"/><Relationship Id="rId35" Type="http://schemas.openxmlformats.org/officeDocument/2006/relationships/font" Target="fonts/Montserrat-italic.fntdata"/><Relationship Id="rId34" Type="http://schemas.openxmlformats.org/officeDocument/2006/relationships/font" Target="fonts/Montserrat-bold.fntdata"/><Relationship Id="rId37" Type="http://schemas.openxmlformats.org/officeDocument/2006/relationships/font" Target="fonts/MontserratMedium-regular.fntdata"/><Relationship Id="rId36" Type="http://schemas.openxmlformats.org/officeDocument/2006/relationships/font" Target="fonts/Montserrat-boldItalic.fntdata"/><Relationship Id="rId39" Type="http://schemas.openxmlformats.org/officeDocument/2006/relationships/font" Target="fonts/MontserratMedium-italic.fntdata"/><Relationship Id="rId38" Type="http://schemas.openxmlformats.org/officeDocument/2006/relationships/font" Target="fonts/MontserratMedium-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font" Target="fonts/IBMPlexSans-bold.fntdata"/><Relationship Id="rId25" Type="http://schemas.openxmlformats.org/officeDocument/2006/relationships/font" Target="fonts/IBMPlexSans-regular.fntdata"/><Relationship Id="rId28" Type="http://schemas.openxmlformats.org/officeDocument/2006/relationships/font" Target="fonts/IBMPlexSans-boldItalic.fntdata"/><Relationship Id="rId27" Type="http://schemas.openxmlformats.org/officeDocument/2006/relationships/font" Target="fonts/IBMPlexSans-italic.fntdata"/><Relationship Id="rId29" Type="http://schemas.openxmlformats.org/officeDocument/2006/relationships/font" Target="fonts/MontserratSemiBold-regular.fntdata"/><Relationship Id="rId5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Here's what keeps me up at night – and should keep you up too. Every month you delay, your competitors are building these capabilities. Your customers' expectations are being shaped by the leaders who've already made this transition. The companies delivering 40% efficiency gains, 85% customer satisfaction, and 50% faster time-to-market aren't just winning today – they're defining tomorrow's baseline. Partner with Virtusa to make experience better with technology.</a:t>
            </a:r>
            <a:endParaRPr/>
          </a:p>
        </p:txBody>
      </p:sp>
      <p:sp>
        <p:nvSpPr>
          <p:cNvPr id="201" name="Google Shape;20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notes"/>
          <p:cNvSpPr/>
          <p:nvPr>
            <p:ph idx="2" type="sldImg"/>
          </p:nvPr>
        </p:nvSpPr>
        <p:spPr>
          <a:xfrm>
            <a:off x="1981200" y="528638"/>
            <a:ext cx="2895600" cy="1628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 sz="1200">
                <a:latin typeface="Arial Black"/>
                <a:ea typeface="Arial Black"/>
                <a:cs typeface="Arial Black"/>
                <a:sym typeface="Arial Black"/>
              </a:rPr>
              <a:t>Talk track: </a:t>
            </a:r>
            <a:r>
              <a:rPr lang="en" sz="1200">
                <a:solidFill>
                  <a:schemeClr val="dk1"/>
                </a:solidFill>
                <a:latin typeface="Calibri"/>
                <a:ea typeface="Calibri"/>
                <a:cs typeface="Calibri"/>
                <a:sym typeface="Calibri"/>
              </a:rPr>
              <a:t>The pace of AI is relentless with no signs of slowing. </a:t>
            </a:r>
            <a:r>
              <a:rPr lang="en"/>
              <a:t>While people generally believe AI will be transformative in the long term, we don't fully appreciate the steepness of this exponential curve. We're seeing with increasing frequency that things that weren't enterprise-feasible not too long ago (due to resources, cost, quality, latency, etc.) are becoming feasible in remarkably short timeframes. It's crucial for enterprises to internalize this, as the cost of doing nothing or self-imposed delays could very well be existential.</a:t>
            </a:r>
            <a:endParaRPr/>
          </a:p>
          <a:p>
            <a:pPr indent="0" lvl="0" marL="0" marR="0" rtl="0" algn="l">
              <a:lnSpc>
                <a:spcPct val="100000"/>
              </a:lnSpc>
              <a:spcBef>
                <a:spcPts val="0"/>
              </a:spcBef>
              <a:spcAft>
                <a:spcPts val="0"/>
              </a:spcAft>
              <a:buClr>
                <a:schemeClr val="dk1"/>
              </a:buClr>
              <a:buSzPts val="1000"/>
              <a:buFont typeface="Arial"/>
              <a:buNone/>
            </a:pPr>
            <a:br>
              <a:rPr lang="en" sz="1000">
                <a:solidFill>
                  <a:schemeClr val="dk1"/>
                </a:solidFill>
                <a:latin typeface="Arial"/>
                <a:ea typeface="Arial"/>
                <a:cs typeface="Arial"/>
                <a:sym typeface="Arial"/>
              </a:rPr>
            </a:br>
            <a:r>
              <a:rPr lang="en" sz="1000">
                <a:solidFill>
                  <a:schemeClr val="dk1"/>
                </a:solidFill>
                <a:latin typeface="Arial"/>
                <a:ea typeface="Arial"/>
                <a:cs typeface="Arial"/>
                <a:sym typeface="Arial"/>
              </a:rPr>
              <a:t>The </a:t>
            </a:r>
            <a:r>
              <a:rPr b="1" i="0" lang="en" sz="1200" u="none" strike="noStrike">
                <a:solidFill>
                  <a:srgbClr val="212121"/>
                </a:solidFill>
                <a:latin typeface="Arial"/>
                <a:ea typeface="Arial"/>
                <a:cs typeface="Arial"/>
                <a:sym typeface="Arial"/>
              </a:rPr>
              <a:t>AI computing wave has three distinct phases, </a:t>
            </a:r>
            <a:r>
              <a:rPr b="0" i="0" lang="en" sz="1200" u="none" strike="noStrike">
                <a:solidFill>
                  <a:srgbClr val="212121"/>
                </a:solidFill>
                <a:latin typeface="Arial"/>
                <a:ea typeface="Arial"/>
                <a:cs typeface="Arial"/>
                <a:sym typeface="Arial"/>
              </a:rPr>
              <a:t>all melting into one another right now. </a:t>
            </a:r>
            <a:br>
              <a:rPr b="0" i="0" lang="en" sz="1200" u="none" strike="noStrike">
                <a:solidFill>
                  <a:srgbClr val="212121"/>
                </a:solidFill>
                <a:latin typeface="Arial"/>
                <a:ea typeface="Arial"/>
                <a:cs typeface="Arial"/>
                <a:sym typeface="Arial"/>
              </a:rPr>
            </a:br>
            <a:r>
              <a:rPr b="1" i="0" lang="en" sz="1200">
                <a:solidFill>
                  <a:schemeClr val="dk1"/>
                </a:solidFill>
                <a:latin typeface="Calibri"/>
                <a:ea typeface="Calibri"/>
                <a:cs typeface="Calibri"/>
                <a:sym typeface="Calibri"/>
              </a:rPr>
              <a:t>GenAI Powered Delivery disrupted foundation</a:t>
            </a:r>
            <a:endParaRPr/>
          </a:p>
          <a:p>
            <a:pPr indent="0" lvl="0" marL="0" rtl="0" algn="l">
              <a:lnSpc>
                <a:spcPct val="100000"/>
              </a:lnSpc>
              <a:spcBef>
                <a:spcPts val="0"/>
              </a:spcBef>
              <a:spcAft>
                <a:spcPts val="0"/>
              </a:spcAft>
              <a:buSzPts val="1400"/>
              <a:buNone/>
            </a:pPr>
            <a:r>
              <a:rPr b="0" i="0" lang="en" sz="1200">
                <a:solidFill>
                  <a:schemeClr val="dk1"/>
                </a:solidFill>
                <a:latin typeface="Calibri"/>
                <a:ea typeface="Calibri"/>
                <a:cs typeface="Calibri"/>
                <a:sym typeface="Calibri"/>
              </a:rPr>
              <a:t>Foundation phase leveraging generative AI to enhance traditional delivery models and reduce costs</a:t>
            </a:r>
            <a:endParaRPr/>
          </a:p>
          <a:p>
            <a:pPr indent="0" lvl="0" marL="0" rtl="0" algn="l">
              <a:lnSpc>
                <a:spcPct val="100000"/>
              </a:lnSpc>
              <a:spcBef>
                <a:spcPts val="0"/>
              </a:spcBef>
              <a:spcAft>
                <a:spcPts val="0"/>
              </a:spcAft>
              <a:buSzPts val="1400"/>
              <a:buNone/>
            </a:pPr>
            <a:r>
              <a:rPr b="1" i="0" lang="en" sz="1200">
                <a:solidFill>
                  <a:schemeClr val="dk1"/>
                </a:solidFill>
                <a:latin typeface="Calibri"/>
                <a:ea typeface="Calibri"/>
                <a:cs typeface="Calibri"/>
                <a:sym typeface="Calibri"/>
              </a:rPr>
              <a:t>Enterprise AI Growth</a:t>
            </a:r>
            <a:endParaRPr/>
          </a:p>
          <a:p>
            <a:pPr indent="0" lvl="0" marL="0" rtl="0" algn="l">
              <a:lnSpc>
                <a:spcPct val="100000"/>
              </a:lnSpc>
              <a:spcBef>
                <a:spcPts val="0"/>
              </a:spcBef>
              <a:spcAft>
                <a:spcPts val="0"/>
              </a:spcAft>
              <a:buSzPts val="1400"/>
              <a:buNone/>
            </a:pPr>
            <a:r>
              <a:rPr b="0" i="0" lang="en" sz="1200">
                <a:solidFill>
                  <a:schemeClr val="dk1"/>
                </a:solidFill>
                <a:latin typeface="Calibri"/>
                <a:ea typeface="Calibri"/>
                <a:cs typeface="Calibri"/>
                <a:sym typeface="Calibri"/>
              </a:rPr>
              <a:t>Proven ROI and business value driving widespread enterprise adoption and scaling</a:t>
            </a:r>
            <a:endParaRPr/>
          </a:p>
          <a:p>
            <a:pPr indent="0" lvl="0" marL="0" rtl="0" algn="l">
              <a:lnSpc>
                <a:spcPct val="100000"/>
              </a:lnSpc>
              <a:spcBef>
                <a:spcPts val="0"/>
              </a:spcBef>
              <a:spcAft>
                <a:spcPts val="0"/>
              </a:spcAft>
              <a:buSzPts val="1400"/>
              <a:buNone/>
            </a:pPr>
            <a:r>
              <a:rPr b="1" i="0" lang="en" sz="1200">
                <a:solidFill>
                  <a:schemeClr val="dk1"/>
                </a:solidFill>
                <a:latin typeface="Calibri"/>
                <a:ea typeface="Calibri"/>
                <a:cs typeface="Calibri"/>
                <a:sym typeface="Calibri"/>
              </a:rPr>
              <a:t>New AI Services Rise</a:t>
            </a:r>
            <a:endParaRPr/>
          </a:p>
          <a:p>
            <a:pPr indent="0" lvl="0" marL="0" rtl="0" algn="l">
              <a:lnSpc>
                <a:spcPct val="100000"/>
              </a:lnSpc>
              <a:spcBef>
                <a:spcPts val="0"/>
              </a:spcBef>
              <a:spcAft>
                <a:spcPts val="0"/>
              </a:spcAft>
              <a:buSzPts val="1400"/>
              <a:buNone/>
            </a:pPr>
            <a:r>
              <a:rPr b="0" i="0" lang="en" sz="1200">
                <a:solidFill>
                  <a:schemeClr val="dk1"/>
                </a:solidFill>
                <a:latin typeface="Calibri"/>
                <a:ea typeface="Calibri"/>
                <a:cs typeface="Calibri"/>
                <a:sym typeface="Calibri"/>
              </a:rPr>
              <a:t>Emergence of entirely new service categories, business models, and value creation mechanisms</a:t>
            </a:r>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strike="noStrike">
              <a:solidFill>
                <a:srgbClr val="212121"/>
              </a:solidFill>
              <a:latin typeface="Arial"/>
              <a:ea typeface="Arial"/>
              <a:cs typeface="Arial"/>
              <a:sym typeface="Arial"/>
            </a:endParaRPr>
          </a:p>
        </p:txBody>
      </p:sp>
      <p:sp>
        <p:nvSpPr>
          <p:cNvPr id="208" name="Google Shape;208;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 sz="1200">
                <a:latin typeface="Arial Black"/>
                <a:ea typeface="Arial Black"/>
                <a:cs typeface="Arial Black"/>
                <a:sym typeface="Arial Black"/>
              </a:rPr>
              <a:t>Talk track: </a:t>
            </a:r>
            <a:r>
              <a:rPr lang="en"/>
              <a:t>As a product and platform engineering services company, we help organizations grow faster, more profitably, and more sustainably by reimagining enterprises through domain-driven solutions.</a:t>
            </a:r>
            <a:endParaRPr/>
          </a:p>
          <a:p>
            <a:pPr indent="0" lvl="0" marL="0" rtl="0" algn="l">
              <a:lnSpc>
                <a:spcPct val="100000"/>
              </a:lnSpc>
              <a:spcBef>
                <a:spcPts val="0"/>
              </a:spcBef>
              <a:spcAft>
                <a:spcPts val="0"/>
              </a:spcAft>
              <a:buSzPts val="1400"/>
              <a:buNone/>
            </a:pPr>
            <a:r>
              <a:rPr lang="en"/>
              <a:t>We combine strategy, design, and engineering while leveraging emerging technologies with deep domain expertise to generate real-world business impact for our clients.</a:t>
            </a:r>
            <a:endParaRPr/>
          </a:p>
          <a:p>
            <a:pPr indent="0" lvl="0" marL="0" rtl="0" algn="l">
              <a:lnSpc>
                <a:spcPct val="100000"/>
              </a:lnSpc>
              <a:spcBef>
                <a:spcPts val="0"/>
              </a:spcBef>
              <a:spcAft>
                <a:spcPts val="0"/>
              </a:spcAft>
              <a:buSzPts val="1400"/>
              <a:buNone/>
            </a:pPr>
            <a:r>
              <a:rPr lang="en"/>
              <a:t>We achieve this by utilizing unmatched expertise at the intersection of industry, business, and technology to accelerate tailored domain solutions for the AI era.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34" name="Google Shape;234;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5:notes"/>
          <p:cNvSpPr/>
          <p:nvPr>
            <p:ph idx="2" type="sldImg"/>
          </p:nvPr>
        </p:nvSpPr>
        <p:spPr>
          <a:xfrm>
            <a:off x="1981200" y="528638"/>
            <a:ext cx="2895600" cy="1628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Black"/>
              <a:buNone/>
            </a:pPr>
            <a:r>
              <a:rPr b="1" lang="en" sz="1200">
                <a:latin typeface="Arial Black"/>
                <a:ea typeface="Arial Black"/>
                <a:cs typeface="Arial Black"/>
                <a:sym typeface="Arial Black"/>
              </a:rPr>
              <a:t>Talk track: </a:t>
            </a:r>
            <a:r>
              <a:rPr b="0" lang="en" sz="1200">
                <a:latin typeface="Arial Black"/>
                <a:ea typeface="Arial Black"/>
                <a:cs typeface="Arial Black"/>
                <a:sym typeface="Arial Black"/>
              </a:rPr>
              <a:t>Many businesses have their own language and ways of doing things. That means communication with partners can often be a roadblock to transformation. Our teams go through rigorous domain training to learn the ins and outs of your business, including its unique lingo. So whether you’re in healthcare, finance, telco or media, Virtusans are more than technical experts, they’re also fluent in your business.</a:t>
            </a:r>
            <a:endParaRPr/>
          </a:p>
          <a:p>
            <a:pPr indent="0" lvl="0" marL="0" marR="0" rtl="0" algn="l">
              <a:lnSpc>
                <a:spcPct val="100000"/>
              </a:lnSpc>
              <a:spcBef>
                <a:spcPts val="0"/>
              </a:spcBef>
              <a:spcAft>
                <a:spcPts val="0"/>
              </a:spcAft>
              <a:buClr>
                <a:schemeClr val="dk1"/>
              </a:buClr>
              <a:buSzPts val="1200"/>
              <a:buFont typeface="Calibri"/>
              <a:buNone/>
            </a:pPr>
            <a:r>
              <a:t/>
            </a:r>
            <a:endParaRPr b="1" sz="1200">
              <a:latin typeface="Arial Black"/>
              <a:ea typeface="Arial Black"/>
              <a:cs typeface="Arial Black"/>
              <a:sym typeface="Arial Black"/>
            </a:endParaRPr>
          </a:p>
          <a:p>
            <a:pPr indent="0" lvl="0" marL="0" marR="0" rtl="0" algn="l">
              <a:lnSpc>
                <a:spcPct val="100000"/>
              </a:lnSpc>
              <a:spcBef>
                <a:spcPts val="0"/>
              </a:spcBef>
              <a:spcAft>
                <a:spcPts val="0"/>
              </a:spcAft>
              <a:buClr>
                <a:srgbClr val="36312D"/>
              </a:buClr>
              <a:buSzPts val="1200"/>
              <a:buFont typeface="Montserrat"/>
              <a:buNone/>
            </a:pPr>
            <a:r>
              <a:rPr b="0" i="0" lang="en" sz="1200" u="none" cap="none" strike="noStrike">
                <a:solidFill>
                  <a:srgbClr val="36312D"/>
                </a:solidFill>
                <a:latin typeface="Montserrat"/>
                <a:ea typeface="Montserrat"/>
                <a:cs typeface="Montserrat"/>
                <a:sym typeface="Montserrat"/>
              </a:rPr>
              <a:t>Our deep industry expertise in critical industry problems like payments and clinical trials, where precision and compliance are non-negotiable. We undergo rigorous domain training to learn your business's ins and outs, including its unique lingo. Virtusans are more than technical experts; they’re also fluent in your business and understand deeply why these experiences matter to your customers.</a:t>
            </a:r>
            <a:endParaRPr b="0" i="0" sz="1200" u="none" cap="none" strike="noStrike">
              <a:solidFill>
                <a:srgbClr val="36312D"/>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200"/>
              <a:buFont typeface="Calibri"/>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96" name="Google Shape;296;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36312D"/>
              </a:solidFill>
              <a:latin typeface="Arial"/>
              <a:ea typeface="Arial"/>
              <a:cs typeface="Arial"/>
              <a:sym typeface="Arial"/>
            </a:endParaRPr>
          </a:p>
        </p:txBody>
      </p:sp>
      <p:sp>
        <p:nvSpPr>
          <p:cNvPr id="330" name="Google Shape;330;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8:notes"/>
          <p:cNvSpPr/>
          <p:nvPr>
            <p:ph idx="2" type="sldImg"/>
          </p:nvPr>
        </p:nvSpPr>
        <p:spPr>
          <a:xfrm>
            <a:off x="1981200" y="528638"/>
            <a:ext cx="2895600" cy="1628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0:notes"/>
          <p:cNvSpPr/>
          <p:nvPr>
            <p:ph idx="2" type="sldImg"/>
          </p:nvPr>
        </p:nvSpPr>
        <p:spPr>
          <a:xfrm>
            <a:off x="1981200" y="528638"/>
            <a:ext cx="2895600" cy="1628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Arial"/>
                <a:ea typeface="Arial"/>
                <a:cs typeface="Arial"/>
                <a:sym typeface="Arial"/>
              </a:rPr>
              <a:t>‹#›</a:t>
            </a:fld>
            <a:endParaRPr b="0" i="0" sz="8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6" name="Google Shape;57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8" name="Google Shape;62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1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2" name="Google Shape;6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Cyan)">
  <p:cSld name="6_Cover (Cyan)">
    <p:bg>
      <p:bgPr>
        <a:solidFill>
          <a:schemeClr val="accent1"/>
        </a:solidFill>
      </p:bgPr>
    </p:bg>
    <p:spTree>
      <p:nvGrpSpPr>
        <p:cNvPr id="8" name="Shape 8"/>
        <p:cNvGrpSpPr/>
        <p:nvPr/>
      </p:nvGrpSpPr>
      <p:grpSpPr>
        <a:xfrm>
          <a:off x="0" y="0"/>
          <a:ext cx="0" cy="0"/>
          <a:chOff x="0" y="0"/>
          <a:chExt cx="0" cy="0"/>
        </a:xfrm>
      </p:grpSpPr>
      <p:sp>
        <p:nvSpPr>
          <p:cNvPr id="9" name="Google Shape;9;p19"/>
          <p:cNvSpPr/>
          <p:nvPr/>
        </p:nvSpPr>
        <p:spPr>
          <a:xfrm>
            <a:off x="0" y="0"/>
            <a:ext cx="9144000" cy="5143500"/>
          </a:xfrm>
          <a:prstGeom prst="rect">
            <a:avLst/>
          </a:prstGeom>
          <a:gradFill>
            <a:gsLst>
              <a:gs pos="0">
                <a:srgbClr val="0E1122"/>
              </a:gs>
              <a:gs pos="22000">
                <a:srgbClr val="0E1122"/>
              </a:gs>
              <a:gs pos="60000">
                <a:srgbClr val="0F1223">
                  <a:alpha val="64314"/>
                </a:srgbClr>
              </a:gs>
              <a:gs pos="92000">
                <a:srgbClr val="0E1122">
                  <a:alpha val="0"/>
                </a:srgbClr>
              </a:gs>
              <a:gs pos="100000">
                <a:srgbClr val="0E1122">
                  <a:alpha val="0"/>
                </a:srgbClr>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 name="Google Shape;10;p19"/>
          <p:cNvSpPr/>
          <p:nvPr/>
        </p:nvSpPr>
        <p:spPr>
          <a:xfrm>
            <a:off x="6608589" y="0"/>
            <a:ext cx="2535411" cy="5143500"/>
          </a:xfrm>
          <a:custGeom>
            <a:rect b="b" l="l" r="r" t="t"/>
            <a:pathLst>
              <a:path extrusionOk="0" h="6858000" w="3380548">
                <a:moveTo>
                  <a:pt x="3380548" y="6165003"/>
                </a:moveTo>
                <a:lnTo>
                  <a:pt x="3380548" y="6858000"/>
                </a:lnTo>
                <a:lnTo>
                  <a:pt x="2741215" y="6858000"/>
                </a:lnTo>
                <a:lnTo>
                  <a:pt x="2740048" y="6846425"/>
                </a:lnTo>
                <a:cubicBezTo>
                  <a:pt x="2740048" y="6514912"/>
                  <a:pt x="2975200" y="6238321"/>
                  <a:pt x="3287803" y="6174353"/>
                </a:cubicBezTo>
                <a:close/>
                <a:moveTo>
                  <a:pt x="1369336" y="5509902"/>
                </a:moveTo>
                <a:lnTo>
                  <a:pt x="1358082" y="5621535"/>
                </a:lnTo>
                <a:cubicBezTo>
                  <a:pt x="1302111" y="5895062"/>
                  <a:pt x="1083350" y="6109291"/>
                  <a:pt x="807445" y="6158575"/>
                </a:cubicBezTo>
                <a:lnTo>
                  <a:pt x="732953" y="6165148"/>
                </a:lnTo>
                <a:lnTo>
                  <a:pt x="824265" y="6174353"/>
                </a:lnTo>
                <a:cubicBezTo>
                  <a:pt x="1097793" y="6230325"/>
                  <a:pt x="1312022" y="6449086"/>
                  <a:pt x="1361305" y="6724990"/>
                </a:cubicBezTo>
                <a:lnTo>
                  <a:pt x="1369514" y="6818032"/>
                </a:lnTo>
                <a:lnTo>
                  <a:pt x="1380589" y="6708170"/>
                </a:lnTo>
                <a:cubicBezTo>
                  <a:pt x="1435419" y="6440225"/>
                  <a:pt x="1646461" y="6229183"/>
                  <a:pt x="1914407" y="6174353"/>
                </a:cubicBezTo>
                <a:lnTo>
                  <a:pt x="2005719" y="6165148"/>
                </a:lnTo>
                <a:lnTo>
                  <a:pt x="1931227" y="6158575"/>
                </a:lnTo>
                <a:cubicBezTo>
                  <a:pt x="1655323" y="6109291"/>
                  <a:pt x="1436561" y="5895062"/>
                  <a:pt x="1380589" y="5621535"/>
                </a:cubicBezTo>
                <a:close/>
                <a:moveTo>
                  <a:pt x="3380548" y="4801858"/>
                </a:moveTo>
                <a:lnTo>
                  <a:pt x="3380548" y="6164702"/>
                </a:lnTo>
                <a:lnTo>
                  <a:pt x="3287803" y="6155352"/>
                </a:lnTo>
                <a:cubicBezTo>
                  <a:pt x="2975200" y="6091384"/>
                  <a:pt x="2740048" y="5814794"/>
                  <a:pt x="2740048" y="5483280"/>
                </a:cubicBezTo>
                <a:cubicBezTo>
                  <a:pt x="2740048" y="5151766"/>
                  <a:pt x="2975200" y="4875175"/>
                  <a:pt x="3287803" y="4811207"/>
                </a:cubicBezTo>
                <a:close/>
                <a:moveTo>
                  <a:pt x="686010" y="4797270"/>
                </a:moveTo>
                <a:cubicBezTo>
                  <a:pt x="1017524" y="4797270"/>
                  <a:pt x="1294114" y="5032421"/>
                  <a:pt x="1358082" y="5345025"/>
                </a:cubicBezTo>
                <a:lnTo>
                  <a:pt x="1369336" y="5456656"/>
                </a:lnTo>
                <a:lnTo>
                  <a:pt x="1380589" y="5345025"/>
                </a:lnTo>
                <a:cubicBezTo>
                  <a:pt x="1444557" y="5032421"/>
                  <a:pt x="1721149" y="4797270"/>
                  <a:pt x="2052663" y="4797270"/>
                </a:cubicBezTo>
                <a:cubicBezTo>
                  <a:pt x="2431536" y="4797270"/>
                  <a:pt x="2738673" y="5104407"/>
                  <a:pt x="2738673" y="5483280"/>
                </a:cubicBezTo>
                <a:cubicBezTo>
                  <a:pt x="2738673" y="5814794"/>
                  <a:pt x="2503521" y="6091384"/>
                  <a:pt x="2190918" y="6155352"/>
                </a:cubicBezTo>
                <a:lnTo>
                  <a:pt x="2096678" y="6164853"/>
                </a:lnTo>
                <a:lnTo>
                  <a:pt x="2190918" y="6174353"/>
                </a:lnTo>
                <a:cubicBezTo>
                  <a:pt x="2503521" y="6238321"/>
                  <a:pt x="2738673" y="6514912"/>
                  <a:pt x="2738673" y="6846425"/>
                </a:cubicBezTo>
                <a:lnTo>
                  <a:pt x="2737506" y="6858000"/>
                </a:lnTo>
                <a:lnTo>
                  <a:pt x="1167" y="6858000"/>
                </a:lnTo>
                <a:lnTo>
                  <a:pt x="0" y="6846425"/>
                </a:lnTo>
                <a:cubicBezTo>
                  <a:pt x="0" y="6514912"/>
                  <a:pt x="235152" y="6238321"/>
                  <a:pt x="547755" y="6174353"/>
                </a:cubicBezTo>
                <a:lnTo>
                  <a:pt x="641995" y="6164853"/>
                </a:lnTo>
                <a:lnTo>
                  <a:pt x="547755" y="6155352"/>
                </a:lnTo>
                <a:cubicBezTo>
                  <a:pt x="235152" y="6091384"/>
                  <a:pt x="0" y="5814794"/>
                  <a:pt x="0" y="5483280"/>
                </a:cubicBezTo>
                <a:cubicBezTo>
                  <a:pt x="0" y="5104407"/>
                  <a:pt x="307137" y="4797270"/>
                  <a:pt x="686010" y="4797270"/>
                </a:cubicBezTo>
                <a:close/>
                <a:moveTo>
                  <a:pt x="3380548" y="3428463"/>
                </a:moveTo>
                <a:lnTo>
                  <a:pt x="3380548" y="4791307"/>
                </a:lnTo>
                <a:lnTo>
                  <a:pt x="3287803" y="4781958"/>
                </a:lnTo>
                <a:cubicBezTo>
                  <a:pt x="2975200" y="4717990"/>
                  <a:pt x="2740048" y="4441399"/>
                  <a:pt x="2740048" y="4109885"/>
                </a:cubicBezTo>
                <a:cubicBezTo>
                  <a:pt x="2740048" y="3778371"/>
                  <a:pt x="2975200" y="3501779"/>
                  <a:pt x="3287803" y="3437812"/>
                </a:cubicBezTo>
                <a:close/>
                <a:moveTo>
                  <a:pt x="1369336" y="2773363"/>
                </a:moveTo>
                <a:lnTo>
                  <a:pt x="1358082" y="2884995"/>
                </a:lnTo>
                <a:cubicBezTo>
                  <a:pt x="1302111" y="3158523"/>
                  <a:pt x="1083350" y="3372752"/>
                  <a:pt x="807445" y="3422034"/>
                </a:cubicBezTo>
                <a:lnTo>
                  <a:pt x="732952" y="3428607"/>
                </a:lnTo>
                <a:lnTo>
                  <a:pt x="824265" y="3437812"/>
                </a:lnTo>
                <a:cubicBezTo>
                  <a:pt x="1097793" y="3493784"/>
                  <a:pt x="1312022" y="3712545"/>
                  <a:pt x="1361305" y="3988449"/>
                </a:cubicBezTo>
                <a:lnTo>
                  <a:pt x="1369514" y="4081490"/>
                </a:lnTo>
                <a:lnTo>
                  <a:pt x="1380589" y="3971629"/>
                </a:lnTo>
                <a:cubicBezTo>
                  <a:pt x="1435419" y="3703683"/>
                  <a:pt x="1646461" y="3492641"/>
                  <a:pt x="1914407" y="3437811"/>
                </a:cubicBezTo>
                <a:lnTo>
                  <a:pt x="2005720" y="3428607"/>
                </a:lnTo>
                <a:lnTo>
                  <a:pt x="1931227" y="3422034"/>
                </a:lnTo>
                <a:cubicBezTo>
                  <a:pt x="1655323" y="3372752"/>
                  <a:pt x="1436561" y="3158523"/>
                  <a:pt x="1380589" y="2884995"/>
                </a:cubicBezTo>
                <a:close/>
                <a:moveTo>
                  <a:pt x="3380548" y="2065318"/>
                </a:moveTo>
                <a:lnTo>
                  <a:pt x="3380548" y="3428161"/>
                </a:lnTo>
                <a:lnTo>
                  <a:pt x="3287803" y="3418811"/>
                </a:lnTo>
                <a:cubicBezTo>
                  <a:pt x="2975200" y="3354844"/>
                  <a:pt x="2740048" y="3078254"/>
                  <a:pt x="2740048" y="2746739"/>
                </a:cubicBezTo>
                <a:cubicBezTo>
                  <a:pt x="2740048" y="2415225"/>
                  <a:pt x="2975200" y="2138635"/>
                  <a:pt x="3287803" y="2074667"/>
                </a:cubicBezTo>
                <a:close/>
                <a:moveTo>
                  <a:pt x="1369336" y="1401345"/>
                </a:moveTo>
                <a:lnTo>
                  <a:pt x="1358082" y="1512977"/>
                </a:lnTo>
                <a:cubicBezTo>
                  <a:pt x="1302111" y="1786504"/>
                  <a:pt x="1083350" y="2000734"/>
                  <a:pt x="807445" y="2050018"/>
                </a:cubicBezTo>
                <a:lnTo>
                  <a:pt x="686017" y="2060731"/>
                </a:lnTo>
                <a:lnTo>
                  <a:pt x="824265" y="2074668"/>
                </a:lnTo>
                <a:cubicBezTo>
                  <a:pt x="1097793" y="2130640"/>
                  <a:pt x="1312022" y="2349401"/>
                  <a:pt x="1361305" y="2625305"/>
                </a:cubicBezTo>
                <a:lnTo>
                  <a:pt x="1369514" y="2718345"/>
                </a:lnTo>
                <a:lnTo>
                  <a:pt x="1380589" y="2608485"/>
                </a:lnTo>
                <a:cubicBezTo>
                  <a:pt x="1435419" y="2340540"/>
                  <a:pt x="1646461" y="2129496"/>
                  <a:pt x="1914407" y="2074668"/>
                </a:cubicBezTo>
                <a:lnTo>
                  <a:pt x="2052655" y="2060731"/>
                </a:lnTo>
                <a:lnTo>
                  <a:pt x="1931227" y="2050016"/>
                </a:lnTo>
                <a:cubicBezTo>
                  <a:pt x="1655323" y="2000734"/>
                  <a:pt x="1436561" y="1786505"/>
                  <a:pt x="1380589" y="1512977"/>
                </a:cubicBezTo>
                <a:close/>
                <a:moveTo>
                  <a:pt x="3380548" y="693300"/>
                </a:moveTo>
                <a:lnTo>
                  <a:pt x="3380548" y="2056144"/>
                </a:lnTo>
                <a:lnTo>
                  <a:pt x="3287803" y="2046795"/>
                </a:lnTo>
                <a:cubicBezTo>
                  <a:pt x="2975200" y="1982827"/>
                  <a:pt x="2740048" y="1706235"/>
                  <a:pt x="2740048" y="1374722"/>
                </a:cubicBezTo>
                <a:cubicBezTo>
                  <a:pt x="2740048" y="1043208"/>
                  <a:pt x="2975200" y="766617"/>
                  <a:pt x="3287803" y="702649"/>
                </a:cubicBezTo>
                <a:close/>
                <a:moveTo>
                  <a:pt x="1369336" y="38200"/>
                </a:moveTo>
                <a:lnTo>
                  <a:pt x="1358082" y="149831"/>
                </a:lnTo>
                <a:cubicBezTo>
                  <a:pt x="1302111" y="423360"/>
                  <a:pt x="1083350" y="637588"/>
                  <a:pt x="807445" y="686872"/>
                </a:cubicBezTo>
                <a:lnTo>
                  <a:pt x="732955" y="693445"/>
                </a:lnTo>
                <a:lnTo>
                  <a:pt x="824265" y="702649"/>
                </a:lnTo>
                <a:cubicBezTo>
                  <a:pt x="1097793" y="758621"/>
                  <a:pt x="1312022" y="977382"/>
                  <a:pt x="1361305" y="1253286"/>
                </a:cubicBezTo>
                <a:lnTo>
                  <a:pt x="1369514" y="1346328"/>
                </a:lnTo>
                <a:lnTo>
                  <a:pt x="1380589" y="1236467"/>
                </a:lnTo>
                <a:cubicBezTo>
                  <a:pt x="1435419" y="968521"/>
                  <a:pt x="1646461" y="757479"/>
                  <a:pt x="1914407" y="702649"/>
                </a:cubicBezTo>
                <a:lnTo>
                  <a:pt x="2005717" y="693445"/>
                </a:lnTo>
                <a:lnTo>
                  <a:pt x="1931227" y="686872"/>
                </a:lnTo>
                <a:cubicBezTo>
                  <a:pt x="1655323" y="637588"/>
                  <a:pt x="1436561" y="423360"/>
                  <a:pt x="1380589" y="149831"/>
                </a:cubicBezTo>
                <a:close/>
                <a:moveTo>
                  <a:pt x="2741215" y="0"/>
                </a:moveTo>
                <a:lnTo>
                  <a:pt x="3380548" y="0"/>
                </a:lnTo>
                <a:lnTo>
                  <a:pt x="3380548" y="692999"/>
                </a:lnTo>
                <a:lnTo>
                  <a:pt x="3287803" y="683649"/>
                </a:lnTo>
                <a:cubicBezTo>
                  <a:pt x="2975200" y="619681"/>
                  <a:pt x="2740048" y="343091"/>
                  <a:pt x="2740048" y="11576"/>
                </a:cubicBezTo>
                <a:close/>
                <a:moveTo>
                  <a:pt x="1167" y="0"/>
                </a:moveTo>
                <a:lnTo>
                  <a:pt x="2737506" y="0"/>
                </a:lnTo>
                <a:lnTo>
                  <a:pt x="2738673" y="11577"/>
                </a:lnTo>
                <a:cubicBezTo>
                  <a:pt x="2738673" y="343091"/>
                  <a:pt x="2503521" y="619681"/>
                  <a:pt x="2190918" y="683649"/>
                </a:cubicBezTo>
                <a:lnTo>
                  <a:pt x="2096679" y="693150"/>
                </a:lnTo>
                <a:lnTo>
                  <a:pt x="2190918" y="702649"/>
                </a:lnTo>
                <a:cubicBezTo>
                  <a:pt x="2503521" y="766617"/>
                  <a:pt x="2738673" y="1043208"/>
                  <a:pt x="2738673" y="1374722"/>
                </a:cubicBezTo>
                <a:cubicBezTo>
                  <a:pt x="2738673" y="1706236"/>
                  <a:pt x="2503521" y="1982827"/>
                  <a:pt x="2190918" y="2046795"/>
                </a:cubicBezTo>
                <a:lnTo>
                  <a:pt x="2052669" y="2060731"/>
                </a:lnTo>
                <a:lnTo>
                  <a:pt x="2190918" y="2074668"/>
                </a:lnTo>
                <a:cubicBezTo>
                  <a:pt x="2503521" y="2138635"/>
                  <a:pt x="2738673" y="2415227"/>
                  <a:pt x="2738673" y="2746740"/>
                </a:cubicBezTo>
                <a:cubicBezTo>
                  <a:pt x="2738673" y="3078255"/>
                  <a:pt x="2503521" y="3354844"/>
                  <a:pt x="2190918" y="3418811"/>
                </a:cubicBezTo>
                <a:lnTo>
                  <a:pt x="2096677" y="3428312"/>
                </a:lnTo>
                <a:lnTo>
                  <a:pt x="2190918" y="3437811"/>
                </a:lnTo>
                <a:cubicBezTo>
                  <a:pt x="2503521" y="3501779"/>
                  <a:pt x="2738673" y="3778371"/>
                  <a:pt x="2738673" y="4109885"/>
                </a:cubicBezTo>
                <a:cubicBezTo>
                  <a:pt x="2738673" y="4488758"/>
                  <a:pt x="2431536" y="4795895"/>
                  <a:pt x="2052663" y="4795895"/>
                </a:cubicBezTo>
                <a:cubicBezTo>
                  <a:pt x="1721149" y="4795895"/>
                  <a:pt x="1444557" y="4560743"/>
                  <a:pt x="1380589" y="4248140"/>
                </a:cubicBezTo>
                <a:lnTo>
                  <a:pt x="1369336" y="4136507"/>
                </a:lnTo>
                <a:lnTo>
                  <a:pt x="1358082" y="4248140"/>
                </a:lnTo>
                <a:cubicBezTo>
                  <a:pt x="1294114" y="4560743"/>
                  <a:pt x="1017524" y="4795895"/>
                  <a:pt x="686010" y="4795895"/>
                </a:cubicBezTo>
                <a:cubicBezTo>
                  <a:pt x="307137" y="4795895"/>
                  <a:pt x="0" y="4488758"/>
                  <a:pt x="0" y="4109885"/>
                </a:cubicBezTo>
                <a:cubicBezTo>
                  <a:pt x="0" y="3778371"/>
                  <a:pt x="235152" y="3501779"/>
                  <a:pt x="547755" y="3437812"/>
                </a:cubicBezTo>
                <a:lnTo>
                  <a:pt x="641996" y="3428312"/>
                </a:lnTo>
                <a:lnTo>
                  <a:pt x="547755" y="3418811"/>
                </a:lnTo>
                <a:cubicBezTo>
                  <a:pt x="235152" y="3354844"/>
                  <a:pt x="0" y="3078255"/>
                  <a:pt x="0" y="2746740"/>
                </a:cubicBezTo>
                <a:cubicBezTo>
                  <a:pt x="0" y="2415225"/>
                  <a:pt x="235152" y="2138636"/>
                  <a:pt x="547755" y="2074668"/>
                </a:cubicBezTo>
                <a:lnTo>
                  <a:pt x="686003" y="2060731"/>
                </a:lnTo>
                <a:lnTo>
                  <a:pt x="547755" y="2046795"/>
                </a:lnTo>
                <a:cubicBezTo>
                  <a:pt x="235152" y="1982827"/>
                  <a:pt x="0" y="1706236"/>
                  <a:pt x="0" y="1374723"/>
                </a:cubicBezTo>
                <a:cubicBezTo>
                  <a:pt x="0" y="1043208"/>
                  <a:pt x="235152" y="766617"/>
                  <a:pt x="547755" y="702649"/>
                </a:cubicBezTo>
                <a:lnTo>
                  <a:pt x="641992" y="693150"/>
                </a:lnTo>
                <a:lnTo>
                  <a:pt x="547755" y="683649"/>
                </a:lnTo>
                <a:cubicBezTo>
                  <a:pt x="235152" y="619681"/>
                  <a:pt x="0" y="343091"/>
                  <a:pt x="0" y="11577"/>
                </a:cubicBezTo>
                <a:close/>
              </a:path>
            </a:pathLst>
          </a:custGeom>
          <a:gradFill>
            <a:gsLst>
              <a:gs pos="0">
                <a:schemeClr val="dk2"/>
              </a:gs>
              <a:gs pos="15000">
                <a:schemeClr val="dk2"/>
              </a:gs>
              <a:gs pos="51000">
                <a:schemeClr val="accent1"/>
              </a:gs>
              <a:gs pos="88000">
                <a:schemeClr val="accent2"/>
              </a:gs>
              <a:gs pos="100000">
                <a:schemeClr val="accent2"/>
              </a:gs>
            </a:gsLst>
            <a:lin ang="7200017"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1" name="Google Shape;11;p19"/>
          <p:cNvSpPr txBox="1"/>
          <p:nvPr>
            <p:ph idx="1" type="body"/>
          </p:nvPr>
        </p:nvSpPr>
        <p:spPr>
          <a:xfrm>
            <a:off x="480060" y="4512611"/>
            <a:ext cx="4039500" cy="528000"/>
          </a:xfrm>
          <a:prstGeom prst="rect">
            <a:avLst/>
          </a:prstGeom>
          <a:noFill/>
          <a:ln>
            <a:noFill/>
          </a:ln>
        </p:spPr>
        <p:txBody>
          <a:bodyPr anchorCtr="0" anchor="t" bIns="0" lIns="68575" spcFirstLastPara="1" rIns="0" wrap="square" tIns="0">
            <a:noAutofit/>
          </a:bodyPr>
          <a:lstStyle>
            <a:lvl1pPr indent="-228600" lvl="0" marL="457200" marR="0" rtl="0" algn="l">
              <a:lnSpc>
                <a:spcPct val="90000"/>
              </a:lnSpc>
              <a:spcBef>
                <a:spcPts val="800"/>
              </a:spcBef>
              <a:spcAft>
                <a:spcPts val="0"/>
              </a:spcAft>
              <a:buClr>
                <a:schemeClr val="lt1"/>
              </a:buClr>
              <a:buSzPts val="1100"/>
              <a:buFont typeface="Arial"/>
              <a:buNone/>
              <a:defRPr b="0" i="0" sz="1100" u="none" cap="none" strike="noStrike">
                <a:solidFill>
                  <a:schemeClr val="lt1"/>
                </a:solidFill>
                <a:latin typeface="Montserrat"/>
                <a:ea typeface="Montserrat"/>
                <a:cs typeface="Montserrat"/>
                <a:sym typeface="Montserrat"/>
              </a:defRPr>
            </a:lvl1pPr>
            <a:lvl2pPr indent="-298450" lvl="1" marL="9144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2pPr>
            <a:lvl3pPr indent="-298450" lvl="2" marL="1371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descr="Virtusa logo" id="12" name="Google Shape;12;p19"/>
          <p:cNvSpPr/>
          <p:nvPr/>
        </p:nvSpPr>
        <p:spPr>
          <a:xfrm>
            <a:off x="548640" y="391744"/>
            <a:ext cx="708187" cy="164495"/>
          </a:xfrm>
          <a:custGeom>
            <a:rect b="b" l="l" r="r" t="t"/>
            <a:pathLst>
              <a:path extrusionOk="0" h="342698" w="1475390">
                <a:moveTo>
                  <a:pt x="874756" y="339468"/>
                </a:moveTo>
                <a:lnTo>
                  <a:pt x="874756" y="339468"/>
                </a:lnTo>
                <a:cubicBezTo>
                  <a:pt x="817288" y="339468"/>
                  <a:pt x="766079" y="298481"/>
                  <a:pt x="766079" y="225046"/>
                </a:cubicBezTo>
                <a:lnTo>
                  <a:pt x="766079" y="74190"/>
                </a:lnTo>
                <a:lnTo>
                  <a:pt x="826392" y="74190"/>
                </a:lnTo>
                <a:lnTo>
                  <a:pt x="826392" y="229030"/>
                </a:lnTo>
                <a:cubicBezTo>
                  <a:pt x="826392" y="262617"/>
                  <a:pt x="844031" y="284819"/>
                  <a:pt x="874756" y="284819"/>
                </a:cubicBezTo>
                <a:cubicBezTo>
                  <a:pt x="906051" y="284819"/>
                  <a:pt x="923120" y="262617"/>
                  <a:pt x="923120" y="229030"/>
                </a:cubicBezTo>
                <a:lnTo>
                  <a:pt x="923120" y="74190"/>
                </a:lnTo>
                <a:lnTo>
                  <a:pt x="983433" y="74190"/>
                </a:lnTo>
                <a:lnTo>
                  <a:pt x="983433" y="225046"/>
                </a:lnTo>
                <a:cubicBezTo>
                  <a:pt x="984002" y="298481"/>
                  <a:pt x="932224" y="339468"/>
                  <a:pt x="874756" y="339468"/>
                </a:cubicBezTo>
                <a:moveTo>
                  <a:pt x="350147" y="-2661"/>
                </a:moveTo>
                <a:lnTo>
                  <a:pt x="290972" y="-2661"/>
                </a:lnTo>
                <a:lnTo>
                  <a:pt x="290972" y="68497"/>
                </a:lnTo>
                <a:cubicBezTo>
                  <a:pt x="321698" y="56542"/>
                  <a:pt x="344457" y="29787"/>
                  <a:pt x="350147" y="-2661"/>
                </a:cubicBezTo>
                <a:moveTo>
                  <a:pt x="290972" y="79883"/>
                </a:moveTo>
                <a:lnTo>
                  <a:pt x="290972" y="333207"/>
                </a:lnTo>
                <a:lnTo>
                  <a:pt x="351286" y="333207"/>
                </a:lnTo>
                <a:lnTo>
                  <a:pt x="351286" y="162995"/>
                </a:lnTo>
                <a:cubicBezTo>
                  <a:pt x="349579" y="125992"/>
                  <a:pt x="325681" y="92976"/>
                  <a:pt x="290972" y="79883"/>
                </a:cubicBezTo>
                <a:moveTo>
                  <a:pt x="498654" y="74190"/>
                </a:moveTo>
                <a:cubicBezTo>
                  <a:pt x="447444" y="74190"/>
                  <a:pt x="405909" y="115747"/>
                  <a:pt x="405909" y="166981"/>
                </a:cubicBezTo>
                <a:lnTo>
                  <a:pt x="405909" y="333207"/>
                </a:lnTo>
                <a:lnTo>
                  <a:pt x="465084" y="333207"/>
                </a:lnTo>
                <a:lnTo>
                  <a:pt x="465084" y="174950"/>
                </a:lnTo>
                <a:cubicBezTo>
                  <a:pt x="465084" y="149333"/>
                  <a:pt x="486136" y="128270"/>
                  <a:pt x="511741" y="128270"/>
                </a:cubicBezTo>
                <a:lnTo>
                  <a:pt x="511741" y="128270"/>
                </a:lnTo>
                <a:lnTo>
                  <a:pt x="533362" y="128270"/>
                </a:lnTo>
                <a:lnTo>
                  <a:pt x="533362" y="74190"/>
                </a:lnTo>
                <a:lnTo>
                  <a:pt x="498654" y="74190"/>
                </a:lnTo>
                <a:close/>
                <a:moveTo>
                  <a:pt x="1151285" y="177796"/>
                </a:moveTo>
                <a:lnTo>
                  <a:pt x="1110318" y="168119"/>
                </a:lnTo>
                <a:cubicBezTo>
                  <a:pt x="1108611" y="167549"/>
                  <a:pt x="1106904" y="166981"/>
                  <a:pt x="1105197" y="166411"/>
                </a:cubicBezTo>
                <a:cubicBezTo>
                  <a:pt x="1093248" y="162426"/>
                  <a:pt x="1084713" y="154456"/>
                  <a:pt x="1084713" y="143640"/>
                </a:cubicBezTo>
                <a:cubicBezTo>
                  <a:pt x="1084713" y="130547"/>
                  <a:pt x="1097800" y="119162"/>
                  <a:pt x="1120560" y="119162"/>
                </a:cubicBezTo>
                <a:cubicBezTo>
                  <a:pt x="1145027" y="119731"/>
                  <a:pt x="1167786" y="131685"/>
                  <a:pt x="1181441" y="152179"/>
                </a:cubicBezTo>
                <a:lnTo>
                  <a:pt x="1218995" y="111192"/>
                </a:lnTo>
                <a:cubicBezTo>
                  <a:pt x="1195097" y="86144"/>
                  <a:pt x="1165510" y="67927"/>
                  <a:pt x="1122267" y="67927"/>
                </a:cubicBezTo>
                <a:cubicBezTo>
                  <a:pt x="1067643" y="67927"/>
                  <a:pt x="1027814" y="96961"/>
                  <a:pt x="1027814" y="145348"/>
                </a:cubicBezTo>
                <a:cubicBezTo>
                  <a:pt x="1027814" y="190320"/>
                  <a:pt x="1057971" y="215369"/>
                  <a:pt x="1106335" y="227322"/>
                </a:cubicBezTo>
                <a:lnTo>
                  <a:pt x="1140474" y="235861"/>
                </a:lnTo>
                <a:cubicBezTo>
                  <a:pt x="1144457" y="237000"/>
                  <a:pt x="1147871" y="238139"/>
                  <a:pt x="1151854" y="239278"/>
                </a:cubicBezTo>
                <a:cubicBezTo>
                  <a:pt x="1166079" y="244970"/>
                  <a:pt x="1170631" y="252371"/>
                  <a:pt x="1170631" y="261478"/>
                </a:cubicBezTo>
                <a:cubicBezTo>
                  <a:pt x="1170631" y="274002"/>
                  <a:pt x="1161527" y="288234"/>
                  <a:pt x="1130232" y="288234"/>
                </a:cubicBezTo>
                <a:cubicBezTo>
                  <a:pt x="1100645" y="288804"/>
                  <a:pt x="1072764" y="274572"/>
                  <a:pt x="1055126" y="250663"/>
                </a:cubicBezTo>
                <a:lnTo>
                  <a:pt x="1017004" y="289373"/>
                </a:lnTo>
                <a:cubicBezTo>
                  <a:pt x="1036918" y="314990"/>
                  <a:pt x="1070488" y="339468"/>
                  <a:pt x="1125112" y="339468"/>
                </a:cubicBezTo>
                <a:cubicBezTo>
                  <a:pt x="1193391" y="339468"/>
                  <a:pt x="1228099" y="304174"/>
                  <a:pt x="1228099" y="259202"/>
                </a:cubicBezTo>
                <a:cubicBezTo>
                  <a:pt x="1228099" y="213091"/>
                  <a:pt x="1195666" y="188612"/>
                  <a:pt x="1151285" y="177796"/>
                </a:cubicBezTo>
                <a:moveTo>
                  <a:pt x="727388" y="279126"/>
                </a:moveTo>
                <a:cubicBezTo>
                  <a:pt x="725681" y="279126"/>
                  <a:pt x="713163" y="280265"/>
                  <a:pt x="708042" y="280265"/>
                </a:cubicBezTo>
                <a:lnTo>
                  <a:pt x="708042" y="280265"/>
                </a:lnTo>
                <a:cubicBezTo>
                  <a:pt x="674472" y="280265"/>
                  <a:pt x="665937" y="270587"/>
                  <a:pt x="665937" y="233015"/>
                </a:cubicBezTo>
                <a:lnTo>
                  <a:pt x="665937" y="128270"/>
                </a:lnTo>
                <a:lnTo>
                  <a:pt x="727957" y="128270"/>
                </a:lnTo>
                <a:lnTo>
                  <a:pt x="727957" y="74190"/>
                </a:lnTo>
                <a:lnTo>
                  <a:pt x="665368" y="74190"/>
                </a:lnTo>
                <a:lnTo>
                  <a:pt x="665368" y="-3231"/>
                </a:lnTo>
                <a:lnTo>
                  <a:pt x="605624" y="-3231"/>
                </a:lnTo>
                <a:lnTo>
                  <a:pt x="605624" y="74190"/>
                </a:lnTo>
                <a:lnTo>
                  <a:pt x="567502" y="74190"/>
                </a:lnTo>
                <a:lnTo>
                  <a:pt x="567502" y="128270"/>
                </a:lnTo>
                <a:lnTo>
                  <a:pt x="605624" y="128270"/>
                </a:lnTo>
                <a:lnTo>
                  <a:pt x="605624" y="242124"/>
                </a:lnTo>
                <a:cubicBezTo>
                  <a:pt x="605624" y="307590"/>
                  <a:pt x="627246" y="334345"/>
                  <a:pt x="694955" y="334345"/>
                </a:cubicBezTo>
                <a:cubicBezTo>
                  <a:pt x="713732" y="334345"/>
                  <a:pt x="725112" y="333207"/>
                  <a:pt x="726819" y="333207"/>
                </a:cubicBezTo>
                <a:lnTo>
                  <a:pt x="727388" y="279126"/>
                </a:lnTo>
                <a:close/>
                <a:moveTo>
                  <a:pt x="248868" y="74190"/>
                </a:moveTo>
                <a:lnTo>
                  <a:pt x="156691" y="333207"/>
                </a:lnTo>
                <a:lnTo>
                  <a:pt x="91257" y="333207"/>
                </a:lnTo>
                <a:lnTo>
                  <a:pt x="-919" y="74190"/>
                </a:lnTo>
                <a:lnTo>
                  <a:pt x="61101" y="74190"/>
                </a:lnTo>
                <a:lnTo>
                  <a:pt x="124259" y="264325"/>
                </a:lnTo>
                <a:lnTo>
                  <a:pt x="187416" y="74190"/>
                </a:lnTo>
                <a:lnTo>
                  <a:pt x="248868" y="74190"/>
                </a:lnTo>
                <a:close/>
                <a:moveTo>
                  <a:pt x="1415297" y="313282"/>
                </a:moveTo>
                <a:cubicBezTo>
                  <a:pt x="1415865" y="312713"/>
                  <a:pt x="1417003" y="312144"/>
                  <a:pt x="1417572" y="311004"/>
                </a:cubicBezTo>
                <a:lnTo>
                  <a:pt x="1417572" y="333207"/>
                </a:lnTo>
                <a:lnTo>
                  <a:pt x="1474471" y="333207"/>
                </a:lnTo>
                <a:lnTo>
                  <a:pt x="1474471" y="165273"/>
                </a:lnTo>
                <a:cubicBezTo>
                  <a:pt x="1474471" y="99237"/>
                  <a:pt x="1428383" y="67359"/>
                  <a:pt x="1364088" y="67359"/>
                </a:cubicBezTo>
                <a:cubicBezTo>
                  <a:pt x="1324258" y="67359"/>
                  <a:pt x="1282153" y="85005"/>
                  <a:pt x="1261669" y="121439"/>
                </a:cubicBezTo>
                <a:lnTo>
                  <a:pt x="1302068" y="159580"/>
                </a:lnTo>
                <a:cubicBezTo>
                  <a:pt x="1314016" y="136240"/>
                  <a:pt x="1337913" y="121439"/>
                  <a:pt x="1363518" y="122008"/>
                </a:cubicBezTo>
                <a:cubicBezTo>
                  <a:pt x="1395382" y="121439"/>
                  <a:pt x="1417572" y="143070"/>
                  <a:pt x="1417572" y="169827"/>
                </a:cubicBezTo>
                <a:lnTo>
                  <a:pt x="1417572" y="184059"/>
                </a:lnTo>
                <a:cubicBezTo>
                  <a:pt x="1416434" y="183489"/>
                  <a:pt x="1415297" y="183489"/>
                  <a:pt x="1414158" y="182919"/>
                </a:cubicBezTo>
                <a:lnTo>
                  <a:pt x="1414158" y="182919"/>
                </a:lnTo>
                <a:cubicBezTo>
                  <a:pt x="1412452" y="182351"/>
                  <a:pt x="1410176" y="181781"/>
                  <a:pt x="1407899" y="181213"/>
                </a:cubicBezTo>
                <a:lnTo>
                  <a:pt x="1406192" y="180643"/>
                </a:lnTo>
                <a:lnTo>
                  <a:pt x="1405055" y="180073"/>
                </a:lnTo>
                <a:lnTo>
                  <a:pt x="1403347" y="179504"/>
                </a:lnTo>
                <a:lnTo>
                  <a:pt x="1401641" y="178935"/>
                </a:lnTo>
                <a:lnTo>
                  <a:pt x="1400502" y="178935"/>
                </a:lnTo>
                <a:cubicBezTo>
                  <a:pt x="1387985" y="175520"/>
                  <a:pt x="1374898" y="173812"/>
                  <a:pt x="1361811" y="173812"/>
                </a:cubicBezTo>
                <a:cubicBezTo>
                  <a:pt x="1302068" y="173812"/>
                  <a:pt x="1253703" y="201137"/>
                  <a:pt x="1253703" y="260340"/>
                </a:cubicBezTo>
                <a:cubicBezTo>
                  <a:pt x="1253703" y="309866"/>
                  <a:pt x="1294102" y="338899"/>
                  <a:pt x="1340758" y="338899"/>
                </a:cubicBezTo>
                <a:cubicBezTo>
                  <a:pt x="1368070" y="340038"/>
                  <a:pt x="1394244" y="330929"/>
                  <a:pt x="1415297" y="313282"/>
                </a:cubicBezTo>
                <a:close/>
                <a:moveTo>
                  <a:pt x="1352708" y="288234"/>
                </a:moveTo>
                <a:cubicBezTo>
                  <a:pt x="1324258" y="288234"/>
                  <a:pt x="1311171" y="273434"/>
                  <a:pt x="1311171" y="255786"/>
                </a:cubicBezTo>
                <a:cubicBezTo>
                  <a:pt x="1311171" y="233015"/>
                  <a:pt x="1331086" y="221061"/>
                  <a:pt x="1360104" y="221061"/>
                </a:cubicBezTo>
                <a:cubicBezTo>
                  <a:pt x="1380019" y="221061"/>
                  <a:pt x="1399365" y="225046"/>
                  <a:pt x="1417572" y="232447"/>
                </a:cubicBezTo>
                <a:lnTo>
                  <a:pt x="1417572" y="264325"/>
                </a:lnTo>
                <a:cubicBezTo>
                  <a:pt x="1403347" y="278556"/>
                  <a:pt x="1377174" y="288234"/>
                  <a:pt x="1352708" y="288234"/>
                </a:cubicBezTo>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 name="Google Shape;13;p19"/>
          <p:cNvSpPr txBox="1"/>
          <p:nvPr>
            <p:ph type="ctrTitle"/>
          </p:nvPr>
        </p:nvSpPr>
        <p:spPr>
          <a:xfrm>
            <a:off x="480060" y="1508760"/>
            <a:ext cx="5307000" cy="1152600"/>
          </a:xfrm>
          <a:prstGeom prst="rect">
            <a:avLst/>
          </a:prstGeom>
          <a:noFill/>
          <a:ln>
            <a:noFill/>
          </a:ln>
        </p:spPr>
        <p:txBody>
          <a:bodyPr anchorCtr="0" anchor="t" bIns="0" lIns="68575" spcFirstLastPara="1" rIns="0" wrap="square" tIns="0">
            <a:noAutofit/>
          </a:bodyPr>
          <a:lstStyle>
            <a:lvl1pPr lvl="0" marR="0" rtl="0" algn="l">
              <a:lnSpc>
                <a:spcPct val="90000"/>
              </a:lnSpc>
              <a:spcBef>
                <a:spcPts val="0"/>
              </a:spcBef>
              <a:spcAft>
                <a:spcPts val="0"/>
              </a:spcAft>
              <a:buClr>
                <a:schemeClr val="lt1"/>
              </a:buClr>
              <a:buSzPts val="4500"/>
              <a:buFont typeface="Montserrat Light"/>
              <a:buNone/>
              <a:defRPr b="0" i="0" sz="4500" u="none" cap="none" strike="noStrike">
                <a:solidFill>
                  <a:schemeClr val="lt1"/>
                </a:solidFill>
                <a:latin typeface="Montserrat Light"/>
                <a:ea typeface="Montserrat Light"/>
                <a:cs typeface="Montserrat Light"/>
                <a:sym typeface="Montserrat Light"/>
              </a:defRPr>
            </a:lvl1pPr>
            <a:lvl2pPr lvl="1" marR="0" rtl="0" algn="l">
              <a:lnSpc>
                <a:spcPct val="100000"/>
              </a:lnSpc>
              <a:spcBef>
                <a:spcPts val="50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4" name="Shape 14"/>
        <p:cNvGrpSpPr/>
        <p:nvPr/>
      </p:nvGrpSpPr>
      <p:grpSpPr>
        <a:xfrm>
          <a:off x="0" y="0"/>
          <a:ext cx="0" cy="0"/>
          <a:chOff x="0" y="0"/>
          <a:chExt cx="0" cy="0"/>
        </a:xfrm>
      </p:grpSpPr>
      <p:sp>
        <p:nvSpPr>
          <p:cNvPr descr="Virtusa Logo" id="15" name="Google Shape;15;p20"/>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 name="Google Shape;16;p20"/>
          <p:cNvSpPr txBox="1"/>
          <p:nvPr>
            <p:ph type="title"/>
          </p:nvPr>
        </p:nvSpPr>
        <p:spPr>
          <a:xfrm>
            <a:off x="480060" y="342900"/>
            <a:ext cx="8125800" cy="705300"/>
          </a:xfrm>
          <a:prstGeom prst="rect">
            <a:avLst/>
          </a:prstGeom>
          <a:noFill/>
          <a:ln>
            <a:noFill/>
          </a:ln>
        </p:spPr>
        <p:txBody>
          <a:bodyPr anchorCtr="0" anchor="t" bIns="0" lIns="68575" spcFirstLastPara="1" rIns="0" wrap="square" tIns="0">
            <a:noAutofit/>
          </a:bodyPr>
          <a:lstStyle>
            <a:lvl1pPr lvl="0" marR="0" rtl="0" algn="l">
              <a:lnSpc>
                <a:spcPct val="90000"/>
              </a:lnSpc>
              <a:spcBef>
                <a:spcPts val="0"/>
              </a:spcBef>
              <a:spcAft>
                <a:spcPts val="0"/>
              </a:spcAft>
              <a:buClr>
                <a:schemeClr val="dk1"/>
              </a:buClr>
              <a:buSzPts val="2400"/>
              <a:buFont typeface="Montserrat Light"/>
              <a:buNone/>
              <a:defRPr b="0" i="0" sz="2400" u="none" cap="none" strike="noStrike">
                <a:solidFill>
                  <a:schemeClr val="dk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DARK">
  <p:cSld name="1_Title Only-DARK">
    <p:bg>
      <p:bgPr>
        <a:solidFill>
          <a:schemeClr val="accent2"/>
        </a:solidFill>
      </p:bgPr>
    </p:bg>
    <p:spTree>
      <p:nvGrpSpPr>
        <p:cNvPr id="17" name="Shape 17"/>
        <p:cNvGrpSpPr/>
        <p:nvPr/>
      </p:nvGrpSpPr>
      <p:grpSpPr>
        <a:xfrm>
          <a:off x="0" y="0"/>
          <a:ext cx="0" cy="0"/>
          <a:chOff x="0" y="0"/>
          <a:chExt cx="0" cy="0"/>
        </a:xfrm>
      </p:grpSpPr>
      <p:sp>
        <p:nvSpPr>
          <p:cNvPr id="18" name="Google Shape;18;p21"/>
          <p:cNvSpPr/>
          <p:nvPr/>
        </p:nvSpPr>
        <p:spPr>
          <a:xfrm>
            <a:off x="372292" y="4669972"/>
            <a:ext cx="2259900" cy="3855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 name="Google Shape;19;p21"/>
          <p:cNvSpPr txBox="1"/>
          <p:nvPr>
            <p:ph type="title"/>
          </p:nvPr>
        </p:nvSpPr>
        <p:spPr>
          <a:xfrm>
            <a:off x="548639" y="342900"/>
            <a:ext cx="8051700" cy="7053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2600"/>
              <a:buFont typeface="Montserrat Light"/>
              <a:buNone/>
              <a:defRPr b="0" i="0" sz="2600" u="none" cap="none" strike="noStrike">
                <a:solidFill>
                  <a:schemeClr val="lt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p21"/>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1" name="Google Shape;21;p21"/>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en" sz="800" u="none" cap="none" strike="noStrike">
                <a:solidFill>
                  <a:schemeClr val="lt2"/>
                </a:solidFill>
                <a:latin typeface="Montserrat"/>
                <a:ea typeface="Montserrat"/>
                <a:cs typeface="Montserrat"/>
                <a:sym typeface="Montserrat"/>
              </a:rPr>
              <a:t>‹#›</a:t>
            </a:fld>
            <a:endParaRPr b="1" i="0" sz="800" u="none" cap="none" strike="noStrike">
              <a:solidFill>
                <a:schemeClr val="lt2"/>
              </a:solidFill>
              <a:latin typeface="Montserrat"/>
              <a:ea typeface="Montserrat"/>
              <a:cs typeface="Montserrat"/>
              <a:sym typeface="Montserrat"/>
            </a:endParaRPr>
          </a:p>
        </p:txBody>
      </p:sp>
      <p:sp>
        <p:nvSpPr>
          <p:cNvPr id="22" name="Google Shape;22;p21"/>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DED4FF"/>
                </a:solidFill>
                <a:latin typeface="Montserrat"/>
                <a:ea typeface="Montserrat"/>
                <a:cs typeface="Montserrat"/>
                <a:sym typeface="Montserrat"/>
              </a:rPr>
              <a:t>© Virtusa Corporation. All Rights Reserved.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Grey fade with pattern/image">
  <p:cSld name="1_Grey fade with pattern/image">
    <p:bg>
      <p:bgPr>
        <a:solidFill>
          <a:srgbClr val="F2F2F2"/>
        </a:solidFill>
      </p:bgPr>
    </p:bg>
    <p:spTree>
      <p:nvGrpSpPr>
        <p:cNvPr id="23" name="Shape 23"/>
        <p:cNvGrpSpPr/>
        <p:nvPr/>
      </p:nvGrpSpPr>
      <p:grpSpPr>
        <a:xfrm>
          <a:off x="0" y="0"/>
          <a:ext cx="0" cy="0"/>
          <a:chOff x="0" y="0"/>
          <a:chExt cx="0" cy="0"/>
        </a:xfrm>
      </p:grpSpPr>
      <p:sp>
        <p:nvSpPr>
          <p:cNvPr id="24" name="Google Shape;24;p22"/>
          <p:cNvSpPr/>
          <p:nvPr/>
        </p:nvSpPr>
        <p:spPr>
          <a:xfrm>
            <a:off x="6034526" y="0"/>
            <a:ext cx="3103849" cy="1446119"/>
          </a:xfrm>
          <a:custGeom>
            <a:rect b="b" l="l" r="r" t="t"/>
            <a:pathLst>
              <a:path extrusionOk="0" h="1928159" w="4138465">
                <a:moveTo>
                  <a:pt x="0" y="0"/>
                </a:moveTo>
                <a:lnTo>
                  <a:pt x="4138465" y="0"/>
                </a:lnTo>
                <a:lnTo>
                  <a:pt x="4135245" y="63759"/>
                </a:lnTo>
                <a:cubicBezTo>
                  <a:pt x="4035985" y="1041152"/>
                  <a:pt x="3258959" y="1818178"/>
                  <a:pt x="2281566" y="1917438"/>
                </a:cubicBezTo>
                <a:lnTo>
                  <a:pt x="2069252" y="1928159"/>
                </a:lnTo>
                <a:lnTo>
                  <a:pt x="2069212" y="1928159"/>
                </a:lnTo>
                <a:lnTo>
                  <a:pt x="1856898" y="1917438"/>
                </a:lnTo>
                <a:cubicBezTo>
                  <a:pt x="879506" y="1818178"/>
                  <a:pt x="102479" y="1041152"/>
                  <a:pt x="3219" y="63759"/>
                </a:cubicBezTo>
                <a:close/>
              </a:path>
            </a:pathLst>
          </a:custGeom>
          <a:solidFill>
            <a:schemeClr val="lt1">
              <a:alpha val="49804"/>
            </a:scheme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25" name="Google Shape;25;p22"/>
          <p:cNvSpPr/>
          <p:nvPr/>
        </p:nvSpPr>
        <p:spPr>
          <a:xfrm>
            <a:off x="6372995" y="4561221"/>
            <a:ext cx="2426909" cy="582279"/>
          </a:xfrm>
          <a:custGeom>
            <a:rect b="b" l="l" r="r" t="t"/>
            <a:pathLst>
              <a:path extrusionOk="0" h="776372" w="3235878">
                <a:moveTo>
                  <a:pt x="1617939" y="0"/>
                </a:moveTo>
                <a:cubicBezTo>
                  <a:pt x="2263098" y="0"/>
                  <a:pt x="2839545" y="294190"/>
                  <a:pt x="3220449" y="755739"/>
                </a:cubicBezTo>
                <a:lnTo>
                  <a:pt x="3235878" y="776372"/>
                </a:lnTo>
                <a:lnTo>
                  <a:pt x="0" y="776372"/>
                </a:lnTo>
                <a:lnTo>
                  <a:pt x="15429" y="755739"/>
                </a:lnTo>
                <a:cubicBezTo>
                  <a:pt x="396333" y="294190"/>
                  <a:pt x="972780" y="0"/>
                  <a:pt x="1617939" y="0"/>
                </a:cubicBezTo>
                <a:close/>
              </a:path>
            </a:pathLst>
          </a:custGeom>
          <a:solidFill>
            <a:schemeClr val="lt1">
              <a:alpha val="49804"/>
            </a:scheme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26" name="Google Shape;26;p22"/>
          <p:cNvSpPr/>
          <p:nvPr>
            <p:ph idx="2" type="pic"/>
          </p:nvPr>
        </p:nvSpPr>
        <p:spPr>
          <a:xfrm>
            <a:off x="6070002" y="1459515"/>
            <a:ext cx="3106500" cy="3106500"/>
          </a:xfrm>
          <a:prstGeom prst="ellipse">
            <a:avLst/>
          </a:prstGeom>
          <a:solidFill>
            <a:srgbClr val="F2F2F2"/>
          </a:solidFill>
          <a:ln>
            <a:noFill/>
          </a:ln>
        </p:spPr>
      </p:sp>
      <p:sp>
        <p:nvSpPr>
          <p:cNvPr id="27" name="Google Shape;27;p22"/>
          <p:cNvSpPr txBox="1"/>
          <p:nvPr>
            <p:ph type="title"/>
          </p:nvPr>
        </p:nvSpPr>
        <p:spPr>
          <a:xfrm>
            <a:off x="548639" y="342900"/>
            <a:ext cx="8051700" cy="7053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600"/>
              <a:buFont typeface="Montserrat Light"/>
              <a:buNone/>
              <a:defRPr b="0" i="0" sz="2600" u="none" cap="none" strike="noStrike">
                <a:solidFill>
                  <a:schemeClr val="dk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23"/>
          <p:cNvSpPr txBox="1"/>
          <p:nvPr>
            <p:ph idx="10" type="dt"/>
          </p:nvPr>
        </p:nvSpPr>
        <p:spPr>
          <a:xfrm>
            <a:off x="390955" y="4326592"/>
            <a:ext cx="1824600" cy="2487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0" name="Google Shape;30;p23"/>
          <p:cNvSpPr txBox="1"/>
          <p:nvPr>
            <p:ph idx="11" type="ftr"/>
          </p:nvPr>
        </p:nvSpPr>
        <p:spPr>
          <a:xfrm>
            <a:off x="2671525" y="4326592"/>
            <a:ext cx="2476200" cy="2487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p23"/>
          <p:cNvSpPr txBox="1"/>
          <p:nvPr>
            <p:ph idx="12" type="sldNum"/>
          </p:nvPr>
        </p:nvSpPr>
        <p:spPr>
          <a:xfrm>
            <a:off x="5603687" y="4326592"/>
            <a:ext cx="1824600" cy="2487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graphite">
  <p:cSld name="Solid-graphite">
    <p:bg>
      <p:bgPr>
        <a:solidFill>
          <a:schemeClr val="accent2"/>
        </a:solidFill>
      </p:bgPr>
    </p:bg>
    <p:spTree>
      <p:nvGrpSpPr>
        <p:cNvPr id="32" name="Shape 32"/>
        <p:cNvGrpSpPr/>
        <p:nvPr/>
      </p:nvGrpSpPr>
      <p:grpSpPr>
        <a:xfrm>
          <a:off x="0" y="0"/>
          <a:ext cx="0" cy="0"/>
          <a:chOff x="0" y="0"/>
          <a:chExt cx="0" cy="0"/>
        </a:xfrm>
      </p:grpSpPr>
      <p:sp>
        <p:nvSpPr>
          <p:cNvPr id="33" name="Google Shape;33;p24"/>
          <p:cNvSpPr/>
          <p:nvPr/>
        </p:nvSpPr>
        <p:spPr>
          <a:xfrm>
            <a:off x="0" y="0"/>
            <a:ext cx="9144000" cy="51435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 name="Google Shape;34;p24"/>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en" sz="800" u="none" cap="none" strike="noStrike">
                <a:solidFill>
                  <a:schemeClr val="lt2"/>
                </a:solidFill>
                <a:latin typeface="Montserrat"/>
                <a:ea typeface="Montserrat"/>
                <a:cs typeface="Montserrat"/>
                <a:sym typeface="Montserrat"/>
              </a:rPr>
              <a:t>‹#›</a:t>
            </a:fld>
            <a:endParaRPr b="1" i="0" sz="800" u="none" cap="none" strike="noStrike">
              <a:solidFill>
                <a:schemeClr val="lt2"/>
              </a:solidFill>
              <a:latin typeface="Montserrat"/>
              <a:ea typeface="Montserrat"/>
              <a:cs typeface="Montserrat"/>
              <a:sym typeface="Montserrat"/>
            </a:endParaRPr>
          </a:p>
        </p:txBody>
      </p:sp>
      <p:sp>
        <p:nvSpPr>
          <p:cNvPr id="35" name="Google Shape;35;p24"/>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DED4FF"/>
                </a:solidFill>
                <a:latin typeface="Montserrat"/>
                <a:ea typeface="Montserrat"/>
                <a:cs typeface="Montserrat"/>
                <a:sym typeface="Montserrat"/>
              </a:rPr>
              <a:t>© Virtusa Corporation. All Rights Reserved.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Headline - 3 blocks">
  <p:cSld name="Large Headline - 3 blocks">
    <p:spTree>
      <p:nvGrpSpPr>
        <p:cNvPr id="36" name="Shape 36"/>
        <p:cNvGrpSpPr/>
        <p:nvPr/>
      </p:nvGrpSpPr>
      <p:grpSpPr>
        <a:xfrm>
          <a:off x="0" y="0"/>
          <a:ext cx="0" cy="0"/>
          <a:chOff x="0" y="0"/>
          <a:chExt cx="0" cy="0"/>
        </a:xfrm>
      </p:grpSpPr>
      <p:sp>
        <p:nvSpPr>
          <p:cNvPr id="37" name="Google Shape;37;p25"/>
          <p:cNvSpPr/>
          <p:nvPr/>
        </p:nvSpPr>
        <p:spPr>
          <a:xfrm>
            <a:off x="7079876" y="0"/>
            <a:ext cx="2064300" cy="51435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38" name="Google Shape;38;p25"/>
          <p:cNvSpPr/>
          <p:nvPr/>
        </p:nvSpPr>
        <p:spPr>
          <a:xfrm>
            <a:off x="5015753" y="0"/>
            <a:ext cx="20643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39" name="Google Shape;39;p25"/>
          <p:cNvSpPr/>
          <p:nvPr/>
        </p:nvSpPr>
        <p:spPr>
          <a:xfrm>
            <a:off x="2951630" y="0"/>
            <a:ext cx="20643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0" name="Google Shape;40;p25"/>
          <p:cNvSpPr txBox="1"/>
          <p:nvPr>
            <p:ph type="title"/>
          </p:nvPr>
        </p:nvSpPr>
        <p:spPr>
          <a:xfrm>
            <a:off x="480059" y="1216959"/>
            <a:ext cx="2002800" cy="3126300"/>
          </a:xfrm>
          <a:prstGeom prst="rect">
            <a:avLst/>
          </a:prstGeom>
          <a:noFill/>
          <a:ln>
            <a:noFill/>
          </a:ln>
        </p:spPr>
        <p:txBody>
          <a:bodyPr anchorCtr="0" anchor="t" bIns="0" lIns="68575" spcFirstLastPara="1" rIns="68575" wrap="square" tIns="0">
            <a:noAutofit/>
          </a:bodyPr>
          <a:lstStyle>
            <a:lvl1pPr lvl="0" marR="0" rtl="0" algn="l">
              <a:lnSpc>
                <a:spcPct val="90000"/>
              </a:lnSpc>
              <a:spcBef>
                <a:spcPts val="0"/>
              </a:spcBef>
              <a:spcAft>
                <a:spcPts val="0"/>
              </a:spcAft>
              <a:buClr>
                <a:schemeClr val="dk1"/>
              </a:buClr>
              <a:buSzPts val="2600"/>
              <a:buFont typeface="Montserrat Light"/>
              <a:buNone/>
              <a:defRPr b="0" i="0" sz="2600" u="none" cap="none" strike="noStrike">
                <a:solidFill>
                  <a:schemeClr val="dk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p25"/>
          <p:cNvSpPr txBox="1"/>
          <p:nvPr>
            <p:ph idx="1" type="body"/>
          </p:nvPr>
        </p:nvSpPr>
        <p:spPr>
          <a:xfrm>
            <a:off x="3144757" y="1216959"/>
            <a:ext cx="1677900" cy="3126300"/>
          </a:xfrm>
          <a:prstGeom prst="rect">
            <a:avLst/>
          </a:prstGeom>
          <a:noFill/>
          <a:ln>
            <a:noFill/>
          </a:ln>
        </p:spPr>
        <p:txBody>
          <a:bodyPr anchorCtr="0" anchor="t" bIns="0" lIns="68575" spcFirstLastPara="1" rIns="68575" wrap="square" tIns="0">
            <a:noAutofit/>
          </a:bodyPr>
          <a:lstStyle>
            <a:lvl1pPr indent="-228600" lvl="0" marL="457200" marR="0" rtl="0" algn="l">
              <a:lnSpc>
                <a:spcPct val="90000"/>
              </a:lnSpc>
              <a:spcBef>
                <a:spcPts val="800"/>
              </a:spcBef>
              <a:spcAft>
                <a:spcPts val="0"/>
              </a:spcAft>
              <a:buClr>
                <a:schemeClr val="lt1"/>
              </a:buClr>
              <a:buSzPts val="1100"/>
              <a:buFont typeface="Arial"/>
              <a:buNone/>
              <a:defRPr b="0" i="0" sz="1100" u="none" cap="none" strike="noStrike">
                <a:solidFill>
                  <a:schemeClr val="lt1"/>
                </a:solidFill>
                <a:latin typeface="Montserrat"/>
                <a:ea typeface="Montserrat"/>
                <a:cs typeface="Montserrat"/>
                <a:sym typeface="Montserrat"/>
              </a:defRPr>
            </a:lvl1pPr>
            <a:lvl2pPr indent="-342900" lvl="1" marL="914400" marR="0" rtl="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2pPr>
            <a:lvl3pPr indent="-323850" lvl="2" marL="1371600" marR="0" rtl="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3pPr>
            <a:lvl4pPr indent="-317500" lvl="3" marL="1828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42" name="Google Shape;42;p25"/>
          <p:cNvSpPr txBox="1"/>
          <p:nvPr>
            <p:ph idx="2" type="body"/>
          </p:nvPr>
        </p:nvSpPr>
        <p:spPr>
          <a:xfrm>
            <a:off x="5211425" y="1216959"/>
            <a:ext cx="1677900" cy="3126300"/>
          </a:xfrm>
          <a:prstGeom prst="rect">
            <a:avLst/>
          </a:prstGeom>
          <a:noFill/>
          <a:ln>
            <a:noFill/>
          </a:ln>
        </p:spPr>
        <p:txBody>
          <a:bodyPr anchorCtr="0" anchor="t" bIns="0" lIns="68575" spcFirstLastPara="1" rIns="68575" wrap="square" tIns="0">
            <a:noAutofit/>
          </a:bodyPr>
          <a:lstStyle>
            <a:lvl1pPr indent="-228600" lvl="0" marL="457200" marR="0" rtl="0" algn="l">
              <a:lnSpc>
                <a:spcPct val="90000"/>
              </a:lnSpc>
              <a:spcBef>
                <a:spcPts val="800"/>
              </a:spcBef>
              <a:spcAft>
                <a:spcPts val="0"/>
              </a:spcAft>
              <a:buClr>
                <a:schemeClr val="lt1"/>
              </a:buClr>
              <a:buSzPts val="1100"/>
              <a:buFont typeface="Arial"/>
              <a:buNone/>
              <a:defRPr b="0" i="0" sz="1100" u="none" cap="none" strike="noStrike">
                <a:solidFill>
                  <a:schemeClr val="lt1"/>
                </a:solidFill>
                <a:latin typeface="Montserrat"/>
                <a:ea typeface="Montserrat"/>
                <a:cs typeface="Montserrat"/>
                <a:sym typeface="Montserrat"/>
              </a:defRPr>
            </a:lvl1pPr>
            <a:lvl2pPr indent="-342900" lvl="1" marL="914400" marR="0" rtl="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2pPr>
            <a:lvl3pPr indent="-323850" lvl="2" marL="1371600" marR="0" rtl="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3pPr>
            <a:lvl4pPr indent="-317500" lvl="3" marL="1828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43" name="Google Shape;43;p25"/>
          <p:cNvSpPr txBox="1"/>
          <p:nvPr>
            <p:ph idx="3" type="body"/>
          </p:nvPr>
        </p:nvSpPr>
        <p:spPr>
          <a:xfrm>
            <a:off x="7287361" y="1216959"/>
            <a:ext cx="1677900" cy="3126300"/>
          </a:xfrm>
          <a:prstGeom prst="rect">
            <a:avLst/>
          </a:prstGeom>
          <a:noFill/>
          <a:ln>
            <a:noFill/>
          </a:ln>
        </p:spPr>
        <p:txBody>
          <a:bodyPr anchorCtr="0" anchor="t" bIns="0" lIns="68575" spcFirstLastPara="1" rIns="68575" wrap="square" tIns="0">
            <a:noAutofit/>
          </a:bodyPr>
          <a:lstStyle>
            <a:lvl1pPr indent="-228600" lvl="0" marL="457200" marR="0" rtl="0" algn="l">
              <a:lnSpc>
                <a:spcPct val="90000"/>
              </a:lnSpc>
              <a:spcBef>
                <a:spcPts val="800"/>
              </a:spcBef>
              <a:spcAft>
                <a:spcPts val="0"/>
              </a:spcAft>
              <a:buClr>
                <a:schemeClr val="lt1"/>
              </a:buClr>
              <a:buSzPts val="1100"/>
              <a:buFont typeface="Arial"/>
              <a:buNone/>
              <a:defRPr b="0" i="0" sz="1100" u="none" cap="none" strike="noStrike">
                <a:solidFill>
                  <a:schemeClr val="lt1"/>
                </a:solidFill>
                <a:latin typeface="Montserrat"/>
                <a:ea typeface="Montserrat"/>
                <a:cs typeface="Montserrat"/>
                <a:sym typeface="Montserrat"/>
              </a:defRPr>
            </a:lvl1pPr>
            <a:lvl2pPr indent="-342900" lvl="1" marL="914400" marR="0" rtl="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2pPr>
            <a:lvl3pPr indent="-323850" lvl="2" marL="1371600" marR="0" rtl="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3pPr>
            <a:lvl4pPr indent="-317500" lvl="3" marL="1828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descr="Virtusa Logo" id="44" name="Google Shape;44;p25"/>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divider solid (Spark) - nologo">
  <p:cSld name="1_Section divider solid (Spark) - nologo">
    <p:spTree>
      <p:nvGrpSpPr>
        <p:cNvPr id="45" name="Shape 45"/>
        <p:cNvGrpSpPr/>
        <p:nvPr/>
      </p:nvGrpSpPr>
      <p:grpSpPr>
        <a:xfrm>
          <a:off x="0" y="0"/>
          <a:ext cx="0" cy="0"/>
          <a:chOff x="0" y="0"/>
          <a:chExt cx="0" cy="0"/>
        </a:xfrm>
      </p:grpSpPr>
      <p:sp>
        <p:nvSpPr>
          <p:cNvPr id="46" name="Google Shape;46;p26"/>
          <p:cNvSpPr/>
          <p:nvPr/>
        </p:nvSpPr>
        <p:spPr>
          <a:xfrm>
            <a:off x="0" y="0"/>
            <a:ext cx="9144000" cy="5143500"/>
          </a:xfrm>
          <a:prstGeom prst="rect">
            <a:avLst/>
          </a:prstGeom>
          <a:gradFill>
            <a:gsLst>
              <a:gs pos="0">
                <a:srgbClr val="F2F2F2"/>
              </a:gs>
              <a:gs pos="100000">
                <a:schemeClr val="lt1"/>
              </a:gs>
            </a:gsLst>
            <a:lin ang="0" scaled="0"/>
          </a:gra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47" name="Google Shape;47;p26"/>
          <p:cNvSpPr/>
          <p:nvPr/>
        </p:nvSpPr>
        <p:spPr>
          <a:xfrm>
            <a:off x="0" y="0"/>
            <a:ext cx="9144000" cy="5143500"/>
          </a:xfrm>
          <a:custGeom>
            <a:rect b="b" l="l" r="r" t="t"/>
            <a:pathLst>
              <a:path extrusionOk="0" h="6858000" w="12192000">
                <a:moveTo>
                  <a:pt x="0" y="4852599"/>
                </a:moveTo>
                <a:lnTo>
                  <a:pt x="137845" y="4936428"/>
                </a:lnTo>
                <a:cubicBezTo>
                  <a:pt x="380670" y="5068471"/>
                  <a:pt x="659017" y="5143502"/>
                  <a:pt x="955010" y="5143502"/>
                </a:cubicBezTo>
                <a:cubicBezTo>
                  <a:pt x="659473" y="5143502"/>
                  <a:pt x="381296" y="5218390"/>
                  <a:pt x="138491" y="5350282"/>
                </a:cubicBezTo>
                <a:lnTo>
                  <a:pt x="0" y="5434411"/>
                </a:lnTo>
                <a:close/>
                <a:moveTo>
                  <a:pt x="12192000" y="4852594"/>
                </a:moveTo>
                <a:lnTo>
                  <a:pt x="12192000" y="5434020"/>
                </a:lnTo>
                <a:lnTo>
                  <a:pt x="12054158" y="5350282"/>
                </a:lnTo>
                <a:cubicBezTo>
                  <a:pt x="11811333" y="5218390"/>
                  <a:pt x="11532986" y="5143502"/>
                  <a:pt x="11236993" y="5143502"/>
                </a:cubicBezTo>
                <a:cubicBezTo>
                  <a:pt x="11532530" y="5143502"/>
                  <a:pt x="11810707" y="5068613"/>
                  <a:pt x="12053512" y="4936721"/>
                </a:cubicBezTo>
                <a:close/>
                <a:moveTo>
                  <a:pt x="9523329" y="3429000"/>
                </a:moveTo>
                <a:cubicBezTo>
                  <a:pt x="9523329" y="4375184"/>
                  <a:pt x="10289816" y="5143502"/>
                  <a:pt x="11236993" y="5143502"/>
                </a:cubicBezTo>
                <a:cubicBezTo>
                  <a:pt x="10409485" y="5143502"/>
                  <a:pt x="9718092" y="5730629"/>
                  <a:pt x="9558174" y="6512256"/>
                </a:cubicBezTo>
                <a:lnTo>
                  <a:pt x="9523329" y="6858000"/>
                </a:lnTo>
                <a:lnTo>
                  <a:pt x="9523329" y="6858000"/>
                </a:lnTo>
                <a:lnTo>
                  <a:pt x="9488544" y="6512256"/>
                </a:lnTo>
                <a:cubicBezTo>
                  <a:pt x="9328884" y="5730629"/>
                  <a:pt x="8638445" y="5143502"/>
                  <a:pt x="7809665" y="5143502"/>
                </a:cubicBezTo>
                <a:cubicBezTo>
                  <a:pt x="8755385" y="5143502"/>
                  <a:pt x="9523329" y="4376641"/>
                  <a:pt x="9523329" y="3429000"/>
                </a:cubicBezTo>
                <a:close/>
                <a:moveTo>
                  <a:pt x="6096001" y="3429000"/>
                </a:moveTo>
                <a:cubicBezTo>
                  <a:pt x="6096001" y="4375184"/>
                  <a:pt x="6862485" y="5143502"/>
                  <a:pt x="7809665" y="5143502"/>
                </a:cubicBezTo>
                <a:cubicBezTo>
                  <a:pt x="6982160" y="5143502"/>
                  <a:pt x="6290765" y="5730629"/>
                  <a:pt x="6130846" y="6512256"/>
                </a:cubicBezTo>
                <a:lnTo>
                  <a:pt x="6096001" y="6858000"/>
                </a:lnTo>
                <a:lnTo>
                  <a:pt x="6096001" y="6858000"/>
                </a:lnTo>
                <a:lnTo>
                  <a:pt x="6061216" y="6512256"/>
                </a:lnTo>
                <a:cubicBezTo>
                  <a:pt x="5901556" y="5730629"/>
                  <a:pt x="5211118" y="5143502"/>
                  <a:pt x="4382338" y="5143502"/>
                </a:cubicBezTo>
                <a:cubicBezTo>
                  <a:pt x="5328058" y="5143502"/>
                  <a:pt x="6096001" y="4376641"/>
                  <a:pt x="6096001" y="3429000"/>
                </a:cubicBezTo>
                <a:close/>
                <a:moveTo>
                  <a:pt x="2668674" y="3429000"/>
                </a:moveTo>
                <a:cubicBezTo>
                  <a:pt x="2668674" y="4375184"/>
                  <a:pt x="3435160" y="5143502"/>
                  <a:pt x="4382338" y="5143502"/>
                </a:cubicBezTo>
                <a:cubicBezTo>
                  <a:pt x="3554833" y="5143502"/>
                  <a:pt x="2863438" y="5730629"/>
                  <a:pt x="2703519" y="6512256"/>
                </a:cubicBezTo>
                <a:lnTo>
                  <a:pt x="2668674" y="6858000"/>
                </a:lnTo>
                <a:lnTo>
                  <a:pt x="2668674" y="6858000"/>
                </a:lnTo>
                <a:lnTo>
                  <a:pt x="2633829" y="6512256"/>
                </a:lnTo>
                <a:cubicBezTo>
                  <a:pt x="2473910" y="5730629"/>
                  <a:pt x="1782515" y="5143502"/>
                  <a:pt x="955010" y="5143502"/>
                </a:cubicBezTo>
                <a:cubicBezTo>
                  <a:pt x="1900730" y="5143502"/>
                  <a:pt x="2668674" y="4376641"/>
                  <a:pt x="2668674" y="3429000"/>
                </a:cubicBezTo>
                <a:close/>
                <a:moveTo>
                  <a:pt x="0" y="1423599"/>
                </a:moveTo>
                <a:lnTo>
                  <a:pt x="137845" y="1507428"/>
                </a:lnTo>
                <a:cubicBezTo>
                  <a:pt x="380670" y="1639470"/>
                  <a:pt x="659017" y="1714501"/>
                  <a:pt x="955010" y="1714501"/>
                </a:cubicBezTo>
                <a:cubicBezTo>
                  <a:pt x="659473" y="1714501"/>
                  <a:pt x="381296" y="1789390"/>
                  <a:pt x="138491" y="1921281"/>
                </a:cubicBezTo>
                <a:lnTo>
                  <a:pt x="0" y="2005410"/>
                </a:lnTo>
                <a:close/>
                <a:moveTo>
                  <a:pt x="12192000" y="1423594"/>
                </a:moveTo>
                <a:lnTo>
                  <a:pt x="12192000" y="2005019"/>
                </a:lnTo>
                <a:lnTo>
                  <a:pt x="12054158" y="1921281"/>
                </a:lnTo>
                <a:cubicBezTo>
                  <a:pt x="11811333" y="1789390"/>
                  <a:pt x="11532986" y="1714501"/>
                  <a:pt x="11236993" y="1714501"/>
                </a:cubicBezTo>
                <a:cubicBezTo>
                  <a:pt x="11532530" y="1714501"/>
                  <a:pt x="11810707" y="1639613"/>
                  <a:pt x="12053512" y="1507721"/>
                </a:cubicBezTo>
                <a:close/>
                <a:moveTo>
                  <a:pt x="9523329" y="0"/>
                </a:moveTo>
                <a:cubicBezTo>
                  <a:pt x="9523329" y="946184"/>
                  <a:pt x="10289816" y="1714501"/>
                  <a:pt x="11236993" y="1714501"/>
                </a:cubicBezTo>
                <a:cubicBezTo>
                  <a:pt x="10291270" y="1714501"/>
                  <a:pt x="9523329" y="2481360"/>
                  <a:pt x="9523329" y="3429000"/>
                </a:cubicBezTo>
                <a:cubicBezTo>
                  <a:pt x="9523329" y="2481360"/>
                  <a:pt x="8756842" y="1714501"/>
                  <a:pt x="7809665" y="1714501"/>
                </a:cubicBezTo>
                <a:cubicBezTo>
                  <a:pt x="8755385" y="1714501"/>
                  <a:pt x="9523329" y="947641"/>
                  <a:pt x="9523329" y="0"/>
                </a:cubicBezTo>
                <a:close/>
                <a:moveTo>
                  <a:pt x="6096001" y="0"/>
                </a:moveTo>
                <a:cubicBezTo>
                  <a:pt x="6096001" y="946184"/>
                  <a:pt x="6862485" y="1714501"/>
                  <a:pt x="7809665" y="1714501"/>
                </a:cubicBezTo>
                <a:cubicBezTo>
                  <a:pt x="6863945" y="1714501"/>
                  <a:pt x="6096001" y="2481360"/>
                  <a:pt x="6096001" y="3429000"/>
                </a:cubicBezTo>
                <a:cubicBezTo>
                  <a:pt x="6096001" y="2481360"/>
                  <a:pt x="5329515" y="1714501"/>
                  <a:pt x="4382338" y="1714501"/>
                </a:cubicBezTo>
                <a:cubicBezTo>
                  <a:pt x="5328058" y="1714501"/>
                  <a:pt x="6096001" y="947641"/>
                  <a:pt x="6096001" y="0"/>
                </a:cubicBezTo>
                <a:close/>
                <a:moveTo>
                  <a:pt x="2668674" y="0"/>
                </a:moveTo>
                <a:cubicBezTo>
                  <a:pt x="2668674" y="946184"/>
                  <a:pt x="3435160" y="1714501"/>
                  <a:pt x="4382338" y="1714501"/>
                </a:cubicBezTo>
                <a:cubicBezTo>
                  <a:pt x="3436618" y="1714501"/>
                  <a:pt x="2668674" y="2481360"/>
                  <a:pt x="2668674" y="3429000"/>
                </a:cubicBezTo>
                <a:cubicBezTo>
                  <a:pt x="2668674" y="2481360"/>
                  <a:pt x="1900730" y="1714501"/>
                  <a:pt x="955010" y="1714501"/>
                </a:cubicBezTo>
                <a:cubicBezTo>
                  <a:pt x="1900730" y="1714501"/>
                  <a:pt x="2668674" y="947641"/>
                  <a:pt x="2668674" y="0"/>
                </a:cubicBezTo>
                <a:close/>
              </a:path>
            </a:pathLst>
          </a:custGeom>
          <a:gradFill>
            <a:gsLst>
              <a:gs pos="0">
                <a:schemeClr val="lt1"/>
              </a:gs>
              <a:gs pos="100000">
                <a:srgbClr val="F2F2F2"/>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 name="Google Shape;48;p26"/>
          <p:cNvSpPr txBox="1"/>
          <p:nvPr>
            <p:ph type="ctrTitle"/>
          </p:nvPr>
        </p:nvSpPr>
        <p:spPr>
          <a:xfrm>
            <a:off x="548640" y="1270748"/>
            <a:ext cx="7562100" cy="23634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3800"/>
              <a:buFont typeface="Georgia"/>
              <a:buNone/>
              <a:defRPr b="1" i="0" sz="3800" u="none" cap="none" strike="noStrike">
                <a:solidFill>
                  <a:schemeClr val="dk1"/>
                </a:solidFill>
                <a:latin typeface="Georgia"/>
                <a:ea typeface="Georgia"/>
                <a:cs typeface="Georgia"/>
                <a:sym typeface="Georgia"/>
              </a:defRPr>
            </a:lvl1pPr>
            <a:lvl2pPr lvl="1" marR="0" rtl="0" algn="l">
              <a:lnSpc>
                <a:spcPct val="100000"/>
              </a:lnSpc>
              <a:spcBef>
                <a:spcPts val="50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solid (Blue)">
  <p:cSld name="Section divider solid (Blue)">
    <p:bg>
      <p:bgPr>
        <a:solidFill>
          <a:schemeClr val="accent2"/>
        </a:solidFill>
      </p:bgPr>
    </p:bg>
    <p:spTree>
      <p:nvGrpSpPr>
        <p:cNvPr id="49" name="Shape 49"/>
        <p:cNvGrpSpPr/>
        <p:nvPr/>
      </p:nvGrpSpPr>
      <p:grpSpPr>
        <a:xfrm>
          <a:off x="0" y="0"/>
          <a:ext cx="0" cy="0"/>
          <a:chOff x="0" y="0"/>
          <a:chExt cx="0" cy="0"/>
        </a:xfrm>
      </p:grpSpPr>
      <p:sp>
        <p:nvSpPr>
          <p:cNvPr id="50" name="Google Shape;50;p27"/>
          <p:cNvSpPr/>
          <p:nvPr/>
        </p:nvSpPr>
        <p:spPr>
          <a:xfrm>
            <a:off x="0" y="0"/>
            <a:ext cx="9144000" cy="5143500"/>
          </a:xfrm>
          <a:prstGeom prst="rect">
            <a:avLst/>
          </a:prstGeom>
          <a:gradFill>
            <a:gsLst>
              <a:gs pos="0">
                <a:srgbClr val="1B1A4C"/>
              </a:gs>
              <a:gs pos="100000">
                <a:schemeClr val="accent2"/>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 name="Google Shape;51;p27"/>
          <p:cNvSpPr/>
          <p:nvPr/>
        </p:nvSpPr>
        <p:spPr>
          <a:xfrm>
            <a:off x="0" y="0"/>
            <a:ext cx="9144000" cy="5143500"/>
          </a:xfrm>
          <a:custGeom>
            <a:rect b="b" l="l" r="r" t="t"/>
            <a:pathLst>
              <a:path extrusionOk="0" h="6858000" w="12192000">
                <a:moveTo>
                  <a:pt x="0" y="4852599"/>
                </a:moveTo>
                <a:lnTo>
                  <a:pt x="137845" y="4936428"/>
                </a:lnTo>
                <a:cubicBezTo>
                  <a:pt x="380670" y="5068471"/>
                  <a:pt x="659017" y="5143502"/>
                  <a:pt x="955010" y="5143502"/>
                </a:cubicBezTo>
                <a:cubicBezTo>
                  <a:pt x="659473" y="5143502"/>
                  <a:pt x="381296" y="5218390"/>
                  <a:pt x="138491" y="5350282"/>
                </a:cubicBezTo>
                <a:lnTo>
                  <a:pt x="0" y="5434411"/>
                </a:lnTo>
                <a:close/>
                <a:moveTo>
                  <a:pt x="12192000" y="4852594"/>
                </a:moveTo>
                <a:lnTo>
                  <a:pt x="12192000" y="5434020"/>
                </a:lnTo>
                <a:lnTo>
                  <a:pt x="12054158" y="5350282"/>
                </a:lnTo>
                <a:cubicBezTo>
                  <a:pt x="11811333" y="5218390"/>
                  <a:pt x="11532986" y="5143502"/>
                  <a:pt x="11236993" y="5143502"/>
                </a:cubicBezTo>
                <a:cubicBezTo>
                  <a:pt x="11532530" y="5143502"/>
                  <a:pt x="11810707" y="5068613"/>
                  <a:pt x="12053512" y="4936721"/>
                </a:cubicBezTo>
                <a:close/>
                <a:moveTo>
                  <a:pt x="9523329" y="3429000"/>
                </a:moveTo>
                <a:cubicBezTo>
                  <a:pt x="9523329" y="4375184"/>
                  <a:pt x="10289816" y="5143502"/>
                  <a:pt x="11236993" y="5143502"/>
                </a:cubicBezTo>
                <a:cubicBezTo>
                  <a:pt x="10409485" y="5143502"/>
                  <a:pt x="9718092" y="5730629"/>
                  <a:pt x="9558174" y="6512256"/>
                </a:cubicBezTo>
                <a:lnTo>
                  <a:pt x="9523329" y="6858000"/>
                </a:lnTo>
                <a:lnTo>
                  <a:pt x="9523329" y="6858000"/>
                </a:lnTo>
                <a:lnTo>
                  <a:pt x="9488544" y="6512256"/>
                </a:lnTo>
                <a:cubicBezTo>
                  <a:pt x="9328884" y="5730629"/>
                  <a:pt x="8638445" y="5143502"/>
                  <a:pt x="7809665" y="5143502"/>
                </a:cubicBezTo>
                <a:cubicBezTo>
                  <a:pt x="8755385" y="5143502"/>
                  <a:pt x="9523329" y="4376641"/>
                  <a:pt x="9523329" y="3429000"/>
                </a:cubicBezTo>
                <a:close/>
                <a:moveTo>
                  <a:pt x="6096001" y="3429000"/>
                </a:moveTo>
                <a:cubicBezTo>
                  <a:pt x="6096001" y="4375184"/>
                  <a:pt x="6862485" y="5143502"/>
                  <a:pt x="7809665" y="5143502"/>
                </a:cubicBezTo>
                <a:cubicBezTo>
                  <a:pt x="6982160" y="5143502"/>
                  <a:pt x="6290765" y="5730629"/>
                  <a:pt x="6130846" y="6512256"/>
                </a:cubicBezTo>
                <a:lnTo>
                  <a:pt x="6096001" y="6858000"/>
                </a:lnTo>
                <a:lnTo>
                  <a:pt x="6096001" y="6858000"/>
                </a:lnTo>
                <a:lnTo>
                  <a:pt x="6061216" y="6512256"/>
                </a:lnTo>
                <a:cubicBezTo>
                  <a:pt x="5901556" y="5730629"/>
                  <a:pt x="5211118" y="5143502"/>
                  <a:pt x="4382338" y="5143502"/>
                </a:cubicBezTo>
                <a:cubicBezTo>
                  <a:pt x="5328058" y="5143502"/>
                  <a:pt x="6096001" y="4376641"/>
                  <a:pt x="6096001" y="3429000"/>
                </a:cubicBezTo>
                <a:close/>
                <a:moveTo>
                  <a:pt x="2668674" y="3429000"/>
                </a:moveTo>
                <a:cubicBezTo>
                  <a:pt x="2668674" y="4375184"/>
                  <a:pt x="3435160" y="5143502"/>
                  <a:pt x="4382338" y="5143502"/>
                </a:cubicBezTo>
                <a:cubicBezTo>
                  <a:pt x="3554833" y="5143502"/>
                  <a:pt x="2863438" y="5730629"/>
                  <a:pt x="2703519" y="6512256"/>
                </a:cubicBezTo>
                <a:lnTo>
                  <a:pt x="2668674" y="6858000"/>
                </a:lnTo>
                <a:lnTo>
                  <a:pt x="2668674" y="6858000"/>
                </a:lnTo>
                <a:lnTo>
                  <a:pt x="2633829" y="6512256"/>
                </a:lnTo>
                <a:cubicBezTo>
                  <a:pt x="2473910" y="5730629"/>
                  <a:pt x="1782515" y="5143502"/>
                  <a:pt x="955010" y="5143502"/>
                </a:cubicBezTo>
                <a:cubicBezTo>
                  <a:pt x="1900730" y="5143502"/>
                  <a:pt x="2668674" y="4376641"/>
                  <a:pt x="2668674" y="3429000"/>
                </a:cubicBezTo>
                <a:close/>
                <a:moveTo>
                  <a:pt x="0" y="1423599"/>
                </a:moveTo>
                <a:lnTo>
                  <a:pt x="137845" y="1507428"/>
                </a:lnTo>
                <a:cubicBezTo>
                  <a:pt x="380670" y="1639470"/>
                  <a:pt x="659017" y="1714501"/>
                  <a:pt x="955010" y="1714501"/>
                </a:cubicBezTo>
                <a:cubicBezTo>
                  <a:pt x="659473" y="1714501"/>
                  <a:pt x="381296" y="1789390"/>
                  <a:pt x="138491" y="1921281"/>
                </a:cubicBezTo>
                <a:lnTo>
                  <a:pt x="0" y="2005410"/>
                </a:lnTo>
                <a:close/>
                <a:moveTo>
                  <a:pt x="12192000" y="1423594"/>
                </a:moveTo>
                <a:lnTo>
                  <a:pt x="12192000" y="2005019"/>
                </a:lnTo>
                <a:lnTo>
                  <a:pt x="12054158" y="1921281"/>
                </a:lnTo>
                <a:cubicBezTo>
                  <a:pt x="11811333" y="1789390"/>
                  <a:pt x="11532986" y="1714501"/>
                  <a:pt x="11236993" y="1714501"/>
                </a:cubicBezTo>
                <a:cubicBezTo>
                  <a:pt x="11532530" y="1714501"/>
                  <a:pt x="11810707" y="1639613"/>
                  <a:pt x="12053512" y="1507721"/>
                </a:cubicBezTo>
                <a:close/>
                <a:moveTo>
                  <a:pt x="9523329" y="0"/>
                </a:moveTo>
                <a:cubicBezTo>
                  <a:pt x="9523329" y="946184"/>
                  <a:pt x="10289816" y="1714501"/>
                  <a:pt x="11236993" y="1714501"/>
                </a:cubicBezTo>
                <a:cubicBezTo>
                  <a:pt x="10291270" y="1714501"/>
                  <a:pt x="9523329" y="2481360"/>
                  <a:pt x="9523329" y="3429000"/>
                </a:cubicBezTo>
                <a:cubicBezTo>
                  <a:pt x="9523329" y="2481360"/>
                  <a:pt x="8756842" y="1714501"/>
                  <a:pt x="7809665" y="1714501"/>
                </a:cubicBezTo>
                <a:cubicBezTo>
                  <a:pt x="8755385" y="1714501"/>
                  <a:pt x="9523329" y="947641"/>
                  <a:pt x="9523329" y="0"/>
                </a:cubicBezTo>
                <a:close/>
                <a:moveTo>
                  <a:pt x="6096001" y="0"/>
                </a:moveTo>
                <a:cubicBezTo>
                  <a:pt x="6096001" y="946184"/>
                  <a:pt x="6862485" y="1714501"/>
                  <a:pt x="7809665" y="1714501"/>
                </a:cubicBezTo>
                <a:cubicBezTo>
                  <a:pt x="6863945" y="1714501"/>
                  <a:pt x="6096001" y="2481360"/>
                  <a:pt x="6096001" y="3429000"/>
                </a:cubicBezTo>
                <a:cubicBezTo>
                  <a:pt x="6096001" y="2481360"/>
                  <a:pt x="5329515" y="1714501"/>
                  <a:pt x="4382338" y="1714501"/>
                </a:cubicBezTo>
                <a:cubicBezTo>
                  <a:pt x="5328058" y="1714501"/>
                  <a:pt x="6096001" y="947641"/>
                  <a:pt x="6096001" y="0"/>
                </a:cubicBezTo>
                <a:close/>
                <a:moveTo>
                  <a:pt x="2668674" y="0"/>
                </a:moveTo>
                <a:cubicBezTo>
                  <a:pt x="2668674" y="946184"/>
                  <a:pt x="3435160" y="1714501"/>
                  <a:pt x="4382338" y="1714501"/>
                </a:cubicBezTo>
                <a:cubicBezTo>
                  <a:pt x="3436618" y="1714501"/>
                  <a:pt x="2668674" y="2481360"/>
                  <a:pt x="2668674" y="3429000"/>
                </a:cubicBezTo>
                <a:cubicBezTo>
                  <a:pt x="2668674" y="2481360"/>
                  <a:pt x="1900730" y="1714501"/>
                  <a:pt x="955010" y="1714501"/>
                </a:cubicBezTo>
                <a:cubicBezTo>
                  <a:pt x="1900730" y="1714501"/>
                  <a:pt x="2668674" y="947641"/>
                  <a:pt x="2668674" y="0"/>
                </a:cubicBezTo>
                <a:close/>
              </a:path>
            </a:pathLst>
          </a:custGeom>
          <a:gradFill>
            <a:gsLst>
              <a:gs pos="0">
                <a:srgbClr val="292772">
                  <a:alpha val="10980"/>
                </a:srgbClr>
              </a:gs>
              <a:gs pos="13000">
                <a:srgbClr val="292772">
                  <a:alpha val="10980"/>
                </a:srgbClr>
              </a:gs>
              <a:gs pos="100000">
                <a:srgbClr val="5E2CFE">
                  <a:alpha val="20000"/>
                </a:srgbClr>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 name="Google Shape;52;p27"/>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DED4FF"/>
                </a:solidFill>
                <a:latin typeface="Arial"/>
                <a:ea typeface="Arial"/>
                <a:cs typeface="Arial"/>
                <a:sym typeface="Arial"/>
              </a:rPr>
              <a:t>© Virtusa Corporation. All Rights Reserved.</a:t>
            </a:r>
            <a:endParaRPr b="0" i="0" sz="1100" u="none" cap="none" strike="noStrike">
              <a:solidFill>
                <a:srgbClr val="000000"/>
              </a:solidFill>
              <a:latin typeface="Arial"/>
              <a:ea typeface="Arial"/>
              <a:cs typeface="Arial"/>
              <a:sym typeface="Arial"/>
            </a:endParaRPr>
          </a:p>
        </p:txBody>
      </p:sp>
      <p:sp>
        <p:nvSpPr>
          <p:cNvPr id="53" name="Google Shape;53;p27"/>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en" sz="800" u="none" cap="none" strike="noStrike">
                <a:solidFill>
                  <a:schemeClr val="lt1"/>
                </a:solidFill>
                <a:latin typeface="Arial"/>
                <a:ea typeface="Arial"/>
                <a:cs typeface="Arial"/>
                <a:sym typeface="Arial"/>
              </a:rPr>
              <a:t>‹#›</a:t>
            </a:fld>
            <a:endParaRPr b="1" i="0" sz="800" u="none" cap="none" strike="noStrike">
              <a:solidFill>
                <a:schemeClr val="lt1"/>
              </a:solidFill>
              <a:latin typeface="Arial"/>
              <a:ea typeface="Arial"/>
              <a:cs typeface="Arial"/>
              <a:sym typeface="Arial"/>
            </a:endParaRPr>
          </a:p>
        </p:txBody>
      </p:sp>
      <p:sp>
        <p:nvSpPr>
          <p:cNvPr id="54" name="Google Shape;54;p27"/>
          <p:cNvSpPr txBox="1"/>
          <p:nvPr>
            <p:ph type="ctrTitle"/>
          </p:nvPr>
        </p:nvSpPr>
        <p:spPr>
          <a:xfrm>
            <a:off x="480060" y="1270748"/>
            <a:ext cx="7562100" cy="2363400"/>
          </a:xfrm>
          <a:prstGeom prst="rect">
            <a:avLst/>
          </a:prstGeom>
          <a:noFill/>
          <a:ln>
            <a:noFill/>
          </a:ln>
        </p:spPr>
        <p:txBody>
          <a:bodyPr anchorCtr="0" anchor="ctr" bIns="0" lIns="68575" spcFirstLastPara="1" rIns="0" wrap="square" tIns="0">
            <a:noAutofit/>
          </a:bodyPr>
          <a:lstStyle>
            <a:lvl1pPr lvl="0" marR="0" rtl="0" algn="l">
              <a:lnSpc>
                <a:spcPct val="90000"/>
              </a:lnSpc>
              <a:spcBef>
                <a:spcPts val="0"/>
              </a:spcBef>
              <a:spcAft>
                <a:spcPts val="0"/>
              </a:spcAft>
              <a:buClr>
                <a:schemeClr val="lt2"/>
              </a:buClr>
              <a:buSzPts val="4500"/>
              <a:buFont typeface="Montserrat"/>
              <a:buNone/>
              <a:defRPr b="0" i="0" sz="4500" u="none" cap="none" strike="noStrike">
                <a:solidFill>
                  <a:schemeClr val="lt2"/>
                </a:solidFill>
                <a:latin typeface="Montserrat"/>
                <a:ea typeface="Montserrat"/>
                <a:cs typeface="Montserrat"/>
                <a:sym typeface="Montserrat"/>
              </a:defRPr>
            </a:lvl1pPr>
            <a:lvl2pPr lvl="1" marR="0" rtl="0" algn="l">
              <a:lnSpc>
                <a:spcPct val="100000"/>
              </a:lnSpc>
              <a:spcBef>
                <a:spcPts val="50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descr="Virtusa Logo" id="55" name="Google Shape;55;p27"/>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4 Boxes + Intro">
  <p:cSld name="Photo - 4 Boxes + Intro">
    <p:spTree>
      <p:nvGrpSpPr>
        <p:cNvPr id="56" name="Shape 56"/>
        <p:cNvGrpSpPr/>
        <p:nvPr/>
      </p:nvGrpSpPr>
      <p:grpSpPr>
        <a:xfrm>
          <a:off x="0" y="0"/>
          <a:ext cx="0" cy="0"/>
          <a:chOff x="0" y="0"/>
          <a:chExt cx="0" cy="0"/>
        </a:xfrm>
      </p:grpSpPr>
      <p:sp>
        <p:nvSpPr>
          <p:cNvPr id="57" name="Google Shape;57;p28"/>
          <p:cNvSpPr/>
          <p:nvPr>
            <p:ph idx="2" type="pic"/>
          </p:nvPr>
        </p:nvSpPr>
        <p:spPr>
          <a:xfrm>
            <a:off x="548640" y="2191766"/>
            <a:ext cx="1851900" cy="1028700"/>
          </a:xfrm>
          <a:prstGeom prst="rect">
            <a:avLst/>
          </a:prstGeom>
          <a:solidFill>
            <a:srgbClr val="D8D8D8"/>
          </a:solidFill>
          <a:ln>
            <a:noFill/>
          </a:ln>
        </p:spPr>
      </p:sp>
      <p:sp>
        <p:nvSpPr>
          <p:cNvPr id="58" name="Google Shape;58;p28"/>
          <p:cNvSpPr/>
          <p:nvPr>
            <p:ph idx="3" type="pic"/>
          </p:nvPr>
        </p:nvSpPr>
        <p:spPr>
          <a:xfrm>
            <a:off x="2613078" y="2191766"/>
            <a:ext cx="1851900" cy="1028700"/>
          </a:xfrm>
          <a:prstGeom prst="rect">
            <a:avLst/>
          </a:prstGeom>
          <a:solidFill>
            <a:srgbClr val="D8D8D8"/>
          </a:solidFill>
          <a:ln>
            <a:noFill/>
          </a:ln>
        </p:spPr>
      </p:sp>
      <p:sp>
        <p:nvSpPr>
          <p:cNvPr id="59" name="Google Shape;59;p28"/>
          <p:cNvSpPr/>
          <p:nvPr>
            <p:ph idx="4" type="pic"/>
          </p:nvPr>
        </p:nvSpPr>
        <p:spPr>
          <a:xfrm>
            <a:off x="4677516" y="2191766"/>
            <a:ext cx="1851900" cy="1028700"/>
          </a:xfrm>
          <a:prstGeom prst="rect">
            <a:avLst/>
          </a:prstGeom>
          <a:solidFill>
            <a:srgbClr val="D8D8D8"/>
          </a:solidFill>
          <a:ln>
            <a:noFill/>
          </a:ln>
        </p:spPr>
      </p:sp>
      <p:sp>
        <p:nvSpPr>
          <p:cNvPr id="60" name="Google Shape;60;p28"/>
          <p:cNvSpPr/>
          <p:nvPr>
            <p:ph idx="5" type="pic"/>
          </p:nvPr>
        </p:nvSpPr>
        <p:spPr>
          <a:xfrm>
            <a:off x="6741955" y="2191766"/>
            <a:ext cx="1851900" cy="1028700"/>
          </a:xfrm>
          <a:prstGeom prst="rect">
            <a:avLst/>
          </a:prstGeom>
          <a:solidFill>
            <a:srgbClr val="D8D8D8"/>
          </a:solidFill>
          <a:ln>
            <a:noFill/>
          </a:ln>
        </p:spPr>
      </p:sp>
      <p:sp>
        <p:nvSpPr>
          <p:cNvPr id="61" name="Google Shape;61;p28"/>
          <p:cNvSpPr txBox="1"/>
          <p:nvPr>
            <p:ph idx="1" type="body"/>
          </p:nvPr>
        </p:nvSpPr>
        <p:spPr>
          <a:xfrm>
            <a:off x="480060" y="1303020"/>
            <a:ext cx="8113800" cy="705300"/>
          </a:xfrm>
          <a:prstGeom prst="rect">
            <a:avLst/>
          </a:prstGeom>
          <a:noFill/>
          <a:ln>
            <a:noFill/>
          </a:ln>
        </p:spPr>
        <p:txBody>
          <a:bodyPr anchorCtr="0" anchor="t" bIns="0" lIns="68575" spcFirstLastPara="1" rIns="68575" wrap="square" tIns="0">
            <a:noAutofit/>
          </a:bodyPr>
          <a:lstStyle>
            <a:lvl1pPr indent="-228600" lvl="0" marL="457200" marR="0" rtl="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rtl="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2" name="Google Shape;62;p28"/>
          <p:cNvSpPr txBox="1"/>
          <p:nvPr>
            <p:ph idx="6" type="body"/>
          </p:nvPr>
        </p:nvSpPr>
        <p:spPr>
          <a:xfrm>
            <a:off x="480060" y="3404152"/>
            <a:ext cx="1920300" cy="1154400"/>
          </a:xfrm>
          <a:prstGeom prst="rect">
            <a:avLst/>
          </a:prstGeom>
          <a:noFill/>
          <a:ln>
            <a:noFill/>
          </a:ln>
        </p:spPr>
        <p:txBody>
          <a:bodyPr anchorCtr="0" anchor="t" bIns="0" lIns="68575" spcFirstLastPara="1" rIns="68575" wrap="square" tIns="0">
            <a:noAutofit/>
          </a:bodyPr>
          <a:lstStyle>
            <a:lvl1pPr indent="-228600" lvl="0" marL="457200" marR="0" rtl="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rtl="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3" name="Google Shape;63;p28"/>
          <p:cNvSpPr txBox="1"/>
          <p:nvPr>
            <p:ph idx="7" type="body"/>
          </p:nvPr>
        </p:nvSpPr>
        <p:spPr>
          <a:xfrm>
            <a:off x="2550279" y="3404152"/>
            <a:ext cx="1914900" cy="1154400"/>
          </a:xfrm>
          <a:prstGeom prst="rect">
            <a:avLst/>
          </a:prstGeom>
          <a:noFill/>
          <a:ln>
            <a:noFill/>
          </a:ln>
        </p:spPr>
        <p:txBody>
          <a:bodyPr anchorCtr="0" anchor="t" bIns="0" lIns="68575" spcFirstLastPara="1" rIns="68575" wrap="square" tIns="0">
            <a:noAutofit/>
          </a:bodyPr>
          <a:lstStyle>
            <a:lvl1pPr indent="-228600" lvl="0" marL="457200" marR="0" rtl="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rtl="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4" name="Google Shape;64;p28"/>
          <p:cNvSpPr txBox="1"/>
          <p:nvPr>
            <p:ph idx="8" type="body"/>
          </p:nvPr>
        </p:nvSpPr>
        <p:spPr>
          <a:xfrm>
            <a:off x="4615170" y="3404152"/>
            <a:ext cx="1914300" cy="1154400"/>
          </a:xfrm>
          <a:prstGeom prst="rect">
            <a:avLst/>
          </a:prstGeom>
          <a:noFill/>
          <a:ln>
            <a:noFill/>
          </a:ln>
        </p:spPr>
        <p:txBody>
          <a:bodyPr anchorCtr="0" anchor="t" bIns="0" lIns="68575" spcFirstLastPara="1" rIns="68575" wrap="square" tIns="0">
            <a:noAutofit/>
          </a:bodyPr>
          <a:lstStyle>
            <a:lvl1pPr indent="-228600" lvl="0" marL="457200" marR="0" rtl="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rtl="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5" name="Google Shape;65;p28"/>
          <p:cNvSpPr txBox="1"/>
          <p:nvPr>
            <p:ph idx="9" type="body"/>
          </p:nvPr>
        </p:nvSpPr>
        <p:spPr>
          <a:xfrm>
            <a:off x="6680060" y="3404152"/>
            <a:ext cx="1920300" cy="1154400"/>
          </a:xfrm>
          <a:prstGeom prst="rect">
            <a:avLst/>
          </a:prstGeom>
          <a:noFill/>
          <a:ln>
            <a:noFill/>
          </a:ln>
        </p:spPr>
        <p:txBody>
          <a:bodyPr anchorCtr="0" anchor="t" bIns="0" lIns="68575" spcFirstLastPara="1" rIns="68575" wrap="square" tIns="0">
            <a:noAutofit/>
          </a:bodyPr>
          <a:lstStyle>
            <a:lvl1pPr indent="-228600" lvl="0" marL="457200" marR="0" rtl="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rtl="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descr="Virtusa Logo" id="66" name="Google Shape;66;p28"/>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ontserrat"/>
              <a:ea typeface="Montserrat"/>
              <a:cs typeface="Montserrat"/>
              <a:sym typeface="Montserrat"/>
            </a:endParaRPr>
          </a:p>
        </p:txBody>
      </p:sp>
      <p:sp>
        <p:nvSpPr>
          <p:cNvPr id="67" name="Google Shape;67;p28"/>
          <p:cNvSpPr txBox="1"/>
          <p:nvPr>
            <p:ph type="title"/>
          </p:nvPr>
        </p:nvSpPr>
        <p:spPr>
          <a:xfrm>
            <a:off x="480060" y="342900"/>
            <a:ext cx="8113800" cy="705300"/>
          </a:xfrm>
          <a:prstGeom prst="rect">
            <a:avLst/>
          </a:prstGeom>
          <a:noFill/>
          <a:ln>
            <a:noFill/>
          </a:ln>
        </p:spPr>
        <p:txBody>
          <a:bodyPr anchorCtr="0" anchor="t" bIns="0" lIns="68575" spcFirstLastPara="1" rIns="0" wrap="square" tIns="0">
            <a:noAutofit/>
          </a:bodyPr>
          <a:lstStyle>
            <a:lvl1pPr lvl="0" marR="0" rtl="0" algn="l">
              <a:lnSpc>
                <a:spcPct val="90000"/>
              </a:lnSpc>
              <a:spcBef>
                <a:spcPts val="0"/>
              </a:spcBef>
              <a:spcAft>
                <a:spcPts val="0"/>
              </a:spcAft>
              <a:buClr>
                <a:schemeClr val="dk1"/>
              </a:buClr>
              <a:buSzPts val="2400"/>
              <a:buFont typeface="Montserrat Light"/>
              <a:buNone/>
              <a:defRPr b="0" i="0" sz="2400" u="none" cap="none" strike="noStrike">
                <a:solidFill>
                  <a:schemeClr val="dk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5 Member Team">
  <p:cSld name="Photo - 5 Member Team">
    <p:spTree>
      <p:nvGrpSpPr>
        <p:cNvPr id="68" name="Shape 68"/>
        <p:cNvGrpSpPr/>
        <p:nvPr/>
      </p:nvGrpSpPr>
      <p:grpSpPr>
        <a:xfrm>
          <a:off x="0" y="0"/>
          <a:ext cx="0" cy="0"/>
          <a:chOff x="0" y="0"/>
          <a:chExt cx="0" cy="0"/>
        </a:xfrm>
      </p:grpSpPr>
      <p:sp>
        <p:nvSpPr>
          <p:cNvPr id="69" name="Google Shape;69;p29"/>
          <p:cNvSpPr/>
          <p:nvPr>
            <p:ph idx="2" type="pic"/>
          </p:nvPr>
        </p:nvSpPr>
        <p:spPr>
          <a:xfrm>
            <a:off x="7223372" y="1600908"/>
            <a:ext cx="1371600" cy="1371600"/>
          </a:xfrm>
          <a:prstGeom prst="ellipse">
            <a:avLst/>
          </a:prstGeom>
          <a:solidFill>
            <a:srgbClr val="D8D8D8"/>
          </a:solidFill>
          <a:ln>
            <a:noFill/>
          </a:ln>
        </p:spPr>
      </p:sp>
      <p:sp>
        <p:nvSpPr>
          <p:cNvPr id="70" name="Google Shape;70;p29"/>
          <p:cNvSpPr txBox="1"/>
          <p:nvPr>
            <p:ph idx="1" type="body"/>
          </p:nvPr>
        </p:nvSpPr>
        <p:spPr>
          <a:xfrm>
            <a:off x="5487282" y="3271796"/>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1000"/>
              <a:buFont typeface="Arial"/>
              <a:buNone/>
              <a:defRPr b="1" i="0" sz="10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1" name="Google Shape;71;p29"/>
          <p:cNvSpPr txBox="1"/>
          <p:nvPr>
            <p:ph idx="3" type="body"/>
          </p:nvPr>
        </p:nvSpPr>
        <p:spPr>
          <a:xfrm>
            <a:off x="5487282" y="3519593"/>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800"/>
              <a:buFont typeface="Arial"/>
              <a:buNone/>
              <a:defRPr b="0" i="0" sz="8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2" name="Google Shape;72;p29"/>
          <p:cNvSpPr/>
          <p:nvPr>
            <p:ph idx="4" type="pic"/>
          </p:nvPr>
        </p:nvSpPr>
        <p:spPr>
          <a:xfrm>
            <a:off x="3879069" y="1600908"/>
            <a:ext cx="1371600" cy="1371600"/>
          </a:xfrm>
          <a:prstGeom prst="ellipse">
            <a:avLst/>
          </a:prstGeom>
          <a:solidFill>
            <a:srgbClr val="D8D8D8"/>
          </a:solidFill>
          <a:ln>
            <a:noFill/>
          </a:ln>
        </p:spPr>
      </p:sp>
      <p:sp>
        <p:nvSpPr>
          <p:cNvPr id="73" name="Google Shape;73;p29"/>
          <p:cNvSpPr txBox="1"/>
          <p:nvPr>
            <p:ph idx="5" type="body"/>
          </p:nvPr>
        </p:nvSpPr>
        <p:spPr>
          <a:xfrm>
            <a:off x="3810588" y="3271796"/>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1000"/>
              <a:buFont typeface="Arial"/>
              <a:buNone/>
              <a:defRPr b="1" i="0" sz="10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4" name="Google Shape;74;p29"/>
          <p:cNvSpPr txBox="1"/>
          <p:nvPr>
            <p:ph idx="6" type="body"/>
          </p:nvPr>
        </p:nvSpPr>
        <p:spPr>
          <a:xfrm>
            <a:off x="3810588" y="3519593"/>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800"/>
              <a:buFont typeface="Arial"/>
              <a:buNone/>
              <a:defRPr b="0" i="0" sz="8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5" name="Google Shape;75;p29"/>
          <p:cNvSpPr/>
          <p:nvPr>
            <p:ph idx="7" type="pic"/>
          </p:nvPr>
        </p:nvSpPr>
        <p:spPr>
          <a:xfrm>
            <a:off x="2206917" y="1600908"/>
            <a:ext cx="1371600" cy="1371600"/>
          </a:xfrm>
          <a:prstGeom prst="ellipse">
            <a:avLst/>
          </a:prstGeom>
          <a:solidFill>
            <a:srgbClr val="D8D8D8"/>
          </a:solidFill>
          <a:ln>
            <a:noFill/>
          </a:ln>
        </p:spPr>
      </p:sp>
      <p:sp>
        <p:nvSpPr>
          <p:cNvPr id="76" name="Google Shape;76;p29"/>
          <p:cNvSpPr txBox="1"/>
          <p:nvPr>
            <p:ph idx="8" type="body"/>
          </p:nvPr>
        </p:nvSpPr>
        <p:spPr>
          <a:xfrm>
            <a:off x="2133894" y="3271796"/>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1000"/>
              <a:buFont typeface="Arial"/>
              <a:buNone/>
              <a:defRPr b="1" i="0" sz="10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7" name="Google Shape;77;p29"/>
          <p:cNvSpPr txBox="1"/>
          <p:nvPr>
            <p:ph idx="9" type="body"/>
          </p:nvPr>
        </p:nvSpPr>
        <p:spPr>
          <a:xfrm>
            <a:off x="2133894" y="3519593"/>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800"/>
              <a:buFont typeface="Arial"/>
              <a:buNone/>
              <a:defRPr b="0" i="0" sz="8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8" name="Google Shape;78;p29"/>
          <p:cNvSpPr/>
          <p:nvPr>
            <p:ph idx="13" type="pic"/>
          </p:nvPr>
        </p:nvSpPr>
        <p:spPr>
          <a:xfrm>
            <a:off x="534765" y="1600908"/>
            <a:ext cx="1371600" cy="1371600"/>
          </a:xfrm>
          <a:prstGeom prst="ellipse">
            <a:avLst/>
          </a:prstGeom>
          <a:solidFill>
            <a:srgbClr val="D8D8D8"/>
          </a:solidFill>
          <a:ln>
            <a:noFill/>
          </a:ln>
        </p:spPr>
      </p:sp>
      <p:sp>
        <p:nvSpPr>
          <p:cNvPr id="79" name="Google Shape;79;p29"/>
          <p:cNvSpPr txBox="1"/>
          <p:nvPr>
            <p:ph idx="14" type="body"/>
          </p:nvPr>
        </p:nvSpPr>
        <p:spPr>
          <a:xfrm>
            <a:off x="457200" y="3271796"/>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1000"/>
              <a:buFont typeface="Arial"/>
              <a:buNone/>
              <a:defRPr b="1" i="0" sz="10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0" name="Google Shape;80;p29"/>
          <p:cNvSpPr txBox="1"/>
          <p:nvPr>
            <p:ph idx="15" type="body"/>
          </p:nvPr>
        </p:nvSpPr>
        <p:spPr>
          <a:xfrm>
            <a:off x="457200" y="3519593"/>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800"/>
              <a:buFont typeface="Arial"/>
              <a:buNone/>
              <a:defRPr b="0" i="0" sz="8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1" name="Google Shape;81;p29"/>
          <p:cNvSpPr/>
          <p:nvPr>
            <p:ph idx="16" type="pic"/>
          </p:nvPr>
        </p:nvSpPr>
        <p:spPr>
          <a:xfrm>
            <a:off x="5551221" y="1600908"/>
            <a:ext cx="1371600" cy="1371600"/>
          </a:xfrm>
          <a:prstGeom prst="ellipse">
            <a:avLst/>
          </a:prstGeom>
          <a:solidFill>
            <a:srgbClr val="D8D8D8"/>
          </a:solidFill>
          <a:ln>
            <a:noFill/>
          </a:ln>
        </p:spPr>
      </p:sp>
      <p:sp>
        <p:nvSpPr>
          <p:cNvPr id="82" name="Google Shape;82;p29"/>
          <p:cNvSpPr txBox="1"/>
          <p:nvPr>
            <p:ph idx="17" type="body"/>
          </p:nvPr>
        </p:nvSpPr>
        <p:spPr>
          <a:xfrm>
            <a:off x="7163976" y="3271796"/>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1000"/>
              <a:buFont typeface="Arial"/>
              <a:buNone/>
              <a:defRPr b="1" i="0" sz="10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3" name="Google Shape;83;p29"/>
          <p:cNvSpPr txBox="1"/>
          <p:nvPr>
            <p:ph idx="18" type="body"/>
          </p:nvPr>
        </p:nvSpPr>
        <p:spPr>
          <a:xfrm>
            <a:off x="7163976" y="3519593"/>
            <a:ext cx="1512300" cy="247800"/>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90000"/>
              </a:lnSpc>
              <a:spcBef>
                <a:spcPts val="0"/>
              </a:spcBef>
              <a:spcAft>
                <a:spcPts val="0"/>
              </a:spcAft>
              <a:buClr>
                <a:schemeClr val="dk1"/>
              </a:buClr>
              <a:buSzPts val="800"/>
              <a:buFont typeface="Arial"/>
              <a:buNone/>
              <a:defRPr b="0" i="0" sz="800" u="none" cap="none" strike="noStrike">
                <a:solidFill>
                  <a:schemeClr val="dk1"/>
                </a:solidFill>
                <a:latin typeface="Montserrat"/>
                <a:ea typeface="Montserrat"/>
                <a:cs typeface="Montserrat"/>
                <a:sym typeface="Montserrat"/>
              </a:defRPr>
            </a:lvl1pPr>
            <a:lvl2pPr indent="-228600" lvl="1" marL="914400" marR="0" rtl="0" algn="l">
              <a:lnSpc>
                <a:spcPct val="90000"/>
              </a:lnSpc>
              <a:spcBef>
                <a:spcPts val="5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descr="Virtusa Logo" id="84" name="Google Shape;84;p29"/>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5" name="Google Shape;85;p29"/>
          <p:cNvSpPr txBox="1"/>
          <p:nvPr>
            <p:ph type="title"/>
          </p:nvPr>
        </p:nvSpPr>
        <p:spPr>
          <a:xfrm>
            <a:off x="480060" y="342900"/>
            <a:ext cx="8051700" cy="705300"/>
          </a:xfrm>
          <a:prstGeom prst="rect">
            <a:avLst/>
          </a:prstGeom>
          <a:noFill/>
          <a:ln>
            <a:noFill/>
          </a:ln>
        </p:spPr>
        <p:txBody>
          <a:bodyPr anchorCtr="0" anchor="t" bIns="0" lIns="68575" spcFirstLastPara="1" rIns="0" wrap="square" tIns="0">
            <a:noAutofit/>
          </a:bodyPr>
          <a:lstStyle>
            <a:lvl1pPr lvl="0" marR="0" rtl="0" algn="l">
              <a:lnSpc>
                <a:spcPct val="90000"/>
              </a:lnSpc>
              <a:spcBef>
                <a:spcPts val="0"/>
              </a:spcBef>
              <a:spcAft>
                <a:spcPts val="0"/>
              </a:spcAft>
              <a:buClr>
                <a:schemeClr val="dk1"/>
              </a:buClr>
              <a:buSzPts val="2400"/>
              <a:buFont typeface="Montserrat Light"/>
              <a:buNone/>
              <a:defRPr b="0" i="0" sz="2400" u="none" cap="none" strike="noStrike">
                <a:solidFill>
                  <a:schemeClr val="dk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86" name="Shape 86"/>
        <p:cNvGrpSpPr/>
        <p:nvPr/>
      </p:nvGrpSpPr>
      <p:grpSpPr>
        <a:xfrm>
          <a:off x="0" y="0"/>
          <a:ext cx="0" cy="0"/>
          <a:chOff x="0" y="0"/>
          <a:chExt cx="0" cy="0"/>
        </a:xfrm>
      </p:grpSpPr>
      <p:grpSp>
        <p:nvGrpSpPr>
          <p:cNvPr id="87" name="Google Shape;87;p30"/>
          <p:cNvGrpSpPr/>
          <p:nvPr/>
        </p:nvGrpSpPr>
        <p:grpSpPr>
          <a:xfrm>
            <a:off x="548785" y="4777368"/>
            <a:ext cx="1234330" cy="151310"/>
            <a:chOff x="3487075" y="6411984"/>
            <a:chExt cx="2373256" cy="290924"/>
          </a:xfrm>
        </p:grpSpPr>
        <p:sp>
          <p:nvSpPr>
            <p:cNvPr id="88" name="Google Shape;88;p30"/>
            <p:cNvSpPr/>
            <p:nvPr/>
          </p:nvSpPr>
          <p:spPr>
            <a:xfrm>
              <a:off x="4927757" y="6418246"/>
              <a:ext cx="932574" cy="279510"/>
            </a:xfrm>
            <a:custGeom>
              <a:rect b="b" l="l" r="r" t="t"/>
              <a:pathLst>
                <a:path extrusionOk="0" h="279510" w="932574">
                  <a:moveTo>
                    <a:pt x="569" y="6831"/>
                  </a:moveTo>
                  <a:lnTo>
                    <a:pt x="84210" y="6831"/>
                  </a:lnTo>
                  <a:lnTo>
                    <a:pt x="84210" y="28463"/>
                  </a:lnTo>
                  <a:lnTo>
                    <a:pt x="27311" y="28463"/>
                  </a:lnTo>
                  <a:lnTo>
                    <a:pt x="27311" y="53511"/>
                  </a:lnTo>
                  <a:lnTo>
                    <a:pt x="80797" y="53511"/>
                  </a:lnTo>
                  <a:lnTo>
                    <a:pt x="80797" y="74574"/>
                  </a:lnTo>
                  <a:lnTo>
                    <a:pt x="27311" y="74574"/>
                  </a:lnTo>
                  <a:lnTo>
                    <a:pt x="27311" y="103037"/>
                  </a:lnTo>
                  <a:lnTo>
                    <a:pt x="85348" y="103037"/>
                  </a:lnTo>
                  <a:lnTo>
                    <a:pt x="85348" y="124670"/>
                  </a:lnTo>
                  <a:lnTo>
                    <a:pt x="0" y="124670"/>
                  </a:lnTo>
                  <a:lnTo>
                    <a:pt x="0" y="6831"/>
                  </a:lnTo>
                  <a:close/>
                  <a:moveTo>
                    <a:pt x="104694" y="39279"/>
                  </a:moveTo>
                  <a:lnTo>
                    <a:pt x="129730" y="39279"/>
                  </a:lnTo>
                  <a:lnTo>
                    <a:pt x="129730" y="52942"/>
                  </a:lnTo>
                  <a:lnTo>
                    <a:pt x="130299" y="52942"/>
                  </a:lnTo>
                  <a:cubicBezTo>
                    <a:pt x="135989" y="43264"/>
                    <a:pt x="143954" y="37572"/>
                    <a:pt x="158179" y="37572"/>
                  </a:cubicBezTo>
                  <a:cubicBezTo>
                    <a:pt x="178663" y="37572"/>
                    <a:pt x="186060" y="48957"/>
                    <a:pt x="186060" y="68881"/>
                  </a:cubicBezTo>
                  <a:lnTo>
                    <a:pt x="186060" y="124670"/>
                  </a:lnTo>
                  <a:lnTo>
                    <a:pt x="161024" y="124670"/>
                  </a:lnTo>
                  <a:lnTo>
                    <a:pt x="161024" y="75713"/>
                  </a:lnTo>
                  <a:cubicBezTo>
                    <a:pt x="161024" y="64896"/>
                    <a:pt x="157610" y="59204"/>
                    <a:pt x="147368" y="59204"/>
                  </a:cubicBezTo>
                  <a:cubicBezTo>
                    <a:pt x="136558" y="59204"/>
                    <a:pt x="129730" y="66604"/>
                    <a:pt x="129730" y="77420"/>
                  </a:cubicBezTo>
                  <a:lnTo>
                    <a:pt x="129730" y="124670"/>
                  </a:lnTo>
                  <a:lnTo>
                    <a:pt x="104694" y="124670"/>
                  </a:lnTo>
                  <a:lnTo>
                    <a:pt x="104694" y="39279"/>
                  </a:lnTo>
                  <a:close/>
                  <a:moveTo>
                    <a:pt x="287340" y="39279"/>
                  </a:moveTo>
                  <a:lnTo>
                    <a:pt x="287340" y="58065"/>
                  </a:lnTo>
                  <a:lnTo>
                    <a:pt x="271408" y="58065"/>
                  </a:lnTo>
                  <a:cubicBezTo>
                    <a:pt x="273115" y="61481"/>
                    <a:pt x="273684" y="65466"/>
                    <a:pt x="273684" y="69451"/>
                  </a:cubicBezTo>
                  <a:cubicBezTo>
                    <a:pt x="273684" y="87667"/>
                    <a:pt x="261166" y="100760"/>
                    <a:pt x="239545" y="100760"/>
                  </a:cubicBezTo>
                  <a:cubicBezTo>
                    <a:pt x="234424" y="100760"/>
                    <a:pt x="229303" y="100191"/>
                    <a:pt x="225320" y="98483"/>
                  </a:cubicBezTo>
                  <a:cubicBezTo>
                    <a:pt x="223613" y="100191"/>
                    <a:pt x="223044" y="101899"/>
                    <a:pt x="223044" y="103607"/>
                  </a:cubicBezTo>
                  <a:cubicBezTo>
                    <a:pt x="223044" y="114992"/>
                    <a:pt x="285064" y="95068"/>
                    <a:pt x="285064" y="130932"/>
                  </a:cubicBezTo>
                  <a:cubicBezTo>
                    <a:pt x="285064" y="145163"/>
                    <a:pt x="276529" y="157118"/>
                    <a:pt x="240114" y="157118"/>
                  </a:cubicBezTo>
                  <a:cubicBezTo>
                    <a:pt x="208819" y="157118"/>
                    <a:pt x="198578" y="149717"/>
                    <a:pt x="198578" y="137763"/>
                  </a:cubicBezTo>
                  <a:cubicBezTo>
                    <a:pt x="198578" y="131501"/>
                    <a:pt x="201991" y="126377"/>
                    <a:pt x="207681" y="122962"/>
                  </a:cubicBezTo>
                  <a:cubicBezTo>
                    <a:pt x="203129" y="120115"/>
                    <a:pt x="200284" y="116131"/>
                    <a:pt x="200284" y="109869"/>
                  </a:cubicBezTo>
                  <a:cubicBezTo>
                    <a:pt x="200284" y="102468"/>
                    <a:pt x="203698" y="96206"/>
                    <a:pt x="212802" y="91652"/>
                  </a:cubicBezTo>
                  <a:cubicBezTo>
                    <a:pt x="207112" y="85959"/>
                    <a:pt x="204267" y="78559"/>
                    <a:pt x="204267" y="69451"/>
                  </a:cubicBezTo>
                  <a:cubicBezTo>
                    <a:pt x="204267" y="50665"/>
                    <a:pt x="216785" y="38141"/>
                    <a:pt x="238976" y="38141"/>
                  </a:cubicBezTo>
                  <a:cubicBezTo>
                    <a:pt x="243528" y="38141"/>
                    <a:pt x="247511" y="38710"/>
                    <a:pt x="251494" y="39849"/>
                  </a:cubicBezTo>
                  <a:lnTo>
                    <a:pt x="287340" y="39849"/>
                  </a:lnTo>
                  <a:close/>
                  <a:moveTo>
                    <a:pt x="222475" y="127516"/>
                  </a:moveTo>
                  <a:cubicBezTo>
                    <a:pt x="219630" y="129793"/>
                    <a:pt x="219061" y="132070"/>
                    <a:pt x="219061" y="133778"/>
                  </a:cubicBezTo>
                  <a:cubicBezTo>
                    <a:pt x="219061" y="138901"/>
                    <a:pt x="223044" y="141748"/>
                    <a:pt x="241821" y="141748"/>
                  </a:cubicBezTo>
                  <a:cubicBezTo>
                    <a:pt x="257183" y="141748"/>
                    <a:pt x="261735" y="137193"/>
                    <a:pt x="261735" y="133778"/>
                  </a:cubicBezTo>
                  <a:cubicBezTo>
                    <a:pt x="261735" y="125808"/>
                    <a:pt x="239545" y="129793"/>
                    <a:pt x="222475" y="127516"/>
                  </a:cubicBezTo>
                  <a:close/>
                  <a:moveTo>
                    <a:pt x="251494" y="69451"/>
                  </a:moveTo>
                  <a:cubicBezTo>
                    <a:pt x="251494" y="59773"/>
                    <a:pt x="248080" y="54080"/>
                    <a:pt x="239545" y="54080"/>
                  </a:cubicBezTo>
                  <a:cubicBezTo>
                    <a:pt x="231010" y="54080"/>
                    <a:pt x="227596" y="59773"/>
                    <a:pt x="227596" y="69451"/>
                  </a:cubicBezTo>
                  <a:cubicBezTo>
                    <a:pt x="227596" y="79128"/>
                    <a:pt x="231010" y="84821"/>
                    <a:pt x="239545" y="84821"/>
                  </a:cubicBezTo>
                  <a:cubicBezTo>
                    <a:pt x="247511" y="84821"/>
                    <a:pt x="251494" y="79128"/>
                    <a:pt x="251494" y="69451"/>
                  </a:cubicBezTo>
                  <a:close/>
                  <a:moveTo>
                    <a:pt x="299858" y="14232"/>
                  </a:moveTo>
                  <a:cubicBezTo>
                    <a:pt x="299858" y="5693"/>
                    <a:pt x="304979" y="0"/>
                    <a:pt x="314082" y="0"/>
                  </a:cubicBezTo>
                  <a:cubicBezTo>
                    <a:pt x="322617" y="0"/>
                    <a:pt x="328876" y="5693"/>
                    <a:pt x="328876" y="14232"/>
                  </a:cubicBezTo>
                  <a:cubicBezTo>
                    <a:pt x="328876" y="22771"/>
                    <a:pt x="323186" y="28463"/>
                    <a:pt x="314082" y="28463"/>
                  </a:cubicBezTo>
                  <a:cubicBezTo>
                    <a:pt x="304979" y="28463"/>
                    <a:pt x="299858" y="22771"/>
                    <a:pt x="299858" y="14232"/>
                  </a:cubicBezTo>
                  <a:close/>
                  <a:moveTo>
                    <a:pt x="301565" y="39279"/>
                  </a:moveTo>
                  <a:lnTo>
                    <a:pt x="326600" y="39279"/>
                  </a:lnTo>
                  <a:lnTo>
                    <a:pt x="326600" y="124670"/>
                  </a:lnTo>
                  <a:lnTo>
                    <a:pt x="301565" y="124670"/>
                  </a:lnTo>
                  <a:lnTo>
                    <a:pt x="301565" y="39279"/>
                  </a:lnTo>
                  <a:close/>
                  <a:moveTo>
                    <a:pt x="347653" y="39279"/>
                  </a:moveTo>
                  <a:lnTo>
                    <a:pt x="372688" y="39279"/>
                  </a:lnTo>
                  <a:lnTo>
                    <a:pt x="372688" y="52942"/>
                  </a:lnTo>
                  <a:lnTo>
                    <a:pt x="373258" y="52942"/>
                  </a:lnTo>
                  <a:cubicBezTo>
                    <a:pt x="378947" y="43264"/>
                    <a:pt x="386913" y="37572"/>
                    <a:pt x="401138" y="37572"/>
                  </a:cubicBezTo>
                  <a:cubicBezTo>
                    <a:pt x="421622" y="37572"/>
                    <a:pt x="429018" y="48957"/>
                    <a:pt x="429018" y="68881"/>
                  </a:cubicBezTo>
                  <a:lnTo>
                    <a:pt x="429018" y="124670"/>
                  </a:lnTo>
                  <a:lnTo>
                    <a:pt x="403983" y="124670"/>
                  </a:lnTo>
                  <a:lnTo>
                    <a:pt x="403983" y="75713"/>
                  </a:lnTo>
                  <a:cubicBezTo>
                    <a:pt x="403983" y="64896"/>
                    <a:pt x="400569" y="59204"/>
                    <a:pt x="390327" y="59204"/>
                  </a:cubicBezTo>
                  <a:cubicBezTo>
                    <a:pt x="379516" y="59204"/>
                    <a:pt x="372688" y="66604"/>
                    <a:pt x="372688" y="77420"/>
                  </a:cubicBezTo>
                  <a:lnTo>
                    <a:pt x="372688" y="124670"/>
                  </a:lnTo>
                  <a:lnTo>
                    <a:pt x="347653" y="124670"/>
                  </a:lnTo>
                  <a:lnTo>
                    <a:pt x="347653" y="39279"/>
                  </a:lnTo>
                  <a:close/>
                  <a:moveTo>
                    <a:pt x="526316" y="93360"/>
                  </a:moveTo>
                  <a:cubicBezTo>
                    <a:pt x="525178" y="111007"/>
                    <a:pt x="512660" y="126377"/>
                    <a:pt x="487055" y="126377"/>
                  </a:cubicBezTo>
                  <a:cubicBezTo>
                    <a:pt x="457468" y="126377"/>
                    <a:pt x="445519" y="108730"/>
                    <a:pt x="445519" y="81975"/>
                  </a:cubicBezTo>
                  <a:cubicBezTo>
                    <a:pt x="445519" y="55219"/>
                    <a:pt x="459744" y="37572"/>
                    <a:pt x="487624" y="37572"/>
                  </a:cubicBezTo>
                  <a:cubicBezTo>
                    <a:pt x="515505" y="37572"/>
                    <a:pt x="526316" y="54650"/>
                    <a:pt x="526316" y="83113"/>
                  </a:cubicBezTo>
                  <a:lnTo>
                    <a:pt x="526316" y="86529"/>
                  </a:lnTo>
                  <a:lnTo>
                    <a:pt x="470555" y="86529"/>
                  </a:lnTo>
                  <a:cubicBezTo>
                    <a:pt x="471123" y="99622"/>
                    <a:pt x="475676" y="107022"/>
                    <a:pt x="486486" y="107022"/>
                  </a:cubicBezTo>
                  <a:cubicBezTo>
                    <a:pt x="496159" y="107022"/>
                    <a:pt x="501280" y="100760"/>
                    <a:pt x="501280" y="93360"/>
                  </a:cubicBezTo>
                  <a:lnTo>
                    <a:pt x="526316" y="93360"/>
                  </a:lnTo>
                  <a:close/>
                  <a:moveTo>
                    <a:pt x="501280" y="72866"/>
                  </a:moveTo>
                  <a:cubicBezTo>
                    <a:pt x="500711" y="64327"/>
                    <a:pt x="496728" y="56357"/>
                    <a:pt x="486486" y="56357"/>
                  </a:cubicBezTo>
                  <a:cubicBezTo>
                    <a:pt x="476813" y="56357"/>
                    <a:pt x="472262" y="62050"/>
                    <a:pt x="471123" y="72866"/>
                  </a:cubicBezTo>
                  <a:lnTo>
                    <a:pt x="501280" y="72866"/>
                  </a:lnTo>
                  <a:close/>
                  <a:moveTo>
                    <a:pt x="619630" y="93360"/>
                  </a:moveTo>
                  <a:cubicBezTo>
                    <a:pt x="618492" y="111007"/>
                    <a:pt x="605974" y="126377"/>
                    <a:pt x="580370" y="126377"/>
                  </a:cubicBezTo>
                  <a:cubicBezTo>
                    <a:pt x="550782" y="126377"/>
                    <a:pt x="538833" y="108730"/>
                    <a:pt x="538833" y="81975"/>
                  </a:cubicBezTo>
                  <a:cubicBezTo>
                    <a:pt x="538833" y="55219"/>
                    <a:pt x="553058" y="37572"/>
                    <a:pt x="580939" y="37572"/>
                  </a:cubicBezTo>
                  <a:cubicBezTo>
                    <a:pt x="608819" y="37572"/>
                    <a:pt x="619630" y="54650"/>
                    <a:pt x="619630" y="83113"/>
                  </a:cubicBezTo>
                  <a:lnTo>
                    <a:pt x="619630" y="86529"/>
                  </a:lnTo>
                  <a:lnTo>
                    <a:pt x="564438" y="86529"/>
                  </a:lnTo>
                  <a:cubicBezTo>
                    <a:pt x="565007" y="99622"/>
                    <a:pt x="569559" y="107022"/>
                    <a:pt x="580370" y="107022"/>
                  </a:cubicBezTo>
                  <a:cubicBezTo>
                    <a:pt x="590042" y="107022"/>
                    <a:pt x="595164" y="100760"/>
                    <a:pt x="595164" y="93360"/>
                  </a:cubicBezTo>
                  <a:lnTo>
                    <a:pt x="619630" y="93360"/>
                  </a:lnTo>
                  <a:close/>
                  <a:moveTo>
                    <a:pt x="594594" y="72866"/>
                  </a:moveTo>
                  <a:cubicBezTo>
                    <a:pt x="594025" y="64327"/>
                    <a:pt x="590042" y="56357"/>
                    <a:pt x="579801" y="56357"/>
                  </a:cubicBezTo>
                  <a:cubicBezTo>
                    <a:pt x="570128" y="56357"/>
                    <a:pt x="565576" y="62050"/>
                    <a:pt x="564438" y="72866"/>
                  </a:cubicBezTo>
                  <a:lnTo>
                    <a:pt x="594594" y="72866"/>
                  </a:lnTo>
                  <a:close/>
                  <a:moveTo>
                    <a:pt x="636700" y="39279"/>
                  </a:moveTo>
                  <a:lnTo>
                    <a:pt x="661735" y="39279"/>
                  </a:lnTo>
                  <a:lnTo>
                    <a:pt x="661735" y="52942"/>
                  </a:lnTo>
                  <a:lnTo>
                    <a:pt x="662304" y="52942"/>
                  </a:lnTo>
                  <a:cubicBezTo>
                    <a:pt x="667994" y="43264"/>
                    <a:pt x="675391" y="37572"/>
                    <a:pt x="683926" y="37572"/>
                  </a:cubicBezTo>
                  <a:cubicBezTo>
                    <a:pt x="686202" y="37572"/>
                    <a:pt x="688478" y="38141"/>
                    <a:pt x="691323" y="38710"/>
                  </a:cubicBezTo>
                  <a:lnTo>
                    <a:pt x="691323" y="64896"/>
                  </a:lnTo>
                  <a:cubicBezTo>
                    <a:pt x="688478" y="63758"/>
                    <a:pt x="685064" y="63189"/>
                    <a:pt x="680512" y="63189"/>
                  </a:cubicBezTo>
                  <a:cubicBezTo>
                    <a:pt x="669701" y="63189"/>
                    <a:pt x="662304" y="70020"/>
                    <a:pt x="662304" y="81975"/>
                  </a:cubicBezTo>
                  <a:lnTo>
                    <a:pt x="662304" y="124670"/>
                  </a:lnTo>
                  <a:lnTo>
                    <a:pt x="637269" y="124670"/>
                  </a:lnTo>
                  <a:lnTo>
                    <a:pt x="637269" y="39279"/>
                  </a:lnTo>
                  <a:close/>
                  <a:moveTo>
                    <a:pt x="702702" y="14232"/>
                  </a:moveTo>
                  <a:cubicBezTo>
                    <a:pt x="702702" y="5693"/>
                    <a:pt x="707823" y="0"/>
                    <a:pt x="716927" y="0"/>
                  </a:cubicBezTo>
                  <a:cubicBezTo>
                    <a:pt x="725462" y="0"/>
                    <a:pt x="731721" y="5693"/>
                    <a:pt x="731721" y="14232"/>
                  </a:cubicBezTo>
                  <a:cubicBezTo>
                    <a:pt x="731721" y="22771"/>
                    <a:pt x="726031" y="28463"/>
                    <a:pt x="716927" y="28463"/>
                  </a:cubicBezTo>
                  <a:cubicBezTo>
                    <a:pt x="707823" y="28463"/>
                    <a:pt x="702702" y="22771"/>
                    <a:pt x="702702" y="14232"/>
                  </a:cubicBezTo>
                  <a:close/>
                  <a:moveTo>
                    <a:pt x="704409" y="39279"/>
                  </a:moveTo>
                  <a:lnTo>
                    <a:pt x="729445" y="39279"/>
                  </a:lnTo>
                  <a:lnTo>
                    <a:pt x="729445" y="124670"/>
                  </a:lnTo>
                  <a:lnTo>
                    <a:pt x="704409" y="124670"/>
                  </a:lnTo>
                  <a:lnTo>
                    <a:pt x="704409" y="39279"/>
                  </a:lnTo>
                  <a:close/>
                  <a:moveTo>
                    <a:pt x="750498" y="39279"/>
                  </a:moveTo>
                  <a:lnTo>
                    <a:pt x="775533" y="39279"/>
                  </a:lnTo>
                  <a:lnTo>
                    <a:pt x="775533" y="52942"/>
                  </a:lnTo>
                  <a:lnTo>
                    <a:pt x="776102" y="52942"/>
                  </a:lnTo>
                  <a:cubicBezTo>
                    <a:pt x="781792" y="43264"/>
                    <a:pt x="789758" y="37572"/>
                    <a:pt x="803982" y="37572"/>
                  </a:cubicBezTo>
                  <a:cubicBezTo>
                    <a:pt x="824466" y="37572"/>
                    <a:pt x="831863" y="48957"/>
                    <a:pt x="831863" y="68881"/>
                  </a:cubicBezTo>
                  <a:lnTo>
                    <a:pt x="831863" y="124670"/>
                  </a:lnTo>
                  <a:lnTo>
                    <a:pt x="806827" y="124670"/>
                  </a:lnTo>
                  <a:lnTo>
                    <a:pt x="806827" y="75713"/>
                  </a:lnTo>
                  <a:cubicBezTo>
                    <a:pt x="806827" y="64896"/>
                    <a:pt x="803414" y="59204"/>
                    <a:pt x="793172" y="59204"/>
                  </a:cubicBezTo>
                  <a:cubicBezTo>
                    <a:pt x="782361" y="59204"/>
                    <a:pt x="775533" y="66604"/>
                    <a:pt x="775533" y="77420"/>
                  </a:cubicBezTo>
                  <a:lnTo>
                    <a:pt x="775533" y="124670"/>
                  </a:lnTo>
                  <a:lnTo>
                    <a:pt x="750498" y="124670"/>
                  </a:lnTo>
                  <a:lnTo>
                    <a:pt x="750498" y="39279"/>
                  </a:lnTo>
                  <a:close/>
                  <a:moveTo>
                    <a:pt x="932574" y="39279"/>
                  </a:moveTo>
                  <a:lnTo>
                    <a:pt x="932574" y="58065"/>
                  </a:lnTo>
                  <a:lnTo>
                    <a:pt x="917212" y="58065"/>
                  </a:lnTo>
                  <a:cubicBezTo>
                    <a:pt x="918918" y="61481"/>
                    <a:pt x="919488" y="65466"/>
                    <a:pt x="919488" y="69451"/>
                  </a:cubicBezTo>
                  <a:cubicBezTo>
                    <a:pt x="919488" y="87667"/>
                    <a:pt x="906970" y="100760"/>
                    <a:pt x="885348" y="100760"/>
                  </a:cubicBezTo>
                  <a:cubicBezTo>
                    <a:pt x="880227" y="100760"/>
                    <a:pt x="875106" y="100191"/>
                    <a:pt x="871124" y="98483"/>
                  </a:cubicBezTo>
                  <a:cubicBezTo>
                    <a:pt x="869416" y="100191"/>
                    <a:pt x="868847" y="101899"/>
                    <a:pt x="868847" y="103607"/>
                  </a:cubicBezTo>
                  <a:cubicBezTo>
                    <a:pt x="868847" y="114992"/>
                    <a:pt x="930867" y="95068"/>
                    <a:pt x="930867" y="130932"/>
                  </a:cubicBezTo>
                  <a:cubicBezTo>
                    <a:pt x="930867" y="145163"/>
                    <a:pt x="922333" y="157118"/>
                    <a:pt x="885917" y="157118"/>
                  </a:cubicBezTo>
                  <a:cubicBezTo>
                    <a:pt x="854623" y="157118"/>
                    <a:pt x="844381" y="149717"/>
                    <a:pt x="844381" y="137763"/>
                  </a:cubicBezTo>
                  <a:cubicBezTo>
                    <a:pt x="844381" y="131501"/>
                    <a:pt x="847795" y="126377"/>
                    <a:pt x="853485" y="122962"/>
                  </a:cubicBezTo>
                  <a:cubicBezTo>
                    <a:pt x="848933" y="120115"/>
                    <a:pt x="846088" y="116131"/>
                    <a:pt x="846088" y="109869"/>
                  </a:cubicBezTo>
                  <a:cubicBezTo>
                    <a:pt x="846088" y="102468"/>
                    <a:pt x="849502" y="96206"/>
                    <a:pt x="858606" y="91652"/>
                  </a:cubicBezTo>
                  <a:cubicBezTo>
                    <a:pt x="852916" y="85959"/>
                    <a:pt x="850071" y="78559"/>
                    <a:pt x="850071" y="69451"/>
                  </a:cubicBezTo>
                  <a:cubicBezTo>
                    <a:pt x="850071" y="50665"/>
                    <a:pt x="862589" y="38141"/>
                    <a:pt x="884779" y="38141"/>
                  </a:cubicBezTo>
                  <a:cubicBezTo>
                    <a:pt x="889331" y="38141"/>
                    <a:pt x="893314" y="38710"/>
                    <a:pt x="897297" y="39849"/>
                  </a:cubicBezTo>
                  <a:lnTo>
                    <a:pt x="932574" y="39849"/>
                  </a:lnTo>
                  <a:close/>
                  <a:moveTo>
                    <a:pt x="867709" y="127516"/>
                  </a:moveTo>
                  <a:cubicBezTo>
                    <a:pt x="864864" y="129793"/>
                    <a:pt x="864296" y="132070"/>
                    <a:pt x="864296" y="133778"/>
                  </a:cubicBezTo>
                  <a:cubicBezTo>
                    <a:pt x="864296" y="138901"/>
                    <a:pt x="868279" y="141748"/>
                    <a:pt x="887055" y="141748"/>
                  </a:cubicBezTo>
                  <a:cubicBezTo>
                    <a:pt x="902418" y="141748"/>
                    <a:pt x="906970" y="137193"/>
                    <a:pt x="906970" y="133778"/>
                  </a:cubicBezTo>
                  <a:cubicBezTo>
                    <a:pt x="907539" y="125808"/>
                    <a:pt x="885348" y="129793"/>
                    <a:pt x="867709" y="127516"/>
                  </a:cubicBezTo>
                  <a:close/>
                  <a:moveTo>
                    <a:pt x="896728" y="69451"/>
                  </a:moveTo>
                  <a:cubicBezTo>
                    <a:pt x="896728" y="59773"/>
                    <a:pt x="893314" y="54080"/>
                    <a:pt x="884779" y="54080"/>
                  </a:cubicBezTo>
                  <a:cubicBezTo>
                    <a:pt x="876244" y="54080"/>
                    <a:pt x="872830" y="59773"/>
                    <a:pt x="872830" y="69451"/>
                  </a:cubicBezTo>
                  <a:cubicBezTo>
                    <a:pt x="872830" y="79128"/>
                    <a:pt x="876244" y="84821"/>
                    <a:pt x="884779" y="84821"/>
                  </a:cubicBezTo>
                  <a:cubicBezTo>
                    <a:pt x="893314" y="84821"/>
                    <a:pt x="896728" y="79128"/>
                    <a:pt x="896728" y="69451"/>
                  </a:cubicBezTo>
                  <a:close/>
                  <a:moveTo>
                    <a:pt x="569" y="159964"/>
                  </a:moveTo>
                  <a:lnTo>
                    <a:pt x="82504" y="159964"/>
                  </a:lnTo>
                  <a:lnTo>
                    <a:pt x="82504" y="181596"/>
                  </a:lnTo>
                  <a:lnTo>
                    <a:pt x="27311" y="181596"/>
                  </a:lnTo>
                  <a:lnTo>
                    <a:pt x="27311" y="208921"/>
                  </a:lnTo>
                  <a:lnTo>
                    <a:pt x="79090" y="208921"/>
                  </a:lnTo>
                  <a:lnTo>
                    <a:pt x="79090" y="229984"/>
                  </a:lnTo>
                  <a:lnTo>
                    <a:pt x="27311" y="229984"/>
                  </a:lnTo>
                  <a:lnTo>
                    <a:pt x="27311" y="277803"/>
                  </a:lnTo>
                  <a:lnTo>
                    <a:pt x="569" y="277803"/>
                  </a:lnTo>
                  <a:lnTo>
                    <a:pt x="569" y="159964"/>
                  </a:lnTo>
                  <a:close/>
                  <a:moveTo>
                    <a:pt x="99573" y="167365"/>
                  </a:moveTo>
                  <a:cubicBezTo>
                    <a:pt x="99573" y="158826"/>
                    <a:pt x="104694" y="153133"/>
                    <a:pt x="113798" y="153133"/>
                  </a:cubicBezTo>
                  <a:cubicBezTo>
                    <a:pt x="122333" y="153133"/>
                    <a:pt x="128592" y="158826"/>
                    <a:pt x="128592" y="167365"/>
                  </a:cubicBezTo>
                  <a:cubicBezTo>
                    <a:pt x="128592" y="175904"/>
                    <a:pt x="122902" y="181596"/>
                    <a:pt x="113798" y="181596"/>
                  </a:cubicBezTo>
                  <a:cubicBezTo>
                    <a:pt x="104694" y="181596"/>
                    <a:pt x="99573" y="175904"/>
                    <a:pt x="99573" y="167365"/>
                  </a:cubicBezTo>
                  <a:close/>
                  <a:moveTo>
                    <a:pt x="101280" y="192412"/>
                  </a:moveTo>
                  <a:lnTo>
                    <a:pt x="126316" y="192412"/>
                  </a:lnTo>
                  <a:lnTo>
                    <a:pt x="126316" y="277803"/>
                  </a:lnTo>
                  <a:lnTo>
                    <a:pt x="101280" y="277803"/>
                  </a:lnTo>
                  <a:lnTo>
                    <a:pt x="101280" y="192412"/>
                  </a:lnTo>
                  <a:close/>
                  <a:moveTo>
                    <a:pt x="147368" y="192412"/>
                  </a:moveTo>
                  <a:lnTo>
                    <a:pt x="172404" y="192412"/>
                  </a:lnTo>
                  <a:lnTo>
                    <a:pt x="172404" y="206075"/>
                  </a:lnTo>
                  <a:lnTo>
                    <a:pt x="172973" y="206075"/>
                  </a:lnTo>
                  <a:cubicBezTo>
                    <a:pt x="178663" y="196397"/>
                    <a:pt x="186060" y="190705"/>
                    <a:pt x="194595" y="190705"/>
                  </a:cubicBezTo>
                  <a:cubicBezTo>
                    <a:pt x="196871" y="190705"/>
                    <a:pt x="199146" y="191274"/>
                    <a:pt x="201991" y="191843"/>
                  </a:cubicBezTo>
                  <a:lnTo>
                    <a:pt x="201991" y="218029"/>
                  </a:lnTo>
                  <a:cubicBezTo>
                    <a:pt x="199146" y="216891"/>
                    <a:pt x="195733" y="216322"/>
                    <a:pt x="191181" y="216322"/>
                  </a:cubicBezTo>
                  <a:cubicBezTo>
                    <a:pt x="180370" y="216322"/>
                    <a:pt x="172973" y="223153"/>
                    <a:pt x="172973" y="235107"/>
                  </a:cubicBezTo>
                  <a:lnTo>
                    <a:pt x="172973" y="277803"/>
                  </a:lnTo>
                  <a:lnTo>
                    <a:pt x="147937" y="277803"/>
                  </a:lnTo>
                  <a:lnTo>
                    <a:pt x="147937" y="192412"/>
                  </a:lnTo>
                  <a:close/>
                  <a:moveTo>
                    <a:pt x="234993" y="249339"/>
                  </a:moveTo>
                  <a:cubicBezTo>
                    <a:pt x="235562" y="259017"/>
                    <a:pt x="242390" y="261863"/>
                    <a:pt x="250355" y="261863"/>
                  </a:cubicBezTo>
                  <a:cubicBezTo>
                    <a:pt x="258890" y="261863"/>
                    <a:pt x="262304" y="259017"/>
                    <a:pt x="262304" y="254463"/>
                  </a:cubicBezTo>
                  <a:cubicBezTo>
                    <a:pt x="262304" y="240231"/>
                    <a:pt x="213371" y="251047"/>
                    <a:pt x="213371" y="218029"/>
                  </a:cubicBezTo>
                  <a:cubicBezTo>
                    <a:pt x="213371" y="202659"/>
                    <a:pt x="224182" y="190705"/>
                    <a:pt x="248649" y="190705"/>
                  </a:cubicBezTo>
                  <a:cubicBezTo>
                    <a:pt x="272546" y="190705"/>
                    <a:pt x="285064" y="201521"/>
                    <a:pt x="285633" y="219737"/>
                  </a:cubicBezTo>
                  <a:lnTo>
                    <a:pt x="261735" y="219737"/>
                  </a:lnTo>
                  <a:cubicBezTo>
                    <a:pt x="261735" y="211767"/>
                    <a:pt x="256045" y="208352"/>
                    <a:pt x="248649" y="208352"/>
                  </a:cubicBezTo>
                  <a:cubicBezTo>
                    <a:pt x="240683" y="208352"/>
                    <a:pt x="238407" y="212337"/>
                    <a:pt x="238407" y="215183"/>
                  </a:cubicBezTo>
                  <a:cubicBezTo>
                    <a:pt x="238407" y="229415"/>
                    <a:pt x="287340" y="218599"/>
                    <a:pt x="287340" y="252185"/>
                  </a:cubicBezTo>
                  <a:cubicBezTo>
                    <a:pt x="287340" y="268125"/>
                    <a:pt x="276529" y="278941"/>
                    <a:pt x="250925" y="278941"/>
                  </a:cubicBezTo>
                  <a:cubicBezTo>
                    <a:pt x="226458" y="278941"/>
                    <a:pt x="211664" y="271541"/>
                    <a:pt x="210526" y="248770"/>
                  </a:cubicBezTo>
                  <a:lnTo>
                    <a:pt x="234993" y="248770"/>
                  </a:lnTo>
                  <a:close/>
                  <a:moveTo>
                    <a:pt x="308393" y="212337"/>
                  </a:moveTo>
                  <a:lnTo>
                    <a:pt x="297013" y="212337"/>
                  </a:lnTo>
                  <a:lnTo>
                    <a:pt x="297013" y="192412"/>
                  </a:lnTo>
                  <a:lnTo>
                    <a:pt x="308393" y="192412"/>
                  </a:lnTo>
                  <a:lnTo>
                    <a:pt x="308393" y="170211"/>
                  </a:lnTo>
                  <a:lnTo>
                    <a:pt x="333428" y="170211"/>
                  </a:lnTo>
                  <a:lnTo>
                    <a:pt x="333428" y="192412"/>
                  </a:lnTo>
                  <a:lnTo>
                    <a:pt x="353343" y="192412"/>
                  </a:lnTo>
                  <a:lnTo>
                    <a:pt x="353343" y="212337"/>
                  </a:lnTo>
                  <a:lnTo>
                    <a:pt x="333428" y="212337"/>
                  </a:lnTo>
                  <a:lnTo>
                    <a:pt x="333428" y="244785"/>
                  </a:lnTo>
                  <a:cubicBezTo>
                    <a:pt x="333428" y="252755"/>
                    <a:pt x="337411" y="256170"/>
                    <a:pt x="346515" y="256170"/>
                  </a:cubicBezTo>
                  <a:cubicBezTo>
                    <a:pt x="348791" y="256170"/>
                    <a:pt x="351067" y="256170"/>
                    <a:pt x="355050" y="255601"/>
                  </a:cubicBezTo>
                  <a:lnTo>
                    <a:pt x="355050" y="277803"/>
                  </a:lnTo>
                  <a:cubicBezTo>
                    <a:pt x="351636" y="278372"/>
                    <a:pt x="347084" y="279510"/>
                    <a:pt x="341963" y="279510"/>
                  </a:cubicBezTo>
                  <a:cubicBezTo>
                    <a:pt x="319772" y="279510"/>
                    <a:pt x="308393" y="269833"/>
                    <a:pt x="308393" y="245354"/>
                  </a:cubicBezTo>
                  <a:lnTo>
                    <a:pt x="308393" y="212337"/>
                  </a:lnTo>
                  <a:close/>
                </a:path>
              </a:pathLst>
            </a:custGeom>
            <a:solidFill>
              <a:srgbClr val="85838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9" name="Google Shape;89;p30"/>
            <p:cNvSpPr/>
            <p:nvPr/>
          </p:nvSpPr>
          <p:spPr>
            <a:xfrm>
              <a:off x="3487075" y="6411984"/>
              <a:ext cx="1250639" cy="290924"/>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rgbClr val="85838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90" name="Google Shape;90;p30"/>
          <p:cNvSpPr txBox="1"/>
          <p:nvPr>
            <p:ph type="title"/>
          </p:nvPr>
        </p:nvSpPr>
        <p:spPr>
          <a:xfrm>
            <a:off x="548639" y="342900"/>
            <a:ext cx="8051700" cy="7053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300"/>
              <a:buFont typeface="Georgia"/>
              <a:buNone/>
              <a:defRPr b="1" i="0" sz="23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5" name="Shape 95"/>
        <p:cNvGrpSpPr/>
        <p:nvPr/>
      </p:nvGrpSpPr>
      <p:grpSpPr>
        <a:xfrm>
          <a:off x="0" y="0"/>
          <a:ext cx="0" cy="0"/>
          <a:chOff x="0" y="0"/>
          <a:chExt cx="0" cy="0"/>
        </a:xfrm>
      </p:grpSpPr>
      <p:sp>
        <p:nvSpPr>
          <p:cNvPr id="96" name="Google Shape;96;p3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7" name="Google Shape;97;p3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8" name="Google Shape;9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sp>
        <p:nvSpPr>
          <p:cNvPr id="100" name="Google Shape;100;p3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1" name="Google Shape;101;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2" name="Shape 102"/>
        <p:cNvGrpSpPr/>
        <p:nvPr/>
      </p:nvGrpSpPr>
      <p:grpSpPr>
        <a:xfrm>
          <a:off x="0" y="0"/>
          <a:ext cx="0" cy="0"/>
          <a:chOff x="0" y="0"/>
          <a:chExt cx="0" cy="0"/>
        </a:xfrm>
      </p:grpSpPr>
      <p:sp>
        <p:nvSpPr>
          <p:cNvPr id="103" name="Google Shape;103;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4" name="Google Shape;104;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5" name="Google Shape;105;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6" name="Shape 106"/>
        <p:cNvGrpSpPr/>
        <p:nvPr/>
      </p:nvGrpSpPr>
      <p:grpSpPr>
        <a:xfrm>
          <a:off x="0" y="0"/>
          <a:ext cx="0" cy="0"/>
          <a:chOff x="0" y="0"/>
          <a:chExt cx="0" cy="0"/>
        </a:xfrm>
      </p:grpSpPr>
      <p:sp>
        <p:nvSpPr>
          <p:cNvPr id="107" name="Google Shape;107;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8" name="Google Shape;108;p3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9" name="Google Shape;109;p3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0" name="Google Shape;110;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 name="Google Shape;11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4" name="Shape 114"/>
        <p:cNvGrpSpPr/>
        <p:nvPr/>
      </p:nvGrpSpPr>
      <p:grpSpPr>
        <a:xfrm>
          <a:off x="0" y="0"/>
          <a:ext cx="0" cy="0"/>
          <a:chOff x="0" y="0"/>
          <a:chExt cx="0" cy="0"/>
        </a:xfrm>
      </p:grpSpPr>
      <p:sp>
        <p:nvSpPr>
          <p:cNvPr id="115" name="Google Shape;115;p3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6" name="Google Shape;116;p3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8" name="Shape 118"/>
        <p:cNvGrpSpPr/>
        <p:nvPr/>
      </p:nvGrpSpPr>
      <p:grpSpPr>
        <a:xfrm>
          <a:off x="0" y="0"/>
          <a:ext cx="0" cy="0"/>
          <a:chOff x="0" y="0"/>
          <a:chExt cx="0" cy="0"/>
        </a:xfrm>
      </p:grpSpPr>
      <p:sp>
        <p:nvSpPr>
          <p:cNvPr id="119" name="Google Shape;119;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0" name="Google Shape;120;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1" name="Shape 121"/>
        <p:cNvGrpSpPr/>
        <p:nvPr/>
      </p:nvGrpSpPr>
      <p:grpSpPr>
        <a:xfrm>
          <a:off x="0" y="0"/>
          <a:ext cx="0" cy="0"/>
          <a:chOff x="0" y="0"/>
          <a:chExt cx="0" cy="0"/>
        </a:xfrm>
      </p:grpSpPr>
      <p:sp>
        <p:nvSpPr>
          <p:cNvPr id="122" name="Google Shape;122;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4" name="Google Shape;124;p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5" name="Google Shape;125;p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6" name="Google Shape;126;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7" name="Shape 127"/>
        <p:cNvGrpSpPr/>
        <p:nvPr/>
      </p:nvGrpSpPr>
      <p:grpSpPr>
        <a:xfrm>
          <a:off x="0" y="0"/>
          <a:ext cx="0" cy="0"/>
          <a:chOff x="0" y="0"/>
          <a:chExt cx="0" cy="0"/>
        </a:xfrm>
      </p:grpSpPr>
      <p:sp>
        <p:nvSpPr>
          <p:cNvPr id="128" name="Google Shape;128;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29" name="Google Shape;129;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0" name="Shape 130"/>
        <p:cNvGrpSpPr/>
        <p:nvPr/>
      </p:nvGrpSpPr>
      <p:grpSpPr>
        <a:xfrm>
          <a:off x="0" y="0"/>
          <a:ext cx="0" cy="0"/>
          <a:chOff x="0" y="0"/>
          <a:chExt cx="0" cy="0"/>
        </a:xfrm>
      </p:grpSpPr>
      <p:sp>
        <p:nvSpPr>
          <p:cNvPr id="131" name="Google Shape;131;p4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2" name="Google Shape;132;p4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33" name="Google Shape;133;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
        <p:nvSpPr>
          <p:cNvPr id="135" name="Google Shape;13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Cyan)">
  <p:cSld name="6_Cover (Cyan)">
    <p:bg>
      <p:bgPr>
        <a:solidFill>
          <a:schemeClr val="accent1"/>
        </a:solidFill>
      </p:bgPr>
    </p:bg>
    <p:spTree>
      <p:nvGrpSpPr>
        <p:cNvPr id="136" name="Shape 136"/>
        <p:cNvGrpSpPr/>
        <p:nvPr/>
      </p:nvGrpSpPr>
      <p:grpSpPr>
        <a:xfrm>
          <a:off x="0" y="0"/>
          <a:ext cx="0" cy="0"/>
          <a:chOff x="0" y="0"/>
          <a:chExt cx="0" cy="0"/>
        </a:xfrm>
      </p:grpSpPr>
      <p:sp>
        <p:nvSpPr>
          <p:cNvPr id="137" name="Google Shape;137;p43"/>
          <p:cNvSpPr/>
          <p:nvPr/>
        </p:nvSpPr>
        <p:spPr>
          <a:xfrm>
            <a:off x="0" y="0"/>
            <a:ext cx="9144000" cy="5143500"/>
          </a:xfrm>
          <a:prstGeom prst="rect">
            <a:avLst/>
          </a:prstGeom>
          <a:gradFill>
            <a:gsLst>
              <a:gs pos="0">
                <a:srgbClr val="0E1122"/>
              </a:gs>
              <a:gs pos="22000">
                <a:srgbClr val="0E1122"/>
              </a:gs>
              <a:gs pos="60000">
                <a:srgbClr val="0F1223">
                  <a:alpha val="64314"/>
                </a:srgbClr>
              </a:gs>
              <a:gs pos="92000">
                <a:srgbClr val="0E1122">
                  <a:alpha val="0"/>
                </a:srgbClr>
              </a:gs>
              <a:gs pos="100000">
                <a:srgbClr val="0E1122">
                  <a:alpha val="0"/>
                </a:srgbClr>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38" name="Google Shape;138;p43"/>
          <p:cNvSpPr/>
          <p:nvPr/>
        </p:nvSpPr>
        <p:spPr>
          <a:xfrm>
            <a:off x="6608589" y="0"/>
            <a:ext cx="2535411" cy="5143500"/>
          </a:xfrm>
          <a:custGeom>
            <a:rect b="b" l="l" r="r" t="t"/>
            <a:pathLst>
              <a:path extrusionOk="0" h="6858000" w="3380548">
                <a:moveTo>
                  <a:pt x="3380548" y="6165003"/>
                </a:moveTo>
                <a:lnTo>
                  <a:pt x="3380548" y="6858000"/>
                </a:lnTo>
                <a:lnTo>
                  <a:pt x="2741215" y="6858000"/>
                </a:lnTo>
                <a:lnTo>
                  <a:pt x="2740048" y="6846425"/>
                </a:lnTo>
                <a:cubicBezTo>
                  <a:pt x="2740048" y="6514912"/>
                  <a:pt x="2975200" y="6238321"/>
                  <a:pt x="3287803" y="6174353"/>
                </a:cubicBezTo>
                <a:close/>
                <a:moveTo>
                  <a:pt x="1369336" y="5509902"/>
                </a:moveTo>
                <a:lnTo>
                  <a:pt x="1358082" y="5621535"/>
                </a:lnTo>
                <a:cubicBezTo>
                  <a:pt x="1302111" y="5895062"/>
                  <a:pt x="1083350" y="6109291"/>
                  <a:pt x="807445" y="6158575"/>
                </a:cubicBezTo>
                <a:lnTo>
                  <a:pt x="732953" y="6165148"/>
                </a:lnTo>
                <a:lnTo>
                  <a:pt x="824265" y="6174353"/>
                </a:lnTo>
                <a:cubicBezTo>
                  <a:pt x="1097793" y="6230325"/>
                  <a:pt x="1312022" y="6449086"/>
                  <a:pt x="1361305" y="6724990"/>
                </a:cubicBezTo>
                <a:lnTo>
                  <a:pt x="1369514" y="6818032"/>
                </a:lnTo>
                <a:lnTo>
                  <a:pt x="1380589" y="6708170"/>
                </a:lnTo>
                <a:cubicBezTo>
                  <a:pt x="1435419" y="6440225"/>
                  <a:pt x="1646461" y="6229183"/>
                  <a:pt x="1914407" y="6174353"/>
                </a:cubicBezTo>
                <a:lnTo>
                  <a:pt x="2005719" y="6165148"/>
                </a:lnTo>
                <a:lnTo>
                  <a:pt x="1931227" y="6158575"/>
                </a:lnTo>
                <a:cubicBezTo>
                  <a:pt x="1655323" y="6109291"/>
                  <a:pt x="1436561" y="5895062"/>
                  <a:pt x="1380589" y="5621535"/>
                </a:cubicBezTo>
                <a:close/>
                <a:moveTo>
                  <a:pt x="3380548" y="4801858"/>
                </a:moveTo>
                <a:lnTo>
                  <a:pt x="3380548" y="6164702"/>
                </a:lnTo>
                <a:lnTo>
                  <a:pt x="3287803" y="6155352"/>
                </a:lnTo>
                <a:cubicBezTo>
                  <a:pt x="2975200" y="6091384"/>
                  <a:pt x="2740048" y="5814794"/>
                  <a:pt x="2740048" y="5483280"/>
                </a:cubicBezTo>
                <a:cubicBezTo>
                  <a:pt x="2740048" y="5151766"/>
                  <a:pt x="2975200" y="4875175"/>
                  <a:pt x="3287803" y="4811207"/>
                </a:cubicBezTo>
                <a:close/>
                <a:moveTo>
                  <a:pt x="686010" y="4797270"/>
                </a:moveTo>
                <a:cubicBezTo>
                  <a:pt x="1017524" y="4797270"/>
                  <a:pt x="1294114" y="5032421"/>
                  <a:pt x="1358082" y="5345025"/>
                </a:cubicBezTo>
                <a:lnTo>
                  <a:pt x="1369336" y="5456656"/>
                </a:lnTo>
                <a:lnTo>
                  <a:pt x="1380589" y="5345025"/>
                </a:lnTo>
                <a:cubicBezTo>
                  <a:pt x="1444557" y="5032421"/>
                  <a:pt x="1721149" y="4797270"/>
                  <a:pt x="2052663" y="4797270"/>
                </a:cubicBezTo>
                <a:cubicBezTo>
                  <a:pt x="2431536" y="4797270"/>
                  <a:pt x="2738673" y="5104407"/>
                  <a:pt x="2738673" y="5483280"/>
                </a:cubicBezTo>
                <a:cubicBezTo>
                  <a:pt x="2738673" y="5814794"/>
                  <a:pt x="2503521" y="6091384"/>
                  <a:pt x="2190918" y="6155352"/>
                </a:cubicBezTo>
                <a:lnTo>
                  <a:pt x="2096678" y="6164853"/>
                </a:lnTo>
                <a:lnTo>
                  <a:pt x="2190918" y="6174353"/>
                </a:lnTo>
                <a:cubicBezTo>
                  <a:pt x="2503521" y="6238321"/>
                  <a:pt x="2738673" y="6514912"/>
                  <a:pt x="2738673" y="6846425"/>
                </a:cubicBezTo>
                <a:lnTo>
                  <a:pt x="2737506" y="6858000"/>
                </a:lnTo>
                <a:lnTo>
                  <a:pt x="1167" y="6858000"/>
                </a:lnTo>
                <a:lnTo>
                  <a:pt x="0" y="6846425"/>
                </a:lnTo>
                <a:cubicBezTo>
                  <a:pt x="0" y="6514912"/>
                  <a:pt x="235152" y="6238321"/>
                  <a:pt x="547755" y="6174353"/>
                </a:cubicBezTo>
                <a:lnTo>
                  <a:pt x="641995" y="6164853"/>
                </a:lnTo>
                <a:lnTo>
                  <a:pt x="547755" y="6155352"/>
                </a:lnTo>
                <a:cubicBezTo>
                  <a:pt x="235152" y="6091384"/>
                  <a:pt x="0" y="5814794"/>
                  <a:pt x="0" y="5483280"/>
                </a:cubicBezTo>
                <a:cubicBezTo>
                  <a:pt x="0" y="5104407"/>
                  <a:pt x="307137" y="4797270"/>
                  <a:pt x="686010" y="4797270"/>
                </a:cubicBezTo>
                <a:close/>
                <a:moveTo>
                  <a:pt x="3380548" y="3428463"/>
                </a:moveTo>
                <a:lnTo>
                  <a:pt x="3380548" y="4791307"/>
                </a:lnTo>
                <a:lnTo>
                  <a:pt x="3287803" y="4781958"/>
                </a:lnTo>
                <a:cubicBezTo>
                  <a:pt x="2975200" y="4717990"/>
                  <a:pt x="2740048" y="4441399"/>
                  <a:pt x="2740048" y="4109885"/>
                </a:cubicBezTo>
                <a:cubicBezTo>
                  <a:pt x="2740048" y="3778371"/>
                  <a:pt x="2975200" y="3501779"/>
                  <a:pt x="3287803" y="3437812"/>
                </a:cubicBezTo>
                <a:close/>
                <a:moveTo>
                  <a:pt x="1369336" y="2773363"/>
                </a:moveTo>
                <a:lnTo>
                  <a:pt x="1358082" y="2884995"/>
                </a:lnTo>
                <a:cubicBezTo>
                  <a:pt x="1302111" y="3158523"/>
                  <a:pt x="1083350" y="3372752"/>
                  <a:pt x="807445" y="3422034"/>
                </a:cubicBezTo>
                <a:lnTo>
                  <a:pt x="732952" y="3428607"/>
                </a:lnTo>
                <a:lnTo>
                  <a:pt x="824265" y="3437812"/>
                </a:lnTo>
                <a:cubicBezTo>
                  <a:pt x="1097793" y="3493784"/>
                  <a:pt x="1312022" y="3712545"/>
                  <a:pt x="1361305" y="3988449"/>
                </a:cubicBezTo>
                <a:lnTo>
                  <a:pt x="1369514" y="4081490"/>
                </a:lnTo>
                <a:lnTo>
                  <a:pt x="1380589" y="3971629"/>
                </a:lnTo>
                <a:cubicBezTo>
                  <a:pt x="1435419" y="3703683"/>
                  <a:pt x="1646461" y="3492641"/>
                  <a:pt x="1914407" y="3437811"/>
                </a:cubicBezTo>
                <a:lnTo>
                  <a:pt x="2005720" y="3428607"/>
                </a:lnTo>
                <a:lnTo>
                  <a:pt x="1931227" y="3422034"/>
                </a:lnTo>
                <a:cubicBezTo>
                  <a:pt x="1655323" y="3372752"/>
                  <a:pt x="1436561" y="3158523"/>
                  <a:pt x="1380589" y="2884995"/>
                </a:cubicBezTo>
                <a:close/>
                <a:moveTo>
                  <a:pt x="3380548" y="2065318"/>
                </a:moveTo>
                <a:lnTo>
                  <a:pt x="3380548" y="3428161"/>
                </a:lnTo>
                <a:lnTo>
                  <a:pt x="3287803" y="3418811"/>
                </a:lnTo>
                <a:cubicBezTo>
                  <a:pt x="2975200" y="3354844"/>
                  <a:pt x="2740048" y="3078254"/>
                  <a:pt x="2740048" y="2746739"/>
                </a:cubicBezTo>
                <a:cubicBezTo>
                  <a:pt x="2740048" y="2415225"/>
                  <a:pt x="2975200" y="2138635"/>
                  <a:pt x="3287803" y="2074667"/>
                </a:cubicBezTo>
                <a:close/>
                <a:moveTo>
                  <a:pt x="1369336" y="1401345"/>
                </a:moveTo>
                <a:lnTo>
                  <a:pt x="1358082" y="1512977"/>
                </a:lnTo>
                <a:cubicBezTo>
                  <a:pt x="1302111" y="1786504"/>
                  <a:pt x="1083350" y="2000734"/>
                  <a:pt x="807445" y="2050018"/>
                </a:cubicBezTo>
                <a:lnTo>
                  <a:pt x="686017" y="2060731"/>
                </a:lnTo>
                <a:lnTo>
                  <a:pt x="824265" y="2074668"/>
                </a:lnTo>
                <a:cubicBezTo>
                  <a:pt x="1097793" y="2130640"/>
                  <a:pt x="1312022" y="2349401"/>
                  <a:pt x="1361305" y="2625305"/>
                </a:cubicBezTo>
                <a:lnTo>
                  <a:pt x="1369514" y="2718345"/>
                </a:lnTo>
                <a:lnTo>
                  <a:pt x="1380589" y="2608485"/>
                </a:lnTo>
                <a:cubicBezTo>
                  <a:pt x="1435419" y="2340540"/>
                  <a:pt x="1646461" y="2129496"/>
                  <a:pt x="1914407" y="2074668"/>
                </a:cubicBezTo>
                <a:lnTo>
                  <a:pt x="2052655" y="2060731"/>
                </a:lnTo>
                <a:lnTo>
                  <a:pt x="1931227" y="2050016"/>
                </a:lnTo>
                <a:cubicBezTo>
                  <a:pt x="1655323" y="2000734"/>
                  <a:pt x="1436561" y="1786505"/>
                  <a:pt x="1380589" y="1512977"/>
                </a:cubicBezTo>
                <a:close/>
                <a:moveTo>
                  <a:pt x="3380548" y="693300"/>
                </a:moveTo>
                <a:lnTo>
                  <a:pt x="3380548" y="2056144"/>
                </a:lnTo>
                <a:lnTo>
                  <a:pt x="3287803" y="2046795"/>
                </a:lnTo>
                <a:cubicBezTo>
                  <a:pt x="2975200" y="1982827"/>
                  <a:pt x="2740048" y="1706235"/>
                  <a:pt x="2740048" y="1374722"/>
                </a:cubicBezTo>
                <a:cubicBezTo>
                  <a:pt x="2740048" y="1043208"/>
                  <a:pt x="2975200" y="766617"/>
                  <a:pt x="3287803" y="702649"/>
                </a:cubicBezTo>
                <a:close/>
                <a:moveTo>
                  <a:pt x="1369336" y="38200"/>
                </a:moveTo>
                <a:lnTo>
                  <a:pt x="1358082" y="149831"/>
                </a:lnTo>
                <a:cubicBezTo>
                  <a:pt x="1302111" y="423360"/>
                  <a:pt x="1083350" y="637588"/>
                  <a:pt x="807445" y="686872"/>
                </a:cubicBezTo>
                <a:lnTo>
                  <a:pt x="732955" y="693445"/>
                </a:lnTo>
                <a:lnTo>
                  <a:pt x="824265" y="702649"/>
                </a:lnTo>
                <a:cubicBezTo>
                  <a:pt x="1097793" y="758621"/>
                  <a:pt x="1312022" y="977382"/>
                  <a:pt x="1361305" y="1253286"/>
                </a:cubicBezTo>
                <a:lnTo>
                  <a:pt x="1369514" y="1346328"/>
                </a:lnTo>
                <a:lnTo>
                  <a:pt x="1380589" y="1236467"/>
                </a:lnTo>
                <a:cubicBezTo>
                  <a:pt x="1435419" y="968521"/>
                  <a:pt x="1646461" y="757479"/>
                  <a:pt x="1914407" y="702649"/>
                </a:cubicBezTo>
                <a:lnTo>
                  <a:pt x="2005717" y="693445"/>
                </a:lnTo>
                <a:lnTo>
                  <a:pt x="1931227" y="686872"/>
                </a:lnTo>
                <a:cubicBezTo>
                  <a:pt x="1655323" y="637588"/>
                  <a:pt x="1436561" y="423360"/>
                  <a:pt x="1380589" y="149831"/>
                </a:cubicBezTo>
                <a:close/>
                <a:moveTo>
                  <a:pt x="2741215" y="0"/>
                </a:moveTo>
                <a:lnTo>
                  <a:pt x="3380548" y="0"/>
                </a:lnTo>
                <a:lnTo>
                  <a:pt x="3380548" y="692999"/>
                </a:lnTo>
                <a:lnTo>
                  <a:pt x="3287803" y="683649"/>
                </a:lnTo>
                <a:cubicBezTo>
                  <a:pt x="2975200" y="619681"/>
                  <a:pt x="2740048" y="343091"/>
                  <a:pt x="2740048" y="11576"/>
                </a:cubicBezTo>
                <a:close/>
                <a:moveTo>
                  <a:pt x="1167" y="0"/>
                </a:moveTo>
                <a:lnTo>
                  <a:pt x="2737506" y="0"/>
                </a:lnTo>
                <a:lnTo>
                  <a:pt x="2738673" y="11577"/>
                </a:lnTo>
                <a:cubicBezTo>
                  <a:pt x="2738673" y="343091"/>
                  <a:pt x="2503521" y="619681"/>
                  <a:pt x="2190918" y="683649"/>
                </a:cubicBezTo>
                <a:lnTo>
                  <a:pt x="2096679" y="693150"/>
                </a:lnTo>
                <a:lnTo>
                  <a:pt x="2190918" y="702649"/>
                </a:lnTo>
                <a:cubicBezTo>
                  <a:pt x="2503521" y="766617"/>
                  <a:pt x="2738673" y="1043208"/>
                  <a:pt x="2738673" y="1374722"/>
                </a:cubicBezTo>
                <a:cubicBezTo>
                  <a:pt x="2738673" y="1706236"/>
                  <a:pt x="2503521" y="1982827"/>
                  <a:pt x="2190918" y="2046795"/>
                </a:cubicBezTo>
                <a:lnTo>
                  <a:pt x="2052669" y="2060731"/>
                </a:lnTo>
                <a:lnTo>
                  <a:pt x="2190918" y="2074668"/>
                </a:lnTo>
                <a:cubicBezTo>
                  <a:pt x="2503521" y="2138635"/>
                  <a:pt x="2738673" y="2415227"/>
                  <a:pt x="2738673" y="2746740"/>
                </a:cubicBezTo>
                <a:cubicBezTo>
                  <a:pt x="2738673" y="3078255"/>
                  <a:pt x="2503521" y="3354844"/>
                  <a:pt x="2190918" y="3418811"/>
                </a:cubicBezTo>
                <a:lnTo>
                  <a:pt x="2096677" y="3428312"/>
                </a:lnTo>
                <a:lnTo>
                  <a:pt x="2190918" y="3437811"/>
                </a:lnTo>
                <a:cubicBezTo>
                  <a:pt x="2503521" y="3501779"/>
                  <a:pt x="2738673" y="3778371"/>
                  <a:pt x="2738673" y="4109885"/>
                </a:cubicBezTo>
                <a:cubicBezTo>
                  <a:pt x="2738673" y="4488758"/>
                  <a:pt x="2431536" y="4795895"/>
                  <a:pt x="2052663" y="4795895"/>
                </a:cubicBezTo>
                <a:cubicBezTo>
                  <a:pt x="1721149" y="4795895"/>
                  <a:pt x="1444557" y="4560743"/>
                  <a:pt x="1380589" y="4248140"/>
                </a:cubicBezTo>
                <a:lnTo>
                  <a:pt x="1369336" y="4136507"/>
                </a:lnTo>
                <a:lnTo>
                  <a:pt x="1358082" y="4248140"/>
                </a:lnTo>
                <a:cubicBezTo>
                  <a:pt x="1294114" y="4560743"/>
                  <a:pt x="1017524" y="4795895"/>
                  <a:pt x="686010" y="4795895"/>
                </a:cubicBezTo>
                <a:cubicBezTo>
                  <a:pt x="307137" y="4795895"/>
                  <a:pt x="0" y="4488758"/>
                  <a:pt x="0" y="4109885"/>
                </a:cubicBezTo>
                <a:cubicBezTo>
                  <a:pt x="0" y="3778371"/>
                  <a:pt x="235152" y="3501779"/>
                  <a:pt x="547755" y="3437812"/>
                </a:cubicBezTo>
                <a:lnTo>
                  <a:pt x="641996" y="3428312"/>
                </a:lnTo>
                <a:lnTo>
                  <a:pt x="547755" y="3418811"/>
                </a:lnTo>
                <a:cubicBezTo>
                  <a:pt x="235152" y="3354844"/>
                  <a:pt x="0" y="3078255"/>
                  <a:pt x="0" y="2746740"/>
                </a:cubicBezTo>
                <a:cubicBezTo>
                  <a:pt x="0" y="2415225"/>
                  <a:pt x="235152" y="2138636"/>
                  <a:pt x="547755" y="2074668"/>
                </a:cubicBezTo>
                <a:lnTo>
                  <a:pt x="686003" y="2060731"/>
                </a:lnTo>
                <a:lnTo>
                  <a:pt x="547755" y="2046795"/>
                </a:lnTo>
                <a:cubicBezTo>
                  <a:pt x="235152" y="1982827"/>
                  <a:pt x="0" y="1706236"/>
                  <a:pt x="0" y="1374723"/>
                </a:cubicBezTo>
                <a:cubicBezTo>
                  <a:pt x="0" y="1043208"/>
                  <a:pt x="235152" y="766617"/>
                  <a:pt x="547755" y="702649"/>
                </a:cubicBezTo>
                <a:lnTo>
                  <a:pt x="641992" y="693150"/>
                </a:lnTo>
                <a:lnTo>
                  <a:pt x="547755" y="683649"/>
                </a:lnTo>
                <a:cubicBezTo>
                  <a:pt x="235152" y="619681"/>
                  <a:pt x="0" y="343091"/>
                  <a:pt x="0" y="11577"/>
                </a:cubicBezTo>
                <a:close/>
              </a:path>
            </a:pathLst>
          </a:custGeom>
          <a:gradFill>
            <a:gsLst>
              <a:gs pos="0">
                <a:schemeClr val="dk2"/>
              </a:gs>
              <a:gs pos="15000">
                <a:schemeClr val="dk2"/>
              </a:gs>
              <a:gs pos="51000">
                <a:schemeClr val="accent1"/>
              </a:gs>
              <a:gs pos="88000">
                <a:schemeClr val="accent2"/>
              </a:gs>
              <a:gs pos="100000">
                <a:schemeClr val="accent2"/>
              </a:gs>
            </a:gsLst>
            <a:lin ang="7200017"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39" name="Google Shape;139;p43"/>
          <p:cNvSpPr txBox="1"/>
          <p:nvPr>
            <p:ph idx="1" type="body"/>
          </p:nvPr>
        </p:nvSpPr>
        <p:spPr>
          <a:xfrm>
            <a:off x="480060" y="4512611"/>
            <a:ext cx="4039500" cy="528000"/>
          </a:xfrm>
          <a:prstGeom prst="rect">
            <a:avLst/>
          </a:prstGeom>
          <a:noFill/>
          <a:ln>
            <a:noFill/>
          </a:ln>
        </p:spPr>
        <p:txBody>
          <a:bodyPr anchorCtr="0" anchor="t" bIns="0" lIns="68575" spcFirstLastPara="1" rIns="0" wrap="square" tIns="0">
            <a:noAutofit/>
          </a:bodyPr>
          <a:lstStyle>
            <a:lvl1pPr indent="-228600" lvl="0" marL="457200" marR="0" algn="l">
              <a:lnSpc>
                <a:spcPct val="90000"/>
              </a:lnSpc>
              <a:spcBef>
                <a:spcPts val="800"/>
              </a:spcBef>
              <a:spcAft>
                <a:spcPts val="0"/>
              </a:spcAft>
              <a:buClr>
                <a:schemeClr val="lt1"/>
              </a:buClr>
              <a:buSzPts val="1100"/>
              <a:buFont typeface="Arial"/>
              <a:buNone/>
              <a:defRPr b="0" i="0" sz="1100" u="none" cap="none" strike="noStrike">
                <a:solidFill>
                  <a:schemeClr val="lt1"/>
                </a:solidFill>
                <a:latin typeface="Montserrat"/>
                <a:ea typeface="Montserrat"/>
                <a:cs typeface="Montserrat"/>
                <a:sym typeface="Montserrat"/>
              </a:defRPr>
            </a:lvl1pPr>
            <a:lvl2pPr indent="-298450" lvl="1" marL="914400" marR="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2pPr>
            <a:lvl3pPr indent="-298450" lvl="2" marL="1371600" marR="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descr="Virtusa logo" id="140" name="Google Shape;140;p43"/>
          <p:cNvSpPr/>
          <p:nvPr/>
        </p:nvSpPr>
        <p:spPr>
          <a:xfrm>
            <a:off x="548640" y="391744"/>
            <a:ext cx="708187" cy="164495"/>
          </a:xfrm>
          <a:custGeom>
            <a:rect b="b" l="l" r="r" t="t"/>
            <a:pathLst>
              <a:path extrusionOk="0" h="342698" w="1475390">
                <a:moveTo>
                  <a:pt x="874756" y="339468"/>
                </a:moveTo>
                <a:lnTo>
                  <a:pt x="874756" y="339468"/>
                </a:lnTo>
                <a:cubicBezTo>
                  <a:pt x="817288" y="339468"/>
                  <a:pt x="766079" y="298481"/>
                  <a:pt x="766079" y="225046"/>
                </a:cubicBezTo>
                <a:lnTo>
                  <a:pt x="766079" y="74190"/>
                </a:lnTo>
                <a:lnTo>
                  <a:pt x="826392" y="74190"/>
                </a:lnTo>
                <a:lnTo>
                  <a:pt x="826392" y="229030"/>
                </a:lnTo>
                <a:cubicBezTo>
                  <a:pt x="826392" y="262617"/>
                  <a:pt x="844031" y="284819"/>
                  <a:pt x="874756" y="284819"/>
                </a:cubicBezTo>
                <a:cubicBezTo>
                  <a:pt x="906051" y="284819"/>
                  <a:pt x="923120" y="262617"/>
                  <a:pt x="923120" y="229030"/>
                </a:cubicBezTo>
                <a:lnTo>
                  <a:pt x="923120" y="74190"/>
                </a:lnTo>
                <a:lnTo>
                  <a:pt x="983433" y="74190"/>
                </a:lnTo>
                <a:lnTo>
                  <a:pt x="983433" y="225046"/>
                </a:lnTo>
                <a:cubicBezTo>
                  <a:pt x="984002" y="298481"/>
                  <a:pt x="932224" y="339468"/>
                  <a:pt x="874756" y="339468"/>
                </a:cubicBezTo>
                <a:moveTo>
                  <a:pt x="350147" y="-2661"/>
                </a:moveTo>
                <a:lnTo>
                  <a:pt x="290972" y="-2661"/>
                </a:lnTo>
                <a:lnTo>
                  <a:pt x="290972" y="68497"/>
                </a:lnTo>
                <a:cubicBezTo>
                  <a:pt x="321698" y="56542"/>
                  <a:pt x="344457" y="29787"/>
                  <a:pt x="350147" y="-2661"/>
                </a:cubicBezTo>
                <a:moveTo>
                  <a:pt x="290972" y="79883"/>
                </a:moveTo>
                <a:lnTo>
                  <a:pt x="290972" y="333207"/>
                </a:lnTo>
                <a:lnTo>
                  <a:pt x="351286" y="333207"/>
                </a:lnTo>
                <a:lnTo>
                  <a:pt x="351286" y="162995"/>
                </a:lnTo>
                <a:cubicBezTo>
                  <a:pt x="349579" y="125992"/>
                  <a:pt x="325681" y="92976"/>
                  <a:pt x="290972" y="79883"/>
                </a:cubicBezTo>
                <a:moveTo>
                  <a:pt x="498654" y="74190"/>
                </a:moveTo>
                <a:cubicBezTo>
                  <a:pt x="447444" y="74190"/>
                  <a:pt x="405909" y="115747"/>
                  <a:pt x="405909" y="166981"/>
                </a:cubicBezTo>
                <a:lnTo>
                  <a:pt x="405909" y="333207"/>
                </a:lnTo>
                <a:lnTo>
                  <a:pt x="465084" y="333207"/>
                </a:lnTo>
                <a:lnTo>
                  <a:pt x="465084" y="174950"/>
                </a:lnTo>
                <a:cubicBezTo>
                  <a:pt x="465084" y="149333"/>
                  <a:pt x="486136" y="128270"/>
                  <a:pt x="511741" y="128270"/>
                </a:cubicBezTo>
                <a:lnTo>
                  <a:pt x="511741" y="128270"/>
                </a:lnTo>
                <a:lnTo>
                  <a:pt x="533362" y="128270"/>
                </a:lnTo>
                <a:lnTo>
                  <a:pt x="533362" y="74190"/>
                </a:lnTo>
                <a:lnTo>
                  <a:pt x="498654" y="74190"/>
                </a:lnTo>
                <a:close/>
                <a:moveTo>
                  <a:pt x="1151285" y="177796"/>
                </a:moveTo>
                <a:lnTo>
                  <a:pt x="1110318" y="168119"/>
                </a:lnTo>
                <a:cubicBezTo>
                  <a:pt x="1108611" y="167549"/>
                  <a:pt x="1106904" y="166981"/>
                  <a:pt x="1105197" y="166411"/>
                </a:cubicBezTo>
                <a:cubicBezTo>
                  <a:pt x="1093248" y="162426"/>
                  <a:pt x="1084713" y="154456"/>
                  <a:pt x="1084713" y="143640"/>
                </a:cubicBezTo>
                <a:cubicBezTo>
                  <a:pt x="1084713" y="130547"/>
                  <a:pt x="1097800" y="119162"/>
                  <a:pt x="1120560" y="119162"/>
                </a:cubicBezTo>
                <a:cubicBezTo>
                  <a:pt x="1145027" y="119731"/>
                  <a:pt x="1167786" y="131685"/>
                  <a:pt x="1181441" y="152179"/>
                </a:cubicBezTo>
                <a:lnTo>
                  <a:pt x="1218995" y="111192"/>
                </a:lnTo>
                <a:cubicBezTo>
                  <a:pt x="1195097" y="86144"/>
                  <a:pt x="1165510" y="67927"/>
                  <a:pt x="1122267" y="67927"/>
                </a:cubicBezTo>
                <a:cubicBezTo>
                  <a:pt x="1067643" y="67927"/>
                  <a:pt x="1027814" y="96961"/>
                  <a:pt x="1027814" y="145348"/>
                </a:cubicBezTo>
                <a:cubicBezTo>
                  <a:pt x="1027814" y="190320"/>
                  <a:pt x="1057971" y="215369"/>
                  <a:pt x="1106335" y="227322"/>
                </a:cubicBezTo>
                <a:lnTo>
                  <a:pt x="1140474" y="235861"/>
                </a:lnTo>
                <a:cubicBezTo>
                  <a:pt x="1144457" y="237000"/>
                  <a:pt x="1147871" y="238139"/>
                  <a:pt x="1151854" y="239278"/>
                </a:cubicBezTo>
                <a:cubicBezTo>
                  <a:pt x="1166079" y="244970"/>
                  <a:pt x="1170631" y="252371"/>
                  <a:pt x="1170631" y="261478"/>
                </a:cubicBezTo>
                <a:cubicBezTo>
                  <a:pt x="1170631" y="274002"/>
                  <a:pt x="1161527" y="288234"/>
                  <a:pt x="1130232" y="288234"/>
                </a:cubicBezTo>
                <a:cubicBezTo>
                  <a:pt x="1100645" y="288804"/>
                  <a:pt x="1072764" y="274572"/>
                  <a:pt x="1055126" y="250663"/>
                </a:cubicBezTo>
                <a:lnTo>
                  <a:pt x="1017004" y="289373"/>
                </a:lnTo>
                <a:cubicBezTo>
                  <a:pt x="1036918" y="314990"/>
                  <a:pt x="1070488" y="339468"/>
                  <a:pt x="1125112" y="339468"/>
                </a:cubicBezTo>
                <a:cubicBezTo>
                  <a:pt x="1193391" y="339468"/>
                  <a:pt x="1228099" y="304174"/>
                  <a:pt x="1228099" y="259202"/>
                </a:cubicBezTo>
                <a:cubicBezTo>
                  <a:pt x="1228099" y="213091"/>
                  <a:pt x="1195666" y="188612"/>
                  <a:pt x="1151285" y="177796"/>
                </a:cubicBezTo>
                <a:moveTo>
                  <a:pt x="727388" y="279126"/>
                </a:moveTo>
                <a:cubicBezTo>
                  <a:pt x="725681" y="279126"/>
                  <a:pt x="713163" y="280265"/>
                  <a:pt x="708042" y="280265"/>
                </a:cubicBezTo>
                <a:lnTo>
                  <a:pt x="708042" y="280265"/>
                </a:lnTo>
                <a:cubicBezTo>
                  <a:pt x="674472" y="280265"/>
                  <a:pt x="665937" y="270587"/>
                  <a:pt x="665937" y="233015"/>
                </a:cubicBezTo>
                <a:lnTo>
                  <a:pt x="665937" y="128270"/>
                </a:lnTo>
                <a:lnTo>
                  <a:pt x="727957" y="128270"/>
                </a:lnTo>
                <a:lnTo>
                  <a:pt x="727957" y="74190"/>
                </a:lnTo>
                <a:lnTo>
                  <a:pt x="665368" y="74190"/>
                </a:lnTo>
                <a:lnTo>
                  <a:pt x="665368" y="-3231"/>
                </a:lnTo>
                <a:lnTo>
                  <a:pt x="605624" y="-3231"/>
                </a:lnTo>
                <a:lnTo>
                  <a:pt x="605624" y="74190"/>
                </a:lnTo>
                <a:lnTo>
                  <a:pt x="567502" y="74190"/>
                </a:lnTo>
                <a:lnTo>
                  <a:pt x="567502" y="128270"/>
                </a:lnTo>
                <a:lnTo>
                  <a:pt x="605624" y="128270"/>
                </a:lnTo>
                <a:lnTo>
                  <a:pt x="605624" y="242124"/>
                </a:lnTo>
                <a:cubicBezTo>
                  <a:pt x="605624" y="307590"/>
                  <a:pt x="627246" y="334345"/>
                  <a:pt x="694955" y="334345"/>
                </a:cubicBezTo>
                <a:cubicBezTo>
                  <a:pt x="713732" y="334345"/>
                  <a:pt x="725112" y="333207"/>
                  <a:pt x="726819" y="333207"/>
                </a:cubicBezTo>
                <a:lnTo>
                  <a:pt x="727388" y="279126"/>
                </a:lnTo>
                <a:close/>
                <a:moveTo>
                  <a:pt x="248868" y="74190"/>
                </a:moveTo>
                <a:lnTo>
                  <a:pt x="156691" y="333207"/>
                </a:lnTo>
                <a:lnTo>
                  <a:pt x="91257" y="333207"/>
                </a:lnTo>
                <a:lnTo>
                  <a:pt x="-919" y="74190"/>
                </a:lnTo>
                <a:lnTo>
                  <a:pt x="61101" y="74190"/>
                </a:lnTo>
                <a:lnTo>
                  <a:pt x="124259" y="264325"/>
                </a:lnTo>
                <a:lnTo>
                  <a:pt x="187416" y="74190"/>
                </a:lnTo>
                <a:lnTo>
                  <a:pt x="248868" y="74190"/>
                </a:lnTo>
                <a:close/>
                <a:moveTo>
                  <a:pt x="1415297" y="313282"/>
                </a:moveTo>
                <a:cubicBezTo>
                  <a:pt x="1415865" y="312713"/>
                  <a:pt x="1417003" y="312144"/>
                  <a:pt x="1417572" y="311004"/>
                </a:cubicBezTo>
                <a:lnTo>
                  <a:pt x="1417572" y="333207"/>
                </a:lnTo>
                <a:lnTo>
                  <a:pt x="1474471" y="333207"/>
                </a:lnTo>
                <a:lnTo>
                  <a:pt x="1474471" y="165273"/>
                </a:lnTo>
                <a:cubicBezTo>
                  <a:pt x="1474471" y="99237"/>
                  <a:pt x="1428383" y="67359"/>
                  <a:pt x="1364088" y="67359"/>
                </a:cubicBezTo>
                <a:cubicBezTo>
                  <a:pt x="1324258" y="67359"/>
                  <a:pt x="1282153" y="85005"/>
                  <a:pt x="1261669" y="121439"/>
                </a:cubicBezTo>
                <a:lnTo>
                  <a:pt x="1302068" y="159580"/>
                </a:lnTo>
                <a:cubicBezTo>
                  <a:pt x="1314016" y="136240"/>
                  <a:pt x="1337913" y="121439"/>
                  <a:pt x="1363518" y="122008"/>
                </a:cubicBezTo>
                <a:cubicBezTo>
                  <a:pt x="1395382" y="121439"/>
                  <a:pt x="1417572" y="143070"/>
                  <a:pt x="1417572" y="169827"/>
                </a:cubicBezTo>
                <a:lnTo>
                  <a:pt x="1417572" y="184059"/>
                </a:lnTo>
                <a:cubicBezTo>
                  <a:pt x="1416434" y="183489"/>
                  <a:pt x="1415297" y="183489"/>
                  <a:pt x="1414158" y="182919"/>
                </a:cubicBezTo>
                <a:lnTo>
                  <a:pt x="1414158" y="182919"/>
                </a:lnTo>
                <a:cubicBezTo>
                  <a:pt x="1412452" y="182351"/>
                  <a:pt x="1410176" y="181781"/>
                  <a:pt x="1407899" y="181213"/>
                </a:cubicBezTo>
                <a:lnTo>
                  <a:pt x="1406192" y="180643"/>
                </a:lnTo>
                <a:lnTo>
                  <a:pt x="1405055" y="180073"/>
                </a:lnTo>
                <a:lnTo>
                  <a:pt x="1403347" y="179504"/>
                </a:lnTo>
                <a:lnTo>
                  <a:pt x="1401641" y="178935"/>
                </a:lnTo>
                <a:lnTo>
                  <a:pt x="1400502" y="178935"/>
                </a:lnTo>
                <a:cubicBezTo>
                  <a:pt x="1387985" y="175520"/>
                  <a:pt x="1374898" y="173812"/>
                  <a:pt x="1361811" y="173812"/>
                </a:cubicBezTo>
                <a:cubicBezTo>
                  <a:pt x="1302068" y="173812"/>
                  <a:pt x="1253703" y="201137"/>
                  <a:pt x="1253703" y="260340"/>
                </a:cubicBezTo>
                <a:cubicBezTo>
                  <a:pt x="1253703" y="309866"/>
                  <a:pt x="1294102" y="338899"/>
                  <a:pt x="1340758" y="338899"/>
                </a:cubicBezTo>
                <a:cubicBezTo>
                  <a:pt x="1368070" y="340038"/>
                  <a:pt x="1394244" y="330929"/>
                  <a:pt x="1415297" y="313282"/>
                </a:cubicBezTo>
                <a:close/>
                <a:moveTo>
                  <a:pt x="1352708" y="288234"/>
                </a:moveTo>
                <a:cubicBezTo>
                  <a:pt x="1324258" y="288234"/>
                  <a:pt x="1311171" y="273434"/>
                  <a:pt x="1311171" y="255786"/>
                </a:cubicBezTo>
                <a:cubicBezTo>
                  <a:pt x="1311171" y="233015"/>
                  <a:pt x="1331086" y="221061"/>
                  <a:pt x="1360104" y="221061"/>
                </a:cubicBezTo>
                <a:cubicBezTo>
                  <a:pt x="1380019" y="221061"/>
                  <a:pt x="1399365" y="225046"/>
                  <a:pt x="1417572" y="232447"/>
                </a:cubicBezTo>
                <a:lnTo>
                  <a:pt x="1417572" y="264325"/>
                </a:lnTo>
                <a:cubicBezTo>
                  <a:pt x="1403347" y="278556"/>
                  <a:pt x="1377174" y="288234"/>
                  <a:pt x="1352708" y="288234"/>
                </a:cubicBezTo>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1" name="Google Shape;141;p43"/>
          <p:cNvSpPr txBox="1"/>
          <p:nvPr>
            <p:ph type="ctrTitle"/>
          </p:nvPr>
        </p:nvSpPr>
        <p:spPr>
          <a:xfrm>
            <a:off x="480060" y="1508760"/>
            <a:ext cx="5307000" cy="1152600"/>
          </a:xfrm>
          <a:prstGeom prst="rect">
            <a:avLst/>
          </a:prstGeom>
          <a:noFill/>
          <a:ln>
            <a:noFill/>
          </a:ln>
        </p:spPr>
        <p:txBody>
          <a:bodyPr anchorCtr="0" anchor="t" bIns="0" lIns="68575" spcFirstLastPara="1" rIns="0" wrap="square" tIns="0">
            <a:noAutofit/>
          </a:bodyPr>
          <a:lstStyle>
            <a:lvl1pPr lvl="0" marR="0" algn="l">
              <a:lnSpc>
                <a:spcPct val="90000"/>
              </a:lnSpc>
              <a:spcBef>
                <a:spcPts val="0"/>
              </a:spcBef>
              <a:spcAft>
                <a:spcPts val="0"/>
              </a:spcAft>
              <a:buClr>
                <a:schemeClr val="lt1"/>
              </a:buClr>
              <a:buSzPts val="4500"/>
              <a:buFont typeface="Montserrat Light"/>
              <a:buNone/>
              <a:defRPr b="0" i="0" sz="4500" u="none" cap="none" strike="noStrike">
                <a:solidFill>
                  <a:schemeClr val="lt1"/>
                </a:solidFill>
                <a:latin typeface="Montserrat Light"/>
                <a:ea typeface="Montserrat Light"/>
                <a:cs typeface="Montserrat Light"/>
                <a:sym typeface="Montserrat Light"/>
              </a:defRPr>
            </a:lvl1pPr>
            <a:lvl2pPr lvl="1" marR="0" algn="l">
              <a:lnSpc>
                <a:spcPct val="100000"/>
              </a:lnSpc>
              <a:spcBef>
                <a:spcPts val="50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DARK">
  <p:cSld name="1_Title Only-DARK">
    <p:bg>
      <p:bgPr>
        <a:solidFill>
          <a:schemeClr val="accent2"/>
        </a:solidFill>
      </p:bgPr>
    </p:bg>
    <p:spTree>
      <p:nvGrpSpPr>
        <p:cNvPr id="142" name="Shape 142"/>
        <p:cNvGrpSpPr/>
        <p:nvPr/>
      </p:nvGrpSpPr>
      <p:grpSpPr>
        <a:xfrm>
          <a:off x="0" y="0"/>
          <a:ext cx="0" cy="0"/>
          <a:chOff x="0" y="0"/>
          <a:chExt cx="0" cy="0"/>
        </a:xfrm>
      </p:grpSpPr>
      <p:sp>
        <p:nvSpPr>
          <p:cNvPr id="143" name="Google Shape;143;p44"/>
          <p:cNvSpPr/>
          <p:nvPr/>
        </p:nvSpPr>
        <p:spPr>
          <a:xfrm>
            <a:off x="372292" y="4669972"/>
            <a:ext cx="2259900" cy="3855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4" name="Google Shape;144;p44"/>
          <p:cNvSpPr txBox="1"/>
          <p:nvPr>
            <p:ph type="title"/>
          </p:nvPr>
        </p:nvSpPr>
        <p:spPr>
          <a:xfrm>
            <a:off x="548639" y="342900"/>
            <a:ext cx="8051700" cy="7053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2600"/>
              <a:buFont typeface="Montserrat Light"/>
              <a:buNone/>
              <a:defRPr b="0" i="0" sz="2600" u="none" cap="none" strike="noStrike">
                <a:solidFill>
                  <a:schemeClr val="lt1"/>
                </a:solidFill>
                <a:latin typeface="Montserrat Light"/>
                <a:ea typeface="Montserrat Light"/>
                <a:cs typeface="Montserrat Light"/>
                <a:sym typeface="Montserrat Light"/>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45" name="Google Shape;145;p44"/>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6" name="Google Shape;146;p44"/>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en" sz="800" u="none" cap="none" strike="noStrike">
                <a:solidFill>
                  <a:schemeClr val="lt2"/>
                </a:solidFill>
                <a:latin typeface="Montserrat"/>
                <a:ea typeface="Montserrat"/>
                <a:cs typeface="Montserrat"/>
                <a:sym typeface="Montserrat"/>
              </a:rPr>
              <a:t>‹#›</a:t>
            </a:fld>
            <a:endParaRPr b="1" i="0" sz="800" u="none" cap="none" strike="noStrike">
              <a:solidFill>
                <a:schemeClr val="lt2"/>
              </a:solidFill>
              <a:latin typeface="Montserrat"/>
              <a:ea typeface="Montserrat"/>
              <a:cs typeface="Montserrat"/>
              <a:sym typeface="Montserrat"/>
            </a:endParaRPr>
          </a:p>
        </p:txBody>
      </p:sp>
      <p:sp>
        <p:nvSpPr>
          <p:cNvPr id="147" name="Google Shape;147;p44"/>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DED4FF"/>
                </a:solidFill>
                <a:latin typeface="Montserrat"/>
                <a:ea typeface="Montserrat"/>
                <a:cs typeface="Montserrat"/>
                <a:sym typeface="Montserrat"/>
              </a:rPr>
              <a:t>© Virtusa Corporation. All Rights Reserved.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id-graphite">
  <p:cSld name="Solid-graphite">
    <p:bg>
      <p:bgPr>
        <a:solidFill>
          <a:schemeClr val="accent2"/>
        </a:solidFill>
      </p:bgPr>
    </p:bg>
    <p:spTree>
      <p:nvGrpSpPr>
        <p:cNvPr id="148" name="Shape 148"/>
        <p:cNvGrpSpPr/>
        <p:nvPr/>
      </p:nvGrpSpPr>
      <p:grpSpPr>
        <a:xfrm>
          <a:off x="0" y="0"/>
          <a:ext cx="0" cy="0"/>
          <a:chOff x="0" y="0"/>
          <a:chExt cx="0" cy="0"/>
        </a:xfrm>
      </p:grpSpPr>
      <p:sp>
        <p:nvSpPr>
          <p:cNvPr id="149" name="Google Shape;149;p45"/>
          <p:cNvSpPr/>
          <p:nvPr/>
        </p:nvSpPr>
        <p:spPr>
          <a:xfrm>
            <a:off x="0" y="0"/>
            <a:ext cx="9144000" cy="51435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0" name="Google Shape;150;p45"/>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en" sz="800" u="none" cap="none" strike="noStrike">
                <a:solidFill>
                  <a:schemeClr val="lt2"/>
                </a:solidFill>
                <a:latin typeface="Montserrat"/>
                <a:ea typeface="Montserrat"/>
                <a:cs typeface="Montserrat"/>
                <a:sym typeface="Montserrat"/>
              </a:rPr>
              <a:t>‹#›</a:t>
            </a:fld>
            <a:endParaRPr b="1" i="0" sz="800" u="none" cap="none" strike="noStrike">
              <a:solidFill>
                <a:schemeClr val="lt2"/>
              </a:solidFill>
              <a:latin typeface="Montserrat"/>
              <a:ea typeface="Montserrat"/>
              <a:cs typeface="Montserrat"/>
              <a:sym typeface="Montserrat"/>
            </a:endParaRPr>
          </a:p>
        </p:txBody>
      </p:sp>
      <p:sp>
        <p:nvSpPr>
          <p:cNvPr id="151" name="Google Shape;151;p45"/>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DED4FF"/>
                </a:solidFill>
                <a:latin typeface="Montserrat"/>
                <a:ea typeface="Montserrat"/>
                <a:cs typeface="Montserrat"/>
                <a:sym typeface="Montserrat"/>
              </a:rPr>
              <a:t>© Virtusa Corporation. All Rights Reserved.</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52" name="Shape 152"/>
        <p:cNvGrpSpPr/>
        <p:nvPr/>
      </p:nvGrpSpPr>
      <p:grpSpPr>
        <a:xfrm>
          <a:off x="0" y="0"/>
          <a:ext cx="0" cy="0"/>
          <a:chOff x="0" y="0"/>
          <a:chExt cx="0" cy="0"/>
        </a:xfrm>
      </p:grpSpPr>
      <p:sp>
        <p:nvSpPr>
          <p:cNvPr descr="Virtusa Logo" id="153" name="Google Shape;153;p46"/>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4" name="Google Shape;154;p46"/>
          <p:cNvSpPr txBox="1"/>
          <p:nvPr>
            <p:ph type="title"/>
          </p:nvPr>
        </p:nvSpPr>
        <p:spPr>
          <a:xfrm>
            <a:off x="480060" y="342900"/>
            <a:ext cx="8125800" cy="705300"/>
          </a:xfrm>
          <a:prstGeom prst="rect">
            <a:avLst/>
          </a:prstGeom>
          <a:noFill/>
          <a:ln>
            <a:noFill/>
          </a:ln>
        </p:spPr>
        <p:txBody>
          <a:bodyPr anchorCtr="0" anchor="t" bIns="0" lIns="68575" spcFirstLastPara="1" rIns="0" wrap="square" tIns="0">
            <a:noAutofit/>
          </a:bodyPr>
          <a:lstStyle>
            <a:lvl1pPr lvl="0" marR="0" algn="l">
              <a:lnSpc>
                <a:spcPct val="90000"/>
              </a:lnSpc>
              <a:spcBef>
                <a:spcPts val="0"/>
              </a:spcBef>
              <a:spcAft>
                <a:spcPts val="0"/>
              </a:spcAft>
              <a:buClr>
                <a:schemeClr val="dk1"/>
              </a:buClr>
              <a:buSzPts val="2400"/>
              <a:buFont typeface="Montserrat Light"/>
              <a:buNone/>
              <a:defRPr b="0" i="0" sz="2400" u="none" cap="none" strike="noStrike">
                <a:solidFill>
                  <a:schemeClr val="dk1"/>
                </a:solidFill>
                <a:latin typeface="Montserrat Light"/>
                <a:ea typeface="Montserrat Light"/>
                <a:cs typeface="Montserrat Light"/>
                <a:sym typeface="Montserrat Light"/>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Grey fade with pattern/image">
  <p:cSld name="1_Grey fade with pattern/image">
    <p:bg>
      <p:bgPr>
        <a:solidFill>
          <a:srgbClr val="F2F2F2"/>
        </a:solidFill>
      </p:bgPr>
    </p:bg>
    <p:spTree>
      <p:nvGrpSpPr>
        <p:cNvPr id="155" name="Shape 155"/>
        <p:cNvGrpSpPr/>
        <p:nvPr/>
      </p:nvGrpSpPr>
      <p:grpSpPr>
        <a:xfrm>
          <a:off x="0" y="0"/>
          <a:ext cx="0" cy="0"/>
          <a:chOff x="0" y="0"/>
          <a:chExt cx="0" cy="0"/>
        </a:xfrm>
      </p:grpSpPr>
      <p:sp>
        <p:nvSpPr>
          <p:cNvPr id="156" name="Google Shape;156;p47"/>
          <p:cNvSpPr/>
          <p:nvPr/>
        </p:nvSpPr>
        <p:spPr>
          <a:xfrm>
            <a:off x="6034526" y="0"/>
            <a:ext cx="3103849" cy="1446119"/>
          </a:xfrm>
          <a:custGeom>
            <a:rect b="b" l="l" r="r" t="t"/>
            <a:pathLst>
              <a:path extrusionOk="0" h="1928159" w="4138465">
                <a:moveTo>
                  <a:pt x="0" y="0"/>
                </a:moveTo>
                <a:lnTo>
                  <a:pt x="4138465" y="0"/>
                </a:lnTo>
                <a:lnTo>
                  <a:pt x="4135245" y="63759"/>
                </a:lnTo>
                <a:cubicBezTo>
                  <a:pt x="4035985" y="1041152"/>
                  <a:pt x="3258959" y="1818178"/>
                  <a:pt x="2281566" y="1917438"/>
                </a:cubicBezTo>
                <a:lnTo>
                  <a:pt x="2069252" y="1928159"/>
                </a:lnTo>
                <a:lnTo>
                  <a:pt x="2069212" y="1928159"/>
                </a:lnTo>
                <a:lnTo>
                  <a:pt x="1856898" y="1917438"/>
                </a:lnTo>
                <a:cubicBezTo>
                  <a:pt x="879506" y="1818178"/>
                  <a:pt x="102479" y="1041152"/>
                  <a:pt x="3219" y="63759"/>
                </a:cubicBezTo>
                <a:close/>
              </a:path>
            </a:pathLst>
          </a:custGeom>
          <a:solidFill>
            <a:schemeClr val="lt1">
              <a:alpha val="49804"/>
            </a:scheme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57" name="Google Shape;157;p47"/>
          <p:cNvSpPr/>
          <p:nvPr/>
        </p:nvSpPr>
        <p:spPr>
          <a:xfrm>
            <a:off x="6372995" y="4561221"/>
            <a:ext cx="2426909" cy="582279"/>
          </a:xfrm>
          <a:custGeom>
            <a:rect b="b" l="l" r="r" t="t"/>
            <a:pathLst>
              <a:path extrusionOk="0" h="776372" w="3235878">
                <a:moveTo>
                  <a:pt x="1617939" y="0"/>
                </a:moveTo>
                <a:cubicBezTo>
                  <a:pt x="2263098" y="0"/>
                  <a:pt x="2839545" y="294190"/>
                  <a:pt x="3220449" y="755739"/>
                </a:cubicBezTo>
                <a:lnTo>
                  <a:pt x="3235878" y="776372"/>
                </a:lnTo>
                <a:lnTo>
                  <a:pt x="0" y="776372"/>
                </a:lnTo>
                <a:lnTo>
                  <a:pt x="15429" y="755739"/>
                </a:lnTo>
                <a:cubicBezTo>
                  <a:pt x="396333" y="294190"/>
                  <a:pt x="972780" y="0"/>
                  <a:pt x="1617939" y="0"/>
                </a:cubicBezTo>
                <a:close/>
              </a:path>
            </a:pathLst>
          </a:custGeom>
          <a:solidFill>
            <a:schemeClr val="lt1">
              <a:alpha val="49804"/>
            </a:scheme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58" name="Google Shape;158;p47"/>
          <p:cNvSpPr/>
          <p:nvPr>
            <p:ph idx="2" type="pic"/>
          </p:nvPr>
        </p:nvSpPr>
        <p:spPr>
          <a:xfrm>
            <a:off x="6070002" y="1459515"/>
            <a:ext cx="3106500" cy="3106500"/>
          </a:xfrm>
          <a:prstGeom prst="ellipse">
            <a:avLst/>
          </a:prstGeom>
          <a:solidFill>
            <a:srgbClr val="F2F2F2"/>
          </a:solidFill>
          <a:ln>
            <a:noFill/>
          </a:ln>
        </p:spPr>
      </p:sp>
      <p:sp>
        <p:nvSpPr>
          <p:cNvPr id="159" name="Google Shape;159;p47"/>
          <p:cNvSpPr txBox="1"/>
          <p:nvPr>
            <p:ph type="title"/>
          </p:nvPr>
        </p:nvSpPr>
        <p:spPr>
          <a:xfrm>
            <a:off x="548639" y="342900"/>
            <a:ext cx="8051700" cy="7053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2600"/>
              <a:buFont typeface="Montserrat Light"/>
              <a:buNone/>
              <a:defRPr b="0" i="0" sz="2600" u="none" cap="none" strike="noStrike">
                <a:solidFill>
                  <a:schemeClr val="dk1"/>
                </a:solidFill>
                <a:latin typeface="Montserrat Light"/>
                <a:ea typeface="Montserrat Light"/>
                <a:cs typeface="Montserrat Light"/>
                <a:sym typeface="Montserrat Light"/>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Headline - 3 blocks">
  <p:cSld name="Large Headline - 3 blocks">
    <p:spTree>
      <p:nvGrpSpPr>
        <p:cNvPr id="160" name="Shape 160"/>
        <p:cNvGrpSpPr/>
        <p:nvPr/>
      </p:nvGrpSpPr>
      <p:grpSpPr>
        <a:xfrm>
          <a:off x="0" y="0"/>
          <a:ext cx="0" cy="0"/>
          <a:chOff x="0" y="0"/>
          <a:chExt cx="0" cy="0"/>
        </a:xfrm>
      </p:grpSpPr>
      <p:sp>
        <p:nvSpPr>
          <p:cNvPr id="161" name="Google Shape;161;p48"/>
          <p:cNvSpPr/>
          <p:nvPr/>
        </p:nvSpPr>
        <p:spPr>
          <a:xfrm>
            <a:off x="7079876" y="0"/>
            <a:ext cx="2064300" cy="51435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62" name="Google Shape;162;p48"/>
          <p:cNvSpPr/>
          <p:nvPr/>
        </p:nvSpPr>
        <p:spPr>
          <a:xfrm>
            <a:off x="5015753" y="0"/>
            <a:ext cx="20643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63" name="Google Shape;163;p48"/>
          <p:cNvSpPr/>
          <p:nvPr/>
        </p:nvSpPr>
        <p:spPr>
          <a:xfrm>
            <a:off x="2951630" y="0"/>
            <a:ext cx="20643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64" name="Google Shape;164;p48"/>
          <p:cNvSpPr txBox="1"/>
          <p:nvPr>
            <p:ph type="title"/>
          </p:nvPr>
        </p:nvSpPr>
        <p:spPr>
          <a:xfrm>
            <a:off x="480059" y="1216959"/>
            <a:ext cx="2002800" cy="3126300"/>
          </a:xfrm>
          <a:prstGeom prst="rect">
            <a:avLst/>
          </a:prstGeom>
          <a:noFill/>
          <a:ln>
            <a:noFill/>
          </a:ln>
        </p:spPr>
        <p:txBody>
          <a:bodyPr anchorCtr="0" anchor="t" bIns="0" lIns="68575" spcFirstLastPara="1" rIns="68575" wrap="square" tIns="0">
            <a:noAutofit/>
          </a:bodyPr>
          <a:lstStyle>
            <a:lvl1pPr lvl="0" marR="0" algn="l">
              <a:lnSpc>
                <a:spcPct val="90000"/>
              </a:lnSpc>
              <a:spcBef>
                <a:spcPts val="0"/>
              </a:spcBef>
              <a:spcAft>
                <a:spcPts val="0"/>
              </a:spcAft>
              <a:buClr>
                <a:schemeClr val="dk1"/>
              </a:buClr>
              <a:buSzPts val="2600"/>
              <a:buFont typeface="Montserrat Light"/>
              <a:buNone/>
              <a:defRPr b="0" i="0" sz="2600" u="none" cap="none" strike="noStrike">
                <a:solidFill>
                  <a:schemeClr val="dk1"/>
                </a:solidFill>
                <a:latin typeface="Montserrat Light"/>
                <a:ea typeface="Montserrat Light"/>
                <a:cs typeface="Montserrat Light"/>
                <a:sym typeface="Montserrat Light"/>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65" name="Google Shape;165;p48"/>
          <p:cNvSpPr txBox="1"/>
          <p:nvPr>
            <p:ph idx="1" type="body"/>
          </p:nvPr>
        </p:nvSpPr>
        <p:spPr>
          <a:xfrm>
            <a:off x="3144757" y="1216959"/>
            <a:ext cx="1677900" cy="3126300"/>
          </a:xfrm>
          <a:prstGeom prst="rect">
            <a:avLst/>
          </a:prstGeom>
          <a:noFill/>
          <a:ln>
            <a:noFill/>
          </a:ln>
        </p:spPr>
        <p:txBody>
          <a:bodyPr anchorCtr="0" anchor="t" bIns="0" lIns="68575" spcFirstLastPara="1" rIns="68575" wrap="square" tIns="0">
            <a:noAutofit/>
          </a:bodyPr>
          <a:lstStyle>
            <a:lvl1pPr indent="-228600" lvl="0" marL="457200" marR="0" algn="l">
              <a:lnSpc>
                <a:spcPct val="90000"/>
              </a:lnSpc>
              <a:spcBef>
                <a:spcPts val="800"/>
              </a:spcBef>
              <a:spcAft>
                <a:spcPts val="0"/>
              </a:spcAft>
              <a:buClr>
                <a:schemeClr val="lt1"/>
              </a:buClr>
              <a:buSzPts val="1100"/>
              <a:buFont typeface="Arial"/>
              <a:buNone/>
              <a:defRPr b="0" i="0" sz="1100" u="none" cap="none" strike="noStrike">
                <a:solidFill>
                  <a:schemeClr val="lt1"/>
                </a:solidFill>
                <a:latin typeface="Montserrat"/>
                <a:ea typeface="Montserrat"/>
                <a:cs typeface="Montserrat"/>
                <a:sym typeface="Montserrat"/>
              </a:defRPr>
            </a:lvl1pPr>
            <a:lvl2pPr indent="-342900" lvl="1" marL="914400" marR="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2pPr>
            <a:lvl3pPr indent="-323850" lvl="2" marL="1371600" marR="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3pPr>
            <a:lvl4pPr indent="-317500" lvl="3" marL="1828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6" name="Google Shape;166;p48"/>
          <p:cNvSpPr txBox="1"/>
          <p:nvPr>
            <p:ph idx="2" type="body"/>
          </p:nvPr>
        </p:nvSpPr>
        <p:spPr>
          <a:xfrm>
            <a:off x="5211425" y="1216959"/>
            <a:ext cx="1677900" cy="3126300"/>
          </a:xfrm>
          <a:prstGeom prst="rect">
            <a:avLst/>
          </a:prstGeom>
          <a:noFill/>
          <a:ln>
            <a:noFill/>
          </a:ln>
        </p:spPr>
        <p:txBody>
          <a:bodyPr anchorCtr="0" anchor="t" bIns="0" lIns="68575" spcFirstLastPara="1" rIns="68575" wrap="square" tIns="0">
            <a:noAutofit/>
          </a:bodyPr>
          <a:lstStyle>
            <a:lvl1pPr indent="-228600" lvl="0" marL="457200" marR="0" algn="l">
              <a:lnSpc>
                <a:spcPct val="90000"/>
              </a:lnSpc>
              <a:spcBef>
                <a:spcPts val="800"/>
              </a:spcBef>
              <a:spcAft>
                <a:spcPts val="0"/>
              </a:spcAft>
              <a:buClr>
                <a:schemeClr val="lt1"/>
              </a:buClr>
              <a:buSzPts val="1100"/>
              <a:buFont typeface="Arial"/>
              <a:buNone/>
              <a:defRPr b="0" i="0" sz="1100" u="none" cap="none" strike="noStrike">
                <a:solidFill>
                  <a:schemeClr val="lt1"/>
                </a:solidFill>
                <a:latin typeface="Montserrat"/>
                <a:ea typeface="Montserrat"/>
                <a:cs typeface="Montserrat"/>
                <a:sym typeface="Montserrat"/>
              </a:defRPr>
            </a:lvl1pPr>
            <a:lvl2pPr indent="-342900" lvl="1" marL="914400" marR="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2pPr>
            <a:lvl3pPr indent="-323850" lvl="2" marL="1371600" marR="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3pPr>
            <a:lvl4pPr indent="-317500" lvl="3" marL="1828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67" name="Google Shape;167;p48"/>
          <p:cNvSpPr txBox="1"/>
          <p:nvPr>
            <p:ph idx="3" type="body"/>
          </p:nvPr>
        </p:nvSpPr>
        <p:spPr>
          <a:xfrm>
            <a:off x="7287361" y="1216959"/>
            <a:ext cx="1677900" cy="3126300"/>
          </a:xfrm>
          <a:prstGeom prst="rect">
            <a:avLst/>
          </a:prstGeom>
          <a:noFill/>
          <a:ln>
            <a:noFill/>
          </a:ln>
        </p:spPr>
        <p:txBody>
          <a:bodyPr anchorCtr="0" anchor="t" bIns="0" lIns="68575" spcFirstLastPara="1" rIns="68575" wrap="square" tIns="0">
            <a:noAutofit/>
          </a:bodyPr>
          <a:lstStyle>
            <a:lvl1pPr indent="-228600" lvl="0" marL="457200" marR="0" algn="l">
              <a:lnSpc>
                <a:spcPct val="90000"/>
              </a:lnSpc>
              <a:spcBef>
                <a:spcPts val="800"/>
              </a:spcBef>
              <a:spcAft>
                <a:spcPts val="0"/>
              </a:spcAft>
              <a:buClr>
                <a:schemeClr val="lt1"/>
              </a:buClr>
              <a:buSzPts val="1100"/>
              <a:buFont typeface="Arial"/>
              <a:buNone/>
              <a:defRPr b="0" i="0" sz="1100" u="none" cap="none" strike="noStrike">
                <a:solidFill>
                  <a:schemeClr val="lt1"/>
                </a:solidFill>
                <a:latin typeface="Montserrat"/>
                <a:ea typeface="Montserrat"/>
                <a:cs typeface="Montserrat"/>
                <a:sym typeface="Montserrat"/>
              </a:defRPr>
            </a:lvl1pPr>
            <a:lvl2pPr indent="-342900" lvl="1" marL="914400" marR="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2pPr>
            <a:lvl3pPr indent="-323850" lvl="2" marL="1371600" marR="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3pPr>
            <a:lvl4pPr indent="-317500" lvl="3" marL="1828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descr="Virtusa Logo" id="168" name="Google Shape;168;p48"/>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divider solid (Spark) - nologo">
  <p:cSld name="1_Section divider solid (Spark) - nologo">
    <p:spTree>
      <p:nvGrpSpPr>
        <p:cNvPr id="169" name="Shape 169"/>
        <p:cNvGrpSpPr/>
        <p:nvPr/>
      </p:nvGrpSpPr>
      <p:grpSpPr>
        <a:xfrm>
          <a:off x="0" y="0"/>
          <a:ext cx="0" cy="0"/>
          <a:chOff x="0" y="0"/>
          <a:chExt cx="0" cy="0"/>
        </a:xfrm>
      </p:grpSpPr>
      <p:sp>
        <p:nvSpPr>
          <p:cNvPr id="170" name="Google Shape;170;p49"/>
          <p:cNvSpPr/>
          <p:nvPr/>
        </p:nvSpPr>
        <p:spPr>
          <a:xfrm>
            <a:off x="0" y="0"/>
            <a:ext cx="9144000" cy="5143500"/>
          </a:xfrm>
          <a:prstGeom prst="rect">
            <a:avLst/>
          </a:prstGeom>
          <a:gradFill>
            <a:gsLst>
              <a:gs pos="0">
                <a:srgbClr val="F2F2F2"/>
              </a:gs>
              <a:gs pos="100000">
                <a:schemeClr val="lt1"/>
              </a:gs>
            </a:gsLst>
            <a:lin ang="0" scaled="0"/>
          </a:gra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71" name="Google Shape;171;p49"/>
          <p:cNvSpPr/>
          <p:nvPr/>
        </p:nvSpPr>
        <p:spPr>
          <a:xfrm>
            <a:off x="0" y="0"/>
            <a:ext cx="9144000" cy="5143500"/>
          </a:xfrm>
          <a:custGeom>
            <a:rect b="b" l="l" r="r" t="t"/>
            <a:pathLst>
              <a:path extrusionOk="0" h="6858000" w="12192000">
                <a:moveTo>
                  <a:pt x="0" y="4852599"/>
                </a:moveTo>
                <a:lnTo>
                  <a:pt x="137845" y="4936428"/>
                </a:lnTo>
                <a:cubicBezTo>
                  <a:pt x="380670" y="5068471"/>
                  <a:pt x="659017" y="5143502"/>
                  <a:pt x="955010" y="5143502"/>
                </a:cubicBezTo>
                <a:cubicBezTo>
                  <a:pt x="659473" y="5143502"/>
                  <a:pt x="381296" y="5218390"/>
                  <a:pt x="138491" y="5350282"/>
                </a:cubicBezTo>
                <a:lnTo>
                  <a:pt x="0" y="5434411"/>
                </a:lnTo>
                <a:close/>
                <a:moveTo>
                  <a:pt x="12192000" y="4852594"/>
                </a:moveTo>
                <a:lnTo>
                  <a:pt x="12192000" y="5434020"/>
                </a:lnTo>
                <a:lnTo>
                  <a:pt x="12054158" y="5350282"/>
                </a:lnTo>
                <a:cubicBezTo>
                  <a:pt x="11811333" y="5218390"/>
                  <a:pt x="11532986" y="5143502"/>
                  <a:pt x="11236993" y="5143502"/>
                </a:cubicBezTo>
                <a:cubicBezTo>
                  <a:pt x="11532530" y="5143502"/>
                  <a:pt x="11810707" y="5068613"/>
                  <a:pt x="12053512" y="4936721"/>
                </a:cubicBezTo>
                <a:close/>
                <a:moveTo>
                  <a:pt x="9523329" y="3429000"/>
                </a:moveTo>
                <a:cubicBezTo>
                  <a:pt x="9523329" y="4375184"/>
                  <a:pt x="10289816" y="5143502"/>
                  <a:pt x="11236993" y="5143502"/>
                </a:cubicBezTo>
                <a:cubicBezTo>
                  <a:pt x="10409485" y="5143502"/>
                  <a:pt x="9718092" y="5730629"/>
                  <a:pt x="9558174" y="6512256"/>
                </a:cubicBezTo>
                <a:lnTo>
                  <a:pt x="9523329" y="6858000"/>
                </a:lnTo>
                <a:lnTo>
                  <a:pt x="9523329" y="6858000"/>
                </a:lnTo>
                <a:lnTo>
                  <a:pt x="9488544" y="6512256"/>
                </a:lnTo>
                <a:cubicBezTo>
                  <a:pt x="9328884" y="5730629"/>
                  <a:pt x="8638445" y="5143502"/>
                  <a:pt x="7809665" y="5143502"/>
                </a:cubicBezTo>
                <a:cubicBezTo>
                  <a:pt x="8755385" y="5143502"/>
                  <a:pt x="9523329" y="4376641"/>
                  <a:pt x="9523329" y="3429000"/>
                </a:cubicBezTo>
                <a:close/>
                <a:moveTo>
                  <a:pt x="6096001" y="3429000"/>
                </a:moveTo>
                <a:cubicBezTo>
                  <a:pt x="6096001" y="4375184"/>
                  <a:pt x="6862485" y="5143502"/>
                  <a:pt x="7809665" y="5143502"/>
                </a:cubicBezTo>
                <a:cubicBezTo>
                  <a:pt x="6982160" y="5143502"/>
                  <a:pt x="6290765" y="5730629"/>
                  <a:pt x="6130846" y="6512256"/>
                </a:cubicBezTo>
                <a:lnTo>
                  <a:pt x="6096001" y="6858000"/>
                </a:lnTo>
                <a:lnTo>
                  <a:pt x="6096001" y="6858000"/>
                </a:lnTo>
                <a:lnTo>
                  <a:pt x="6061216" y="6512256"/>
                </a:lnTo>
                <a:cubicBezTo>
                  <a:pt x="5901556" y="5730629"/>
                  <a:pt x="5211118" y="5143502"/>
                  <a:pt x="4382338" y="5143502"/>
                </a:cubicBezTo>
                <a:cubicBezTo>
                  <a:pt x="5328058" y="5143502"/>
                  <a:pt x="6096001" y="4376641"/>
                  <a:pt x="6096001" y="3429000"/>
                </a:cubicBezTo>
                <a:close/>
                <a:moveTo>
                  <a:pt x="2668674" y="3429000"/>
                </a:moveTo>
                <a:cubicBezTo>
                  <a:pt x="2668674" y="4375184"/>
                  <a:pt x="3435160" y="5143502"/>
                  <a:pt x="4382338" y="5143502"/>
                </a:cubicBezTo>
                <a:cubicBezTo>
                  <a:pt x="3554833" y="5143502"/>
                  <a:pt x="2863438" y="5730629"/>
                  <a:pt x="2703519" y="6512256"/>
                </a:cubicBezTo>
                <a:lnTo>
                  <a:pt x="2668674" y="6858000"/>
                </a:lnTo>
                <a:lnTo>
                  <a:pt x="2668674" y="6858000"/>
                </a:lnTo>
                <a:lnTo>
                  <a:pt x="2633829" y="6512256"/>
                </a:lnTo>
                <a:cubicBezTo>
                  <a:pt x="2473910" y="5730629"/>
                  <a:pt x="1782515" y="5143502"/>
                  <a:pt x="955010" y="5143502"/>
                </a:cubicBezTo>
                <a:cubicBezTo>
                  <a:pt x="1900730" y="5143502"/>
                  <a:pt x="2668674" y="4376641"/>
                  <a:pt x="2668674" y="3429000"/>
                </a:cubicBezTo>
                <a:close/>
                <a:moveTo>
                  <a:pt x="0" y="1423599"/>
                </a:moveTo>
                <a:lnTo>
                  <a:pt x="137845" y="1507428"/>
                </a:lnTo>
                <a:cubicBezTo>
                  <a:pt x="380670" y="1639470"/>
                  <a:pt x="659017" y="1714501"/>
                  <a:pt x="955010" y="1714501"/>
                </a:cubicBezTo>
                <a:cubicBezTo>
                  <a:pt x="659473" y="1714501"/>
                  <a:pt x="381296" y="1789390"/>
                  <a:pt x="138491" y="1921281"/>
                </a:cubicBezTo>
                <a:lnTo>
                  <a:pt x="0" y="2005410"/>
                </a:lnTo>
                <a:close/>
                <a:moveTo>
                  <a:pt x="12192000" y="1423594"/>
                </a:moveTo>
                <a:lnTo>
                  <a:pt x="12192000" y="2005019"/>
                </a:lnTo>
                <a:lnTo>
                  <a:pt x="12054158" y="1921281"/>
                </a:lnTo>
                <a:cubicBezTo>
                  <a:pt x="11811333" y="1789390"/>
                  <a:pt x="11532986" y="1714501"/>
                  <a:pt x="11236993" y="1714501"/>
                </a:cubicBezTo>
                <a:cubicBezTo>
                  <a:pt x="11532530" y="1714501"/>
                  <a:pt x="11810707" y="1639613"/>
                  <a:pt x="12053512" y="1507721"/>
                </a:cubicBezTo>
                <a:close/>
                <a:moveTo>
                  <a:pt x="9523329" y="0"/>
                </a:moveTo>
                <a:cubicBezTo>
                  <a:pt x="9523329" y="946184"/>
                  <a:pt x="10289816" y="1714501"/>
                  <a:pt x="11236993" y="1714501"/>
                </a:cubicBezTo>
                <a:cubicBezTo>
                  <a:pt x="10291270" y="1714501"/>
                  <a:pt x="9523329" y="2481360"/>
                  <a:pt x="9523329" y="3429000"/>
                </a:cubicBezTo>
                <a:cubicBezTo>
                  <a:pt x="9523329" y="2481360"/>
                  <a:pt x="8756842" y="1714501"/>
                  <a:pt x="7809665" y="1714501"/>
                </a:cubicBezTo>
                <a:cubicBezTo>
                  <a:pt x="8755385" y="1714501"/>
                  <a:pt x="9523329" y="947641"/>
                  <a:pt x="9523329" y="0"/>
                </a:cubicBezTo>
                <a:close/>
                <a:moveTo>
                  <a:pt x="6096001" y="0"/>
                </a:moveTo>
                <a:cubicBezTo>
                  <a:pt x="6096001" y="946184"/>
                  <a:pt x="6862485" y="1714501"/>
                  <a:pt x="7809665" y="1714501"/>
                </a:cubicBezTo>
                <a:cubicBezTo>
                  <a:pt x="6863945" y="1714501"/>
                  <a:pt x="6096001" y="2481360"/>
                  <a:pt x="6096001" y="3429000"/>
                </a:cubicBezTo>
                <a:cubicBezTo>
                  <a:pt x="6096001" y="2481360"/>
                  <a:pt x="5329515" y="1714501"/>
                  <a:pt x="4382338" y="1714501"/>
                </a:cubicBezTo>
                <a:cubicBezTo>
                  <a:pt x="5328058" y="1714501"/>
                  <a:pt x="6096001" y="947641"/>
                  <a:pt x="6096001" y="0"/>
                </a:cubicBezTo>
                <a:close/>
                <a:moveTo>
                  <a:pt x="2668674" y="0"/>
                </a:moveTo>
                <a:cubicBezTo>
                  <a:pt x="2668674" y="946184"/>
                  <a:pt x="3435160" y="1714501"/>
                  <a:pt x="4382338" y="1714501"/>
                </a:cubicBezTo>
                <a:cubicBezTo>
                  <a:pt x="3436618" y="1714501"/>
                  <a:pt x="2668674" y="2481360"/>
                  <a:pt x="2668674" y="3429000"/>
                </a:cubicBezTo>
                <a:cubicBezTo>
                  <a:pt x="2668674" y="2481360"/>
                  <a:pt x="1900730" y="1714501"/>
                  <a:pt x="955010" y="1714501"/>
                </a:cubicBezTo>
                <a:cubicBezTo>
                  <a:pt x="1900730" y="1714501"/>
                  <a:pt x="2668674" y="947641"/>
                  <a:pt x="2668674" y="0"/>
                </a:cubicBezTo>
                <a:close/>
              </a:path>
            </a:pathLst>
          </a:custGeom>
          <a:gradFill>
            <a:gsLst>
              <a:gs pos="0">
                <a:schemeClr val="lt1"/>
              </a:gs>
              <a:gs pos="100000">
                <a:srgbClr val="F2F2F2"/>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2" name="Google Shape;172;p49"/>
          <p:cNvSpPr txBox="1"/>
          <p:nvPr>
            <p:ph type="ctrTitle"/>
          </p:nvPr>
        </p:nvSpPr>
        <p:spPr>
          <a:xfrm>
            <a:off x="548640" y="1270748"/>
            <a:ext cx="7562100" cy="2363400"/>
          </a:xfrm>
          <a:prstGeom prst="rect">
            <a:avLst/>
          </a:prstGeom>
          <a:noFill/>
          <a:ln>
            <a:noFill/>
          </a:ln>
        </p:spPr>
        <p:txBody>
          <a:bodyPr anchorCtr="0" anchor="ctr" bIns="0" lIns="0" spcFirstLastPara="1" rIns="0" wrap="square" tIns="0">
            <a:noAutofit/>
          </a:bodyPr>
          <a:lstStyle>
            <a:lvl1pPr lvl="0" marR="0" algn="l">
              <a:lnSpc>
                <a:spcPct val="90000"/>
              </a:lnSpc>
              <a:spcBef>
                <a:spcPts val="0"/>
              </a:spcBef>
              <a:spcAft>
                <a:spcPts val="0"/>
              </a:spcAft>
              <a:buClr>
                <a:schemeClr val="dk1"/>
              </a:buClr>
              <a:buSzPts val="3800"/>
              <a:buFont typeface="Georgia"/>
              <a:buNone/>
              <a:defRPr b="1" i="0" sz="3800" u="none" cap="none" strike="noStrike">
                <a:solidFill>
                  <a:schemeClr val="dk1"/>
                </a:solidFill>
                <a:latin typeface="Georgia"/>
                <a:ea typeface="Georgia"/>
                <a:cs typeface="Georgia"/>
                <a:sym typeface="Georgia"/>
              </a:defRPr>
            </a:lvl1pPr>
            <a:lvl2pPr lvl="1" marR="0" algn="l">
              <a:lnSpc>
                <a:spcPct val="100000"/>
              </a:lnSpc>
              <a:spcBef>
                <a:spcPts val="50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solid (Blue)">
  <p:cSld name="Section divider solid (Blue)">
    <p:bg>
      <p:bgPr>
        <a:solidFill>
          <a:schemeClr val="accent2"/>
        </a:solidFill>
      </p:bgPr>
    </p:bg>
    <p:spTree>
      <p:nvGrpSpPr>
        <p:cNvPr id="173" name="Shape 173"/>
        <p:cNvGrpSpPr/>
        <p:nvPr/>
      </p:nvGrpSpPr>
      <p:grpSpPr>
        <a:xfrm>
          <a:off x="0" y="0"/>
          <a:ext cx="0" cy="0"/>
          <a:chOff x="0" y="0"/>
          <a:chExt cx="0" cy="0"/>
        </a:xfrm>
      </p:grpSpPr>
      <p:sp>
        <p:nvSpPr>
          <p:cNvPr id="174" name="Google Shape;174;p50"/>
          <p:cNvSpPr/>
          <p:nvPr/>
        </p:nvSpPr>
        <p:spPr>
          <a:xfrm>
            <a:off x="0" y="0"/>
            <a:ext cx="9144000" cy="5143500"/>
          </a:xfrm>
          <a:prstGeom prst="rect">
            <a:avLst/>
          </a:prstGeom>
          <a:gradFill>
            <a:gsLst>
              <a:gs pos="0">
                <a:srgbClr val="1B1A4C"/>
              </a:gs>
              <a:gs pos="100000">
                <a:schemeClr val="accent2"/>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5" name="Google Shape;175;p50"/>
          <p:cNvSpPr/>
          <p:nvPr/>
        </p:nvSpPr>
        <p:spPr>
          <a:xfrm>
            <a:off x="0" y="0"/>
            <a:ext cx="9144000" cy="5143500"/>
          </a:xfrm>
          <a:custGeom>
            <a:rect b="b" l="l" r="r" t="t"/>
            <a:pathLst>
              <a:path extrusionOk="0" h="6858000" w="12192000">
                <a:moveTo>
                  <a:pt x="0" y="4852599"/>
                </a:moveTo>
                <a:lnTo>
                  <a:pt x="137845" y="4936428"/>
                </a:lnTo>
                <a:cubicBezTo>
                  <a:pt x="380670" y="5068471"/>
                  <a:pt x="659017" y="5143502"/>
                  <a:pt x="955010" y="5143502"/>
                </a:cubicBezTo>
                <a:cubicBezTo>
                  <a:pt x="659473" y="5143502"/>
                  <a:pt x="381296" y="5218390"/>
                  <a:pt x="138491" y="5350282"/>
                </a:cubicBezTo>
                <a:lnTo>
                  <a:pt x="0" y="5434411"/>
                </a:lnTo>
                <a:close/>
                <a:moveTo>
                  <a:pt x="12192000" y="4852594"/>
                </a:moveTo>
                <a:lnTo>
                  <a:pt x="12192000" y="5434020"/>
                </a:lnTo>
                <a:lnTo>
                  <a:pt x="12054158" y="5350282"/>
                </a:lnTo>
                <a:cubicBezTo>
                  <a:pt x="11811333" y="5218390"/>
                  <a:pt x="11532986" y="5143502"/>
                  <a:pt x="11236993" y="5143502"/>
                </a:cubicBezTo>
                <a:cubicBezTo>
                  <a:pt x="11532530" y="5143502"/>
                  <a:pt x="11810707" y="5068613"/>
                  <a:pt x="12053512" y="4936721"/>
                </a:cubicBezTo>
                <a:close/>
                <a:moveTo>
                  <a:pt x="9523329" y="3429000"/>
                </a:moveTo>
                <a:cubicBezTo>
                  <a:pt x="9523329" y="4375184"/>
                  <a:pt x="10289816" y="5143502"/>
                  <a:pt x="11236993" y="5143502"/>
                </a:cubicBezTo>
                <a:cubicBezTo>
                  <a:pt x="10409485" y="5143502"/>
                  <a:pt x="9718092" y="5730629"/>
                  <a:pt x="9558174" y="6512256"/>
                </a:cubicBezTo>
                <a:lnTo>
                  <a:pt x="9523329" y="6858000"/>
                </a:lnTo>
                <a:lnTo>
                  <a:pt x="9523329" y="6858000"/>
                </a:lnTo>
                <a:lnTo>
                  <a:pt x="9488544" y="6512256"/>
                </a:lnTo>
                <a:cubicBezTo>
                  <a:pt x="9328884" y="5730629"/>
                  <a:pt x="8638445" y="5143502"/>
                  <a:pt x="7809665" y="5143502"/>
                </a:cubicBezTo>
                <a:cubicBezTo>
                  <a:pt x="8755385" y="5143502"/>
                  <a:pt x="9523329" y="4376641"/>
                  <a:pt x="9523329" y="3429000"/>
                </a:cubicBezTo>
                <a:close/>
                <a:moveTo>
                  <a:pt x="6096001" y="3429000"/>
                </a:moveTo>
                <a:cubicBezTo>
                  <a:pt x="6096001" y="4375184"/>
                  <a:pt x="6862485" y="5143502"/>
                  <a:pt x="7809665" y="5143502"/>
                </a:cubicBezTo>
                <a:cubicBezTo>
                  <a:pt x="6982160" y="5143502"/>
                  <a:pt x="6290765" y="5730629"/>
                  <a:pt x="6130846" y="6512256"/>
                </a:cubicBezTo>
                <a:lnTo>
                  <a:pt x="6096001" y="6858000"/>
                </a:lnTo>
                <a:lnTo>
                  <a:pt x="6096001" y="6858000"/>
                </a:lnTo>
                <a:lnTo>
                  <a:pt x="6061216" y="6512256"/>
                </a:lnTo>
                <a:cubicBezTo>
                  <a:pt x="5901556" y="5730629"/>
                  <a:pt x="5211118" y="5143502"/>
                  <a:pt x="4382338" y="5143502"/>
                </a:cubicBezTo>
                <a:cubicBezTo>
                  <a:pt x="5328058" y="5143502"/>
                  <a:pt x="6096001" y="4376641"/>
                  <a:pt x="6096001" y="3429000"/>
                </a:cubicBezTo>
                <a:close/>
                <a:moveTo>
                  <a:pt x="2668674" y="3429000"/>
                </a:moveTo>
                <a:cubicBezTo>
                  <a:pt x="2668674" y="4375184"/>
                  <a:pt x="3435160" y="5143502"/>
                  <a:pt x="4382338" y="5143502"/>
                </a:cubicBezTo>
                <a:cubicBezTo>
                  <a:pt x="3554833" y="5143502"/>
                  <a:pt x="2863438" y="5730629"/>
                  <a:pt x="2703519" y="6512256"/>
                </a:cubicBezTo>
                <a:lnTo>
                  <a:pt x="2668674" y="6858000"/>
                </a:lnTo>
                <a:lnTo>
                  <a:pt x="2668674" y="6858000"/>
                </a:lnTo>
                <a:lnTo>
                  <a:pt x="2633829" y="6512256"/>
                </a:lnTo>
                <a:cubicBezTo>
                  <a:pt x="2473910" y="5730629"/>
                  <a:pt x="1782515" y="5143502"/>
                  <a:pt x="955010" y="5143502"/>
                </a:cubicBezTo>
                <a:cubicBezTo>
                  <a:pt x="1900730" y="5143502"/>
                  <a:pt x="2668674" y="4376641"/>
                  <a:pt x="2668674" y="3429000"/>
                </a:cubicBezTo>
                <a:close/>
                <a:moveTo>
                  <a:pt x="0" y="1423599"/>
                </a:moveTo>
                <a:lnTo>
                  <a:pt x="137845" y="1507428"/>
                </a:lnTo>
                <a:cubicBezTo>
                  <a:pt x="380670" y="1639470"/>
                  <a:pt x="659017" y="1714501"/>
                  <a:pt x="955010" y="1714501"/>
                </a:cubicBezTo>
                <a:cubicBezTo>
                  <a:pt x="659473" y="1714501"/>
                  <a:pt x="381296" y="1789390"/>
                  <a:pt x="138491" y="1921281"/>
                </a:cubicBezTo>
                <a:lnTo>
                  <a:pt x="0" y="2005410"/>
                </a:lnTo>
                <a:close/>
                <a:moveTo>
                  <a:pt x="12192000" y="1423594"/>
                </a:moveTo>
                <a:lnTo>
                  <a:pt x="12192000" y="2005019"/>
                </a:lnTo>
                <a:lnTo>
                  <a:pt x="12054158" y="1921281"/>
                </a:lnTo>
                <a:cubicBezTo>
                  <a:pt x="11811333" y="1789390"/>
                  <a:pt x="11532986" y="1714501"/>
                  <a:pt x="11236993" y="1714501"/>
                </a:cubicBezTo>
                <a:cubicBezTo>
                  <a:pt x="11532530" y="1714501"/>
                  <a:pt x="11810707" y="1639613"/>
                  <a:pt x="12053512" y="1507721"/>
                </a:cubicBezTo>
                <a:close/>
                <a:moveTo>
                  <a:pt x="9523329" y="0"/>
                </a:moveTo>
                <a:cubicBezTo>
                  <a:pt x="9523329" y="946184"/>
                  <a:pt x="10289816" y="1714501"/>
                  <a:pt x="11236993" y="1714501"/>
                </a:cubicBezTo>
                <a:cubicBezTo>
                  <a:pt x="10291270" y="1714501"/>
                  <a:pt x="9523329" y="2481360"/>
                  <a:pt x="9523329" y="3429000"/>
                </a:cubicBezTo>
                <a:cubicBezTo>
                  <a:pt x="9523329" y="2481360"/>
                  <a:pt x="8756842" y="1714501"/>
                  <a:pt x="7809665" y="1714501"/>
                </a:cubicBezTo>
                <a:cubicBezTo>
                  <a:pt x="8755385" y="1714501"/>
                  <a:pt x="9523329" y="947641"/>
                  <a:pt x="9523329" y="0"/>
                </a:cubicBezTo>
                <a:close/>
                <a:moveTo>
                  <a:pt x="6096001" y="0"/>
                </a:moveTo>
                <a:cubicBezTo>
                  <a:pt x="6096001" y="946184"/>
                  <a:pt x="6862485" y="1714501"/>
                  <a:pt x="7809665" y="1714501"/>
                </a:cubicBezTo>
                <a:cubicBezTo>
                  <a:pt x="6863945" y="1714501"/>
                  <a:pt x="6096001" y="2481360"/>
                  <a:pt x="6096001" y="3429000"/>
                </a:cubicBezTo>
                <a:cubicBezTo>
                  <a:pt x="6096001" y="2481360"/>
                  <a:pt x="5329515" y="1714501"/>
                  <a:pt x="4382338" y="1714501"/>
                </a:cubicBezTo>
                <a:cubicBezTo>
                  <a:pt x="5328058" y="1714501"/>
                  <a:pt x="6096001" y="947641"/>
                  <a:pt x="6096001" y="0"/>
                </a:cubicBezTo>
                <a:close/>
                <a:moveTo>
                  <a:pt x="2668674" y="0"/>
                </a:moveTo>
                <a:cubicBezTo>
                  <a:pt x="2668674" y="946184"/>
                  <a:pt x="3435160" y="1714501"/>
                  <a:pt x="4382338" y="1714501"/>
                </a:cubicBezTo>
                <a:cubicBezTo>
                  <a:pt x="3436618" y="1714501"/>
                  <a:pt x="2668674" y="2481360"/>
                  <a:pt x="2668674" y="3429000"/>
                </a:cubicBezTo>
                <a:cubicBezTo>
                  <a:pt x="2668674" y="2481360"/>
                  <a:pt x="1900730" y="1714501"/>
                  <a:pt x="955010" y="1714501"/>
                </a:cubicBezTo>
                <a:cubicBezTo>
                  <a:pt x="1900730" y="1714501"/>
                  <a:pt x="2668674" y="947641"/>
                  <a:pt x="2668674" y="0"/>
                </a:cubicBezTo>
                <a:close/>
              </a:path>
            </a:pathLst>
          </a:custGeom>
          <a:gradFill>
            <a:gsLst>
              <a:gs pos="0">
                <a:srgbClr val="292772">
                  <a:alpha val="10980"/>
                </a:srgbClr>
              </a:gs>
              <a:gs pos="13000">
                <a:srgbClr val="292772">
                  <a:alpha val="10980"/>
                </a:srgbClr>
              </a:gs>
              <a:gs pos="100000">
                <a:srgbClr val="5E2CFE">
                  <a:alpha val="20000"/>
                </a:srgbClr>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6" name="Google Shape;176;p50"/>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DED4FF"/>
                </a:solidFill>
                <a:latin typeface="Arial"/>
                <a:ea typeface="Arial"/>
                <a:cs typeface="Arial"/>
                <a:sym typeface="Arial"/>
              </a:rPr>
              <a:t>© Virtusa Corporation. All Rights Reserved.</a:t>
            </a:r>
            <a:endParaRPr b="0" i="0" sz="1100" u="none" cap="none" strike="noStrike">
              <a:solidFill>
                <a:srgbClr val="000000"/>
              </a:solidFill>
              <a:latin typeface="Arial"/>
              <a:ea typeface="Arial"/>
              <a:cs typeface="Arial"/>
              <a:sym typeface="Arial"/>
            </a:endParaRPr>
          </a:p>
        </p:txBody>
      </p:sp>
      <p:sp>
        <p:nvSpPr>
          <p:cNvPr id="177" name="Google Shape;177;p50"/>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en" sz="800" u="none" cap="none" strike="noStrike">
                <a:solidFill>
                  <a:schemeClr val="lt1"/>
                </a:solidFill>
                <a:latin typeface="Arial"/>
                <a:ea typeface="Arial"/>
                <a:cs typeface="Arial"/>
                <a:sym typeface="Arial"/>
              </a:rPr>
              <a:t>‹#›</a:t>
            </a:fld>
            <a:endParaRPr b="1" i="0" sz="800" u="none" cap="none" strike="noStrike">
              <a:solidFill>
                <a:schemeClr val="lt1"/>
              </a:solidFill>
              <a:latin typeface="Arial"/>
              <a:ea typeface="Arial"/>
              <a:cs typeface="Arial"/>
              <a:sym typeface="Arial"/>
            </a:endParaRPr>
          </a:p>
        </p:txBody>
      </p:sp>
      <p:sp>
        <p:nvSpPr>
          <p:cNvPr id="178" name="Google Shape;178;p50"/>
          <p:cNvSpPr txBox="1"/>
          <p:nvPr>
            <p:ph type="ctrTitle"/>
          </p:nvPr>
        </p:nvSpPr>
        <p:spPr>
          <a:xfrm>
            <a:off x="480060" y="1270748"/>
            <a:ext cx="7562100" cy="2363400"/>
          </a:xfrm>
          <a:prstGeom prst="rect">
            <a:avLst/>
          </a:prstGeom>
          <a:noFill/>
          <a:ln>
            <a:noFill/>
          </a:ln>
        </p:spPr>
        <p:txBody>
          <a:bodyPr anchorCtr="0" anchor="ctr" bIns="0" lIns="68575" spcFirstLastPara="1" rIns="0" wrap="square" tIns="0">
            <a:noAutofit/>
          </a:bodyPr>
          <a:lstStyle>
            <a:lvl1pPr lvl="0" marR="0" algn="l">
              <a:lnSpc>
                <a:spcPct val="90000"/>
              </a:lnSpc>
              <a:spcBef>
                <a:spcPts val="0"/>
              </a:spcBef>
              <a:spcAft>
                <a:spcPts val="0"/>
              </a:spcAft>
              <a:buClr>
                <a:schemeClr val="lt2"/>
              </a:buClr>
              <a:buSzPts val="4500"/>
              <a:buFont typeface="Montserrat"/>
              <a:buNone/>
              <a:defRPr b="0" i="0" sz="4500" u="none" cap="none" strike="noStrike">
                <a:solidFill>
                  <a:schemeClr val="lt2"/>
                </a:solidFill>
                <a:latin typeface="Montserrat"/>
                <a:ea typeface="Montserrat"/>
                <a:cs typeface="Montserrat"/>
                <a:sym typeface="Montserrat"/>
              </a:defRPr>
            </a:lvl1pPr>
            <a:lvl2pPr lvl="1" marR="0" algn="l">
              <a:lnSpc>
                <a:spcPct val="100000"/>
              </a:lnSpc>
              <a:spcBef>
                <a:spcPts val="50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descr="Virtusa Logo" id="179" name="Google Shape;179;p50"/>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4 Boxes + Intro">
  <p:cSld name="Photo - 4 Boxes + Intro">
    <p:spTree>
      <p:nvGrpSpPr>
        <p:cNvPr id="180" name="Shape 180"/>
        <p:cNvGrpSpPr/>
        <p:nvPr/>
      </p:nvGrpSpPr>
      <p:grpSpPr>
        <a:xfrm>
          <a:off x="0" y="0"/>
          <a:ext cx="0" cy="0"/>
          <a:chOff x="0" y="0"/>
          <a:chExt cx="0" cy="0"/>
        </a:xfrm>
      </p:grpSpPr>
      <p:sp>
        <p:nvSpPr>
          <p:cNvPr id="181" name="Google Shape;181;p51"/>
          <p:cNvSpPr/>
          <p:nvPr>
            <p:ph idx="2" type="pic"/>
          </p:nvPr>
        </p:nvSpPr>
        <p:spPr>
          <a:xfrm>
            <a:off x="548640" y="2191766"/>
            <a:ext cx="1851900" cy="1028700"/>
          </a:xfrm>
          <a:prstGeom prst="rect">
            <a:avLst/>
          </a:prstGeom>
          <a:solidFill>
            <a:srgbClr val="D8D8D8"/>
          </a:solidFill>
          <a:ln>
            <a:noFill/>
          </a:ln>
        </p:spPr>
      </p:sp>
      <p:sp>
        <p:nvSpPr>
          <p:cNvPr id="182" name="Google Shape;182;p51"/>
          <p:cNvSpPr/>
          <p:nvPr>
            <p:ph idx="3" type="pic"/>
          </p:nvPr>
        </p:nvSpPr>
        <p:spPr>
          <a:xfrm>
            <a:off x="2613078" y="2191766"/>
            <a:ext cx="1851900" cy="1028700"/>
          </a:xfrm>
          <a:prstGeom prst="rect">
            <a:avLst/>
          </a:prstGeom>
          <a:solidFill>
            <a:srgbClr val="D8D8D8"/>
          </a:solidFill>
          <a:ln>
            <a:noFill/>
          </a:ln>
        </p:spPr>
      </p:sp>
      <p:sp>
        <p:nvSpPr>
          <p:cNvPr id="183" name="Google Shape;183;p51"/>
          <p:cNvSpPr/>
          <p:nvPr>
            <p:ph idx="4" type="pic"/>
          </p:nvPr>
        </p:nvSpPr>
        <p:spPr>
          <a:xfrm>
            <a:off x="4677516" y="2191766"/>
            <a:ext cx="1851900" cy="1028700"/>
          </a:xfrm>
          <a:prstGeom prst="rect">
            <a:avLst/>
          </a:prstGeom>
          <a:solidFill>
            <a:srgbClr val="D8D8D8"/>
          </a:solidFill>
          <a:ln>
            <a:noFill/>
          </a:ln>
        </p:spPr>
      </p:sp>
      <p:sp>
        <p:nvSpPr>
          <p:cNvPr id="184" name="Google Shape;184;p51"/>
          <p:cNvSpPr/>
          <p:nvPr>
            <p:ph idx="5" type="pic"/>
          </p:nvPr>
        </p:nvSpPr>
        <p:spPr>
          <a:xfrm>
            <a:off x="6741955" y="2191766"/>
            <a:ext cx="1851900" cy="1028700"/>
          </a:xfrm>
          <a:prstGeom prst="rect">
            <a:avLst/>
          </a:prstGeom>
          <a:solidFill>
            <a:srgbClr val="D8D8D8"/>
          </a:solidFill>
          <a:ln>
            <a:noFill/>
          </a:ln>
        </p:spPr>
      </p:sp>
      <p:sp>
        <p:nvSpPr>
          <p:cNvPr id="185" name="Google Shape;185;p51"/>
          <p:cNvSpPr txBox="1"/>
          <p:nvPr>
            <p:ph idx="1" type="body"/>
          </p:nvPr>
        </p:nvSpPr>
        <p:spPr>
          <a:xfrm>
            <a:off x="480060" y="1303020"/>
            <a:ext cx="8113800" cy="705300"/>
          </a:xfrm>
          <a:prstGeom prst="rect">
            <a:avLst/>
          </a:prstGeom>
          <a:noFill/>
          <a:ln>
            <a:noFill/>
          </a:ln>
        </p:spPr>
        <p:txBody>
          <a:bodyPr anchorCtr="0" anchor="t" bIns="0" lIns="68575" spcFirstLastPara="1" rIns="68575" wrap="square" tIns="0">
            <a:noAutofit/>
          </a:bodyPr>
          <a:lstStyle>
            <a:lvl1pPr indent="-228600" lvl="0" marL="457200" marR="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86" name="Google Shape;186;p51"/>
          <p:cNvSpPr txBox="1"/>
          <p:nvPr>
            <p:ph idx="6" type="body"/>
          </p:nvPr>
        </p:nvSpPr>
        <p:spPr>
          <a:xfrm>
            <a:off x="480060" y="3404152"/>
            <a:ext cx="1920300" cy="1154400"/>
          </a:xfrm>
          <a:prstGeom prst="rect">
            <a:avLst/>
          </a:prstGeom>
          <a:noFill/>
          <a:ln>
            <a:noFill/>
          </a:ln>
        </p:spPr>
        <p:txBody>
          <a:bodyPr anchorCtr="0" anchor="t" bIns="0" lIns="68575" spcFirstLastPara="1" rIns="68575" wrap="square" tIns="0">
            <a:noAutofit/>
          </a:bodyPr>
          <a:lstStyle>
            <a:lvl1pPr indent="-228600" lvl="0" marL="457200" marR="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87" name="Google Shape;187;p51"/>
          <p:cNvSpPr txBox="1"/>
          <p:nvPr>
            <p:ph idx="7" type="body"/>
          </p:nvPr>
        </p:nvSpPr>
        <p:spPr>
          <a:xfrm>
            <a:off x="2550279" y="3404152"/>
            <a:ext cx="1914900" cy="1154400"/>
          </a:xfrm>
          <a:prstGeom prst="rect">
            <a:avLst/>
          </a:prstGeom>
          <a:noFill/>
          <a:ln>
            <a:noFill/>
          </a:ln>
        </p:spPr>
        <p:txBody>
          <a:bodyPr anchorCtr="0" anchor="t" bIns="0" lIns="68575" spcFirstLastPara="1" rIns="68575" wrap="square" tIns="0">
            <a:noAutofit/>
          </a:bodyPr>
          <a:lstStyle>
            <a:lvl1pPr indent="-228600" lvl="0" marL="457200" marR="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88" name="Google Shape;188;p51"/>
          <p:cNvSpPr txBox="1"/>
          <p:nvPr>
            <p:ph idx="8" type="body"/>
          </p:nvPr>
        </p:nvSpPr>
        <p:spPr>
          <a:xfrm>
            <a:off x="4615170" y="3404152"/>
            <a:ext cx="1914300" cy="1154400"/>
          </a:xfrm>
          <a:prstGeom prst="rect">
            <a:avLst/>
          </a:prstGeom>
          <a:noFill/>
          <a:ln>
            <a:noFill/>
          </a:ln>
        </p:spPr>
        <p:txBody>
          <a:bodyPr anchorCtr="0" anchor="t" bIns="0" lIns="68575" spcFirstLastPara="1" rIns="68575" wrap="square" tIns="0">
            <a:noAutofit/>
          </a:bodyPr>
          <a:lstStyle>
            <a:lvl1pPr indent="-228600" lvl="0" marL="457200" marR="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89" name="Google Shape;189;p51"/>
          <p:cNvSpPr txBox="1"/>
          <p:nvPr>
            <p:ph idx="9" type="body"/>
          </p:nvPr>
        </p:nvSpPr>
        <p:spPr>
          <a:xfrm>
            <a:off x="6680060" y="3404152"/>
            <a:ext cx="1920300" cy="1154400"/>
          </a:xfrm>
          <a:prstGeom prst="rect">
            <a:avLst/>
          </a:prstGeom>
          <a:noFill/>
          <a:ln>
            <a:noFill/>
          </a:ln>
        </p:spPr>
        <p:txBody>
          <a:bodyPr anchorCtr="0" anchor="t" bIns="0" lIns="68575" spcFirstLastPara="1" rIns="68575" wrap="square" tIns="0">
            <a:noAutofit/>
          </a:bodyPr>
          <a:lstStyle>
            <a:lvl1pPr indent="-228600" lvl="0" marL="457200" marR="0" algn="l">
              <a:lnSpc>
                <a:spcPct val="120000"/>
              </a:lnSpc>
              <a:spcBef>
                <a:spcPts val="0"/>
              </a:spcBef>
              <a:spcAft>
                <a:spcPts val="0"/>
              </a:spcAft>
              <a:buClr>
                <a:schemeClr val="dk1"/>
              </a:buClr>
              <a:buSzPts val="1100"/>
              <a:buFont typeface="Arial"/>
              <a:buNone/>
              <a:defRPr b="0" i="0" sz="1100" u="none" cap="none" strike="noStrike">
                <a:solidFill>
                  <a:schemeClr val="dk1"/>
                </a:solidFill>
                <a:latin typeface="Montserrat"/>
                <a:ea typeface="Montserrat"/>
                <a:cs typeface="Montserrat"/>
                <a:sym typeface="Montserrat"/>
              </a:defRPr>
            </a:lvl1pPr>
            <a:lvl2pPr indent="-342900" lvl="1" marL="914400" marR="0" algn="l">
              <a:lnSpc>
                <a:spcPct val="90000"/>
              </a:lnSpc>
              <a:spcBef>
                <a:spcPts val="1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descr="Virtusa Logo" id="190" name="Google Shape;190;p51"/>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ontserrat"/>
              <a:ea typeface="Montserrat"/>
              <a:cs typeface="Montserrat"/>
              <a:sym typeface="Montserrat"/>
            </a:endParaRPr>
          </a:p>
        </p:txBody>
      </p:sp>
      <p:sp>
        <p:nvSpPr>
          <p:cNvPr id="191" name="Google Shape;191;p51"/>
          <p:cNvSpPr txBox="1"/>
          <p:nvPr>
            <p:ph type="title"/>
          </p:nvPr>
        </p:nvSpPr>
        <p:spPr>
          <a:xfrm>
            <a:off x="480060" y="342900"/>
            <a:ext cx="8113800" cy="705300"/>
          </a:xfrm>
          <a:prstGeom prst="rect">
            <a:avLst/>
          </a:prstGeom>
          <a:noFill/>
          <a:ln>
            <a:noFill/>
          </a:ln>
        </p:spPr>
        <p:txBody>
          <a:bodyPr anchorCtr="0" anchor="t" bIns="0" lIns="68575" spcFirstLastPara="1" rIns="0" wrap="square" tIns="0">
            <a:noAutofit/>
          </a:bodyPr>
          <a:lstStyle>
            <a:lvl1pPr lvl="0" marR="0" algn="l">
              <a:lnSpc>
                <a:spcPct val="90000"/>
              </a:lnSpc>
              <a:spcBef>
                <a:spcPts val="0"/>
              </a:spcBef>
              <a:spcAft>
                <a:spcPts val="0"/>
              </a:spcAft>
              <a:buClr>
                <a:schemeClr val="dk1"/>
              </a:buClr>
              <a:buSzPts val="2400"/>
              <a:buFont typeface="Montserrat Light"/>
              <a:buNone/>
              <a:defRPr b="0" i="0" sz="2400" u="none" cap="none" strike="noStrike">
                <a:solidFill>
                  <a:schemeClr val="dk1"/>
                </a:solidFill>
                <a:latin typeface="Montserrat Light"/>
                <a:ea typeface="Montserrat Light"/>
                <a:cs typeface="Montserrat Light"/>
                <a:sym typeface="Montserrat Light"/>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21" Type="http://schemas.openxmlformats.org/officeDocument/2006/relationships/theme" Target="../theme/theme3.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19" Type="http://schemas.openxmlformats.org/officeDocument/2006/relationships/slideLayout" Target="../slideLayouts/slideLayout31.xml"/><Relationship Id="rId6" Type="http://schemas.openxmlformats.org/officeDocument/2006/relationships/slideLayout" Target="../slideLayouts/slideLayout18.xml"/><Relationship Id="rId18" Type="http://schemas.openxmlformats.org/officeDocument/2006/relationships/slideLayout" Target="../slideLayouts/slideLayout30.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BFBFBF"/>
                </a:solidFill>
                <a:latin typeface="Montserrat"/>
                <a:ea typeface="Montserrat"/>
                <a:cs typeface="Montserrat"/>
                <a:sym typeface="Montserrat"/>
              </a:rPr>
              <a:t>© Virtusa Corporation. All Rights Reserved.</a:t>
            </a:r>
            <a:endParaRPr b="0" i="0" sz="1100" u="none" cap="none" strike="noStrike">
              <a:solidFill>
                <a:srgbClr val="000000"/>
              </a:solidFill>
              <a:latin typeface="Arial"/>
              <a:ea typeface="Arial"/>
              <a:cs typeface="Arial"/>
              <a:sym typeface="Arial"/>
            </a:endParaRPr>
          </a:p>
        </p:txBody>
      </p:sp>
      <p:sp>
        <p:nvSpPr>
          <p:cNvPr id="7" name="Google Shape;7;p18"/>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en" sz="800" u="none" cap="none" strike="noStrike">
                <a:solidFill>
                  <a:schemeClr val="dk2"/>
                </a:solidFill>
                <a:latin typeface="Montserrat"/>
                <a:ea typeface="Montserrat"/>
                <a:cs typeface="Montserrat"/>
                <a:sym typeface="Montserrat"/>
              </a:rPr>
              <a:t>‹#›</a:t>
            </a:fld>
            <a:endParaRPr b="1" i="0" sz="800" u="none" cap="none" strike="noStrike">
              <a:solidFill>
                <a:schemeClr val="dk2"/>
              </a:solidFill>
              <a:latin typeface="Montserrat"/>
              <a:ea typeface="Montserrat"/>
              <a:cs typeface="Montserrat"/>
              <a:sym typeface="Montserrat"/>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1" name="Shape 91"/>
        <p:cNvGrpSpPr/>
        <p:nvPr/>
      </p:nvGrpSpPr>
      <p:grpSpPr>
        <a:xfrm>
          <a:off x="0" y="0"/>
          <a:ext cx="0" cy="0"/>
          <a:chOff x="0" y="0"/>
          <a:chExt cx="0" cy="0"/>
        </a:xfrm>
      </p:grpSpPr>
      <p:sp>
        <p:nvSpPr>
          <p:cNvPr id="92" name="Google Shape;92;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3" name="Google Shape;93;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4" name="Google Shape;9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0" Type="http://schemas.openxmlformats.org/officeDocument/2006/relationships/image" Target="../media/image7.png"/><Relationship Id="rId22" Type="http://schemas.openxmlformats.org/officeDocument/2006/relationships/image" Target="../media/image6.png"/><Relationship Id="rId21" Type="http://schemas.openxmlformats.org/officeDocument/2006/relationships/image" Target="../media/image20.png"/><Relationship Id="rId24" Type="http://schemas.openxmlformats.org/officeDocument/2006/relationships/image" Target="../media/image27.png"/><Relationship Id="rId23"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5.png"/><Relationship Id="rId9" Type="http://schemas.openxmlformats.org/officeDocument/2006/relationships/image" Target="../media/image1.png"/><Relationship Id="rId26" Type="http://schemas.openxmlformats.org/officeDocument/2006/relationships/image" Target="../media/image26.png"/><Relationship Id="rId25" Type="http://schemas.openxmlformats.org/officeDocument/2006/relationships/image" Target="../media/image23.png"/><Relationship Id="rId28" Type="http://schemas.openxmlformats.org/officeDocument/2006/relationships/image" Target="../media/image32.png"/><Relationship Id="rId27" Type="http://schemas.openxmlformats.org/officeDocument/2006/relationships/image" Target="../media/image28.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1.png"/><Relationship Id="rId8" Type="http://schemas.openxmlformats.org/officeDocument/2006/relationships/image" Target="../media/image19.png"/><Relationship Id="rId11" Type="http://schemas.openxmlformats.org/officeDocument/2006/relationships/image" Target="../media/image13.png"/><Relationship Id="rId10" Type="http://schemas.openxmlformats.org/officeDocument/2006/relationships/image" Target="../media/image9.png"/><Relationship Id="rId13" Type="http://schemas.openxmlformats.org/officeDocument/2006/relationships/image" Target="../media/image17.png"/><Relationship Id="rId12" Type="http://schemas.openxmlformats.org/officeDocument/2006/relationships/image" Target="../media/image14.png"/><Relationship Id="rId15" Type="http://schemas.openxmlformats.org/officeDocument/2006/relationships/image" Target="../media/image4.png"/><Relationship Id="rId14" Type="http://schemas.openxmlformats.org/officeDocument/2006/relationships/image" Target="../media/image2.png"/><Relationship Id="rId17" Type="http://schemas.openxmlformats.org/officeDocument/2006/relationships/image" Target="../media/image35.png"/><Relationship Id="rId16" Type="http://schemas.openxmlformats.org/officeDocument/2006/relationships/image" Target="../media/image8.png"/><Relationship Id="rId19" Type="http://schemas.openxmlformats.org/officeDocument/2006/relationships/image" Target="../media/image15.jpg"/><Relationship Id="rId18"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1.jpg"/><Relationship Id="rId4" Type="http://schemas.openxmlformats.org/officeDocument/2006/relationships/image" Target="../media/image30.png"/><Relationship Id="rId5" Type="http://schemas.openxmlformats.org/officeDocument/2006/relationships/image" Target="../media/image21.png"/><Relationship Id="rId6"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8.jpg"/><Relationship Id="rId4" Type="http://schemas.openxmlformats.org/officeDocument/2006/relationships/image" Target="../media/image34.jpg"/><Relationship Id="rId5" Type="http://schemas.openxmlformats.org/officeDocument/2006/relationships/image" Target="../media/image25.jpg"/><Relationship Id="rId6" Type="http://schemas.openxmlformats.org/officeDocument/2006/relationships/image" Target="../media/image29.png"/><Relationship Id="rId7" Type="http://schemas.openxmlformats.org/officeDocument/2006/relationships/image" Target="../media/image24.png"/><Relationship Id="rId8"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7.jpg"/><Relationship Id="rId4" Type="http://schemas.openxmlformats.org/officeDocument/2006/relationships/image" Target="../media/image44.png"/><Relationship Id="rId9" Type="http://schemas.openxmlformats.org/officeDocument/2006/relationships/image" Target="../media/image63.png"/><Relationship Id="rId5" Type="http://schemas.openxmlformats.org/officeDocument/2006/relationships/image" Target="../media/image39.jpg"/><Relationship Id="rId6" Type="http://schemas.openxmlformats.org/officeDocument/2006/relationships/image" Target="../media/image43.png"/><Relationship Id="rId7" Type="http://schemas.openxmlformats.org/officeDocument/2006/relationships/image" Target="../media/image40.png"/><Relationship Id="rId8" Type="http://schemas.openxmlformats.org/officeDocument/2006/relationships/image" Target="../media/image36.png"/><Relationship Id="rId11" Type="http://schemas.openxmlformats.org/officeDocument/2006/relationships/image" Target="../media/image46.png"/><Relationship Id="rId10" Type="http://schemas.openxmlformats.org/officeDocument/2006/relationships/image" Target="../media/image47.png"/><Relationship Id="rId13" Type="http://schemas.openxmlformats.org/officeDocument/2006/relationships/image" Target="../media/image42.png"/><Relationship Id="rId12" Type="http://schemas.openxmlformats.org/officeDocument/2006/relationships/image" Target="../media/image41.png"/><Relationship Id="rId15" Type="http://schemas.openxmlformats.org/officeDocument/2006/relationships/image" Target="../media/image45.png"/><Relationship Id="rId14"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64.png"/><Relationship Id="rId4" Type="http://schemas.openxmlformats.org/officeDocument/2006/relationships/image" Target="../media/image50.jpg"/><Relationship Id="rId5" Type="http://schemas.openxmlformats.org/officeDocument/2006/relationships/image" Target="../media/image52.jpg"/><Relationship Id="rId6" Type="http://schemas.openxmlformats.org/officeDocument/2006/relationships/image" Target="../media/image5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9.jpg"/><Relationship Id="rId4" Type="http://schemas.openxmlformats.org/officeDocument/2006/relationships/image" Target="../media/image65.png"/><Relationship Id="rId5" Type="http://schemas.openxmlformats.org/officeDocument/2006/relationships/image" Target="../media/image59.png"/><Relationship Id="rId6" Type="http://schemas.openxmlformats.org/officeDocument/2006/relationships/image" Target="../media/image53.jpg"/><Relationship Id="rId7" Type="http://schemas.openxmlformats.org/officeDocument/2006/relationships/image" Target="../media/image5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jpg"/><Relationship Id="rId4" Type="http://schemas.openxmlformats.org/officeDocument/2006/relationships/image" Target="../media/image56.jpg"/><Relationship Id="rId9" Type="http://schemas.openxmlformats.org/officeDocument/2006/relationships/image" Target="../media/image60.jpg"/><Relationship Id="rId5" Type="http://schemas.openxmlformats.org/officeDocument/2006/relationships/image" Target="../media/image54.png"/><Relationship Id="rId6" Type="http://schemas.openxmlformats.org/officeDocument/2006/relationships/image" Target="../media/image61.jpg"/><Relationship Id="rId7" Type="http://schemas.openxmlformats.org/officeDocument/2006/relationships/image" Target="../media/image62.png"/><Relationship Id="rId8" Type="http://schemas.openxmlformats.org/officeDocument/2006/relationships/image" Target="../media/image71.jpg"/><Relationship Id="rId11" Type="http://schemas.openxmlformats.org/officeDocument/2006/relationships/image" Target="../media/image74.png"/><Relationship Id="rId10" Type="http://schemas.openxmlformats.org/officeDocument/2006/relationships/image" Target="../media/image57.jpg"/><Relationship Id="rId13" Type="http://schemas.openxmlformats.org/officeDocument/2006/relationships/image" Target="../media/image69.jpg"/><Relationship Id="rId12" Type="http://schemas.openxmlformats.org/officeDocument/2006/relationships/image" Target="../media/image73.png"/><Relationship Id="rId15" Type="http://schemas.openxmlformats.org/officeDocument/2006/relationships/image" Target="../media/image66.jpg"/><Relationship Id="rId14" Type="http://schemas.openxmlformats.org/officeDocument/2006/relationships/image" Target="../media/image72.jpg"/><Relationship Id="rId17" Type="http://schemas.openxmlformats.org/officeDocument/2006/relationships/image" Target="../media/image68.jpg"/><Relationship Id="rId16" Type="http://schemas.openxmlformats.org/officeDocument/2006/relationships/image" Target="../media/image70.png"/><Relationship Id="rId18" Type="http://schemas.openxmlformats.org/officeDocument/2006/relationships/image" Target="../media/image6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ph type="ctrTitle"/>
          </p:nvPr>
        </p:nvSpPr>
        <p:spPr>
          <a:xfrm>
            <a:off x="480060" y="2082134"/>
            <a:ext cx="5307000" cy="11526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lt1"/>
              </a:buClr>
              <a:buSzPts val="5300"/>
              <a:buFont typeface="Montserrat ExtraLight"/>
              <a:buNone/>
            </a:pPr>
            <a:r>
              <a:rPr lang="en" sz="5300">
                <a:solidFill>
                  <a:schemeClr val="lt1"/>
                </a:solidFill>
                <a:latin typeface="Montserrat ExtraLight"/>
                <a:ea typeface="Montserrat ExtraLight"/>
                <a:cs typeface="Montserrat ExtraLight"/>
                <a:sym typeface="Montserrat ExtraLight"/>
              </a:rPr>
              <a:t>About Virtusa</a:t>
            </a:r>
            <a:endParaRPr sz="2000">
              <a:solidFill>
                <a:schemeClr val="lt2"/>
              </a:solidFill>
              <a:latin typeface="Montserrat"/>
              <a:ea typeface="Montserrat"/>
              <a:cs typeface="Montserrat"/>
              <a:sym typeface="Montserra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
          <p:cNvSpPr txBox="1"/>
          <p:nvPr>
            <p:ph type="title"/>
          </p:nvPr>
        </p:nvSpPr>
        <p:spPr>
          <a:xfrm>
            <a:off x="2938556" y="1929578"/>
            <a:ext cx="5415900" cy="7053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dk1"/>
              </a:buClr>
              <a:buSzPts val="2100"/>
              <a:buFont typeface="Montserrat Light"/>
              <a:buNone/>
            </a:pPr>
            <a:r>
              <a:rPr lang="en" sz="2100"/>
              <a:t>We help our clients grow faster, more profitably, and more sustainably by </a:t>
            </a:r>
            <a:r>
              <a:rPr b="1" lang="en">
                <a:solidFill>
                  <a:schemeClr val="dk2"/>
                </a:solidFill>
                <a:latin typeface="Montserrat"/>
                <a:ea typeface="Montserrat"/>
                <a:cs typeface="Montserrat"/>
                <a:sym typeface="Montserrat"/>
              </a:rPr>
              <a:t>making experiences </a:t>
            </a:r>
            <a:br>
              <a:rPr b="1" lang="en">
                <a:solidFill>
                  <a:schemeClr val="dk2"/>
                </a:solidFill>
                <a:latin typeface="Montserrat"/>
                <a:ea typeface="Montserrat"/>
                <a:cs typeface="Montserrat"/>
                <a:sym typeface="Montserrat"/>
              </a:rPr>
            </a:br>
            <a:r>
              <a:rPr b="1" lang="en">
                <a:solidFill>
                  <a:schemeClr val="dk2"/>
                </a:solidFill>
                <a:latin typeface="Montserrat"/>
                <a:ea typeface="Montserrat"/>
                <a:cs typeface="Montserrat"/>
                <a:sym typeface="Montserrat"/>
              </a:rPr>
              <a:t>better with technology</a:t>
            </a:r>
            <a:r>
              <a:rPr b="1" lang="en">
                <a:solidFill>
                  <a:schemeClr val="dk2"/>
                </a:solidFill>
              </a:rPr>
              <a:t>.</a:t>
            </a:r>
            <a:endParaRPr b="1">
              <a:solidFill>
                <a:schemeClr val="dk2"/>
              </a:solidFill>
            </a:endParaRPr>
          </a:p>
        </p:txBody>
      </p:sp>
      <p:sp>
        <p:nvSpPr>
          <p:cNvPr id="204" name="Google Shape;204;p2"/>
          <p:cNvSpPr/>
          <p:nvPr/>
        </p:nvSpPr>
        <p:spPr>
          <a:xfrm>
            <a:off x="558764" y="2087717"/>
            <a:ext cx="1672730" cy="389111"/>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
          <p:cNvSpPr/>
          <p:nvPr/>
        </p:nvSpPr>
        <p:spPr>
          <a:xfrm>
            <a:off x="5291411" y="1452619"/>
            <a:ext cx="2780730" cy="1526215"/>
          </a:xfrm>
          <a:custGeom>
            <a:rect b="b" l="l" r="r" t="t"/>
            <a:pathLst>
              <a:path extrusionOk="0" h="2034953" w="3707640">
                <a:moveTo>
                  <a:pt x="2317147" y="28869"/>
                </a:moveTo>
                <a:cubicBezTo>
                  <a:pt x="2854251" y="28869"/>
                  <a:pt x="2930118" y="429012"/>
                  <a:pt x="2802555" y="496821"/>
                </a:cubicBezTo>
                <a:cubicBezTo>
                  <a:pt x="2752873" y="523005"/>
                  <a:pt x="2709905" y="531062"/>
                  <a:pt x="2674993" y="531062"/>
                </a:cubicBezTo>
                <a:cubicBezTo>
                  <a:pt x="2619940" y="531062"/>
                  <a:pt x="2587043" y="510920"/>
                  <a:pt x="2587043" y="510920"/>
                </a:cubicBezTo>
                <a:cubicBezTo>
                  <a:pt x="2587043" y="510920"/>
                  <a:pt x="2617926" y="539119"/>
                  <a:pt x="2621283" y="652582"/>
                </a:cubicBezTo>
                <a:cubicBezTo>
                  <a:pt x="2623968" y="766045"/>
                  <a:pt x="2530646" y="1605942"/>
                  <a:pt x="3171815" y="1605942"/>
                </a:cubicBezTo>
                <a:cubicBezTo>
                  <a:pt x="4108390" y="1605942"/>
                  <a:pt x="3461179" y="2006084"/>
                  <a:pt x="3461179" y="2006084"/>
                </a:cubicBezTo>
                <a:lnTo>
                  <a:pt x="927390" y="1901349"/>
                </a:lnTo>
                <a:cubicBezTo>
                  <a:pt x="927390" y="1901349"/>
                  <a:pt x="-313320" y="1617355"/>
                  <a:pt x="121734" y="1617355"/>
                </a:cubicBezTo>
                <a:cubicBezTo>
                  <a:pt x="556789" y="1617355"/>
                  <a:pt x="848839" y="1150074"/>
                  <a:pt x="1208699" y="760674"/>
                </a:cubicBezTo>
                <a:cubicBezTo>
                  <a:pt x="1581315" y="356503"/>
                  <a:pt x="1958630" y="28869"/>
                  <a:pt x="2317818" y="28869"/>
                </a:cubicBezTo>
                <a:moveTo>
                  <a:pt x="2317147" y="0"/>
                </a:moveTo>
                <a:cubicBezTo>
                  <a:pt x="2143260" y="0"/>
                  <a:pt x="1957959" y="71838"/>
                  <a:pt x="1750502" y="219541"/>
                </a:cubicBezTo>
                <a:cubicBezTo>
                  <a:pt x="1584672" y="337704"/>
                  <a:pt x="1405413" y="503535"/>
                  <a:pt x="1186543" y="741204"/>
                </a:cubicBezTo>
                <a:cubicBezTo>
                  <a:pt x="1134176" y="797600"/>
                  <a:pt x="1081808" y="856681"/>
                  <a:pt x="1030783" y="913749"/>
                </a:cubicBezTo>
                <a:cubicBezTo>
                  <a:pt x="881065" y="1081594"/>
                  <a:pt x="725305" y="1254810"/>
                  <a:pt x="572902" y="1381701"/>
                </a:cubicBezTo>
                <a:cubicBezTo>
                  <a:pt x="491664" y="1449510"/>
                  <a:pt x="417141" y="1498521"/>
                  <a:pt x="345975" y="1532761"/>
                </a:cubicBezTo>
                <a:cubicBezTo>
                  <a:pt x="267424" y="1570359"/>
                  <a:pt x="194243" y="1588486"/>
                  <a:pt x="121734" y="1588486"/>
                </a:cubicBezTo>
                <a:cubicBezTo>
                  <a:pt x="49225" y="1588486"/>
                  <a:pt x="63995" y="1589828"/>
                  <a:pt x="46540" y="1593185"/>
                </a:cubicBezTo>
                <a:cubicBezTo>
                  <a:pt x="17670" y="1598557"/>
                  <a:pt x="2229" y="1611313"/>
                  <a:pt x="214" y="1630783"/>
                </a:cubicBezTo>
                <a:cubicBezTo>
                  <a:pt x="-3143" y="1662338"/>
                  <a:pt x="33783" y="1679794"/>
                  <a:pt x="53253" y="1689193"/>
                </a:cubicBezTo>
                <a:cubicBezTo>
                  <a:pt x="77423" y="1700606"/>
                  <a:pt x="112334" y="1714034"/>
                  <a:pt x="157317" y="1728804"/>
                </a:cubicBezTo>
                <a:cubicBezTo>
                  <a:pt x="231840" y="1753645"/>
                  <a:pt x="336576" y="1783858"/>
                  <a:pt x="468166" y="1818098"/>
                </a:cubicBezTo>
                <a:cubicBezTo>
                  <a:pt x="691736" y="1876508"/>
                  <a:pt x="918663" y="1928876"/>
                  <a:pt x="920676" y="1929547"/>
                </a:cubicBezTo>
                <a:lnTo>
                  <a:pt x="923362" y="1929547"/>
                </a:lnTo>
                <a:cubicBezTo>
                  <a:pt x="923362" y="1929547"/>
                  <a:pt x="926048" y="1930218"/>
                  <a:pt x="926048" y="1930218"/>
                </a:cubicBezTo>
                <a:lnTo>
                  <a:pt x="3459837" y="2034954"/>
                </a:lnTo>
                <a:lnTo>
                  <a:pt x="3468564" y="2034954"/>
                </a:lnTo>
                <a:cubicBezTo>
                  <a:pt x="3468564" y="2034954"/>
                  <a:pt x="3475949" y="2030925"/>
                  <a:pt x="3475949" y="2030925"/>
                </a:cubicBezTo>
                <a:cubicBezTo>
                  <a:pt x="3478635" y="2029583"/>
                  <a:pt x="3541074" y="1990643"/>
                  <a:pt x="3600155" y="1936261"/>
                </a:cubicBezTo>
                <a:cubicBezTo>
                  <a:pt x="3685420" y="1857709"/>
                  <a:pt x="3720332" y="1787886"/>
                  <a:pt x="3703547" y="1728133"/>
                </a:cubicBezTo>
                <a:cubicBezTo>
                  <a:pt x="3689449" y="1678451"/>
                  <a:pt x="3640437" y="1640854"/>
                  <a:pt x="3557858" y="1616012"/>
                </a:cubicBezTo>
                <a:cubicBezTo>
                  <a:pt x="3470579" y="1589828"/>
                  <a:pt x="3340331" y="1577072"/>
                  <a:pt x="3171143" y="1577072"/>
                </a:cubicBezTo>
                <a:cubicBezTo>
                  <a:pt x="3001955" y="1577072"/>
                  <a:pt x="2913333" y="1532761"/>
                  <a:pt x="2828739" y="1445482"/>
                </a:cubicBezTo>
                <a:cubicBezTo>
                  <a:pt x="2630682" y="1240711"/>
                  <a:pt x="2644110" y="849968"/>
                  <a:pt x="2648809" y="702935"/>
                </a:cubicBezTo>
                <a:cubicBezTo>
                  <a:pt x="2649480" y="680108"/>
                  <a:pt x="2650152" y="663995"/>
                  <a:pt x="2650152" y="652582"/>
                </a:cubicBezTo>
                <a:cubicBezTo>
                  <a:pt x="2649480" y="612299"/>
                  <a:pt x="2644781" y="582087"/>
                  <a:pt x="2638739" y="558589"/>
                </a:cubicBezTo>
                <a:cubicBezTo>
                  <a:pt x="2649480" y="559931"/>
                  <a:pt x="2661566" y="561274"/>
                  <a:pt x="2674322" y="561274"/>
                </a:cubicBezTo>
                <a:cubicBezTo>
                  <a:pt x="2721319" y="561274"/>
                  <a:pt x="2768315" y="548518"/>
                  <a:pt x="2815983" y="523677"/>
                </a:cubicBezTo>
                <a:cubicBezTo>
                  <a:pt x="2875064" y="492122"/>
                  <a:pt x="2899234" y="410885"/>
                  <a:pt x="2877078" y="321591"/>
                </a:cubicBezTo>
                <a:cubicBezTo>
                  <a:pt x="2856266" y="237669"/>
                  <a:pt x="2798527" y="160460"/>
                  <a:pt x="2715276" y="104064"/>
                </a:cubicBezTo>
                <a:cubicBezTo>
                  <a:pt x="2613226" y="35583"/>
                  <a:pt x="2478950" y="671"/>
                  <a:pt x="2317147" y="671"/>
                </a:cubicBezTo>
                <a:lnTo>
                  <a:pt x="2317147" y="671"/>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11" name="Google Shape;211;p3"/>
          <p:cNvSpPr/>
          <p:nvPr/>
        </p:nvSpPr>
        <p:spPr>
          <a:xfrm>
            <a:off x="0" y="1609722"/>
            <a:ext cx="9144000" cy="3533778"/>
          </a:xfrm>
          <a:custGeom>
            <a:rect b="b" l="l" r="r" t="t"/>
            <a:pathLst>
              <a:path extrusionOk="0" h="4711704" w="12192000">
                <a:moveTo>
                  <a:pt x="9202505" y="0"/>
                </a:moveTo>
                <a:cubicBezTo>
                  <a:pt x="9746203" y="0"/>
                  <a:pt x="9529399" y="645868"/>
                  <a:pt x="9632735" y="1021169"/>
                </a:cubicBezTo>
                <a:cubicBezTo>
                  <a:pt x="9670557" y="1158802"/>
                  <a:pt x="9867774" y="1392443"/>
                  <a:pt x="10169003" y="1392443"/>
                </a:cubicBezTo>
                <a:cubicBezTo>
                  <a:pt x="10470231" y="1392443"/>
                  <a:pt x="10454022" y="1130605"/>
                  <a:pt x="10675554" y="1130605"/>
                </a:cubicBezTo>
                <a:cubicBezTo>
                  <a:pt x="10895734" y="1130605"/>
                  <a:pt x="10880876" y="1391100"/>
                  <a:pt x="11179402" y="1392443"/>
                </a:cubicBezTo>
                <a:cubicBezTo>
                  <a:pt x="11477930" y="1391100"/>
                  <a:pt x="11462395" y="1130605"/>
                  <a:pt x="11683251" y="1130605"/>
                </a:cubicBezTo>
                <a:lnTo>
                  <a:pt x="11683927" y="1131276"/>
                </a:lnTo>
                <a:cubicBezTo>
                  <a:pt x="11944631" y="1131276"/>
                  <a:pt x="12190477" y="1381029"/>
                  <a:pt x="12190477" y="1554917"/>
                </a:cubicBezTo>
                <a:lnTo>
                  <a:pt x="12190477" y="3225804"/>
                </a:lnTo>
                <a:lnTo>
                  <a:pt x="12192000" y="3225804"/>
                </a:lnTo>
                <a:lnTo>
                  <a:pt x="12192000" y="4711704"/>
                </a:lnTo>
                <a:lnTo>
                  <a:pt x="0" y="4711704"/>
                </a:lnTo>
                <a:lnTo>
                  <a:pt x="0" y="3225804"/>
                </a:lnTo>
                <a:lnTo>
                  <a:pt x="1524" y="3225804"/>
                </a:lnTo>
                <a:lnTo>
                  <a:pt x="1524" y="1393114"/>
                </a:lnTo>
                <a:cubicBezTo>
                  <a:pt x="479033" y="1393114"/>
                  <a:pt x="454043" y="977530"/>
                  <a:pt x="805251" y="977530"/>
                </a:cubicBezTo>
                <a:cubicBezTo>
                  <a:pt x="1155784" y="977530"/>
                  <a:pt x="1131469" y="1391771"/>
                  <a:pt x="1606952" y="1393114"/>
                </a:cubicBezTo>
                <a:cubicBezTo>
                  <a:pt x="2082434" y="1391771"/>
                  <a:pt x="2058119" y="977530"/>
                  <a:pt x="2408652" y="977530"/>
                </a:cubicBezTo>
                <a:cubicBezTo>
                  <a:pt x="2759860" y="977530"/>
                  <a:pt x="2734870" y="1393114"/>
                  <a:pt x="3211703" y="1393114"/>
                </a:cubicBezTo>
                <a:cubicBezTo>
                  <a:pt x="3688536" y="1392443"/>
                  <a:pt x="3663546" y="977530"/>
                  <a:pt x="4014754" y="977530"/>
                </a:cubicBezTo>
                <a:cubicBezTo>
                  <a:pt x="4365962" y="977530"/>
                  <a:pt x="4340973" y="1393114"/>
                  <a:pt x="4818481" y="1393114"/>
                </a:cubicBezTo>
                <a:lnTo>
                  <a:pt x="4822533" y="1393114"/>
                </a:lnTo>
                <a:cubicBezTo>
                  <a:pt x="5300041" y="1393114"/>
                  <a:pt x="5385142" y="829826"/>
                  <a:pt x="6006511" y="829826"/>
                </a:cubicBezTo>
                <a:cubicBezTo>
                  <a:pt x="6627878" y="829826"/>
                  <a:pt x="6638686" y="1393785"/>
                  <a:pt x="7249247" y="1393785"/>
                </a:cubicBezTo>
                <a:cubicBezTo>
                  <a:pt x="7859809" y="1393785"/>
                  <a:pt x="8658808" y="0"/>
                  <a:pt x="9202505" y="0"/>
                </a:cubicBezTo>
                <a:close/>
              </a:path>
            </a:pathLst>
          </a:custGeom>
          <a:gradFill>
            <a:gsLst>
              <a:gs pos="0">
                <a:schemeClr val="accent1"/>
              </a:gs>
              <a:gs pos="100000">
                <a:schemeClr val="accent2"/>
              </a:gs>
            </a:gsLst>
            <a:lin ang="5400012" scaled="0"/>
          </a:gra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12" name="Google Shape;212;p3"/>
          <p:cNvSpPr txBox="1"/>
          <p:nvPr>
            <p:ph type="title"/>
          </p:nvPr>
        </p:nvSpPr>
        <p:spPr>
          <a:xfrm>
            <a:off x="548639" y="342900"/>
            <a:ext cx="6664200" cy="7053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dk1"/>
              </a:buClr>
              <a:buSzPts val="2400"/>
              <a:buFont typeface="Montserrat Light"/>
              <a:buNone/>
            </a:pPr>
            <a:r>
              <a:rPr lang="en"/>
              <a:t>Our goal is to help our clients </a:t>
            </a:r>
            <a:br>
              <a:rPr lang="en"/>
            </a:br>
            <a:r>
              <a:rPr b="1" lang="en">
                <a:solidFill>
                  <a:schemeClr val="dk2"/>
                </a:solidFill>
                <a:latin typeface="Montserrat"/>
                <a:ea typeface="Montserrat"/>
                <a:cs typeface="Montserrat"/>
                <a:sym typeface="Montserrat"/>
              </a:rPr>
              <a:t>create new value </a:t>
            </a:r>
            <a:r>
              <a:rPr lang="en"/>
              <a:t>in the AI era.</a:t>
            </a:r>
            <a:endParaRPr/>
          </a:p>
        </p:txBody>
      </p:sp>
      <p:sp>
        <p:nvSpPr>
          <p:cNvPr id="213" name="Google Shape;213;p3"/>
          <p:cNvSpPr txBox="1"/>
          <p:nvPr/>
        </p:nvSpPr>
        <p:spPr>
          <a:xfrm>
            <a:off x="6025981" y="1101039"/>
            <a:ext cx="1848300" cy="238500"/>
          </a:xfrm>
          <a:prstGeom prst="rect">
            <a:avLst/>
          </a:prstGeom>
          <a:noFill/>
          <a:ln>
            <a:noFill/>
          </a:ln>
        </p:spPr>
        <p:txBody>
          <a:bodyPr anchorCtr="0" anchor="t" bIns="34275" lIns="68575" spcFirstLastPara="1" rIns="68575" wrap="square" tIns="34275">
            <a:spAutoFit/>
          </a:bodyPr>
          <a:lstStyle/>
          <a:p>
            <a:pPr indent="0" lvl="0" marL="0" marR="0" rtl="0" algn="r">
              <a:lnSpc>
                <a:spcPct val="100000"/>
              </a:lnSpc>
              <a:spcBef>
                <a:spcPts val="0"/>
              </a:spcBef>
              <a:spcAft>
                <a:spcPts val="0"/>
              </a:spcAft>
              <a:buClr>
                <a:srgbClr val="383599"/>
              </a:buClr>
              <a:buSzPts val="1100"/>
              <a:buFont typeface="Arial"/>
              <a:buNone/>
            </a:pPr>
            <a:r>
              <a:rPr b="0" i="0" lang="en" sz="1100" u="none" cap="none" strike="noStrike">
                <a:solidFill>
                  <a:srgbClr val="383599"/>
                </a:solidFill>
                <a:latin typeface="Montserrat"/>
                <a:ea typeface="Montserrat"/>
                <a:cs typeface="Montserrat"/>
                <a:sym typeface="Montserrat"/>
              </a:rPr>
              <a:t>Wave of new AI services</a:t>
            </a:r>
            <a:endParaRPr b="0" i="0" sz="1100" u="none" cap="none" strike="noStrike">
              <a:solidFill>
                <a:srgbClr val="000000"/>
              </a:solidFill>
              <a:latin typeface="Arial"/>
              <a:ea typeface="Arial"/>
              <a:cs typeface="Arial"/>
              <a:sym typeface="Arial"/>
            </a:endParaRPr>
          </a:p>
        </p:txBody>
      </p:sp>
      <p:sp>
        <p:nvSpPr>
          <p:cNvPr id="214" name="Google Shape;214;p3"/>
          <p:cNvSpPr txBox="1"/>
          <p:nvPr/>
        </p:nvSpPr>
        <p:spPr>
          <a:xfrm>
            <a:off x="3082996" y="1818506"/>
            <a:ext cx="5667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36312D"/>
              </a:buClr>
              <a:buSzPts val="1100"/>
              <a:buFont typeface="Arial"/>
              <a:buNone/>
            </a:pPr>
            <a:r>
              <a:rPr b="1" i="0" lang="en" sz="1100" u="none" cap="none" strike="noStrike">
                <a:solidFill>
                  <a:srgbClr val="36312D"/>
                </a:solidFill>
                <a:latin typeface="Montserrat"/>
                <a:ea typeface="Montserrat"/>
                <a:cs typeface="Montserrat"/>
                <a:sym typeface="Montserrat"/>
              </a:rPr>
              <a:t>Today</a:t>
            </a:r>
            <a:endParaRPr b="0" i="0" sz="1100" u="none" cap="none" strike="noStrike">
              <a:solidFill>
                <a:srgbClr val="000000"/>
              </a:solidFill>
              <a:latin typeface="Arial"/>
              <a:ea typeface="Arial"/>
              <a:cs typeface="Arial"/>
              <a:sym typeface="Arial"/>
            </a:endParaRPr>
          </a:p>
        </p:txBody>
      </p:sp>
      <p:cxnSp>
        <p:nvCxnSpPr>
          <p:cNvPr id="215" name="Google Shape;215;p3"/>
          <p:cNvCxnSpPr/>
          <p:nvPr/>
        </p:nvCxnSpPr>
        <p:spPr>
          <a:xfrm>
            <a:off x="0" y="4259733"/>
            <a:ext cx="8595600" cy="0"/>
          </a:xfrm>
          <a:prstGeom prst="straightConnector1">
            <a:avLst/>
          </a:prstGeom>
          <a:noFill/>
          <a:ln cap="flat" cmpd="sng" w="11900">
            <a:solidFill>
              <a:schemeClr val="lt2"/>
            </a:solidFill>
            <a:prstDash val="solid"/>
            <a:miter lim="80"/>
            <a:headEnd len="sm" w="sm" type="none"/>
            <a:tailEnd len="lg" w="lg" type="triangle"/>
          </a:ln>
        </p:spPr>
      </p:cxnSp>
      <p:sp>
        <p:nvSpPr>
          <p:cNvPr id="216" name="Google Shape;216;p3"/>
          <p:cNvSpPr txBox="1"/>
          <p:nvPr/>
        </p:nvSpPr>
        <p:spPr>
          <a:xfrm>
            <a:off x="3959030" y="4167542"/>
            <a:ext cx="1147200" cy="315600"/>
          </a:xfrm>
          <a:prstGeom prst="rect">
            <a:avLst/>
          </a:prstGeom>
          <a:solidFill>
            <a:schemeClr val="lt2"/>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36312D"/>
              </a:buClr>
              <a:buSzPts val="800"/>
              <a:buFont typeface="Arial"/>
              <a:buNone/>
            </a:pPr>
            <a:r>
              <a:rPr b="1" i="0" lang="en" sz="800" u="none" cap="none" strike="noStrike">
                <a:solidFill>
                  <a:srgbClr val="36312D"/>
                </a:solidFill>
                <a:latin typeface="Montserrat"/>
                <a:ea typeface="Montserrat"/>
                <a:cs typeface="Montserrat"/>
                <a:sym typeface="Montserrat"/>
              </a:rPr>
              <a:t>Innovation progress</a:t>
            </a:r>
            <a:endParaRPr b="0" i="0" sz="1100" u="none" cap="none" strike="noStrike">
              <a:solidFill>
                <a:srgbClr val="000000"/>
              </a:solidFill>
              <a:latin typeface="Arial"/>
              <a:ea typeface="Arial"/>
              <a:cs typeface="Arial"/>
              <a:sym typeface="Arial"/>
            </a:endParaRPr>
          </a:p>
        </p:txBody>
      </p:sp>
      <p:grpSp>
        <p:nvGrpSpPr>
          <p:cNvPr id="217" name="Google Shape;217;p3"/>
          <p:cNvGrpSpPr/>
          <p:nvPr/>
        </p:nvGrpSpPr>
        <p:grpSpPr>
          <a:xfrm>
            <a:off x="3222404" y="2033856"/>
            <a:ext cx="287486" cy="406949"/>
            <a:chOff x="6968499" y="3097698"/>
            <a:chExt cx="337307" cy="477471"/>
          </a:xfrm>
        </p:grpSpPr>
        <p:sp>
          <p:nvSpPr>
            <p:cNvPr id="218" name="Google Shape;218;p3"/>
            <p:cNvSpPr/>
            <p:nvPr/>
          </p:nvSpPr>
          <p:spPr>
            <a:xfrm>
              <a:off x="6968499" y="3097698"/>
              <a:ext cx="337307" cy="477471"/>
            </a:xfrm>
            <a:custGeom>
              <a:rect b="b" l="l" r="r" t="t"/>
              <a:pathLst>
                <a:path extrusionOk="0" h="129396" w="91411">
                  <a:moveTo>
                    <a:pt x="46239" y="62719"/>
                  </a:moveTo>
                  <a:cubicBezTo>
                    <a:pt x="37098" y="62719"/>
                    <a:pt x="29709" y="55336"/>
                    <a:pt x="29709" y="46202"/>
                  </a:cubicBezTo>
                  <a:cubicBezTo>
                    <a:pt x="29709" y="37068"/>
                    <a:pt x="37098" y="29685"/>
                    <a:pt x="46239" y="29685"/>
                  </a:cubicBezTo>
                  <a:cubicBezTo>
                    <a:pt x="55380" y="29685"/>
                    <a:pt x="62769" y="37068"/>
                    <a:pt x="62769" y="46202"/>
                  </a:cubicBezTo>
                  <a:cubicBezTo>
                    <a:pt x="62769" y="55336"/>
                    <a:pt x="55380" y="62719"/>
                    <a:pt x="46239" y="62719"/>
                  </a:cubicBezTo>
                  <a:moveTo>
                    <a:pt x="46239" y="0"/>
                  </a:moveTo>
                  <a:cubicBezTo>
                    <a:pt x="20644" y="0"/>
                    <a:pt x="0" y="20704"/>
                    <a:pt x="0" y="46202"/>
                  </a:cubicBezTo>
                  <a:cubicBezTo>
                    <a:pt x="0" y="80835"/>
                    <a:pt x="46239" y="132061"/>
                    <a:pt x="46239" y="132061"/>
                  </a:cubicBezTo>
                  <a:cubicBezTo>
                    <a:pt x="46239" y="132061"/>
                    <a:pt x="92478" y="80911"/>
                    <a:pt x="92478" y="46202"/>
                  </a:cubicBezTo>
                  <a:cubicBezTo>
                    <a:pt x="92478" y="20704"/>
                    <a:pt x="71834" y="0"/>
                    <a:pt x="46239" y="0"/>
                  </a:cubicBezTo>
                </a:path>
              </a:pathLst>
            </a:custGeom>
            <a:solidFill>
              <a:schemeClr val="dk1"/>
            </a:solidFill>
            <a:ln cap="flat" cmpd="sng" w="57150">
              <a:solidFill>
                <a:schemeClr val="lt1"/>
              </a:solidFill>
              <a:prstDash val="solid"/>
              <a:miter lim="0"/>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19" name="Google Shape;219;p3"/>
            <p:cNvSpPr/>
            <p:nvPr/>
          </p:nvSpPr>
          <p:spPr>
            <a:xfrm>
              <a:off x="6968499" y="3097698"/>
              <a:ext cx="337307" cy="477471"/>
            </a:xfrm>
            <a:custGeom>
              <a:rect b="b" l="l" r="r" t="t"/>
              <a:pathLst>
                <a:path extrusionOk="0" h="129396" w="91411">
                  <a:moveTo>
                    <a:pt x="46239" y="62719"/>
                  </a:moveTo>
                  <a:cubicBezTo>
                    <a:pt x="37098" y="62719"/>
                    <a:pt x="29709" y="55336"/>
                    <a:pt x="29709" y="46202"/>
                  </a:cubicBezTo>
                  <a:cubicBezTo>
                    <a:pt x="29709" y="37068"/>
                    <a:pt x="37098" y="29685"/>
                    <a:pt x="46239" y="29685"/>
                  </a:cubicBezTo>
                  <a:cubicBezTo>
                    <a:pt x="55380" y="29685"/>
                    <a:pt x="62769" y="37068"/>
                    <a:pt x="62769" y="46202"/>
                  </a:cubicBezTo>
                  <a:cubicBezTo>
                    <a:pt x="62769" y="55336"/>
                    <a:pt x="55380" y="62719"/>
                    <a:pt x="46239" y="62719"/>
                  </a:cubicBezTo>
                  <a:moveTo>
                    <a:pt x="46239" y="0"/>
                  </a:moveTo>
                  <a:cubicBezTo>
                    <a:pt x="20644" y="0"/>
                    <a:pt x="0" y="20704"/>
                    <a:pt x="0" y="46202"/>
                  </a:cubicBezTo>
                  <a:cubicBezTo>
                    <a:pt x="0" y="80835"/>
                    <a:pt x="46239" y="132061"/>
                    <a:pt x="46239" y="132061"/>
                  </a:cubicBezTo>
                  <a:cubicBezTo>
                    <a:pt x="46239" y="132061"/>
                    <a:pt x="92478" y="80911"/>
                    <a:pt x="92478" y="46202"/>
                  </a:cubicBezTo>
                  <a:cubicBezTo>
                    <a:pt x="92478" y="20704"/>
                    <a:pt x="71834" y="0"/>
                    <a:pt x="46239" y="0"/>
                  </a:cubicBezTo>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grpSp>
      <p:sp>
        <p:nvSpPr>
          <p:cNvPr id="220" name="Google Shape;220;p3"/>
          <p:cNvSpPr txBox="1"/>
          <p:nvPr/>
        </p:nvSpPr>
        <p:spPr>
          <a:xfrm>
            <a:off x="6372785" y="3014899"/>
            <a:ext cx="2109900" cy="964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FFFFFF"/>
              </a:buClr>
              <a:buSzPts val="1400"/>
              <a:buFont typeface="Montserrat"/>
              <a:buNone/>
            </a:pPr>
            <a:r>
              <a:rPr b="1" i="0" lang="en" sz="1400" u="none" cap="none" strike="noStrike">
                <a:solidFill>
                  <a:srgbClr val="FFFFFF"/>
                </a:solidFill>
                <a:latin typeface="Montserrat"/>
                <a:ea typeface="Montserrat"/>
                <a:cs typeface="Montserrat"/>
                <a:sym typeface="Montserrat"/>
              </a:rPr>
              <a:t>New value creation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FFFFFF"/>
              </a:buClr>
              <a:buSzPts val="800"/>
              <a:buFont typeface="Montserrat"/>
              <a:buNone/>
            </a:pPr>
            <a:r>
              <a:rPr b="0" i="0" lang="en" sz="800" u="none" cap="none" strike="noStrike">
                <a:solidFill>
                  <a:srgbClr val="FFFFFF"/>
                </a:solidFill>
                <a:latin typeface="Montserrat"/>
                <a:ea typeface="Montserrat"/>
                <a:cs typeface="Montserrat"/>
                <a:sym typeface="Montserrat"/>
              </a:rPr>
              <a:t>Entirely new business models </a:t>
            </a:r>
            <a:br>
              <a:rPr b="0" i="0" lang="en" sz="800" u="none" cap="none" strike="noStrike">
                <a:solidFill>
                  <a:srgbClr val="FFFFFF"/>
                </a:solidFill>
                <a:latin typeface="Montserrat"/>
                <a:ea typeface="Montserrat"/>
                <a:cs typeface="Montserrat"/>
                <a:sym typeface="Montserrat"/>
              </a:rPr>
            </a:br>
            <a:r>
              <a:rPr b="0" i="0" lang="en" sz="800" u="none" cap="none" strike="noStrike">
                <a:solidFill>
                  <a:srgbClr val="FFFFFF"/>
                </a:solidFill>
                <a:latin typeface="Montserrat"/>
                <a:ea typeface="Montserrat"/>
                <a:cs typeface="Montserrat"/>
                <a:sym typeface="Montserrat"/>
              </a:rPr>
              <a:t>and service categories emerge, fundamentally reshaping market dynamics</a:t>
            </a:r>
            <a:br>
              <a:rPr b="0" i="0" lang="en" sz="800" u="none" cap="none" strike="noStrike">
                <a:solidFill>
                  <a:srgbClr val="FFFFFF"/>
                </a:solidFill>
                <a:latin typeface="Montserrat"/>
                <a:ea typeface="Montserrat"/>
                <a:cs typeface="Montserrat"/>
                <a:sym typeface="Montserrat"/>
              </a:rPr>
            </a:br>
            <a:endParaRPr b="0" i="0" sz="800" u="none" cap="none" strike="noStrike">
              <a:solidFill>
                <a:srgbClr val="FFFFFF"/>
              </a:solidFill>
              <a:latin typeface="Montserrat"/>
              <a:ea typeface="Montserrat"/>
              <a:cs typeface="Montserrat"/>
              <a:sym typeface="Montserrat"/>
            </a:endParaRPr>
          </a:p>
        </p:txBody>
      </p:sp>
      <p:sp>
        <p:nvSpPr>
          <p:cNvPr id="221" name="Google Shape;221;p3"/>
          <p:cNvSpPr txBox="1"/>
          <p:nvPr/>
        </p:nvSpPr>
        <p:spPr>
          <a:xfrm>
            <a:off x="548640" y="3014899"/>
            <a:ext cx="2266800" cy="718200"/>
          </a:xfrm>
          <a:prstGeom prst="rect">
            <a:avLst/>
          </a:prstGeom>
          <a:noFill/>
          <a:ln>
            <a:noFill/>
          </a:ln>
        </p:spPr>
        <p:txBody>
          <a:bodyPr anchorCtr="0" anchor="t" bIns="34275" lIns="0" spcFirstLastPara="1" rIns="68575" wrap="square" tIns="34275">
            <a:spAutoFit/>
          </a:bodyPr>
          <a:lstStyle/>
          <a:p>
            <a:pPr indent="0" lvl="0" marL="0" marR="0" rtl="0" algn="l">
              <a:lnSpc>
                <a:spcPct val="100000"/>
              </a:lnSpc>
              <a:spcBef>
                <a:spcPts val="0"/>
              </a:spcBef>
              <a:spcAft>
                <a:spcPts val="0"/>
              </a:spcAft>
              <a:buClr>
                <a:srgbClr val="FFFFFF"/>
              </a:buClr>
              <a:buSzPts val="1400"/>
              <a:buFont typeface="Montserrat"/>
              <a:buNone/>
            </a:pPr>
            <a:r>
              <a:rPr b="1" i="0" lang="en" sz="1400" u="none" cap="none" strike="noStrike">
                <a:solidFill>
                  <a:srgbClr val="FFFFFF"/>
                </a:solidFill>
                <a:latin typeface="Montserrat"/>
                <a:ea typeface="Montserrat"/>
                <a:cs typeface="Montserrat"/>
                <a:sym typeface="Montserrat"/>
              </a:rPr>
              <a:t>Foundation disruption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FFFFFF"/>
              </a:buClr>
              <a:buSzPts val="800"/>
              <a:buFont typeface="Montserrat"/>
              <a:buNone/>
            </a:pPr>
            <a:r>
              <a:rPr b="0" i="0" lang="en" sz="800" u="none" cap="none" strike="noStrike">
                <a:solidFill>
                  <a:srgbClr val="FFFFFF"/>
                </a:solidFill>
                <a:latin typeface="Montserrat"/>
                <a:ea typeface="Montserrat"/>
                <a:cs typeface="Montserrat"/>
                <a:sym typeface="Montserrat"/>
              </a:rPr>
              <a:t>Traditional delivery models enhanced with GenAI automation, driving immediate cost reduction and productivity gains</a:t>
            </a:r>
            <a:endParaRPr b="0" i="0" sz="1100" u="none" cap="none" strike="noStrike">
              <a:solidFill>
                <a:srgbClr val="000000"/>
              </a:solidFill>
              <a:latin typeface="Arial"/>
              <a:ea typeface="Arial"/>
              <a:cs typeface="Arial"/>
              <a:sym typeface="Arial"/>
            </a:endParaRPr>
          </a:p>
        </p:txBody>
      </p:sp>
      <p:sp>
        <p:nvSpPr>
          <p:cNvPr id="222" name="Google Shape;222;p3"/>
          <p:cNvSpPr txBox="1"/>
          <p:nvPr/>
        </p:nvSpPr>
        <p:spPr>
          <a:xfrm>
            <a:off x="3263080" y="3014899"/>
            <a:ext cx="2266800" cy="992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FFFFFF"/>
              </a:buClr>
              <a:buSzPts val="1400"/>
              <a:buFont typeface="Montserrat"/>
              <a:buNone/>
            </a:pPr>
            <a:r>
              <a:rPr b="1" i="0" lang="en" sz="1400" u="none" cap="none" strike="noStrike">
                <a:solidFill>
                  <a:srgbClr val="FFFFFF"/>
                </a:solidFill>
                <a:latin typeface="Montserrat"/>
                <a:ea typeface="Montserrat"/>
                <a:cs typeface="Montserrat"/>
                <a:sym typeface="Montserrat"/>
              </a:rPr>
              <a:t>Enterprise acceleration</a:t>
            </a:r>
            <a:br>
              <a:rPr b="1" i="0" lang="en" sz="800" u="none" cap="none" strike="noStrike">
                <a:solidFill>
                  <a:srgbClr val="FFFFFF"/>
                </a:solidFill>
                <a:latin typeface="Montserrat"/>
                <a:ea typeface="Montserrat"/>
                <a:cs typeface="Montserrat"/>
                <a:sym typeface="Montserrat"/>
              </a:rPr>
            </a:br>
            <a:br>
              <a:rPr b="1" i="0" lang="en" sz="800" u="none" cap="none" strike="noStrike">
                <a:solidFill>
                  <a:srgbClr val="FFFFFF"/>
                </a:solidFill>
                <a:latin typeface="Montserrat"/>
                <a:ea typeface="Montserrat"/>
                <a:cs typeface="Montserrat"/>
                <a:sym typeface="Montserrat"/>
              </a:rPr>
            </a:br>
            <a:r>
              <a:rPr b="0" i="0" lang="en" sz="800" u="none" cap="none" strike="noStrike">
                <a:solidFill>
                  <a:srgbClr val="FFFFFF"/>
                </a:solidFill>
                <a:latin typeface="Montserrat"/>
                <a:ea typeface="Montserrat"/>
                <a:cs typeface="Montserrat"/>
                <a:sym typeface="Montserrat"/>
              </a:rPr>
              <a:t>Proven ROI drives widespread adoption </a:t>
            </a:r>
            <a:br>
              <a:rPr b="0" i="0" lang="en" sz="800" u="none" cap="none" strike="noStrike">
                <a:solidFill>
                  <a:srgbClr val="FFFFFF"/>
                </a:solidFill>
                <a:latin typeface="Montserrat"/>
                <a:ea typeface="Montserrat"/>
                <a:cs typeface="Montserrat"/>
                <a:sym typeface="Montserrat"/>
              </a:rPr>
            </a:br>
            <a:r>
              <a:rPr b="0" i="0" lang="en" sz="800" u="none" cap="none" strike="noStrike">
                <a:solidFill>
                  <a:srgbClr val="FFFFFF"/>
                </a:solidFill>
                <a:latin typeface="Montserrat"/>
                <a:ea typeface="Montserrat"/>
                <a:cs typeface="Montserrat"/>
                <a:sym typeface="Montserrat"/>
              </a:rPr>
              <a:t>as businesses scale AI implementations across core operations</a:t>
            </a:r>
            <a:endParaRPr b="0" i="0" sz="1100" u="none" cap="none" strike="noStrike">
              <a:solidFill>
                <a:srgbClr val="000000"/>
              </a:solidFill>
              <a:latin typeface="Arial"/>
              <a:ea typeface="Arial"/>
              <a:cs typeface="Arial"/>
              <a:sym typeface="Arial"/>
            </a:endParaRPr>
          </a:p>
        </p:txBody>
      </p:sp>
      <p:sp>
        <p:nvSpPr>
          <p:cNvPr id="223" name="Google Shape;223;p3"/>
          <p:cNvSpPr txBox="1"/>
          <p:nvPr/>
        </p:nvSpPr>
        <p:spPr>
          <a:xfrm>
            <a:off x="548640" y="4299186"/>
            <a:ext cx="842400" cy="315600"/>
          </a:xfrm>
          <a:prstGeom prst="rect">
            <a:avLst/>
          </a:prstGeom>
          <a:noFill/>
          <a:ln>
            <a:noFill/>
          </a:ln>
        </p:spPr>
        <p:txBody>
          <a:bodyPr anchorCtr="0" anchor="t" bIns="34275" lIns="0" spcFirstLastPara="1" rIns="68575" wrap="square" tIns="34275">
            <a:spAutoFit/>
          </a:bodyPr>
          <a:lstStyle/>
          <a:p>
            <a:pPr indent="0" lvl="0" marL="0" marR="0" rtl="0" algn="l">
              <a:lnSpc>
                <a:spcPct val="100000"/>
              </a:lnSpc>
              <a:spcBef>
                <a:spcPts val="0"/>
              </a:spcBef>
              <a:spcAft>
                <a:spcPts val="0"/>
              </a:spcAft>
              <a:buClr>
                <a:srgbClr val="01F475"/>
              </a:buClr>
              <a:buSzPts val="800"/>
              <a:buFont typeface="Arial"/>
              <a:buNone/>
            </a:pPr>
            <a:r>
              <a:rPr b="1" i="0" lang="en" sz="800" u="none" cap="none" strike="noStrike">
                <a:solidFill>
                  <a:srgbClr val="01F475"/>
                </a:solidFill>
                <a:latin typeface="Montserrat"/>
                <a:ea typeface="Montserrat"/>
                <a:cs typeface="Montserrat"/>
                <a:sym typeface="Montserrat"/>
              </a:rPr>
              <a:t>Digitization era</a:t>
            </a:r>
            <a:endParaRPr b="0" i="0" sz="1100" u="none" cap="none" strike="noStrike">
              <a:solidFill>
                <a:srgbClr val="000000"/>
              </a:solidFill>
              <a:latin typeface="Arial"/>
              <a:ea typeface="Arial"/>
              <a:cs typeface="Arial"/>
              <a:sym typeface="Arial"/>
            </a:endParaRPr>
          </a:p>
        </p:txBody>
      </p:sp>
      <p:sp>
        <p:nvSpPr>
          <p:cNvPr id="224" name="Google Shape;224;p3"/>
          <p:cNvSpPr txBox="1"/>
          <p:nvPr/>
        </p:nvSpPr>
        <p:spPr>
          <a:xfrm>
            <a:off x="7755101" y="4299186"/>
            <a:ext cx="922200" cy="315600"/>
          </a:xfrm>
          <a:prstGeom prst="rect">
            <a:avLst/>
          </a:prstGeom>
          <a:noFill/>
          <a:ln>
            <a:noFill/>
          </a:ln>
        </p:spPr>
        <p:txBody>
          <a:bodyPr anchorCtr="0" anchor="t" bIns="34275" lIns="68575" spcFirstLastPara="1" rIns="68575" wrap="square" tIns="34275">
            <a:spAutoFit/>
          </a:bodyPr>
          <a:lstStyle/>
          <a:p>
            <a:pPr indent="0" lvl="0" marL="0" marR="0" rtl="0" algn="r">
              <a:lnSpc>
                <a:spcPct val="100000"/>
              </a:lnSpc>
              <a:spcBef>
                <a:spcPts val="0"/>
              </a:spcBef>
              <a:spcAft>
                <a:spcPts val="0"/>
              </a:spcAft>
              <a:buClr>
                <a:srgbClr val="01F475"/>
              </a:buClr>
              <a:buSzPts val="800"/>
              <a:buFont typeface="Arial"/>
              <a:buNone/>
            </a:pPr>
            <a:r>
              <a:rPr b="1" i="0" lang="en" sz="800" u="none" cap="none" strike="noStrike">
                <a:solidFill>
                  <a:srgbClr val="01F475"/>
                </a:solidFill>
                <a:latin typeface="Montserrat"/>
                <a:ea typeface="Montserrat"/>
                <a:cs typeface="Montserrat"/>
                <a:sym typeface="Montserrat"/>
              </a:rPr>
              <a:t>Intelligence era</a:t>
            </a:r>
            <a:endParaRPr b="0" i="0" sz="1100" u="none" cap="none" strike="noStrike">
              <a:solidFill>
                <a:srgbClr val="000000"/>
              </a:solidFill>
              <a:latin typeface="Arial"/>
              <a:ea typeface="Arial"/>
              <a:cs typeface="Arial"/>
              <a:sym typeface="Arial"/>
            </a:endParaRPr>
          </a:p>
        </p:txBody>
      </p:sp>
      <p:cxnSp>
        <p:nvCxnSpPr>
          <p:cNvPr id="225" name="Google Shape;225;p3"/>
          <p:cNvCxnSpPr/>
          <p:nvPr/>
        </p:nvCxnSpPr>
        <p:spPr>
          <a:xfrm>
            <a:off x="3049803" y="2571750"/>
            <a:ext cx="0" cy="1595100"/>
          </a:xfrm>
          <a:prstGeom prst="straightConnector1">
            <a:avLst/>
          </a:prstGeom>
          <a:noFill/>
          <a:ln cap="flat" cmpd="sng" w="9525">
            <a:solidFill>
              <a:srgbClr val="9D7EFF"/>
            </a:solidFill>
            <a:prstDash val="dash"/>
            <a:miter lim="80"/>
            <a:headEnd len="sm" w="sm" type="none"/>
            <a:tailEnd len="sm" w="sm" type="none"/>
          </a:ln>
        </p:spPr>
      </p:cxnSp>
      <p:cxnSp>
        <p:nvCxnSpPr>
          <p:cNvPr id="226" name="Google Shape;226;p3"/>
          <p:cNvCxnSpPr/>
          <p:nvPr/>
        </p:nvCxnSpPr>
        <p:spPr>
          <a:xfrm>
            <a:off x="6176253" y="2300100"/>
            <a:ext cx="0" cy="1866900"/>
          </a:xfrm>
          <a:prstGeom prst="straightConnector1">
            <a:avLst/>
          </a:prstGeom>
          <a:noFill/>
          <a:ln cap="flat" cmpd="sng" w="9525">
            <a:solidFill>
              <a:srgbClr val="9D7EFF"/>
            </a:solidFill>
            <a:prstDash val="dash"/>
            <a:miter lim="80"/>
            <a:headEnd len="sm" w="sm" type="none"/>
            <a:tailEnd len="sm" w="sm" type="none"/>
          </a:ln>
        </p:spPr>
      </p:cxnSp>
      <p:sp>
        <p:nvSpPr>
          <p:cNvPr id="227" name="Google Shape;227;p3"/>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00"/>
              <a:buFont typeface="Arial"/>
              <a:buNone/>
            </a:pPr>
            <a:r>
              <a:rPr b="0" i="0" lang="en" sz="500" u="none" cap="none" strike="noStrike">
                <a:solidFill>
                  <a:srgbClr val="FFFFFF"/>
                </a:solidFill>
                <a:latin typeface="Arial"/>
                <a:ea typeface="Arial"/>
                <a:cs typeface="Arial"/>
                <a:sym typeface="Arial"/>
              </a:rPr>
              <a:t>© Virtusa Corporation. All Rights Reserved.</a:t>
            </a:r>
            <a:endParaRPr b="0" i="0" sz="1100" u="none" cap="none" strike="noStrike">
              <a:solidFill>
                <a:srgbClr val="000000"/>
              </a:solidFill>
              <a:latin typeface="Arial"/>
              <a:ea typeface="Arial"/>
              <a:cs typeface="Arial"/>
              <a:sym typeface="Arial"/>
            </a:endParaRPr>
          </a:p>
        </p:txBody>
      </p:sp>
      <p:sp>
        <p:nvSpPr>
          <p:cNvPr id="228" name="Google Shape;228;p3"/>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FFFFFF"/>
              </a:buClr>
              <a:buSzPts val="800"/>
              <a:buFont typeface="Arial"/>
              <a:buNone/>
            </a:pPr>
            <a:fld id="{00000000-1234-1234-1234-123412341234}" type="slidenum">
              <a:rPr b="1" i="0" lang="en" sz="800" u="none" cap="none" strike="noStrike">
                <a:solidFill>
                  <a:srgbClr val="FFFFFF"/>
                </a:solidFill>
                <a:latin typeface="Arial"/>
                <a:ea typeface="Arial"/>
                <a:cs typeface="Arial"/>
                <a:sym typeface="Arial"/>
              </a:rPr>
              <a:t>‹#›</a:t>
            </a:fld>
            <a:endParaRPr b="1" i="0" sz="800" u="none" cap="none" strike="noStrike">
              <a:solidFill>
                <a:srgbClr val="FFFFFF"/>
              </a:solidFill>
              <a:latin typeface="Arial"/>
              <a:ea typeface="Arial"/>
              <a:cs typeface="Arial"/>
              <a:sym typeface="Arial"/>
            </a:endParaRPr>
          </a:p>
        </p:txBody>
      </p:sp>
      <p:sp>
        <p:nvSpPr>
          <p:cNvPr id="229" name="Google Shape;229;p3"/>
          <p:cNvSpPr txBox="1"/>
          <p:nvPr/>
        </p:nvSpPr>
        <p:spPr>
          <a:xfrm>
            <a:off x="2696927" y="4279001"/>
            <a:ext cx="877200" cy="315600"/>
          </a:xfrm>
          <a:prstGeom prst="rect">
            <a:avLst/>
          </a:prstGeom>
          <a:noFill/>
          <a:ln>
            <a:noFill/>
          </a:ln>
        </p:spPr>
        <p:txBody>
          <a:bodyPr anchorCtr="0" anchor="t" bIns="34275" lIns="0" spcFirstLastPara="1" rIns="68575" wrap="square" tIns="34275">
            <a:spAutoFit/>
          </a:bodyPr>
          <a:lstStyle/>
          <a:p>
            <a:pPr indent="0" lvl="0" marL="0" marR="0" rtl="0" algn="l">
              <a:lnSpc>
                <a:spcPct val="100000"/>
              </a:lnSpc>
              <a:spcBef>
                <a:spcPts val="0"/>
              </a:spcBef>
              <a:spcAft>
                <a:spcPts val="0"/>
              </a:spcAft>
              <a:buClr>
                <a:srgbClr val="01F475"/>
              </a:buClr>
              <a:buSzPts val="800"/>
              <a:buFont typeface="Arial"/>
              <a:buNone/>
            </a:pPr>
            <a:r>
              <a:rPr b="1" i="0" lang="en" sz="800" u="none" cap="none" strike="noStrike">
                <a:solidFill>
                  <a:srgbClr val="01F475"/>
                </a:solidFill>
                <a:latin typeface="Montserrat"/>
                <a:ea typeface="Montserrat"/>
                <a:cs typeface="Montserrat"/>
                <a:sym typeface="Montserrat"/>
              </a:rPr>
              <a:t>Productivity era</a:t>
            </a:r>
            <a:endParaRPr b="0" i="0" sz="1100" u="none" cap="none" strike="noStrike">
              <a:solidFill>
                <a:srgbClr val="000000"/>
              </a:solidFill>
              <a:latin typeface="Arial"/>
              <a:ea typeface="Arial"/>
              <a:cs typeface="Arial"/>
              <a:sym typeface="Arial"/>
            </a:endParaRPr>
          </a:p>
        </p:txBody>
      </p:sp>
      <p:sp>
        <p:nvSpPr>
          <p:cNvPr id="230" name="Google Shape;230;p3"/>
          <p:cNvSpPr txBox="1"/>
          <p:nvPr/>
        </p:nvSpPr>
        <p:spPr>
          <a:xfrm>
            <a:off x="5777177" y="4300868"/>
            <a:ext cx="891600" cy="315600"/>
          </a:xfrm>
          <a:prstGeom prst="rect">
            <a:avLst/>
          </a:prstGeom>
          <a:noFill/>
          <a:ln>
            <a:noFill/>
          </a:ln>
        </p:spPr>
        <p:txBody>
          <a:bodyPr anchorCtr="0" anchor="t" bIns="34275" lIns="0" spcFirstLastPara="1" rIns="68575" wrap="square" tIns="34275">
            <a:spAutoFit/>
          </a:bodyPr>
          <a:lstStyle/>
          <a:p>
            <a:pPr indent="0" lvl="0" marL="0" marR="0" rtl="0" algn="l">
              <a:lnSpc>
                <a:spcPct val="100000"/>
              </a:lnSpc>
              <a:spcBef>
                <a:spcPts val="0"/>
              </a:spcBef>
              <a:spcAft>
                <a:spcPts val="0"/>
              </a:spcAft>
              <a:buClr>
                <a:srgbClr val="01F475"/>
              </a:buClr>
              <a:buSzPts val="800"/>
              <a:buFont typeface="Arial"/>
              <a:buNone/>
            </a:pPr>
            <a:r>
              <a:rPr b="1" i="0" lang="en" sz="800" u="none" cap="none" strike="noStrike">
                <a:solidFill>
                  <a:srgbClr val="01F475"/>
                </a:solidFill>
                <a:latin typeface="Montserrat"/>
                <a:ea typeface="Montserrat"/>
                <a:cs typeface="Montserrat"/>
                <a:sym typeface="Montserrat"/>
              </a:rPr>
              <a:t>Acceleration era</a:t>
            </a:r>
            <a:endParaRPr b="0" i="0" sz="11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
          <p:cNvSpPr/>
          <p:nvPr/>
        </p:nvSpPr>
        <p:spPr>
          <a:xfrm>
            <a:off x="4007939" y="1311677"/>
            <a:ext cx="2421909" cy="2421909"/>
          </a:xfrm>
          <a:custGeom>
            <a:rect b="b" l="l" r="r" t="t"/>
            <a:pathLst>
              <a:path extrusionOk="0" h="1667407" w="1667407">
                <a:moveTo>
                  <a:pt x="0" y="833704"/>
                </a:moveTo>
                <a:cubicBezTo>
                  <a:pt x="0" y="373262"/>
                  <a:pt x="373262" y="0"/>
                  <a:pt x="833704" y="0"/>
                </a:cubicBezTo>
                <a:cubicBezTo>
                  <a:pt x="1294146" y="0"/>
                  <a:pt x="1667408" y="373262"/>
                  <a:pt x="1667408" y="833704"/>
                </a:cubicBezTo>
                <a:cubicBezTo>
                  <a:pt x="1667408" y="1294146"/>
                  <a:pt x="1294146" y="1667408"/>
                  <a:pt x="833704" y="1667408"/>
                </a:cubicBezTo>
                <a:cubicBezTo>
                  <a:pt x="373262" y="1667408"/>
                  <a:pt x="0" y="1294146"/>
                  <a:pt x="0" y="833704"/>
                </a:cubicBezTo>
                <a:close/>
              </a:path>
            </a:pathLst>
          </a:custGeom>
          <a:noFill/>
          <a:ln cap="flat" cmpd="sng" w="21425">
            <a:solidFill>
              <a:schemeClr val="lt2"/>
            </a:solidFill>
            <a:prstDash val="solid"/>
            <a:miter lim="80"/>
            <a:headEnd len="sm" w="sm" type="none"/>
            <a:tailEnd len="sm" w="sm" type="none"/>
          </a:ln>
        </p:spPr>
        <p:txBody>
          <a:bodyPr anchorCtr="0" anchor="ctr" bIns="195500" lIns="195500" spcFirstLastPara="1" rIns="195500" wrap="square" tIns="195500">
            <a:noAutofit/>
          </a:bodyPr>
          <a:lstStyle/>
          <a:p>
            <a:pPr indent="0" lvl="0" marL="0" marR="0" rtl="0" algn="ctr">
              <a:lnSpc>
                <a:spcPct val="100000"/>
              </a:lnSpc>
              <a:spcBef>
                <a:spcPts val="0"/>
              </a:spcBef>
              <a:spcAft>
                <a:spcPts val="0"/>
              </a:spcAft>
              <a:buClr>
                <a:schemeClr val="lt1"/>
              </a:buClr>
              <a:buSzPts val="2100"/>
              <a:buFont typeface="Arial"/>
              <a:buNone/>
            </a:pPr>
            <a:r>
              <a:t/>
            </a:r>
            <a:endParaRPr b="0" i="0" sz="2100" u="none" cap="none" strike="noStrike">
              <a:solidFill>
                <a:srgbClr val="5E2CFE"/>
              </a:solidFill>
              <a:latin typeface="Montserrat"/>
              <a:ea typeface="Montserrat"/>
              <a:cs typeface="Montserrat"/>
              <a:sym typeface="Montserrat"/>
            </a:endParaRPr>
          </a:p>
        </p:txBody>
      </p:sp>
      <p:sp>
        <p:nvSpPr>
          <p:cNvPr id="237" name="Google Shape;237;p4"/>
          <p:cNvSpPr txBox="1"/>
          <p:nvPr>
            <p:ph type="title"/>
          </p:nvPr>
        </p:nvSpPr>
        <p:spPr>
          <a:xfrm>
            <a:off x="548639" y="775633"/>
            <a:ext cx="1753200" cy="36297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lt1"/>
              </a:buClr>
              <a:buSzPts val="2600"/>
              <a:buFont typeface="Montserrat"/>
              <a:buNone/>
            </a:pPr>
            <a:r>
              <a:rPr b="1" lang="en">
                <a:latin typeface="Montserrat"/>
                <a:ea typeface="Montserrat"/>
                <a:cs typeface="Montserrat"/>
                <a:sym typeface="Montserrat"/>
              </a:rPr>
              <a:t>How?</a:t>
            </a:r>
            <a:br>
              <a:rPr b="1" lang="en" sz="1800">
                <a:latin typeface="Montserrat"/>
                <a:ea typeface="Montserrat"/>
                <a:cs typeface="Montserrat"/>
                <a:sym typeface="Montserrat"/>
              </a:rPr>
            </a:br>
            <a:br>
              <a:rPr lang="en" sz="1800">
                <a:latin typeface="Montserrat"/>
                <a:ea typeface="Montserrat"/>
                <a:cs typeface="Montserrat"/>
                <a:sym typeface="Montserrat"/>
              </a:rPr>
            </a:br>
            <a:r>
              <a:rPr lang="en" sz="1400">
                <a:latin typeface="Montserrat"/>
                <a:ea typeface="Montserrat"/>
                <a:cs typeface="Montserrat"/>
                <a:sym typeface="Montserrat"/>
              </a:rPr>
              <a:t>We achieve this </a:t>
            </a:r>
            <a:br>
              <a:rPr lang="en" sz="1400">
                <a:latin typeface="Montserrat"/>
                <a:ea typeface="Montserrat"/>
                <a:cs typeface="Montserrat"/>
                <a:sym typeface="Montserrat"/>
              </a:rPr>
            </a:br>
            <a:r>
              <a:rPr lang="en" sz="1400">
                <a:latin typeface="Montserrat"/>
                <a:ea typeface="Montserrat"/>
                <a:cs typeface="Montserrat"/>
                <a:sym typeface="Montserrat"/>
              </a:rPr>
              <a:t>by leveraging unmatched expertise at the </a:t>
            </a:r>
            <a:r>
              <a:rPr b="1" lang="en" sz="1400">
                <a:solidFill>
                  <a:schemeClr val="lt2"/>
                </a:solidFill>
                <a:latin typeface="Montserrat"/>
                <a:ea typeface="Montserrat"/>
                <a:cs typeface="Montserrat"/>
                <a:sym typeface="Montserrat"/>
              </a:rPr>
              <a:t>intersection of industry, business, and technology </a:t>
            </a:r>
            <a:r>
              <a:rPr lang="en" sz="1400">
                <a:latin typeface="Montserrat"/>
                <a:ea typeface="Montserrat"/>
                <a:cs typeface="Montserrat"/>
                <a:sym typeface="Montserrat"/>
              </a:rPr>
              <a:t>to accelerate tailored domain solutions for the AI era.</a:t>
            </a:r>
            <a:endParaRPr sz="1400">
              <a:solidFill>
                <a:schemeClr val="lt2"/>
              </a:solidFill>
              <a:latin typeface="Montserrat"/>
              <a:ea typeface="Montserrat"/>
              <a:cs typeface="Montserrat"/>
              <a:sym typeface="Montserrat"/>
            </a:endParaRPr>
          </a:p>
        </p:txBody>
      </p:sp>
      <p:sp>
        <p:nvSpPr>
          <p:cNvPr id="238" name="Google Shape;238;p4"/>
          <p:cNvSpPr/>
          <p:nvPr/>
        </p:nvSpPr>
        <p:spPr>
          <a:xfrm>
            <a:off x="5700636" y="2328024"/>
            <a:ext cx="394092" cy="394092"/>
          </a:xfrm>
          <a:custGeom>
            <a:rect b="b" l="l" r="r" t="t"/>
            <a:pathLst>
              <a:path extrusionOk="0" h="967096" w="967096">
                <a:moveTo>
                  <a:pt x="128189" y="199222"/>
                </a:moveTo>
                <a:lnTo>
                  <a:pt x="838907" y="199222"/>
                </a:lnTo>
                <a:lnTo>
                  <a:pt x="838907" y="426683"/>
                </a:lnTo>
                <a:lnTo>
                  <a:pt x="128189" y="426683"/>
                </a:lnTo>
                <a:lnTo>
                  <a:pt x="128189" y="199222"/>
                </a:lnTo>
                <a:close/>
                <a:moveTo>
                  <a:pt x="128189" y="540413"/>
                </a:moveTo>
                <a:lnTo>
                  <a:pt x="838907" y="540413"/>
                </a:lnTo>
                <a:lnTo>
                  <a:pt x="838907" y="767874"/>
                </a:lnTo>
                <a:lnTo>
                  <a:pt x="128189" y="767874"/>
                </a:lnTo>
                <a:lnTo>
                  <a:pt x="128189" y="540413"/>
                </a:lnTo>
                <a:close/>
              </a:path>
            </a:pathLst>
          </a:custGeom>
          <a:solidFill>
            <a:schemeClr val="lt2"/>
          </a:solidFill>
          <a:ln>
            <a:noFill/>
          </a:ln>
        </p:spPr>
        <p:txBody>
          <a:bodyPr anchorCtr="0" anchor="ctr" bIns="149400" lIns="96125" spcFirstLastPara="1" rIns="96125" wrap="square" tIns="149400">
            <a:noAutofit/>
          </a:bodyPr>
          <a:lstStyle/>
          <a:p>
            <a:pPr indent="0" lvl="0" marL="0" marR="0" rtl="0" algn="ctr">
              <a:lnSpc>
                <a:spcPct val="9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39" name="Google Shape;239;p4"/>
          <p:cNvSpPr/>
          <p:nvPr/>
        </p:nvSpPr>
        <p:spPr>
          <a:xfrm>
            <a:off x="2696195" y="1767977"/>
            <a:ext cx="1509003" cy="1509003"/>
          </a:xfrm>
          <a:custGeom>
            <a:rect b="b" l="l" r="r" t="t"/>
            <a:pathLst>
              <a:path extrusionOk="0" h="1667407" w="1667407">
                <a:moveTo>
                  <a:pt x="0" y="833704"/>
                </a:moveTo>
                <a:cubicBezTo>
                  <a:pt x="0" y="373262"/>
                  <a:pt x="373262" y="0"/>
                  <a:pt x="833704" y="0"/>
                </a:cubicBezTo>
                <a:cubicBezTo>
                  <a:pt x="1294146" y="0"/>
                  <a:pt x="1667408" y="373262"/>
                  <a:pt x="1667408" y="833704"/>
                </a:cubicBezTo>
                <a:cubicBezTo>
                  <a:pt x="1667408" y="1294146"/>
                  <a:pt x="1294146" y="1667408"/>
                  <a:pt x="833704" y="1667408"/>
                </a:cubicBezTo>
                <a:cubicBezTo>
                  <a:pt x="373262" y="1667408"/>
                  <a:pt x="0" y="1294146"/>
                  <a:pt x="0" y="833704"/>
                </a:cubicBezTo>
                <a:close/>
              </a:path>
            </a:pathLst>
          </a:custGeom>
          <a:gradFill>
            <a:gsLst>
              <a:gs pos="0">
                <a:schemeClr val="accent1"/>
              </a:gs>
              <a:gs pos="100000">
                <a:schemeClr val="dk2"/>
              </a:gs>
            </a:gsLst>
            <a:lin ang="5400012" scaled="0"/>
          </a:gradFill>
          <a:ln>
            <a:noFill/>
          </a:ln>
        </p:spPr>
        <p:txBody>
          <a:bodyPr anchorCtr="0" anchor="ctr" bIns="195500" lIns="195500" spcFirstLastPara="1" rIns="195500" wrap="square" tIns="195500">
            <a:noAutofit/>
          </a:bodyPr>
          <a:lstStyle/>
          <a:p>
            <a:pPr indent="0" lvl="0" marL="0" marR="0" rtl="0" algn="ctr">
              <a:lnSpc>
                <a:spcPct val="110000"/>
              </a:lnSpc>
              <a:spcBef>
                <a:spcPts val="0"/>
              </a:spcBef>
              <a:spcAft>
                <a:spcPts val="0"/>
              </a:spcAft>
              <a:buClr>
                <a:srgbClr val="FFFFFF"/>
              </a:buClr>
              <a:buSzPts val="1400"/>
              <a:buFont typeface="Montserrat"/>
              <a:buNone/>
            </a:pPr>
            <a:r>
              <a:rPr b="1" i="0" lang="en" sz="1400" u="none" cap="none" strike="noStrike">
                <a:solidFill>
                  <a:srgbClr val="FFFFFF"/>
                </a:solidFill>
                <a:latin typeface="Montserrat"/>
                <a:ea typeface="Montserrat"/>
                <a:cs typeface="Montserrat"/>
                <a:sym typeface="Montserrat"/>
              </a:rPr>
              <a:t>Business functions</a:t>
            </a:r>
            <a:endParaRPr b="0" i="0" sz="1100" u="none" cap="none" strike="noStrike">
              <a:solidFill>
                <a:srgbClr val="000000"/>
              </a:solidFill>
              <a:latin typeface="Arial"/>
              <a:ea typeface="Arial"/>
              <a:cs typeface="Arial"/>
              <a:sym typeface="Arial"/>
            </a:endParaRPr>
          </a:p>
        </p:txBody>
      </p:sp>
      <p:sp>
        <p:nvSpPr>
          <p:cNvPr id="240" name="Google Shape;240;p4"/>
          <p:cNvSpPr/>
          <p:nvPr/>
        </p:nvSpPr>
        <p:spPr>
          <a:xfrm>
            <a:off x="2713373" y="3277325"/>
            <a:ext cx="1509003" cy="1509003"/>
          </a:xfrm>
          <a:custGeom>
            <a:rect b="b" l="l" r="r" t="t"/>
            <a:pathLst>
              <a:path extrusionOk="0" h="1667407" w="1667407">
                <a:moveTo>
                  <a:pt x="0" y="833704"/>
                </a:moveTo>
                <a:cubicBezTo>
                  <a:pt x="0" y="373262"/>
                  <a:pt x="373262" y="0"/>
                  <a:pt x="833704" y="0"/>
                </a:cubicBezTo>
                <a:cubicBezTo>
                  <a:pt x="1294146" y="0"/>
                  <a:pt x="1667408" y="373262"/>
                  <a:pt x="1667408" y="833704"/>
                </a:cubicBezTo>
                <a:cubicBezTo>
                  <a:pt x="1667408" y="1294146"/>
                  <a:pt x="1294146" y="1667408"/>
                  <a:pt x="833704" y="1667408"/>
                </a:cubicBezTo>
                <a:cubicBezTo>
                  <a:pt x="373262" y="1667408"/>
                  <a:pt x="0" y="1294146"/>
                  <a:pt x="0" y="833704"/>
                </a:cubicBezTo>
                <a:close/>
              </a:path>
            </a:pathLst>
          </a:custGeom>
          <a:gradFill>
            <a:gsLst>
              <a:gs pos="0">
                <a:schemeClr val="accent1"/>
              </a:gs>
              <a:gs pos="100000">
                <a:schemeClr val="dk2"/>
              </a:gs>
            </a:gsLst>
            <a:lin ang="5400012" scaled="0"/>
          </a:gradFill>
          <a:ln>
            <a:noFill/>
          </a:ln>
        </p:spPr>
        <p:txBody>
          <a:bodyPr anchorCtr="0" anchor="ctr" bIns="195500" lIns="195500" spcFirstLastPara="1" rIns="195500" wrap="square" tIns="195500">
            <a:noAutofit/>
          </a:bodyPr>
          <a:lstStyle/>
          <a:p>
            <a:pPr indent="0" lvl="0" marL="0" marR="0" rtl="0" algn="ctr">
              <a:lnSpc>
                <a:spcPct val="110000"/>
              </a:lnSpc>
              <a:spcBef>
                <a:spcPts val="0"/>
              </a:spcBef>
              <a:spcAft>
                <a:spcPts val="0"/>
              </a:spcAft>
              <a:buClr>
                <a:srgbClr val="FFFFFF"/>
              </a:buClr>
              <a:buSzPts val="1400"/>
              <a:buFont typeface="Montserrat"/>
              <a:buNone/>
            </a:pPr>
            <a:r>
              <a:rPr b="1" i="0" lang="en" sz="1400" u="none" cap="none" strike="noStrike">
                <a:solidFill>
                  <a:srgbClr val="FFFFFF"/>
                </a:solidFill>
                <a:latin typeface="Montserrat"/>
                <a:ea typeface="Montserrat"/>
                <a:cs typeface="Montserrat"/>
                <a:sym typeface="Montserrat"/>
              </a:rPr>
              <a:t>Technology</a:t>
            </a:r>
            <a:endParaRPr b="0" i="0" sz="1100" u="none" cap="none" strike="noStrike">
              <a:solidFill>
                <a:srgbClr val="000000"/>
              </a:solidFill>
              <a:latin typeface="Arial"/>
              <a:ea typeface="Arial"/>
              <a:cs typeface="Arial"/>
              <a:sym typeface="Arial"/>
            </a:endParaRPr>
          </a:p>
        </p:txBody>
      </p:sp>
      <p:sp>
        <p:nvSpPr>
          <p:cNvPr id="241" name="Google Shape;241;p4"/>
          <p:cNvSpPr/>
          <p:nvPr/>
        </p:nvSpPr>
        <p:spPr>
          <a:xfrm>
            <a:off x="2708608" y="256974"/>
            <a:ext cx="1509003" cy="1509003"/>
          </a:xfrm>
          <a:custGeom>
            <a:rect b="b" l="l" r="r" t="t"/>
            <a:pathLst>
              <a:path extrusionOk="0" h="1667407" w="1667407">
                <a:moveTo>
                  <a:pt x="0" y="833704"/>
                </a:moveTo>
                <a:cubicBezTo>
                  <a:pt x="0" y="373262"/>
                  <a:pt x="373262" y="0"/>
                  <a:pt x="833704" y="0"/>
                </a:cubicBezTo>
                <a:cubicBezTo>
                  <a:pt x="1294146" y="0"/>
                  <a:pt x="1667408" y="373262"/>
                  <a:pt x="1667408" y="833704"/>
                </a:cubicBezTo>
                <a:cubicBezTo>
                  <a:pt x="1667408" y="1294146"/>
                  <a:pt x="1294146" y="1667408"/>
                  <a:pt x="833704" y="1667408"/>
                </a:cubicBezTo>
                <a:cubicBezTo>
                  <a:pt x="373262" y="1667408"/>
                  <a:pt x="0" y="1294146"/>
                  <a:pt x="0" y="833704"/>
                </a:cubicBezTo>
                <a:close/>
              </a:path>
            </a:pathLst>
          </a:custGeom>
          <a:gradFill>
            <a:gsLst>
              <a:gs pos="0">
                <a:schemeClr val="accent1"/>
              </a:gs>
              <a:gs pos="100000">
                <a:schemeClr val="dk2"/>
              </a:gs>
            </a:gsLst>
            <a:lin ang="5400012" scaled="0"/>
          </a:gradFill>
          <a:ln>
            <a:noFill/>
          </a:ln>
        </p:spPr>
        <p:txBody>
          <a:bodyPr anchorCtr="0" anchor="ctr" bIns="195500" lIns="195500" spcFirstLastPara="1" rIns="195500" wrap="square" tIns="195500">
            <a:noAutofit/>
          </a:bodyPr>
          <a:lstStyle/>
          <a:p>
            <a:pPr indent="0" lvl="0" marL="0" marR="0" rtl="0" algn="ctr">
              <a:lnSpc>
                <a:spcPct val="110000"/>
              </a:lnSpc>
              <a:spcBef>
                <a:spcPts val="0"/>
              </a:spcBef>
              <a:spcAft>
                <a:spcPts val="0"/>
              </a:spcAft>
              <a:buClr>
                <a:srgbClr val="FFFFFF"/>
              </a:buClr>
              <a:buSzPts val="1400"/>
              <a:buFont typeface="Montserrat"/>
              <a:buNone/>
            </a:pPr>
            <a:r>
              <a:rPr b="1" i="0" lang="en" sz="1400" u="none" cap="none" strike="noStrike">
                <a:solidFill>
                  <a:srgbClr val="FFFFFF"/>
                </a:solidFill>
                <a:latin typeface="Montserrat"/>
                <a:ea typeface="Montserrat"/>
                <a:cs typeface="Montserrat"/>
                <a:sym typeface="Montserrat"/>
              </a:rPr>
              <a:t>Industry</a:t>
            </a:r>
            <a:endParaRPr b="0" i="0" sz="1100" u="none" cap="none" strike="noStrike">
              <a:solidFill>
                <a:srgbClr val="000000"/>
              </a:solidFill>
              <a:latin typeface="Arial"/>
              <a:ea typeface="Arial"/>
              <a:cs typeface="Arial"/>
              <a:sym typeface="Arial"/>
            </a:endParaRPr>
          </a:p>
        </p:txBody>
      </p:sp>
      <p:sp>
        <p:nvSpPr>
          <p:cNvPr id="242" name="Google Shape;242;p4"/>
          <p:cNvSpPr/>
          <p:nvPr/>
        </p:nvSpPr>
        <p:spPr>
          <a:xfrm>
            <a:off x="4814675" y="2113634"/>
            <a:ext cx="808692" cy="808692"/>
          </a:xfrm>
          <a:custGeom>
            <a:rect b="b" l="l" r="r" t="t"/>
            <a:pathLst>
              <a:path extrusionOk="0" h="1667407" w="1667407">
                <a:moveTo>
                  <a:pt x="0" y="833704"/>
                </a:moveTo>
                <a:cubicBezTo>
                  <a:pt x="0" y="373262"/>
                  <a:pt x="373262" y="0"/>
                  <a:pt x="833704" y="0"/>
                </a:cubicBezTo>
                <a:cubicBezTo>
                  <a:pt x="1294146" y="0"/>
                  <a:pt x="1667408" y="373262"/>
                  <a:pt x="1667408" y="833704"/>
                </a:cubicBezTo>
                <a:cubicBezTo>
                  <a:pt x="1667408" y="1294146"/>
                  <a:pt x="1294146" y="1667408"/>
                  <a:pt x="833704" y="1667408"/>
                </a:cubicBezTo>
                <a:cubicBezTo>
                  <a:pt x="373262" y="1667408"/>
                  <a:pt x="0" y="1294146"/>
                  <a:pt x="0" y="833704"/>
                </a:cubicBezTo>
                <a:close/>
              </a:path>
            </a:pathLst>
          </a:custGeom>
          <a:solidFill>
            <a:schemeClr val="lt2"/>
          </a:solidFill>
          <a:ln>
            <a:noFill/>
          </a:ln>
        </p:spPr>
        <p:txBody>
          <a:bodyPr anchorCtr="0" anchor="ctr" bIns="195500" lIns="195500" spcFirstLastPara="1" rIns="195500" wrap="square" tIns="195500">
            <a:noAutofit/>
          </a:bodyPr>
          <a:lstStyle/>
          <a:p>
            <a:pPr indent="0" lvl="0" marL="0" marR="0" rtl="0" algn="ctr">
              <a:lnSpc>
                <a:spcPct val="110000"/>
              </a:lnSpc>
              <a:spcBef>
                <a:spcPts val="0"/>
              </a:spcBef>
              <a:spcAft>
                <a:spcPts val="0"/>
              </a:spcAft>
              <a:buClr>
                <a:srgbClr val="1E2345"/>
              </a:buClr>
              <a:buSzPts val="3000"/>
              <a:buFont typeface="Montserrat"/>
              <a:buNone/>
            </a:pPr>
            <a:r>
              <a:rPr b="1" i="0" lang="en" sz="2900" u="none" cap="none" strike="noStrike">
                <a:solidFill>
                  <a:srgbClr val="1E2345"/>
                </a:solidFill>
                <a:latin typeface="Montserrat"/>
                <a:ea typeface="Montserrat"/>
                <a:cs typeface="Montserrat"/>
                <a:sym typeface="Montserrat"/>
              </a:rPr>
              <a:t>AI</a:t>
            </a:r>
            <a:endParaRPr b="0" i="0" sz="1000" u="none" cap="none" strike="noStrike">
              <a:solidFill>
                <a:srgbClr val="000000"/>
              </a:solidFill>
              <a:latin typeface="Arial"/>
              <a:ea typeface="Arial"/>
              <a:cs typeface="Arial"/>
              <a:sym typeface="Arial"/>
            </a:endParaRPr>
          </a:p>
        </p:txBody>
      </p:sp>
      <p:sp>
        <p:nvSpPr>
          <p:cNvPr id="243" name="Google Shape;243;p4"/>
          <p:cNvSpPr/>
          <p:nvPr/>
        </p:nvSpPr>
        <p:spPr>
          <a:xfrm>
            <a:off x="4263724" y="2280951"/>
            <a:ext cx="471459" cy="471459"/>
          </a:xfrm>
          <a:custGeom>
            <a:rect b="b" l="l" r="r" t="t"/>
            <a:pathLst>
              <a:path extrusionOk="0" h="967096" w="967096">
                <a:moveTo>
                  <a:pt x="128189" y="369818"/>
                </a:moveTo>
                <a:lnTo>
                  <a:pt x="369818" y="369818"/>
                </a:lnTo>
                <a:lnTo>
                  <a:pt x="369818" y="128189"/>
                </a:lnTo>
                <a:lnTo>
                  <a:pt x="597278" y="128189"/>
                </a:lnTo>
                <a:lnTo>
                  <a:pt x="597278" y="369818"/>
                </a:lnTo>
                <a:lnTo>
                  <a:pt x="838907" y="369818"/>
                </a:lnTo>
                <a:lnTo>
                  <a:pt x="838907" y="597278"/>
                </a:lnTo>
                <a:lnTo>
                  <a:pt x="597278" y="597278"/>
                </a:lnTo>
                <a:lnTo>
                  <a:pt x="597278" y="838907"/>
                </a:lnTo>
                <a:lnTo>
                  <a:pt x="369818" y="838907"/>
                </a:lnTo>
                <a:lnTo>
                  <a:pt x="369818" y="597278"/>
                </a:lnTo>
                <a:lnTo>
                  <a:pt x="128189" y="597278"/>
                </a:lnTo>
                <a:lnTo>
                  <a:pt x="128189" y="369818"/>
                </a:lnTo>
                <a:close/>
              </a:path>
            </a:pathLst>
          </a:custGeom>
          <a:solidFill>
            <a:schemeClr val="lt2"/>
          </a:solidFill>
          <a:ln>
            <a:noFill/>
          </a:ln>
        </p:spPr>
        <p:txBody>
          <a:bodyPr anchorCtr="0" anchor="ctr" bIns="277350" lIns="96125" spcFirstLastPara="1" rIns="96125" wrap="square" tIns="277350">
            <a:noAutofit/>
          </a:bodyPr>
          <a:lstStyle/>
          <a:p>
            <a:pPr indent="0" lvl="0" marL="0" marR="0" rtl="0" algn="ctr">
              <a:lnSpc>
                <a:spcPct val="9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44" name="Google Shape;244;p4"/>
          <p:cNvSpPr/>
          <p:nvPr/>
        </p:nvSpPr>
        <p:spPr>
          <a:xfrm>
            <a:off x="6197667" y="1311677"/>
            <a:ext cx="2496942" cy="2496942"/>
          </a:xfrm>
          <a:custGeom>
            <a:rect b="b" l="l" r="r" t="t"/>
            <a:pathLst>
              <a:path extrusionOk="0" h="1667407" w="1667407">
                <a:moveTo>
                  <a:pt x="0" y="833704"/>
                </a:moveTo>
                <a:cubicBezTo>
                  <a:pt x="0" y="373262"/>
                  <a:pt x="373262" y="0"/>
                  <a:pt x="833704" y="0"/>
                </a:cubicBezTo>
                <a:cubicBezTo>
                  <a:pt x="1294146" y="0"/>
                  <a:pt x="1667408" y="373262"/>
                  <a:pt x="1667408" y="833704"/>
                </a:cubicBezTo>
                <a:cubicBezTo>
                  <a:pt x="1667408" y="1294146"/>
                  <a:pt x="1294146" y="1667408"/>
                  <a:pt x="833704" y="1667408"/>
                </a:cubicBezTo>
                <a:cubicBezTo>
                  <a:pt x="373262" y="1667408"/>
                  <a:pt x="0" y="1294146"/>
                  <a:pt x="0" y="833704"/>
                </a:cubicBezTo>
                <a:close/>
              </a:path>
            </a:pathLst>
          </a:custGeom>
          <a:solidFill>
            <a:schemeClr val="lt1"/>
          </a:solidFill>
          <a:ln cap="flat" cmpd="sng" w="9525">
            <a:solidFill>
              <a:schemeClr val="accent1"/>
            </a:solidFill>
            <a:prstDash val="solid"/>
            <a:miter lim="80"/>
            <a:headEnd len="sm" w="sm" type="none"/>
            <a:tailEnd len="sm" w="sm" type="none"/>
          </a:ln>
        </p:spPr>
        <p:txBody>
          <a:bodyPr anchorCtr="0" anchor="ctr" bIns="195500" lIns="0" spcFirstLastPara="1" rIns="0" wrap="square" tIns="195500">
            <a:noAutofit/>
          </a:bodyPr>
          <a:lstStyle/>
          <a:p>
            <a:pPr indent="0" lvl="0" marL="0" marR="0" rtl="0" algn="ctr">
              <a:lnSpc>
                <a:spcPct val="100000"/>
              </a:lnSpc>
              <a:spcBef>
                <a:spcPts val="0"/>
              </a:spcBef>
              <a:spcAft>
                <a:spcPts val="0"/>
              </a:spcAft>
              <a:buClr>
                <a:srgbClr val="5E2CFE"/>
              </a:buClr>
              <a:buSzPts val="1800"/>
              <a:buFont typeface="Montserrat"/>
              <a:buNone/>
            </a:pPr>
            <a:r>
              <a:rPr b="1" i="0" lang="en" sz="1800" u="none" cap="none" strike="noStrike">
                <a:solidFill>
                  <a:srgbClr val="5E2CFE"/>
                </a:solidFill>
                <a:latin typeface="Montserrat"/>
                <a:ea typeface="Montserrat"/>
                <a:cs typeface="Montserrat"/>
                <a:sym typeface="Montserrat"/>
              </a:rPr>
              <a:t>Domain-driven solutions</a:t>
            </a:r>
            <a:br>
              <a:rPr b="0" i="0" lang="en" sz="1800" u="none" cap="none" strike="noStrike">
                <a:solidFill>
                  <a:srgbClr val="5E2CFE"/>
                </a:solidFill>
                <a:latin typeface="Montserrat Light"/>
                <a:ea typeface="Montserrat Light"/>
                <a:cs typeface="Montserrat Light"/>
                <a:sym typeface="Montserrat Light"/>
              </a:rPr>
            </a:br>
            <a:r>
              <a:rPr b="0" i="0" lang="en" sz="1800" u="none" cap="none" strike="noStrike">
                <a:solidFill>
                  <a:srgbClr val="5E2CFE"/>
                </a:solidFill>
                <a:latin typeface="Montserrat Light"/>
                <a:ea typeface="Montserrat Light"/>
                <a:cs typeface="Montserrat Light"/>
                <a:sym typeface="Montserrat Light"/>
              </a:rPr>
              <a:t>for the </a:t>
            </a:r>
            <a:br>
              <a:rPr b="0" i="0" lang="en" sz="1800" u="none" cap="none" strike="noStrike">
                <a:solidFill>
                  <a:srgbClr val="5E2CFE"/>
                </a:solidFill>
                <a:latin typeface="Montserrat Light"/>
                <a:ea typeface="Montserrat Light"/>
                <a:cs typeface="Montserrat Light"/>
                <a:sym typeface="Montserrat Light"/>
              </a:rPr>
            </a:br>
            <a:r>
              <a:rPr b="0" i="0" lang="en" sz="1800" u="none" cap="none" strike="noStrike">
                <a:solidFill>
                  <a:srgbClr val="5E2CFE"/>
                </a:solidFill>
                <a:latin typeface="Montserrat Light"/>
                <a:ea typeface="Montserrat Light"/>
                <a:cs typeface="Montserrat Light"/>
                <a:sym typeface="Montserrat Light"/>
              </a:rPr>
              <a:t>AI enterprise</a:t>
            </a:r>
            <a:endParaRPr b="0" i="0" sz="1100" u="none" cap="none" strike="noStrike">
              <a:solidFill>
                <a:srgbClr val="000000"/>
              </a:solidFill>
              <a:latin typeface="Arial"/>
              <a:ea typeface="Arial"/>
              <a:cs typeface="Arial"/>
              <a:sym typeface="Arial"/>
            </a:endParaRPr>
          </a:p>
        </p:txBody>
      </p:sp>
      <p:sp>
        <p:nvSpPr>
          <p:cNvPr id="245" name="Google Shape;245;p4"/>
          <p:cNvSpPr/>
          <p:nvPr/>
        </p:nvSpPr>
        <p:spPr>
          <a:xfrm>
            <a:off x="4007939" y="1306858"/>
            <a:ext cx="2421909" cy="2421909"/>
          </a:xfrm>
          <a:custGeom>
            <a:rect b="b" l="l" r="r" t="t"/>
            <a:pathLst>
              <a:path extrusionOk="0" h="1667407" w="1667407">
                <a:moveTo>
                  <a:pt x="0" y="833704"/>
                </a:moveTo>
                <a:cubicBezTo>
                  <a:pt x="0" y="373262"/>
                  <a:pt x="373262" y="0"/>
                  <a:pt x="833704" y="0"/>
                </a:cubicBezTo>
                <a:cubicBezTo>
                  <a:pt x="1294146" y="0"/>
                  <a:pt x="1667408" y="373262"/>
                  <a:pt x="1667408" y="833704"/>
                </a:cubicBezTo>
                <a:cubicBezTo>
                  <a:pt x="1667408" y="1294146"/>
                  <a:pt x="1294146" y="1667408"/>
                  <a:pt x="833704" y="1667408"/>
                </a:cubicBezTo>
                <a:cubicBezTo>
                  <a:pt x="373262" y="1667408"/>
                  <a:pt x="0" y="1294146"/>
                  <a:pt x="0" y="833704"/>
                </a:cubicBezTo>
                <a:close/>
              </a:path>
            </a:pathLst>
          </a:custGeom>
          <a:noFill/>
          <a:ln cap="flat" cmpd="sng" w="21425">
            <a:solidFill>
              <a:schemeClr val="lt2">
                <a:alpha val="20000"/>
              </a:schemeClr>
            </a:solidFill>
            <a:prstDash val="solid"/>
            <a:miter lim="80"/>
            <a:headEnd len="sm" w="sm" type="none"/>
            <a:tailEnd len="sm" w="sm" type="none"/>
          </a:ln>
        </p:spPr>
        <p:txBody>
          <a:bodyPr anchorCtr="0" anchor="ctr" bIns="195500" lIns="195500" spcFirstLastPara="1" rIns="195500" wrap="square" tIns="195500">
            <a:noAutofit/>
          </a:bodyPr>
          <a:lstStyle/>
          <a:p>
            <a:pPr indent="0" lvl="0" marL="0" marR="0" rtl="0" algn="ctr">
              <a:lnSpc>
                <a:spcPct val="100000"/>
              </a:lnSpc>
              <a:spcBef>
                <a:spcPts val="0"/>
              </a:spcBef>
              <a:spcAft>
                <a:spcPts val="0"/>
              </a:spcAft>
              <a:buClr>
                <a:schemeClr val="lt1"/>
              </a:buClr>
              <a:buSzPts val="2100"/>
              <a:buFont typeface="Arial"/>
              <a:buNone/>
            </a:pPr>
            <a:r>
              <a:t/>
            </a:r>
            <a:endParaRPr b="0" i="0" sz="2100" u="none" cap="none" strike="noStrike">
              <a:solidFill>
                <a:srgbClr val="5E2CFE"/>
              </a:solidFill>
              <a:latin typeface="Montserrat"/>
              <a:ea typeface="Montserrat"/>
              <a:cs typeface="Montserrat"/>
              <a:sym typeface="Montserrat"/>
            </a:endParaRPr>
          </a:p>
        </p:txBody>
      </p:sp>
      <p:grpSp>
        <p:nvGrpSpPr>
          <p:cNvPr id="246" name="Google Shape;246;p4"/>
          <p:cNvGrpSpPr/>
          <p:nvPr/>
        </p:nvGrpSpPr>
        <p:grpSpPr>
          <a:xfrm>
            <a:off x="4735353" y="3889546"/>
            <a:ext cx="1376202" cy="900891"/>
            <a:chOff x="6449271" y="5186061"/>
            <a:chExt cx="1834936" cy="1201188"/>
          </a:xfrm>
        </p:grpSpPr>
        <p:grpSp>
          <p:nvGrpSpPr>
            <p:cNvPr id="247" name="Google Shape;247;p4"/>
            <p:cNvGrpSpPr/>
            <p:nvPr/>
          </p:nvGrpSpPr>
          <p:grpSpPr>
            <a:xfrm>
              <a:off x="6547732" y="5567490"/>
              <a:ext cx="1736475" cy="819759"/>
              <a:chOff x="820060" y="4805446"/>
              <a:chExt cx="2358060" cy="1113198"/>
            </a:xfrm>
          </p:grpSpPr>
          <p:grpSp>
            <p:nvGrpSpPr>
              <p:cNvPr id="248" name="Google Shape;248;p4"/>
              <p:cNvGrpSpPr/>
              <p:nvPr/>
            </p:nvGrpSpPr>
            <p:grpSpPr>
              <a:xfrm>
                <a:off x="820060" y="4805446"/>
                <a:ext cx="557223" cy="130378"/>
                <a:chOff x="3202066" y="1871852"/>
                <a:chExt cx="397931" cy="93107"/>
              </a:xfrm>
            </p:grpSpPr>
            <p:sp>
              <p:nvSpPr>
                <p:cNvPr id="249" name="Google Shape;249;p4"/>
                <p:cNvSpPr/>
                <p:nvPr/>
              </p:nvSpPr>
              <p:spPr>
                <a:xfrm>
                  <a:off x="3408925" y="1892903"/>
                  <a:ext cx="58293" cy="71247"/>
                </a:xfrm>
                <a:custGeom>
                  <a:rect b="b" l="l" r="r" t="t"/>
                  <a:pathLst>
                    <a:path extrusionOk="0" h="71247" w="58293">
                      <a:moveTo>
                        <a:pt x="29147" y="71247"/>
                      </a:moveTo>
                      <a:lnTo>
                        <a:pt x="29147" y="71247"/>
                      </a:lnTo>
                      <a:cubicBezTo>
                        <a:pt x="13764" y="71247"/>
                        <a:pt x="0" y="60317"/>
                        <a:pt x="0" y="40481"/>
                      </a:cubicBezTo>
                      <a:lnTo>
                        <a:pt x="0" y="0"/>
                      </a:lnTo>
                      <a:lnTo>
                        <a:pt x="16193" y="0"/>
                      </a:lnTo>
                      <a:lnTo>
                        <a:pt x="16193" y="41696"/>
                      </a:lnTo>
                      <a:cubicBezTo>
                        <a:pt x="16193" y="51006"/>
                        <a:pt x="21050" y="56674"/>
                        <a:pt x="29147" y="56674"/>
                      </a:cubicBezTo>
                      <a:cubicBezTo>
                        <a:pt x="37648" y="56674"/>
                        <a:pt x="42101" y="50602"/>
                        <a:pt x="42101" y="41696"/>
                      </a:cubicBezTo>
                      <a:lnTo>
                        <a:pt x="42101" y="0"/>
                      </a:lnTo>
                      <a:cubicBezTo>
                        <a:pt x="42101" y="0"/>
                        <a:pt x="58293" y="0"/>
                        <a:pt x="58293" y="0"/>
                      </a:cubicBezTo>
                      <a:lnTo>
                        <a:pt x="58293" y="40481"/>
                      </a:lnTo>
                      <a:cubicBezTo>
                        <a:pt x="58293" y="60317"/>
                        <a:pt x="44125" y="71247"/>
                        <a:pt x="28742" y="71247"/>
                      </a:cubicBezTo>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grpSp>
              <p:nvGrpSpPr>
                <p:cNvPr id="250" name="Google Shape;250;p4"/>
                <p:cNvGrpSpPr/>
                <p:nvPr/>
              </p:nvGrpSpPr>
              <p:grpSpPr>
                <a:xfrm>
                  <a:off x="3280600" y="1871852"/>
                  <a:ext cx="16192" cy="91083"/>
                  <a:chOff x="3280600" y="1871852"/>
                  <a:chExt cx="16192" cy="91083"/>
                </a:xfrm>
              </p:grpSpPr>
              <p:sp>
                <p:nvSpPr>
                  <p:cNvPr id="251" name="Google Shape;251;p4"/>
                  <p:cNvSpPr/>
                  <p:nvPr/>
                </p:nvSpPr>
                <p:spPr>
                  <a:xfrm>
                    <a:off x="3281005" y="1871852"/>
                    <a:ext cx="15787" cy="19026"/>
                  </a:xfrm>
                  <a:custGeom>
                    <a:rect b="b" l="l" r="r" t="t"/>
                    <a:pathLst>
                      <a:path extrusionOk="0" h="19026" w="15787">
                        <a:moveTo>
                          <a:pt x="15788" y="0"/>
                        </a:moveTo>
                        <a:lnTo>
                          <a:pt x="0" y="0"/>
                        </a:lnTo>
                        <a:lnTo>
                          <a:pt x="0" y="19026"/>
                        </a:lnTo>
                        <a:cubicBezTo>
                          <a:pt x="8096" y="15788"/>
                          <a:pt x="14573" y="8501"/>
                          <a:pt x="15788"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52" name="Google Shape;252;p4"/>
                  <p:cNvSpPr/>
                  <p:nvPr/>
                </p:nvSpPr>
                <p:spPr>
                  <a:xfrm>
                    <a:off x="3280600" y="1894522"/>
                    <a:ext cx="16192" cy="68413"/>
                  </a:xfrm>
                  <a:custGeom>
                    <a:rect b="b" l="l" r="r" t="t"/>
                    <a:pathLst>
                      <a:path extrusionOk="0" h="68413" w="16192">
                        <a:moveTo>
                          <a:pt x="0" y="0"/>
                        </a:moveTo>
                        <a:lnTo>
                          <a:pt x="0" y="68413"/>
                        </a:lnTo>
                        <a:lnTo>
                          <a:pt x="16193" y="68413"/>
                        </a:lnTo>
                        <a:lnTo>
                          <a:pt x="16193" y="22265"/>
                        </a:lnTo>
                        <a:cubicBezTo>
                          <a:pt x="15788" y="12144"/>
                          <a:pt x="9311" y="3238"/>
                          <a:pt x="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grpSp>
            <p:sp>
              <p:nvSpPr>
                <p:cNvPr id="253" name="Google Shape;253;p4"/>
                <p:cNvSpPr/>
                <p:nvPr/>
              </p:nvSpPr>
              <p:spPr>
                <a:xfrm>
                  <a:off x="3311770" y="1892903"/>
                  <a:ext cx="34004" cy="70032"/>
                </a:xfrm>
                <a:custGeom>
                  <a:rect b="b" l="l" r="r" t="t"/>
                  <a:pathLst>
                    <a:path extrusionOk="0" h="70032" w="34004">
                      <a:moveTo>
                        <a:pt x="25098" y="0"/>
                      </a:moveTo>
                      <a:cubicBezTo>
                        <a:pt x="11335" y="0"/>
                        <a:pt x="0" y="11335"/>
                        <a:pt x="0" y="25098"/>
                      </a:cubicBezTo>
                      <a:lnTo>
                        <a:pt x="0" y="70033"/>
                      </a:lnTo>
                      <a:lnTo>
                        <a:pt x="15788" y="70033"/>
                      </a:lnTo>
                      <a:lnTo>
                        <a:pt x="15788" y="27122"/>
                      </a:lnTo>
                      <a:cubicBezTo>
                        <a:pt x="15788" y="20241"/>
                        <a:pt x="21455" y="14573"/>
                        <a:pt x="28337" y="14573"/>
                      </a:cubicBezTo>
                      <a:lnTo>
                        <a:pt x="34004" y="14573"/>
                      </a:lnTo>
                      <a:lnTo>
                        <a:pt x="34004" y="0"/>
                      </a:lnTo>
                      <a:lnTo>
                        <a:pt x="24694"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54" name="Google Shape;254;p4"/>
                <p:cNvSpPr/>
                <p:nvPr/>
              </p:nvSpPr>
              <p:spPr>
                <a:xfrm>
                  <a:off x="3476124" y="1891688"/>
                  <a:ext cx="57078" cy="73271"/>
                </a:xfrm>
                <a:custGeom>
                  <a:rect b="b" l="l" r="r" t="t"/>
                  <a:pathLst>
                    <a:path extrusionOk="0" h="73271" w="57078">
                      <a:moveTo>
                        <a:pt x="36433" y="29147"/>
                      </a:moveTo>
                      <a:lnTo>
                        <a:pt x="25503" y="26718"/>
                      </a:lnTo>
                      <a:cubicBezTo>
                        <a:pt x="25098" y="26718"/>
                        <a:pt x="24693" y="26718"/>
                        <a:pt x="23884" y="26313"/>
                      </a:cubicBezTo>
                      <a:cubicBezTo>
                        <a:pt x="20645" y="25098"/>
                        <a:pt x="18217" y="23074"/>
                        <a:pt x="18217" y="20241"/>
                      </a:cubicBezTo>
                      <a:cubicBezTo>
                        <a:pt x="18217" y="17407"/>
                        <a:pt x="21860" y="13764"/>
                        <a:pt x="27932" y="13764"/>
                      </a:cubicBezTo>
                      <a:cubicBezTo>
                        <a:pt x="34004" y="13764"/>
                        <a:pt x="41291" y="18217"/>
                        <a:pt x="44529" y="22670"/>
                      </a:cubicBezTo>
                      <a:lnTo>
                        <a:pt x="54650" y="11740"/>
                      </a:lnTo>
                      <a:cubicBezTo>
                        <a:pt x="48173" y="4858"/>
                        <a:pt x="40076" y="0"/>
                        <a:pt x="28742" y="0"/>
                      </a:cubicBezTo>
                      <a:cubicBezTo>
                        <a:pt x="17407" y="0"/>
                        <a:pt x="3238" y="7692"/>
                        <a:pt x="3238" y="20645"/>
                      </a:cubicBezTo>
                      <a:cubicBezTo>
                        <a:pt x="3238" y="33600"/>
                        <a:pt x="11335" y="39267"/>
                        <a:pt x="24289" y="42910"/>
                      </a:cubicBezTo>
                      <a:lnTo>
                        <a:pt x="33599" y="45339"/>
                      </a:lnTo>
                      <a:cubicBezTo>
                        <a:pt x="34814" y="45339"/>
                        <a:pt x="35623" y="46149"/>
                        <a:pt x="36433" y="46149"/>
                      </a:cubicBezTo>
                      <a:cubicBezTo>
                        <a:pt x="40076" y="47768"/>
                        <a:pt x="41291" y="49792"/>
                        <a:pt x="41291" y="52221"/>
                      </a:cubicBezTo>
                      <a:cubicBezTo>
                        <a:pt x="41291" y="54650"/>
                        <a:pt x="38862" y="59507"/>
                        <a:pt x="30361" y="59507"/>
                      </a:cubicBezTo>
                      <a:cubicBezTo>
                        <a:pt x="21860" y="59507"/>
                        <a:pt x="15383" y="56269"/>
                        <a:pt x="10120" y="49387"/>
                      </a:cubicBezTo>
                      <a:lnTo>
                        <a:pt x="0" y="59912"/>
                      </a:lnTo>
                      <a:cubicBezTo>
                        <a:pt x="5263" y="66794"/>
                        <a:pt x="14573" y="73271"/>
                        <a:pt x="29147" y="73271"/>
                      </a:cubicBezTo>
                      <a:cubicBezTo>
                        <a:pt x="43720" y="73271"/>
                        <a:pt x="57078" y="63556"/>
                        <a:pt x="57078" y="51411"/>
                      </a:cubicBezTo>
                      <a:cubicBezTo>
                        <a:pt x="57078" y="39267"/>
                        <a:pt x="48173" y="32385"/>
                        <a:pt x="36433" y="295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55" name="Google Shape;255;p4"/>
                <p:cNvSpPr/>
                <p:nvPr/>
              </p:nvSpPr>
              <p:spPr>
                <a:xfrm>
                  <a:off x="3355490" y="1871852"/>
                  <a:ext cx="45511" cy="90677"/>
                </a:xfrm>
                <a:custGeom>
                  <a:rect b="b" l="l" r="r" t="t"/>
                  <a:pathLst>
                    <a:path extrusionOk="0" h="90677" w="45511">
                      <a:moveTo>
                        <a:pt x="42910" y="76105"/>
                      </a:moveTo>
                      <a:cubicBezTo>
                        <a:pt x="42505" y="76105"/>
                        <a:pt x="39267" y="76105"/>
                        <a:pt x="37648" y="76105"/>
                      </a:cubicBezTo>
                      <a:cubicBezTo>
                        <a:pt x="36028" y="76105"/>
                        <a:pt x="37648" y="76105"/>
                        <a:pt x="37648" y="76105"/>
                      </a:cubicBezTo>
                      <a:cubicBezTo>
                        <a:pt x="37648" y="76105"/>
                        <a:pt x="37648" y="76105"/>
                        <a:pt x="37648" y="76105"/>
                      </a:cubicBezTo>
                      <a:cubicBezTo>
                        <a:pt x="28337" y="76105"/>
                        <a:pt x="26313" y="73676"/>
                        <a:pt x="26313" y="63556"/>
                      </a:cubicBezTo>
                      <a:lnTo>
                        <a:pt x="26313" y="35219"/>
                      </a:lnTo>
                      <a:lnTo>
                        <a:pt x="42910" y="35219"/>
                      </a:lnTo>
                      <a:lnTo>
                        <a:pt x="42910" y="20645"/>
                      </a:lnTo>
                      <a:lnTo>
                        <a:pt x="26313" y="20645"/>
                      </a:lnTo>
                      <a:lnTo>
                        <a:pt x="26313" y="0"/>
                      </a:lnTo>
                      <a:lnTo>
                        <a:pt x="10120" y="0"/>
                      </a:lnTo>
                      <a:lnTo>
                        <a:pt x="10120" y="20645"/>
                      </a:lnTo>
                      <a:lnTo>
                        <a:pt x="0" y="20645"/>
                      </a:lnTo>
                      <a:lnTo>
                        <a:pt x="0" y="35219"/>
                      </a:lnTo>
                      <a:lnTo>
                        <a:pt x="10120" y="35219"/>
                      </a:lnTo>
                      <a:lnTo>
                        <a:pt x="10120" y="65985"/>
                      </a:lnTo>
                      <a:cubicBezTo>
                        <a:pt x="10120" y="83796"/>
                        <a:pt x="15788" y="90678"/>
                        <a:pt x="34409" y="90678"/>
                      </a:cubicBezTo>
                      <a:cubicBezTo>
                        <a:pt x="53030" y="90678"/>
                        <a:pt x="42505" y="90678"/>
                        <a:pt x="42910" y="90678"/>
                      </a:cubicBezTo>
                      <a:lnTo>
                        <a:pt x="42910" y="76105"/>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56" name="Google Shape;256;p4"/>
                <p:cNvSpPr/>
                <p:nvPr/>
              </p:nvSpPr>
              <p:spPr>
                <a:xfrm>
                  <a:off x="3202066" y="1892903"/>
                  <a:ext cx="67198" cy="70032"/>
                </a:xfrm>
                <a:custGeom>
                  <a:rect b="b" l="l" r="r" t="t"/>
                  <a:pathLst>
                    <a:path extrusionOk="0" h="70032" w="67198">
                      <a:moveTo>
                        <a:pt x="67199" y="0"/>
                      </a:moveTo>
                      <a:lnTo>
                        <a:pt x="42505" y="70033"/>
                      </a:lnTo>
                      <a:lnTo>
                        <a:pt x="24693" y="70033"/>
                      </a:lnTo>
                      <a:lnTo>
                        <a:pt x="0" y="0"/>
                      </a:lnTo>
                      <a:lnTo>
                        <a:pt x="16597" y="0"/>
                      </a:lnTo>
                      <a:lnTo>
                        <a:pt x="33599" y="51411"/>
                      </a:lnTo>
                      <a:lnTo>
                        <a:pt x="50602" y="0"/>
                      </a:lnTo>
                      <a:lnTo>
                        <a:pt x="67199"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57" name="Google Shape;257;p4"/>
                <p:cNvSpPr/>
                <p:nvPr/>
              </p:nvSpPr>
              <p:spPr>
                <a:xfrm>
                  <a:off x="3540490" y="1891284"/>
                  <a:ext cx="59507" cy="72866"/>
                </a:xfrm>
                <a:custGeom>
                  <a:rect b="b" l="l" r="r" t="t"/>
                  <a:pathLst>
                    <a:path extrusionOk="0" h="72866" w="59507">
                      <a:moveTo>
                        <a:pt x="29147" y="28337"/>
                      </a:moveTo>
                      <a:cubicBezTo>
                        <a:pt x="12954" y="28337"/>
                        <a:pt x="0" y="35623"/>
                        <a:pt x="0" y="51816"/>
                      </a:cubicBezTo>
                      <a:cubicBezTo>
                        <a:pt x="0" y="68008"/>
                        <a:pt x="10930" y="72866"/>
                        <a:pt x="23479" y="72866"/>
                      </a:cubicBezTo>
                      <a:cubicBezTo>
                        <a:pt x="36028" y="72866"/>
                        <a:pt x="38862" y="69628"/>
                        <a:pt x="43315" y="65984"/>
                      </a:cubicBezTo>
                      <a:lnTo>
                        <a:pt x="43315" y="65984"/>
                      </a:lnTo>
                      <a:cubicBezTo>
                        <a:pt x="43315" y="65984"/>
                        <a:pt x="43720" y="65984"/>
                        <a:pt x="44125" y="65580"/>
                      </a:cubicBezTo>
                      <a:lnTo>
                        <a:pt x="44125" y="71652"/>
                      </a:lnTo>
                      <a:lnTo>
                        <a:pt x="59507" y="71652"/>
                      </a:lnTo>
                      <a:lnTo>
                        <a:pt x="59507" y="26313"/>
                      </a:lnTo>
                      <a:cubicBezTo>
                        <a:pt x="59507" y="8501"/>
                        <a:pt x="46958" y="0"/>
                        <a:pt x="29552" y="0"/>
                      </a:cubicBezTo>
                      <a:cubicBezTo>
                        <a:pt x="12144" y="0"/>
                        <a:pt x="7287" y="4858"/>
                        <a:pt x="2024" y="14573"/>
                      </a:cubicBezTo>
                      <a:lnTo>
                        <a:pt x="12954" y="24693"/>
                      </a:lnTo>
                      <a:cubicBezTo>
                        <a:pt x="17407" y="16597"/>
                        <a:pt x="24289" y="14573"/>
                        <a:pt x="29552" y="14573"/>
                      </a:cubicBezTo>
                      <a:cubicBezTo>
                        <a:pt x="38052" y="14573"/>
                        <a:pt x="44125" y="20241"/>
                        <a:pt x="44125" y="27527"/>
                      </a:cubicBezTo>
                      <a:lnTo>
                        <a:pt x="44125" y="31170"/>
                      </a:lnTo>
                      <a:cubicBezTo>
                        <a:pt x="44125" y="31170"/>
                        <a:pt x="38052" y="28337"/>
                        <a:pt x="29147" y="28337"/>
                      </a:cubicBezTo>
                      <a:close/>
                      <a:moveTo>
                        <a:pt x="26313" y="59103"/>
                      </a:moveTo>
                      <a:cubicBezTo>
                        <a:pt x="18622" y="59103"/>
                        <a:pt x="14978" y="55054"/>
                        <a:pt x="14978" y="50602"/>
                      </a:cubicBezTo>
                      <a:cubicBezTo>
                        <a:pt x="14978" y="46149"/>
                        <a:pt x="20241" y="41291"/>
                        <a:pt x="28337" y="41291"/>
                      </a:cubicBezTo>
                      <a:cubicBezTo>
                        <a:pt x="36433" y="41291"/>
                        <a:pt x="39267" y="42505"/>
                        <a:pt x="43720" y="44529"/>
                      </a:cubicBezTo>
                      <a:lnTo>
                        <a:pt x="43720" y="53030"/>
                      </a:lnTo>
                      <a:cubicBezTo>
                        <a:pt x="40077" y="56674"/>
                        <a:pt x="32790" y="59507"/>
                        <a:pt x="26313" y="59507"/>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grpSp>
          <p:sp>
            <p:nvSpPr>
              <p:cNvPr id="258" name="Google Shape;258;p4"/>
              <p:cNvSpPr/>
              <p:nvPr/>
            </p:nvSpPr>
            <p:spPr>
              <a:xfrm>
                <a:off x="1910268" y="5030714"/>
                <a:ext cx="154293" cy="137462"/>
              </a:xfrm>
              <a:custGeom>
                <a:rect b="b" l="l" r="r" t="t"/>
                <a:pathLst>
                  <a:path extrusionOk="0" h="79343" w="89058">
                    <a:moveTo>
                      <a:pt x="44529" y="79343"/>
                    </a:moveTo>
                    <a:cubicBezTo>
                      <a:pt x="31171" y="79343"/>
                      <a:pt x="20241" y="75700"/>
                      <a:pt x="12144" y="68009"/>
                    </a:cubicBezTo>
                    <a:cubicBezTo>
                      <a:pt x="4048" y="60317"/>
                      <a:pt x="0" y="51006"/>
                      <a:pt x="0" y="39672"/>
                    </a:cubicBezTo>
                    <a:cubicBezTo>
                      <a:pt x="0" y="28337"/>
                      <a:pt x="4048" y="19026"/>
                      <a:pt x="12144" y="11335"/>
                    </a:cubicBezTo>
                    <a:cubicBezTo>
                      <a:pt x="20241" y="3643"/>
                      <a:pt x="31171" y="0"/>
                      <a:pt x="44529" y="0"/>
                    </a:cubicBezTo>
                    <a:cubicBezTo>
                      <a:pt x="57888" y="0"/>
                      <a:pt x="68413" y="3643"/>
                      <a:pt x="76510" y="10525"/>
                    </a:cubicBezTo>
                    <a:cubicBezTo>
                      <a:pt x="85011" y="17812"/>
                      <a:pt x="89059" y="26718"/>
                      <a:pt x="89059" y="38052"/>
                    </a:cubicBezTo>
                    <a:cubicBezTo>
                      <a:pt x="89059" y="49387"/>
                      <a:pt x="85011" y="59507"/>
                      <a:pt x="76914" y="67604"/>
                    </a:cubicBezTo>
                    <a:cubicBezTo>
                      <a:pt x="68818" y="75700"/>
                      <a:pt x="57888" y="79343"/>
                      <a:pt x="44529" y="79343"/>
                    </a:cubicBez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grpSp>
            <p:nvGrpSpPr>
              <p:cNvPr id="259" name="Google Shape;259;p4"/>
              <p:cNvGrpSpPr/>
              <p:nvPr/>
            </p:nvGrpSpPr>
            <p:grpSpPr>
              <a:xfrm>
                <a:off x="823162" y="5066502"/>
                <a:ext cx="1723694" cy="592321"/>
                <a:chOff x="3213806" y="2007465"/>
                <a:chExt cx="995434" cy="342066"/>
              </a:xfrm>
            </p:grpSpPr>
            <p:sp>
              <p:nvSpPr>
                <p:cNvPr id="260" name="Google Shape;260;p4"/>
                <p:cNvSpPr/>
                <p:nvPr/>
              </p:nvSpPr>
              <p:spPr>
                <a:xfrm>
                  <a:off x="3213806" y="2007870"/>
                  <a:ext cx="251388" cy="338423"/>
                </a:xfrm>
                <a:custGeom>
                  <a:rect b="b" l="l" r="r" t="t"/>
                  <a:pathLst>
                    <a:path extrusionOk="0" h="338423" w="251388">
                      <a:moveTo>
                        <a:pt x="201597" y="100798"/>
                      </a:moveTo>
                      <a:cubicBezTo>
                        <a:pt x="186214" y="93107"/>
                        <a:pt x="168807" y="89059"/>
                        <a:pt x="149376" y="89059"/>
                      </a:cubicBezTo>
                      <a:cubicBezTo>
                        <a:pt x="129945" y="89059"/>
                        <a:pt x="109704" y="93512"/>
                        <a:pt x="93107" y="102418"/>
                      </a:cubicBezTo>
                      <a:cubicBezTo>
                        <a:pt x="85011" y="106871"/>
                        <a:pt x="77724" y="112133"/>
                        <a:pt x="71247" y="118610"/>
                      </a:cubicBezTo>
                      <a:lnTo>
                        <a:pt x="71247" y="0"/>
                      </a:lnTo>
                      <a:lnTo>
                        <a:pt x="0" y="0"/>
                      </a:lnTo>
                      <a:lnTo>
                        <a:pt x="0" y="338423"/>
                      </a:lnTo>
                      <a:lnTo>
                        <a:pt x="71247" y="338423"/>
                      </a:lnTo>
                      <a:lnTo>
                        <a:pt x="71247" y="216979"/>
                      </a:lnTo>
                      <a:cubicBezTo>
                        <a:pt x="71247" y="201597"/>
                        <a:pt x="73676" y="189047"/>
                        <a:pt x="78938" y="179737"/>
                      </a:cubicBezTo>
                      <a:cubicBezTo>
                        <a:pt x="83796" y="170426"/>
                        <a:pt x="91083" y="163139"/>
                        <a:pt x="99988" y="158282"/>
                      </a:cubicBezTo>
                      <a:cubicBezTo>
                        <a:pt x="108894" y="153424"/>
                        <a:pt x="119015" y="150995"/>
                        <a:pt x="130349" y="150995"/>
                      </a:cubicBezTo>
                      <a:cubicBezTo>
                        <a:pt x="141684" y="150995"/>
                        <a:pt x="158282" y="155853"/>
                        <a:pt x="167188" y="165163"/>
                      </a:cubicBezTo>
                      <a:cubicBezTo>
                        <a:pt x="175688" y="174474"/>
                        <a:pt x="180142" y="189047"/>
                        <a:pt x="180142" y="208883"/>
                      </a:cubicBezTo>
                      <a:lnTo>
                        <a:pt x="180142" y="338423"/>
                      </a:lnTo>
                      <a:lnTo>
                        <a:pt x="251388" y="338423"/>
                      </a:lnTo>
                      <a:lnTo>
                        <a:pt x="251388" y="197953"/>
                      </a:lnTo>
                      <a:cubicBezTo>
                        <a:pt x="251388" y="172855"/>
                        <a:pt x="246936" y="152614"/>
                        <a:pt x="238030" y="136827"/>
                      </a:cubicBezTo>
                      <a:cubicBezTo>
                        <a:pt x="229124" y="121039"/>
                        <a:pt x="216979" y="108895"/>
                        <a:pt x="201597" y="101203"/>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61" name="Google Shape;261;p4"/>
                <p:cNvSpPr/>
                <p:nvPr/>
              </p:nvSpPr>
              <p:spPr>
                <a:xfrm>
                  <a:off x="3480173" y="2096928"/>
                  <a:ext cx="257865" cy="252603"/>
                </a:xfrm>
                <a:custGeom>
                  <a:rect b="b" l="l" r="r" t="t"/>
                  <a:pathLst>
                    <a:path extrusionOk="0" h="252603" w="257865">
                      <a:moveTo>
                        <a:pt x="195120" y="15383"/>
                      </a:moveTo>
                      <a:cubicBezTo>
                        <a:pt x="175688" y="4858"/>
                        <a:pt x="154233" y="0"/>
                        <a:pt x="130350" y="0"/>
                      </a:cubicBezTo>
                      <a:cubicBezTo>
                        <a:pt x="106466" y="0"/>
                        <a:pt x="82987" y="5263"/>
                        <a:pt x="63151" y="16193"/>
                      </a:cubicBezTo>
                      <a:cubicBezTo>
                        <a:pt x="43315" y="27122"/>
                        <a:pt x="27932" y="42101"/>
                        <a:pt x="16597" y="61127"/>
                      </a:cubicBezTo>
                      <a:cubicBezTo>
                        <a:pt x="5667" y="80153"/>
                        <a:pt x="0" y="102013"/>
                        <a:pt x="0" y="126302"/>
                      </a:cubicBezTo>
                      <a:cubicBezTo>
                        <a:pt x="0" y="150590"/>
                        <a:pt x="5667" y="172450"/>
                        <a:pt x="17407" y="191072"/>
                      </a:cubicBezTo>
                      <a:cubicBezTo>
                        <a:pt x="29147" y="210098"/>
                        <a:pt x="45339" y="225076"/>
                        <a:pt x="66389" y="236006"/>
                      </a:cubicBezTo>
                      <a:cubicBezTo>
                        <a:pt x="87439" y="246936"/>
                        <a:pt x="111728" y="252603"/>
                        <a:pt x="139660" y="252603"/>
                      </a:cubicBezTo>
                      <a:cubicBezTo>
                        <a:pt x="167592" y="252603"/>
                        <a:pt x="181356" y="249364"/>
                        <a:pt x="198358" y="242483"/>
                      </a:cubicBezTo>
                      <a:cubicBezTo>
                        <a:pt x="215360" y="235601"/>
                        <a:pt x="229529" y="225885"/>
                        <a:pt x="240863" y="212931"/>
                      </a:cubicBezTo>
                      <a:lnTo>
                        <a:pt x="203216" y="172045"/>
                      </a:lnTo>
                      <a:cubicBezTo>
                        <a:pt x="195120" y="180142"/>
                        <a:pt x="185809" y="185809"/>
                        <a:pt x="176093" y="189857"/>
                      </a:cubicBezTo>
                      <a:cubicBezTo>
                        <a:pt x="166378" y="193905"/>
                        <a:pt x="155043" y="195929"/>
                        <a:pt x="142089" y="195929"/>
                      </a:cubicBezTo>
                      <a:cubicBezTo>
                        <a:pt x="129135" y="195929"/>
                        <a:pt x="114562" y="193096"/>
                        <a:pt x="103632" y="187833"/>
                      </a:cubicBezTo>
                      <a:cubicBezTo>
                        <a:pt x="93107" y="182570"/>
                        <a:pt x="84606" y="174879"/>
                        <a:pt x="78533" y="164759"/>
                      </a:cubicBezTo>
                      <a:cubicBezTo>
                        <a:pt x="75295" y="159091"/>
                        <a:pt x="72866" y="153019"/>
                        <a:pt x="71247" y="146542"/>
                      </a:cubicBezTo>
                      <a:lnTo>
                        <a:pt x="256651" y="146542"/>
                      </a:lnTo>
                      <a:cubicBezTo>
                        <a:pt x="256651" y="143708"/>
                        <a:pt x="257056" y="140065"/>
                        <a:pt x="257461" y="136827"/>
                      </a:cubicBezTo>
                      <a:cubicBezTo>
                        <a:pt x="257461" y="133183"/>
                        <a:pt x="257866" y="130350"/>
                        <a:pt x="257866" y="127516"/>
                      </a:cubicBezTo>
                      <a:cubicBezTo>
                        <a:pt x="257866" y="101203"/>
                        <a:pt x="252198" y="78534"/>
                        <a:pt x="240863" y="59507"/>
                      </a:cubicBezTo>
                      <a:cubicBezTo>
                        <a:pt x="229529" y="40481"/>
                        <a:pt x="214146" y="25908"/>
                        <a:pt x="195120" y="15788"/>
                      </a:cubicBezTo>
                      <a:close/>
                      <a:moveTo>
                        <a:pt x="98774" y="61936"/>
                      </a:moveTo>
                      <a:cubicBezTo>
                        <a:pt x="108085" y="56674"/>
                        <a:pt x="118610" y="53840"/>
                        <a:pt x="130754" y="53840"/>
                      </a:cubicBezTo>
                      <a:cubicBezTo>
                        <a:pt x="142899" y="53840"/>
                        <a:pt x="153424" y="56674"/>
                        <a:pt x="162735" y="61936"/>
                      </a:cubicBezTo>
                      <a:cubicBezTo>
                        <a:pt x="172045" y="67199"/>
                        <a:pt x="178927" y="74486"/>
                        <a:pt x="184190" y="84201"/>
                      </a:cubicBezTo>
                      <a:cubicBezTo>
                        <a:pt x="187428" y="90273"/>
                        <a:pt x="189857" y="97560"/>
                        <a:pt x="190667" y="105251"/>
                      </a:cubicBezTo>
                      <a:lnTo>
                        <a:pt x="70033" y="105251"/>
                      </a:lnTo>
                      <a:cubicBezTo>
                        <a:pt x="71247" y="97560"/>
                        <a:pt x="73271" y="90678"/>
                        <a:pt x="76914" y="84606"/>
                      </a:cubicBezTo>
                      <a:cubicBezTo>
                        <a:pt x="82177" y="74890"/>
                        <a:pt x="89463" y="67604"/>
                        <a:pt x="98369" y="6234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62" name="Google Shape;262;p4"/>
                <p:cNvSpPr/>
                <p:nvPr/>
              </p:nvSpPr>
              <p:spPr>
                <a:xfrm>
                  <a:off x="3755040" y="2007465"/>
                  <a:ext cx="71247" cy="338423"/>
                </a:xfrm>
                <a:custGeom>
                  <a:rect b="b" l="l" r="r" t="t"/>
                  <a:pathLst>
                    <a:path extrusionOk="0" h="338423" w="71247">
                      <a:moveTo>
                        <a:pt x="0" y="72461"/>
                      </a:moveTo>
                      <a:lnTo>
                        <a:pt x="0" y="338423"/>
                      </a:lnTo>
                      <a:lnTo>
                        <a:pt x="71247" y="338423"/>
                      </a:lnTo>
                      <a:lnTo>
                        <a:pt x="71247" y="0"/>
                      </a:lnTo>
                      <a:cubicBezTo>
                        <a:pt x="71247" y="0"/>
                        <a:pt x="0" y="0"/>
                        <a:pt x="0" y="7246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63" name="Google Shape;263;p4"/>
                <p:cNvSpPr/>
                <p:nvPr/>
              </p:nvSpPr>
              <p:spPr>
                <a:xfrm>
                  <a:off x="3850576" y="2100572"/>
                  <a:ext cx="71247" cy="245316"/>
                </a:xfrm>
                <a:custGeom>
                  <a:rect b="b" l="l" r="r" t="t"/>
                  <a:pathLst>
                    <a:path extrusionOk="0" h="245316" w="71247">
                      <a:moveTo>
                        <a:pt x="0" y="0"/>
                      </a:moveTo>
                      <a:lnTo>
                        <a:pt x="71247" y="0"/>
                      </a:lnTo>
                      <a:lnTo>
                        <a:pt x="71247" y="245316"/>
                      </a:lnTo>
                      <a:lnTo>
                        <a:pt x="0" y="24531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64" name="Google Shape;264;p4"/>
                <p:cNvSpPr/>
                <p:nvPr/>
              </p:nvSpPr>
              <p:spPr>
                <a:xfrm>
                  <a:off x="3940040" y="2096928"/>
                  <a:ext cx="269200" cy="252603"/>
                </a:xfrm>
                <a:custGeom>
                  <a:rect b="b" l="l" r="r" t="t"/>
                  <a:pathLst>
                    <a:path extrusionOk="0" h="252603" w="269200">
                      <a:moveTo>
                        <a:pt x="251793" y="60722"/>
                      </a:moveTo>
                      <a:cubicBezTo>
                        <a:pt x="240054" y="41696"/>
                        <a:pt x="224266" y="26718"/>
                        <a:pt x="204026" y="16193"/>
                      </a:cubicBezTo>
                      <a:cubicBezTo>
                        <a:pt x="183785" y="5263"/>
                        <a:pt x="160306" y="0"/>
                        <a:pt x="134398" y="0"/>
                      </a:cubicBezTo>
                      <a:cubicBezTo>
                        <a:pt x="108490" y="0"/>
                        <a:pt x="85416" y="5263"/>
                        <a:pt x="65175" y="16193"/>
                      </a:cubicBezTo>
                      <a:cubicBezTo>
                        <a:pt x="44934" y="27122"/>
                        <a:pt x="29147" y="41696"/>
                        <a:pt x="17407" y="60722"/>
                      </a:cubicBezTo>
                      <a:cubicBezTo>
                        <a:pt x="5667" y="79748"/>
                        <a:pt x="0" y="101608"/>
                        <a:pt x="0" y="126302"/>
                      </a:cubicBezTo>
                      <a:cubicBezTo>
                        <a:pt x="0" y="150995"/>
                        <a:pt x="5667" y="172450"/>
                        <a:pt x="17407" y="191072"/>
                      </a:cubicBezTo>
                      <a:cubicBezTo>
                        <a:pt x="29147" y="210098"/>
                        <a:pt x="44934" y="225076"/>
                        <a:pt x="65175" y="236006"/>
                      </a:cubicBezTo>
                      <a:cubicBezTo>
                        <a:pt x="85416" y="246936"/>
                        <a:pt x="108490" y="252603"/>
                        <a:pt x="134398" y="252603"/>
                      </a:cubicBezTo>
                      <a:cubicBezTo>
                        <a:pt x="160306" y="252603"/>
                        <a:pt x="183785" y="246936"/>
                        <a:pt x="204026" y="236006"/>
                      </a:cubicBezTo>
                      <a:cubicBezTo>
                        <a:pt x="224266" y="225076"/>
                        <a:pt x="240458" y="210098"/>
                        <a:pt x="251793" y="191476"/>
                      </a:cubicBezTo>
                      <a:cubicBezTo>
                        <a:pt x="263533" y="172450"/>
                        <a:pt x="269201" y="150995"/>
                        <a:pt x="269201" y="126302"/>
                      </a:cubicBezTo>
                      <a:cubicBezTo>
                        <a:pt x="269201" y="101608"/>
                        <a:pt x="263533" y="79748"/>
                        <a:pt x="251793" y="60722"/>
                      </a:cubicBezTo>
                      <a:close/>
                      <a:moveTo>
                        <a:pt x="188643" y="162735"/>
                      </a:moveTo>
                      <a:cubicBezTo>
                        <a:pt x="182975" y="173260"/>
                        <a:pt x="175689" y="180951"/>
                        <a:pt x="166378" y="186214"/>
                      </a:cubicBezTo>
                      <a:cubicBezTo>
                        <a:pt x="157067" y="191476"/>
                        <a:pt x="146542" y="194310"/>
                        <a:pt x="134398" y="194310"/>
                      </a:cubicBezTo>
                      <a:cubicBezTo>
                        <a:pt x="122253" y="194310"/>
                        <a:pt x="112538" y="191476"/>
                        <a:pt x="102822" y="186214"/>
                      </a:cubicBezTo>
                      <a:cubicBezTo>
                        <a:pt x="93512" y="180951"/>
                        <a:pt x="85820" y="173260"/>
                        <a:pt x="80153" y="162735"/>
                      </a:cubicBezTo>
                      <a:cubicBezTo>
                        <a:pt x="74486" y="152209"/>
                        <a:pt x="71652" y="140065"/>
                        <a:pt x="71652" y="126302"/>
                      </a:cubicBezTo>
                      <a:cubicBezTo>
                        <a:pt x="71652" y="112538"/>
                        <a:pt x="74486" y="99989"/>
                        <a:pt x="80153" y="89868"/>
                      </a:cubicBezTo>
                      <a:cubicBezTo>
                        <a:pt x="85820" y="79748"/>
                        <a:pt x="93107" y="72057"/>
                        <a:pt x="102822" y="66794"/>
                      </a:cubicBezTo>
                      <a:cubicBezTo>
                        <a:pt x="112133" y="61532"/>
                        <a:pt x="123063" y="58698"/>
                        <a:pt x="134803" y="58698"/>
                      </a:cubicBezTo>
                      <a:cubicBezTo>
                        <a:pt x="146542" y="58698"/>
                        <a:pt x="157067" y="61532"/>
                        <a:pt x="166378" y="66794"/>
                      </a:cubicBezTo>
                      <a:cubicBezTo>
                        <a:pt x="175689" y="72057"/>
                        <a:pt x="182975" y="79748"/>
                        <a:pt x="188643" y="89868"/>
                      </a:cubicBezTo>
                      <a:cubicBezTo>
                        <a:pt x="194310" y="99989"/>
                        <a:pt x="197144" y="112133"/>
                        <a:pt x="197144" y="126302"/>
                      </a:cubicBezTo>
                      <a:cubicBezTo>
                        <a:pt x="197144" y="140470"/>
                        <a:pt x="194310" y="152614"/>
                        <a:pt x="188643" y="16273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grpSp>
          <p:sp>
            <p:nvSpPr>
              <p:cNvPr id="265" name="Google Shape;265;p4"/>
              <p:cNvSpPr/>
              <p:nvPr/>
            </p:nvSpPr>
            <p:spPr>
              <a:xfrm>
                <a:off x="2221496" y="4962020"/>
                <a:ext cx="956624" cy="956624"/>
              </a:xfrm>
              <a:custGeom>
                <a:rect b="b" l="l" r="r" t="t"/>
                <a:pathLst>
                  <a:path extrusionOk="0" h="552164" w="552164">
                    <a:moveTo>
                      <a:pt x="276082" y="552164"/>
                    </a:moveTo>
                    <a:cubicBezTo>
                      <a:pt x="276082" y="399550"/>
                      <a:pt x="399550" y="276082"/>
                      <a:pt x="552164" y="276082"/>
                    </a:cubicBezTo>
                    <a:cubicBezTo>
                      <a:pt x="399550" y="276082"/>
                      <a:pt x="276082" y="152614"/>
                      <a:pt x="276082" y="0"/>
                    </a:cubicBezTo>
                    <a:lnTo>
                      <a:pt x="276082" y="0"/>
                    </a:lnTo>
                    <a:cubicBezTo>
                      <a:pt x="276082" y="152614"/>
                      <a:pt x="152614" y="276082"/>
                      <a:pt x="0" y="276082"/>
                    </a:cubicBezTo>
                    <a:lnTo>
                      <a:pt x="0" y="276082"/>
                    </a:lnTo>
                    <a:cubicBezTo>
                      <a:pt x="152614" y="276082"/>
                      <a:pt x="276082" y="399550"/>
                      <a:pt x="276082" y="552164"/>
                    </a:cubicBezTo>
                    <a:lnTo>
                      <a:pt x="276082" y="552164"/>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266" name="Google Shape;266;p4"/>
              <p:cNvSpPr/>
              <p:nvPr/>
            </p:nvSpPr>
            <p:spPr>
              <a:xfrm>
                <a:off x="2416364" y="5334933"/>
                <a:ext cx="130449" cy="211102"/>
              </a:xfrm>
              <a:custGeom>
                <a:rect b="b" l="l" r="r" t="t"/>
                <a:pathLst>
                  <a:path extrusionOk="0" h="121848" w="75295">
                    <a:moveTo>
                      <a:pt x="3238" y="60722"/>
                    </a:moveTo>
                    <a:cubicBezTo>
                      <a:pt x="3238" y="69628"/>
                      <a:pt x="2024" y="77724"/>
                      <a:pt x="0" y="85011"/>
                    </a:cubicBezTo>
                    <a:cubicBezTo>
                      <a:pt x="21860" y="94726"/>
                      <a:pt x="42100" y="107275"/>
                      <a:pt x="60317" y="121848"/>
                    </a:cubicBezTo>
                    <a:cubicBezTo>
                      <a:pt x="70437" y="104037"/>
                      <a:pt x="75295" y="83391"/>
                      <a:pt x="75295" y="60722"/>
                    </a:cubicBezTo>
                    <a:cubicBezTo>
                      <a:pt x="75295" y="38052"/>
                      <a:pt x="70437" y="17812"/>
                      <a:pt x="60722" y="0"/>
                    </a:cubicBezTo>
                    <a:cubicBezTo>
                      <a:pt x="42505" y="14978"/>
                      <a:pt x="22264" y="27122"/>
                      <a:pt x="405" y="37243"/>
                    </a:cubicBezTo>
                    <a:cubicBezTo>
                      <a:pt x="2429" y="44529"/>
                      <a:pt x="3643" y="52221"/>
                      <a:pt x="3643" y="61127"/>
                    </a:cubicBezTo>
                    <a:close/>
                  </a:path>
                </a:pathLst>
              </a:custGeom>
              <a:solidFill>
                <a:srgbClr val="C9FEE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grpSp>
        <p:sp>
          <p:nvSpPr>
            <p:cNvPr id="267" name="Google Shape;267;p4"/>
            <p:cNvSpPr txBox="1"/>
            <p:nvPr/>
          </p:nvSpPr>
          <p:spPr>
            <a:xfrm>
              <a:off x="6449271" y="5186061"/>
              <a:ext cx="1399800" cy="236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1F475"/>
                </a:buClr>
                <a:buSzPts val="700"/>
                <a:buFont typeface="Montserrat"/>
                <a:buNone/>
              </a:pPr>
              <a:r>
                <a:rPr b="0" i="0" lang="en" sz="700" u="none" cap="none" strike="noStrike">
                  <a:solidFill>
                    <a:srgbClr val="01F475"/>
                  </a:solidFill>
                  <a:latin typeface="Montserrat"/>
                  <a:ea typeface="Montserrat"/>
                  <a:cs typeface="Montserrat"/>
                  <a:sym typeface="Montserrat"/>
                </a:rPr>
                <a:t>POWERED BY</a:t>
              </a:r>
              <a:endParaRPr b="0" i="0" sz="1100" u="none" cap="none" strike="noStrike">
                <a:solidFill>
                  <a:srgbClr val="000000"/>
                </a:solidFill>
                <a:latin typeface="Arial"/>
                <a:ea typeface="Arial"/>
                <a:cs typeface="Arial"/>
                <a:sym typeface="Arial"/>
              </a:endParaRPr>
            </a:p>
          </p:txBody>
        </p:sp>
      </p:grpSp>
      <p:sp>
        <p:nvSpPr>
          <p:cNvPr id="268" name="Google Shape;268;p4"/>
          <p:cNvSpPr/>
          <p:nvPr/>
        </p:nvSpPr>
        <p:spPr>
          <a:xfrm>
            <a:off x="3214762" y="1529920"/>
            <a:ext cx="471459" cy="471459"/>
          </a:xfrm>
          <a:custGeom>
            <a:rect b="b" l="l" r="r" t="t"/>
            <a:pathLst>
              <a:path extrusionOk="0" h="967096" w="967096">
                <a:moveTo>
                  <a:pt x="128189" y="369818"/>
                </a:moveTo>
                <a:lnTo>
                  <a:pt x="369818" y="369818"/>
                </a:lnTo>
                <a:lnTo>
                  <a:pt x="369818" y="128189"/>
                </a:lnTo>
                <a:lnTo>
                  <a:pt x="597278" y="128189"/>
                </a:lnTo>
                <a:lnTo>
                  <a:pt x="597278" y="369818"/>
                </a:lnTo>
                <a:lnTo>
                  <a:pt x="838907" y="369818"/>
                </a:lnTo>
                <a:lnTo>
                  <a:pt x="838907" y="597278"/>
                </a:lnTo>
                <a:lnTo>
                  <a:pt x="597278" y="597278"/>
                </a:lnTo>
                <a:lnTo>
                  <a:pt x="597278" y="838907"/>
                </a:lnTo>
                <a:lnTo>
                  <a:pt x="369818" y="838907"/>
                </a:lnTo>
                <a:lnTo>
                  <a:pt x="369818" y="597278"/>
                </a:lnTo>
                <a:lnTo>
                  <a:pt x="128189" y="597278"/>
                </a:lnTo>
                <a:lnTo>
                  <a:pt x="128189" y="369818"/>
                </a:lnTo>
                <a:close/>
              </a:path>
            </a:pathLst>
          </a:custGeom>
          <a:solidFill>
            <a:schemeClr val="lt2"/>
          </a:solidFill>
          <a:ln>
            <a:noFill/>
          </a:ln>
        </p:spPr>
        <p:txBody>
          <a:bodyPr anchorCtr="0" anchor="ctr" bIns="277350" lIns="96125" spcFirstLastPara="1" rIns="96125" wrap="square" tIns="277350">
            <a:noAutofit/>
          </a:bodyPr>
          <a:lstStyle/>
          <a:p>
            <a:pPr indent="0" lvl="0" marL="0" marR="0" rtl="0" algn="ctr">
              <a:lnSpc>
                <a:spcPct val="9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69" name="Google Shape;269;p4"/>
          <p:cNvSpPr/>
          <p:nvPr/>
        </p:nvSpPr>
        <p:spPr>
          <a:xfrm>
            <a:off x="3208857" y="3038680"/>
            <a:ext cx="471459" cy="471459"/>
          </a:xfrm>
          <a:custGeom>
            <a:rect b="b" l="l" r="r" t="t"/>
            <a:pathLst>
              <a:path extrusionOk="0" h="967096" w="967096">
                <a:moveTo>
                  <a:pt x="128189" y="369818"/>
                </a:moveTo>
                <a:lnTo>
                  <a:pt x="369818" y="369818"/>
                </a:lnTo>
                <a:lnTo>
                  <a:pt x="369818" y="128189"/>
                </a:lnTo>
                <a:lnTo>
                  <a:pt x="597278" y="128189"/>
                </a:lnTo>
                <a:lnTo>
                  <a:pt x="597278" y="369818"/>
                </a:lnTo>
                <a:lnTo>
                  <a:pt x="838907" y="369818"/>
                </a:lnTo>
                <a:lnTo>
                  <a:pt x="838907" y="597278"/>
                </a:lnTo>
                <a:lnTo>
                  <a:pt x="597278" y="597278"/>
                </a:lnTo>
                <a:lnTo>
                  <a:pt x="597278" y="838907"/>
                </a:lnTo>
                <a:lnTo>
                  <a:pt x="369818" y="838907"/>
                </a:lnTo>
                <a:lnTo>
                  <a:pt x="369818" y="597278"/>
                </a:lnTo>
                <a:lnTo>
                  <a:pt x="128189" y="597278"/>
                </a:lnTo>
                <a:lnTo>
                  <a:pt x="128189" y="369818"/>
                </a:lnTo>
                <a:close/>
              </a:path>
            </a:pathLst>
          </a:custGeom>
          <a:solidFill>
            <a:schemeClr val="lt2"/>
          </a:solidFill>
          <a:ln>
            <a:noFill/>
          </a:ln>
        </p:spPr>
        <p:txBody>
          <a:bodyPr anchorCtr="0" anchor="ctr" bIns="277350" lIns="96125" spcFirstLastPara="1" rIns="96125" wrap="square" tIns="277350">
            <a:noAutofit/>
          </a:bodyPr>
          <a:lstStyle/>
          <a:p>
            <a:pPr indent="0" lvl="0" marL="0" marR="0" rtl="0" algn="ctr">
              <a:lnSpc>
                <a:spcPct val="9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500"/>
                                        <p:tgtEl>
                                          <p:spTgt spid="23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animEffect filter="fade" transition="in">
                                      <p:cBhvr>
                                        <p:cTn dur="500"/>
                                        <p:tgtEl>
                                          <p:spTgt spid="24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par>
                                <p:cTn fill="hold" nodeType="with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Effect filter="fade" transition="in">
                                      <p:cBhvr>
                                        <p:cTn dur="500"/>
                                        <p:tgtEl>
                                          <p:spTgt spid="240">
                                            <p:txEl>
                                              <p:pRg end="0" st="0"/>
                                            </p:txEl>
                                          </p:spTgt>
                                        </p:tgtEl>
                                      </p:cBhvr>
                                    </p:animEffect>
                                  </p:childTnLst>
                                </p:cTn>
                              </p:par>
                              <p:par>
                                <p:cTn fill="hold" nodeType="withEffect" presetClass="entr" presetID="2" presetSubtype="2">
                                  <p:stCondLst>
                                    <p:cond delay="200"/>
                                  </p:stCondLst>
                                  <p:childTnLst>
                                    <p:set>
                                      <p:cBhvr>
                                        <p:cTn dur="1" fill="hold">
                                          <p:stCondLst>
                                            <p:cond delay="0"/>
                                          </p:stCondLst>
                                        </p:cTn>
                                        <p:tgtEl>
                                          <p:spTgt spid="244">
                                            <p:txEl>
                                              <p:pRg end="0" st="0"/>
                                            </p:txEl>
                                          </p:spTgt>
                                        </p:tgtEl>
                                        <p:attrNameLst>
                                          <p:attrName>style.visibility</p:attrName>
                                        </p:attrNameLst>
                                      </p:cBhvr>
                                      <p:to>
                                        <p:strVal val="visible"/>
                                      </p:to>
                                    </p:set>
                                    <p:anim calcmode="lin" valueType="num">
                                      <p:cBhvr additive="base">
                                        <p:cTn dur="500"/>
                                        <p:tgtEl>
                                          <p:spTgt spid="24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
          <p:cNvSpPr/>
          <p:nvPr/>
        </p:nvSpPr>
        <p:spPr>
          <a:xfrm flipH="1">
            <a:off x="5880299" y="1"/>
            <a:ext cx="3263700" cy="5143500"/>
          </a:xfrm>
          <a:prstGeom prst="round1Rect">
            <a:avLst>
              <a:gd fmla="val 29577" name="adj"/>
            </a:avLst>
          </a:prstGeom>
          <a:gradFill>
            <a:gsLst>
              <a:gs pos="0">
                <a:schemeClr val="accent2"/>
              </a:gs>
              <a:gs pos="32000">
                <a:schemeClr val="accent2"/>
              </a:gs>
              <a:gs pos="100000">
                <a:schemeClr val="accent1"/>
              </a:gs>
            </a:gsLst>
            <a:lin ang="5400012"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900"/>
              <a:buFont typeface="Arial"/>
              <a:buNone/>
            </a:pPr>
            <a:r>
              <a:t/>
            </a:r>
            <a:endParaRPr b="0" i="0" sz="900" u="none" cap="none" strike="noStrike">
              <a:solidFill>
                <a:schemeClr val="lt1"/>
              </a:solidFill>
              <a:latin typeface="Montserrat"/>
              <a:ea typeface="Montserrat"/>
              <a:cs typeface="Montserrat"/>
              <a:sym typeface="Montserrat"/>
            </a:endParaRPr>
          </a:p>
        </p:txBody>
      </p:sp>
      <p:sp>
        <p:nvSpPr>
          <p:cNvPr id="276" name="Google Shape;276;p5"/>
          <p:cNvSpPr txBox="1"/>
          <p:nvPr>
            <p:ph type="title"/>
          </p:nvPr>
        </p:nvSpPr>
        <p:spPr>
          <a:xfrm>
            <a:off x="480060" y="342900"/>
            <a:ext cx="8125800" cy="7053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dk1"/>
              </a:buClr>
              <a:buSzPts val="2400"/>
              <a:buFont typeface="Montserrat Light"/>
              <a:buNone/>
            </a:pPr>
            <a:r>
              <a:rPr lang="en"/>
              <a:t>We are a global product and </a:t>
            </a:r>
            <a:br>
              <a:rPr lang="en"/>
            </a:br>
            <a:r>
              <a:rPr lang="en"/>
              <a:t>platform engineering company </a:t>
            </a:r>
            <a:br>
              <a:rPr lang="en" sz="2100"/>
            </a:br>
            <a:endParaRPr sz="2100"/>
          </a:p>
        </p:txBody>
      </p:sp>
      <p:grpSp>
        <p:nvGrpSpPr>
          <p:cNvPr id="277" name="Google Shape;277;p5"/>
          <p:cNvGrpSpPr/>
          <p:nvPr/>
        </p:nvGrpSpPr>
        <p:grpSpPr>
          <a:xfrm>
            <a:off x="6127853" y="1289095"/>
            <a:ext cx="2768794" cy="2761329"/>
            <a:chOff x="8059290" y="1588380"/>
            <a:chExt cx="3691725" cy="3681772"/>
          </a:xfrm>
        </p:grpSpPr>
        <p:sp>
          <p:nvSpPr>
            <p:cNvPr id="278" name="Google Shape;278;p5"/>
            <p:cNvSpPr/>
            <p:nvPr/>
          </p:nvSpPr>
          <p:spPr>
            <a:xfrm>
              <a:off x="8059290" y="1588380"/>
              <a:ext cx="3691725" cy="3681772"/>
            </a:xfrm>
            <a:custGeom>
              <a:rect b="b" l="l" r="r" t="t"/>
              <a:pathLst>
                <a:path extrusionOk="0" h="3153552" w="3162077">
                  <a:moveTo>
                    <a:pt x="1580233" y="834694"/>
                  </a:moveTo>
                  <a:lnTo>
                    <a:pt x="1571630" y="932197"/>
                  </a:lnTo>
                  <a:cubicBezTo>
                    <a:pt x="1514732" y="1250729"/>
                    <a:pt x="1267404" y="1503290"/>
                    <a:pt x="951616" y="1567909"/>
                  </a:cubicBezTo>
                  <a:lnTo>
                    <a:pt x="886321" y="1577875"/>
                  </a:lnTo>
                  <a:lnTo>
                    <a:pt x="932197" y="1581922"/>
                  </a:lnTo>
                  <a:cubicBezTo>
                    <a:pt x="1250729" y="1638820"/>
                    <a:pt x="1503290" y="1886148"/>
                    <a:pt x="1567909" y="2201936"/>
                  </a:cubicBezTo>
                  <a:lnTo>
                    <a:pt x="1581039" y="2332175"/>
                  </a:lnTo>
                  <a:lnTo>
                    <a:pt x="1594168" y="2201936"/>
                  </a:lnTo>
                  <a:cubicBezTo>
                    <a:pt x="1658787" y="1886148"/>
                    <a:pt x="1911348" y="1638820"/>
                    <a:pt x="2229880" y="1581922"/>
                  </a:cubicBezTo>
                  <a:lnTo>
                    <a:pt x="2275756" y="1577875"/>
                  </a:lnTo>
                  <a:lnTo>
                    <a:pt x="2210461" y="1567909"/>
                  </a:lnTo>
                  <a:cubicBezTo>
                    <a:pt x="1875339" y="1499333"/>
                    <a:pt x="1617317" y="1219099"/>
                    <a:pt x="1582166" y="872977"/>
                  </a:cubicBezTo>
                  <a:close/>
                  <a:moveTo>
                    <a:pt x="792000" y="0"/>
                  </a:moveTo>
                  <a:cubicBezTo>
                    <a:pt x="1202072" y="0"/>
                    <a:pt x="1539352" y="311651"/>
                    <a:pt x="1579911" y="711023"/>
                  </a:cubicBezTo>
                  <a:lnTo>
                    <a:pt x="1581039" y="733352"/>
                  </a:lnTo>
                  <a:lnTo>
                    <a:pt x="1582166" y="711022"/>
                  </a:lnTo>
                  <a:cubicBezTo>
                    <a:pt x="1622725" y="311651"/>
                    <a:pt x="1960005" y="0"/>
                    <a:pt x="2370077" y="0"/>
                  </a:cubicBezTo>
                  <a:cubicBezTo>
                    <a:pt x="2807487" y="0"/>
                    <a:pt x="3162077" y="354590"/>
                    <a:pt x="3162077" y="792000"/>
                  </a:cubicBezTo>
                  <a:cubicBezTo>
                    <a:pt x="3162077" y="1174734"/>
                    <a:pt x="2890594" y="1494058"/>
                    <a:pt x="2529693" y="1567909"/>
                  </a:cubicBezTo>
                  <a:lnTo>
                    <a:pt x="2471596" y="1576776"/>
                  </a:lnTo>
                  <a:lnTo>
                    <a:pt x="2529693" y="1585643"/>
                  </a:lnTo>
                  <a:cubicBezTo>
                    <a:pt x="2890594" y="1659494"/>
                    <a:pt x="3162077" y="1978818"/>
                    <a:pt x="3162077" y="2361552"/>
                  </a:cubicBezTo>
                  <a:cubicBezTo>
                    <a:pt x="3162077" y="2798962"/>
                    <a:pt x="2807487" y="3153552"/>
                    <a:pt x="2370077" y="3153552"/>
                  </a:cubicBezTo>
                  <a:cubicBezTo>
                    <a:pt x="1987344" y="3153552"/>
                    <a:pt x="1668019" y="2882069"/>
                    <a:pt x="1594168" y="2521168"/>
                  </a:cubicBezTo>
                  <a:lnTo>
                    <a:pt x="1581039" y="2390929"/>
                  </a:lnTo>
                  <a:lnTo>
                    <a:pt x="1567909" y="2521168"/>
                  </a:lnTo>
                  <a:cubicBezTo>
                    <a:pt x="1494058" y="2882069"/>
                    <a:pt x="1174734" y="3153552"/>
                    <a:pt x="792000" y="3153552"/>
                  </a:cubicBezTo>
                  <a:cubicBezTo>
                    <a:pt x="354590" y="3153552"/>
                    <a:pt x="0" y="2798962"/>
                    <a:pt x="0" y="2361552"/>
                  </a:cubicBezTo>
                  <a:cubicBezTo>
                    <a:pt x="0" y="1978818"/>
                    <a:pt x="271483" y="1659494"/>
                    <a:pt x="632384" y="1585643"/>
                  </a:cubicBezTo>
                  <a:lnTo>
                    <a:pt x="690481" y="1576776"/>
                  </a:lnTo>
                  <a:lnTo>
                    <a:pt x="632384" y="1567909"/>
                  </a:lnTo>
                  <a:cubicBezTo>
                    <a:pt x="271483" y="1494058"/>
                    <a:pt x="0" y="1174734"/>
                    <a:pt x="0" y="792000"/>
                  </a:cubicBezTo>
                  <a:cubicBezTo>
                    <a:pt x="0" y="354590"/>
                    <a:pt x="354590" y="0"/>
                    <a:pt x="792000" y="0"/>
                  </a:cubicBezTo>
                  <a:close/>
                </a:path>
              </a:pathLst>
            </a:custGeom>
            <a:solidFill>
              <a:schemeClr val="dk2"/>
            </a:solidFill>
            <a:ln>
              <a:noFill/>
            </a:ln>
            <a:effectLst>
              <a:outerShdw blurRad="190500" sx="102000" rotWithShape="0" algn="ctr" sy="102000">
                <a:srgbClr val="000000">
                  <a:alpha val="20000"/>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lt1"/>
                </a:solidFill>
                <a:latin typeface="Montserrat"/>
                <a:ea typeface="Montserrat"/>
                <a:cs typeface="Montserrat"/>
                <a:sym typeface="Montserrat"/>
              </a:endParaRPr>
            </a:p>
          </p:txBody>
        </p:sp>
        <p:sp>
          <p:nvSpPr>
            <p:cNvPr id="279" name="Google Shape;279;p5"/>
            <p:cNvSpPr txBox="1"/>
            <p:nvPr/>
          </p:nvSpPr>
          <p:spPr>
            <a:xfrm>
              <a:off x="10047727" y="2544642"/>
              <a:ext cx="1629000" cy="467100"/>
            </a:xfrm>
            <a:prstGeom prst="rect">
              <a:avLst/>
            </a:prstGeom>
            <a:noFill/>
            <a:ln>
              <a:noFill/>
            </a:ln>
          </p:spPr>
          <p:txBody>
            <a:bodyPr anchorCtr="0" anchor="t" bIns="0" lIns="0" spcFirstLastPara="1" rIns="0" wrap="square" tIns="0">
              <a:noAutofit/>
            </a:bodyPr>
            <a:lstStyle/>
            <a:p>
              <a:pPr indent="0" lvl="0" marL="0" marR="0" rtl="0" algn="ctr">
                <a:lnSpc>
                  <a:spcPct val="70000"/>
                </a:lnSpc>
                <a:spcBef>
                  <a:spcPts val="0"/>
                </a:spcBef>
                <a:spcAft>
                  <a:spcPts val="0"/>
                </a:spcAft>
                <a:buClr>
                  <a:schemeClr val="lt1"/>
                </a:buClr>
                <a:buSzPts val="2100"/>
                <a:buFont typeface="Arial"/>
                <a:buNone/>
              </a:pPr>
              <a:r>
                <a:rPr b="1" i="0" lang="en" sz="2100" u="none" cap="none" strike="noStrike">
                  <a:solidFill>
                    <a:schemeClr val="lt1"/>
                  </a:solidFill>
                  <a:latin typeface="Montserrat"/>
                  <a:ea typeface="Montserrat"/>
                  <a:cs typeface="Montserrat"/>
                  <a:sym typeface="Montserrat"/>
                </a:rPr>
                <a:t>30,000+</a:t>
              </a:r>
              <a:endParaRPr b="0" i="0" sz="1100" u="none" cap="none" strike="noStrike">
                <a:solidFill>
                  <a:srgbClr val="000000"/>
                </a:solidFill>
                <a:latin typeface="Arial"/>
                <a:ea typeface="Arial"/>
                <a:cs typeface="Arial"/>
                <a:sym typeface="Arial"/>
              </a:endParaRPr>
            </a:p>
            <a:p>
              <a:pPr indent="0" lvl="0" marL="0" marR="0" rtl="0" algn="ctr">
                <a:lnSpc>
                  <a:spcPct val="90000"/>
                </a:lnSpc>
                <a:spcBef>
                  <a:spcPts val="200"/>
                </a:spcBef>
                <a:spcAft>
                  <a:spcPts val="0"/>
                </a:spcAft>
                <a:buClr>
                  <a:schemeClr val="lt1"/>
                </a:buClr>
                <a:buSzPts val="700"/>
                <a:buFont typeface="Arial"/>
                <a:buNone/>
              </a:pPr>
              <a:r>
                <a:rPr b="1" i="0" lang="en" sz="700" u="none" cap="none" strike="noStrike">
                  <a:solidFill>
                    <a:schemeClr val="lt1"/>
                  </a:solidFill>
                  <a:latin typeface="Montserrat SemiBold"/>
                  <a:ea typeface="Montserrat SemiBold"/>
                  <a:cs typeface="Montserrat SemiBold"/>
                  <a:sym typeface="Montserrat SemiBold"/>
                </a:rPr>
                <a:t>World-class</a:t>
              </a:r>
              <a:br>
                <a:rPr b="1" i="0" lang="en" sz="700" u="none" cap="none" strike="noStrike">
                  <a:solidFill>
                    <a:schemeClr val="lt1"/>
                  </a:solidFill>
                  <a:latin typeface="Montserrat SemiBold"/>
                  <a:ea typeface="Montserrat SemiBold"/>
                  <a:cs typeface="Montserrat SemiBold"/>
                  <a:sym typeface="Montserrat SemiBold"/>
                </a:rPr>
              </a:br>
              <a:r>
                <a:rPr b="1" i="0" lang="en" sz="700" u="none" cap="none" strike="noStrike">
                  <a:solidFill>
                    <a:schemeClr val="lt1"/>
                  </a:solidFill>
                  <a:latin typeface="Montserrat SemiBold"/>
                  <a:ea typeface="Montserrat SemiBold"/>
                  <a:cs typeface="Montserrat SemiBold"/>
                  <a:sym typeface="Montserrat SemiBold"/>
                </a:rPr>
                <a:t> professionals</a:t>
              </a:r>
              <a:endParaRPr b="0" i="0" sz="1100" u="none" cap="none" strike="noStrike">
                <a:solidFill>
                  <a:srgbClr val="000000"/>
                </a:solidFill>
                <a:latin typeface="Arial"/>
                <a:ea typeface="Arial"/>
                <a:cs typeface="Arial"/>
                <a:sym typeface="Arial"/>
              </a:endParaRPr>
            </a:p>
          </p:txBody>
        </p:sp>
        <p:cxnSp>
          <p:nvCxnSpPr>
            <p:cNvPr id="280" name="Google Shape;280;p5"/>
            <p:cNvCxnSpPr/>
            <p:nvPr/>
          </p:nvCxnSpPr>
          <p:spPr>
            <a:xfrm>
              <a:off x="8997852" y="2513738"/>
              <a:ext cx="0" cy="498000"/>
            </a:xfrm>
            <a:prstGeom prst="straightConnector1">
              <a:avLst/>
            </a:prstGeom>
            <a:noFill/>
            <a:ln cap="flat" cmpd="sng" w="9525">
              <a:solidFill>
                <a:srgbClr val="9D7EFF"/>
              </a:solidFill>
              <a:prstDash val="solid"/>
              <a:miter lim="80"/>
              <a:headEnd len="sm" w="sm" type="none"/>
              <a:tailEnd len="sm" w="sm" type="none"/>
            </a:ln>
          </p:spPr>
        </p:cxnSp>
        <p:sp>
          <p:nvSpPr>
            <p:cNvPr id="281" name="Google Shape;281;p5"/>
            <p:cNvSpPr txBox="1"/>
            <p:nvPr/>
          </p:nvSpPr>
          <p:spPr>
            <a:xfrm>
              <a:off x="9087407" y="2544642"/>
              <a:ext cx="708300" cy="4671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chemeClr val="lt1"/>
                </a:buClr>
                <a:buSzPts val="2100"/>
                <a:buFont typeface="Arial"/>
                <a:buNone/>
              </a:pPr>
              <a:r>
                <a:rPr b="1" i="0" lang="en" sz="2100" u="none" cap="none" strike="noStrike">
                  <a:solidFill>
                    <a:schemeClr val="lt1"/>
                  </a:solidFill>
                  <a:latin typeface="Montserrat"/>
                  <a:ea typeface="Montserrat"/>
                  <a:cs typeface="Montserrat"/>
                  <a:sym typeface="Montserrat"/>
                </a:rPr>
                <a:t>79</a:t>
              </a:r>
              <a:endParaRPr b="1" i="0" sz="2100" u="none" cap="none" strike="noStrike">
                <a:solidFill>
                  <a:schemeClr val="lt1"/>
                </a:solidFill>
                <a:latin typeface="Montserrat"/>
                <a:ea typeface="Montserrat"/>
                <a:cs typeface="Montserrat"/>
                <a:sym typeface="Montserrat"/>
              </a:endParaRPr>
            </a:p>
            <a:p>
              <a:pPr indent="0" lvl="0" marL="0" marR="0" rtl="0" algn="l">
                <a:lnSpc>
                  <a:spcPct val="90000"/>
                </a:lnSpc>
                <a:spcBef>
                  <a:spcPts val="200"/>
                </a:spcBef>
                <a:spcAft>
                  <a:spcPts val="0"/>
                </a:spcAft>
                <a:buClr>
                  <a:schemeClr val="lt1"/>
                </a:buClr>
                <a:buSzPts val="700"/>
                <a:buFont typeface="Arial"/>
                <a:buNone/>
              </a:pPr>
              <a:r>
                <a:rPr b="1" i="0" lang="en" sz="700" u="none" cap="none" strike="noStrike">
                  <a:solidFill>
                    <a:schemeClr val="lt1"/>
                  </a:solidFill>
                  <a:latin typeface="Montserrat SemiBold"/>
                  <a:ea typeface="Montserrat SemiBold"/>
                  <a:cs typeface="Montserrat SemiBold"/>
                  <a:sym typeface="Montserrat SemiBold"/>
                </a:rPr>
                <a:t>Locations</a:t>
              </a:r>
              <a:endParaRPr b="1" i="0" sz="700" u="none" cap="none" strike="noStrike">
                <a:solidFill>
                  <a:schemeClr val="lt1"/>
                </a:solidFill>
                <a:latin typeface="Montserrat SemiBold"/>
                <a:ea typeface="Montserrat SemiBold"/>
                <a:cs typeface="Montserrat SemiBold"/>
                <a:sym typeface="Montserrat SemiBold"/>
              </a:endParaRPr>
            </a:p>
          </p:txBody>
        </p:sp>
        <p:sp>
          <p:nvSpPr>
            <p:cNvPr id="282" name="Google Shape;282;p5"/>
            <p:cNvSpPr txBox="1"/>
            <p:nvPr/>
          </p:nvSpPr>
          <p:spPr>
            <a:xfrm>
              <a:off x="8246069" y="2544636"/>
              <a:ext cx="628800" cy="467100"/>
            </a:xfrm>
            <a:prstGeom prst="rect">
              <a:avLst/>
            </a:prstGeom>
            <a:noFill/>
            <a:ln>
              <a:noFill/>
            </a:ln>
          </p:spPr>
          <p:txBody>
            <a:bodyPr anchorCtr="0" anchor="t" bIns="0" lIns="0" spcFirstLastPara="1" rIns="0" wrap="square" tIns="0">
              <a:noAutofit/>
            </a:bodyPr>
            <a:lstStyle/>
            <a:p>
              <a:pPr indent="0" lvl="0" marL="0" marR="0" rtl="0" algn="r">
                <a:lnSpc>
                  <a:spcPct val="70000"/>
                </a:lnSpc>
                <a:spcBef>
                  <a:spcPts val="0"/>
                </a:spcBef>
                <a:spcAft>
                  <a:spcPts val="0"/>
                </a:spcAft>
                <a:buClr>
                  <a:schemeClr val="lt1"/>
                </a:buClr>
                <a:buSzPts val="2100"/>
                <a:buFont typeface="Arial"/>
                <a:buNone/>
              </a:pPr>
              <a:r>
                <a:rPr b="1" i="0" lang="en" sz="2100" u="none" cap="none" strike="noStrike">
                  <a:solidFill>
                    <a:schemeClr val="lt1"/>
                  </a:solidFill>
                  <a:latin typeface="Montserrat"/>
                  <a:ea typeface="Montserrat"/>
                  <a:cs typeface="Montserrat"/>
                  <a:sym typeface="Montserrat"/>
                </a:rPr>
                <a:t>34</a:t>
              </a:r>
              <a:endParaRPr b="1" i="0" sz="2100" u="none" cap="none" strike="noStrike">
                <a:solidFill>
                  <a:schemeClr val="lt1"/>
                </a:solidFill>
                <a:latin typeface="Montserrat"/>
                <a:ea typeface="Montserrat"/>
                <a:cs typeface="Montserrat"/>
                <a:sym typeface="Montserrat"/>
              </a:endParaRPr>
            </a:p>
            <a:p>
              <a:pPr indent="0" lvl="0" marL="0" marR="0" rtl="0" algn="r">
                <a:lnSpc>
                  <a:spcPct val="90000"/>
                </a:lnSpc>
                <a:spcBef>
                  <a:spcPts val="200"/>
                </a:spcBef>
                <a:spcAft>
                  <a:spcPts val="0"/>
                </a:spcAft>
                <a:buClr>
                  <a:schemeClr val="lt1"/>
                </a:buClr>
                <a:buSzPts val="700"/>
                <a:buFont typeface="Arial"/>
                <a:buNone/>
              </a:pPr>
              <a:r>
                <a:rPr b="1" i="0" lang="en" sz="700" u="none" cap="none" strike="noStrike">
                  <a:solidFill>
                    <a:schemeClr val="lt1"/>
                  </a:solidFill>
                  <a:latin typeface="Montserrat SemiBold"/>
                  <a:ea typeface="Montserrat SemiBold"/>
                  <a:cs typeface="Montserrat SemiBold"/>
                  <a:sym typeface="Montserrat SemiBold"/>
                </a:rPr>
                <a:t>Countries</a:t>
              </a:r>
              <a:endParaRPr b="1" i="0" sz="700" u="none" cap="none" strike="noStrike">
                <a:solidFill>
                  <a:schemeClr val="lt1"/>
                </a:solidFill>
                <a:latin typeface="Montserrat SemiBold"/>
                <a:ea typeface="Montserrat SemiBold"/>
                <a:cs typeface="Montserrat SemiBold"/>
                <a:sym typeface="Montserrat SemiBold"/>
              </a:endParaRPr>
            </a:p>
          </p:txBody>
        </p:sp>
        <p:sp>
          <p:nvSpPr>
            <p:cNvPr id="283" name="Google Shape;283;p5"/>
            <p:cNvSpPr txBox="1"/>
            <p:nvPr/>
          </p:nvSpPr>
          <p:spPr>
            <a:xfrm>
              <a:off x="10299814" y="4293946"/>
              <a:ext cx="994500" cy="467100"/>
            </a:xfrm>
            <a:prstGeom prst="rect">
              <a:avLst/>
            </a:prstGeom>
            <a:noFill/>
            <a:ln>
              <a:noFill/>
            </a:ln>
          </p:spPr>
          <p:txBody>
            <a:bodyPr anchorCtr="0" anchor="t" bIns="0" lIns="0" spcFirstLastPara="1" rIns="0" wrap="square" tIns="0">
              <a:noAutofit/>
            </a:bodyPr>
            <a:lstStyle/>
            <a:p>
              <a:pPr indent="0" lvl="0" marL="0" marR="0" rtl="0" algn="ctr">
                <a:lnSpc>
                  <a:spcPct val="70000"/>
                </a:lnSpc>
                <a:spcBef>
                  <a:spcPts val="0"/>
                </a:spcBef>
                <a:spcAft>
                  <a:spcPts val="0"/>
                </a:spcAft>
                <a:buClr>
                  <a:schemeClr val="lt1"/>
                </a:buClr>
                <a:buSzPts val="2100"/>
                <a:buFont typeface="Arial"/>
                <a:buNone/>
              </a:pPr>
              <a:r>
                <a:rPr b="1" i="0" lang="en" sz="2100" u="none" cap="none" strike="noStrike">
                  <a:solidFill>
                    <a:schemeClr val="lt1"/>
                  </a:solidFill>
                  <a:latin typeface="Montserrat"/>
                  <a:ea typeface="Montserrat"/>
                  <a:cs typeface="Montserrat"/>
                  <a:sym typeface="Montserrat"/>
                </a:rPr>
                <a:t>2B</a:t>
              </a:r>
              <a:endParaRPr b="0" i="0" sz="1100" u="none" cap="none" strike="noStrike">
                <a:solidFill>
                  <a:srgbClr val="000000"/>
                </a:solidFill>
                <a:latin typeface="Arial"/>
                <a:ea typeface="Arial"/>
                <a:cs typeface="Arial"/>
                <a:sym typeface="Arial"/>
              </a:endParaRPr>
            </a:p>
            <a:p>
              <a:pPr indent="0" lvl="0" marL="0" marR="0" rtl="0" algn="ctr">
                <a:lnSpc>
                  <a:spcPct val="90000"/>
                </a:lnSpc>
                <a:spcBef>
                  <a:spcPts val="200"/>
                </a:spcBef>
                <a:spcAft>
                  <a:spcPts val="0"/>
                </a:spcAft>
                <a:buClr>
                  <a:schemeClr val="lt1"/>
                </a:buClr>
                <a:buSzPts val="700"/>
                <a:buFont typeface="Arial"/>
                <a:buNone/>
              </a:pPr>
              <a:r>
                <a:rPr b="1" i="0" lang="en" sz="700" u="none" cap="none" strike="noStrike">
                  <a:solidFill>
                    <a:schemeClr val="lt1"/>
                  </a:solidFill>
                  <a:latin typeface="Montserrat SemiBold"/>
                  <a:ea typeface="Montserrat SemiBold"/>
                  <a:cs typeface="Montserrat SemiBold"/>
                  <a:sym typeface="Montserrat SemiBold"/>
                </a:rPr>
                <a:t>Average  annual revenue (USD)</a:t>
              </a:r>
              <a:endParaRPr b="1" i="0" sz="700" u="none" cap="none" strike="noStrike">
                <a:solidFill>
                  <a:schemeClr val="lt1"/>
                </a:solidFill>
                <a:latin typeface="Montserrat SemiBold"/>
                <a:ea typeface="Montserrat SemiBold"/>
                <a:cs typeface="Montserrat SemiBold"/>
                <a:sym typeface="Montserrat SemiBold"/>
              </a:endParaRPr>
            </a:p>
          </p:txBody>
        </p:sp>
        <p:sp>
          <p:nvSpPr>
            <p:cNvPr id="284" name="Google Shape;284;p5"/>
            <p:cNvSpPr txBox="1"/>
            <p:nvPr/>
          </p:nvSpPr>
          <p:spPr>
            <a:xfrm>
              <a:off x="8500619" y="4293946"/>
              <a:ext cx="994500" cy="467100"/>
            </a:xfrm>
            <a:prstGeom prst="rect">
              <a:avLst/>
            </a:prstGeom>
            <a:noFill/>
            <a:ln>
              <a:noFill/>
            </a:ln>
          </p:spPr>
          <p:txBody>
            <a:bodyPr anchorCtr="0" anchor="t" bIns="0" lIns="0" spcFirstLastPara="1" rIns="0" wrap="square" tIns="0">
              <a:noAutofit/>
            </a:bodyPr>
            <a:lstStyle/>
            <a:p>
              <a:pPr indent="0" lvl="0" marL="0" marR="0" rtl="0" algn="ctr">
                <a:lnSpc>
                  <a:spcPct val="70000"/>
                </a:lnSpc>
                <a:spcBef>
                  <a:spcPts val="0"/>
                </a:spcBef>
                <a:spcAft>
                  <a:spcPts val="0"/>
                </a:spcAft>
                <a:buClr>
                  <a:schemeClr val="lt1"/>
                </a:buClr>
                <a:buSzPts val="2100"/>
                <a:buFont typeface="Arial"/>
                <a:buNone/>
              </a:pPr>
              <a:r>
                <a:rPr b="1" i="0" lang="en" sz="2100" u="none" cap="none" strike="noStrike">
                  <a:solidFill>
                    <a:schemeClr val="lt1"/>
                  </a:solidFill>
                  <a:latin typeface="Montserrat"/>
                  <a:ea typeface="Montserrat"/>
                  <a:cs typeface="Montserrat"/>
                  <a:sym typeface="Montserrat"/>
                </a:rPr>
                <a:t>300+</a:t>
              </a:r>
              <a:endParaRPr b="0" i="0" sz="1100" u="none" cap="none" strike="noStrike">
                <a:solidFill>
                  <a:srgbClr val="000000"/>
                </a:solidFill>
                <a:latin typeface="Arial"/>
                <a:ea typeface="Arial"/>
                <a:cs typeface="Arial"/>
                <a:sym typeface="Arial"/>
              </a:endParaRPr>
            </a:p>
            <a:p>
              <a:pPr indent="0" lvl="0" marL="0" marR="0" rtl="0" algn="ctr">
                <a:lnSpc>
                  <a:spcPct val="70000"/>
                </a:lnSpc>
                <a:spcBef>
                  <a:spcPts val="200"/>
                </a:spcBef>
                <a:spcAft>
                  <a:spcPts val="0"/>
                </a:spcAft>
                <a:buClr>
                  <a:schemeClr val="lt1"/>
                </a:buClr>
                <a:buSzPts val="700"/>
                <a:buFont typeface="Arial"/>
                <a:buNone/>
              </a:pPr>
              <a:r>
                <a:rPr b="1" i="0" lang="en" sz="700" u="none" cap="none" strike="noStrike">
                  <a:solidFill>
                    <a:schemeClr val="lt1"/>
                  </a:solidFill>
                  <a:latin typeface="Montserrat SemiBold"/>
                  <a:ea typeface="Montserrat SemiBold"/>
                  <a:cs typeface="Montserrat SemiBold"/>
                  <a:sym typeface="Montserrat SemiBold"/>
                </a:rPr>
                <a:t>Clients</a:t>
              </a:r>
              <a:endParaRPr b="0" i="0" sz="1100" u="none" cap="none" strike="noStrike">
                <a:solidFill>
                  <a:srgbClr val="000000"/>
                </a:solidFill>
                <a:latin typeface="Arial"/>
                <a:ea typeface="Arial"/>
                <a:cs typeface="Arial"/>
                <a:sym typeface="Arial"/>
              </a:endParaRPr>
            </a:p>
          </p:txBody>
        </p:sp>
        <p:sp>
          <p:nvSpPr>
            <p:cNvPr id="285" name="Google Shape;285;p5"/>
            <p:cNvSpPr/>
            <p:nvPr/>
          </p:nvSpPr>
          <p:spPr>
            <a:xfrm>
              <a:off x="10676319" y="3771759"/>
              <a:ext cx="246850" cy="417748"/>
            </a:xfrm>
            <a:custGeom>
              <a:rect b="b" l="l" r="r" t="t"/>
              <a:pathLst>
                <a:path extrusionOk="0" h="243585" w="143936">
                  <a:moveTo>
                    <a:pt x="75044" y="109490"/>
                  </a:moveTo>
                  <a:cubicBezTo>
                    <a:pt x="44288" y="100879"/>
                    <a:pt x="24605" y="94727"/>
                    <a:pt x="24605" y="79965"/>
                  </a:cubicBezTo>
                  <a:cubicBezTo>
                    <a:pt x="24605" y="63972"/>
                    <a:pt x="45519" y="50439"/>
                    <a:pt x="71353" y="50439"/>
                  </a:cubicBezTo>
                  <a:cubicBezTo>
                    <a:pt x="97188" y="50439"/>
                    <a:pt x="118102" y="63972"/>
                    <a:pt x="118102" y="79965"/>
                  </a:cubicBezTo>
                  <a:cubicBezTo>
                    <a:pt x="118102" y="87346"/>
                    <a:pt x="124253" y="92267"/>
                    <a:pt x="130404" y="92267"/>
                  </a:cubicBezTo>
                  <a:cubicBezTo>
                    <a:pt x="136555" y="92267"/>
                    <a:pt x="142706" y="86116"/>
                    <a:pt x="142706" y="79965"/>
                  </a:cubicBezTo>
                  <a:cubicBezTo>
                    <a:pt x="142706" y="52900"/>
                    <a:pt x="118102" y="30756"/>
                    <a:pt x="83655" y="25835"/>
                  </a:cubicBezTo>
                  <a:lnTo>
                    <a:pt x="83655" y="12302"/>
                  </a:lnTo>
                  <a:cubicBezTo>
                    <a:pt x="83655" y="4921"/>
                    <a:pt x="77504" y="0"/>
                    <a:pt x="71353" y="0"/>
                  </a:cubicBezTo>
                  <a:cubicBezTo>
                    <a:pt x="63972" y="0"/>
                    <a:pt x="59051" y="6151"/>
                    <a:pt x="59051" y="12302"/>
                  </a:cubicBezTo>
                  <a:lnTo>
                    <a:pt x="59051" y="25835"/>
                  </a:lnTo>
                  <a:cubicBezTo>
                    <a:pt x="24605" y="30756"/>
                    <a:pt x="0" y="52900"/>
                    <a:pt x="0" y="79965"/>
                  </a:cubicBezTo>
                  <a:cubicBezTo>
                    <a:pt x="0" y="116872"/>
                    <a:pt x="38137" y="126713"/>
                    <a:pt x="68893" y="134095"/>
                  </a:cubicBezTo>
                  <a:cubicBezTo>
                    <a:pt x="99648" y="142706"/>
                    <a:pt x="119332" y="148857"/>
                    <a:pt x="119332" y="163620"/>
                  </a:cubicBezTo>
                  <a:cubicBezTo>
                    <a:pt x="119332" y="179613"/>
                    <a:pt x="98418" y="193146"/>
                    <a:pt x="72583" y="193146"/>
                  </a:cubicBezTo>
                  <a:cubicBezTo>
                    <a:pt x="46748" y="193146"/>
                    <a:pt x="25835" y="179613"/>
                    <a:pt x="25835" y="163620"/>
                  </a:cubicBezTo>
                  <a:cubicBezTo>
                    <a:pt x="25835" y="156239"/>
                    <a:pt x="19684" y="151318"/>
                    <a:pt x="13533" y="151318"/>
                  </a:cubicBezTo>
                  <a:cubicBezTo>
                    <a:pt x="6151" y="151318"/>
                    <a:pt x="1230" y="157469"/>
                    <a:pt x="1230" y="163620"/>
                  </a:cubicBezTo>
                  <a:cubicBezTo>
                    <a:pt x="1230" y="190685"/>
                    <a:pt x="25835" y="212829"/>
                    <a:pt x="60281" y="217750"/>
                  </a:cubicBezTo>
                  <a:lnTo>
                    <a:pt x="60281" y="231283"/>
                  </a:lnTo>
                  <a:cubicBezTo>
                    <a:pt x="60281" y="238664"/>
                    <a:pt x="66432" y="243585"/>
                    <a:pt x="72583" y="243585"/>
                  </a:cubicBezTo>
                  <a:cubicBezTo>
                    <a:pt x="79965" y="243585"/>
                    <a:pt x="84886" y="237434"/>
                    <a:pt x="84886" y="231283"/>
                  </a:cubicBezTo>
                  <a:lnTo>
                    <a:pt x="84886" y="217750"/>
                  </a:lnTo>
                  <a:cubicBezTo>
                    <a:pt x="119332" y="212829"/>
                    <a:pt x="143937" y="190685"/>
                    <a:pt x="143937" y="163620"/>
                  </a:cubicBezTo>
                  <a:cubicBezTo>
                    <a:pt x="143937" y="127944"/>
                    <a:pt x="105800" y="118102"/>
                    <a:pt x="75044" y="109490"/>
                  </a:cubicBez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86" name="Google Shape;286;p5"/>
            <p:cNvSpPr/>
            <p:nvPr/>
          </p:nvSpPr>
          <p:spPr>
            <a:xfrm>
              <a:off x="8793875" y="1947529"/>
              <a:ext cx="408016" cy="408016"/>
            </a:xfrm>
            <a:custGeom>
              <a:rect b="b" l="l" r="r" t="t"/>
              <a:pathLst>
                <a:path extrusionOk="0" h="253426" w="253426">
                  <a:moveTo>
                    <a:pt x="126713" y="0"/>
                  </a:moveTo>
                  <a:cubicBezTo>
                    <a:pt x="56591" y="0"/>
                    <a:pt x="0" y="56590"/>
                    <a:pt x="0" y="126713"/>
                  </a:cubicBezTo>
                  <a:cubicBezTo>
                    <a:pt x="0" y="196836"/>
                    <a:pt x="56591" y="253427"/>
                    <a:pt x="126713" y="253427"/>
                  </a:cubicBezTo>
                  <a:cubicBezTo>
                    <a:pt x="196836" y="253427"/>
                    <a:pt x="253427" y="196836"/>
                    <a:pt x="253427" y="126713"/>
                  </a:cubicBezTo>
                  <a:cubicBezTo>
                    <a:pt x="253427" y="56590"/>
                    <a:pt x="196836" y="0"/>
                    <a:pt x="126713" y="0"/>
                  </a:cubicBezTo>
                  <a:close/>
                  <a:moveTo>
                    <a:pt x="95958" y="177153"/>
                  </a:moveTo>
                  <a:cubicBezTo>
                    <a:pt x="91037" y="163620"/>
                    <a:pt x="88577" y="148857"/>
                    <a:pt x="88577" y="135325"/>
                  </a:cubicBezTo>
                  <a:lnTo>
                    <a:pt x="164850" y="135325"/>
                  </a:lnTo>
                  <a:cubicBezTo>
                    <a:pt x="163620" y="150088"/>
                    <a:pt x="161160" y="164850"/>
                    <a:pt x="157469" y="177153"/>
                  </a:cubicBezTo>
                  <a:lnTo>
                    <a:pt x="95958" y="177153"/>
                  </a:lnTo>
                  <a:close/>
                  <a:moveTo>
                    <a:pt x="150088" y="194376"/>
                  </a:moveTo>
                  <a:cubicBezTo>
                    <a:pt x="143937" y="207908"/>
                    <a:pt x="135325" y="220211"/>
                    <a:pt x="126713" y="230052"/>
                  </a:cubicBezTo>
                  <a:cubicBezTo>
                    <a:pt x="116872" y="220211"/>
                    <a:pt x="109490" y="207908"/>
                    <a:pt x="103339" y="194376"/>
                  </a:cubicBezTo>
                  <a:lnTo>
                    <a:pt x="150088" y="194376"/>
                  </a:lnTo>
                  <a:close/>
                  <a:moveTo>
                    <a:pt x="17223" y="135325"/>
                  </a:moveTo>
                  <a:lnTo>
                    <a:pt x="71353" y="135325"/>
                  </a:lnTo>
                  <a:cubicBezTo>
                    <a:pt x="72583" y="150088"/>
                    <a:pt x="73814" y="163620"/>
                    <a:pt x="78734" y="177153"/>
                  </a:cubicBezTo>
                  <a:lnTo>
                    <a:pt x="29525" y="177153"/>
                  </a:lnTo>
                  <a:cubicBezTo>
                    <a:pt x="22144" y="164850"/>
                    <a:pt x="17223" y="150088"/>
                    <a:pt x="17223" y="135325"/>
                  </a:cubicBezTo>
                  <a:close/>
                  <a:moveTo>
                    <a:pt x="126713" y="23374"/>
                  </a:moveTo>
                  <a:cubicBezTo>
                    <a:pt x="136555" y="33216"/>
                    <a:pt x="145167" y="45518"/>
                    <a:pt x="151318" y="59051"/>
                  </a:cubicBezTo>
                  <a:lnTo>
                    <a:pt x="103339" y="59051"/>
                  </a:lnTo>
                  <a:cubicBezTo>
                    <a:pt x="108260" y="45518"/>
                    <a:pt x="116872" y="33216"/>
                    <a:pt x="126713" y="23374"/>
                  </a:cubicBezTo>
                  <a:close/>
                  <a:moveTo>
                    <a:pt x="157469" y="76274"/>
                  </a:moveTo>
                  <a:cubicBezTo>
                    <a:pt x="161160" y="89806"/>
                    <a:pt x="164850" y="103339"/>
                    <a:pt x="164850" y="118102"/>
                  </a:cubicBezTo>
                  <a:lnTo>
                    <a:pt x="88577" y="118102"/>
                  </a:lnTo>
                  <a:cubicBezTo>
                    <a:pt x="89806" y="103339"/>
                    <a:pt x="92267" y="88576"/>
                    <a:pt x="95958" y="76274"/>
                  </a:cubicBezTo>
                  <a:lnTo>
                    <a:pt x="157469" y="76274"/>
                  </a:lnTo>
                  <a:close/>
                  <a:moveTo>
                    <a:pt x="71353" y="118102"/>
                  </a:moveTo>
                  <a:lnTo>
                    <a:pt x="17223" y="118102"/>
                  </a:lnTo>
                  <a:cubicBezTo>
                    <a:pt x="18453" y="103339"/>
                    <a:pt x="22144" y="88576"/>
                    <a:pt x="29525" y="76274"/>
                  </a:cubicBezTo>
                  <a:lnTo>
                    <a:pt x="78734" y="76274"/>
                  </a:lnTo>
                  <a:cubicBezTo>
                    <a:pt x="73814" y="89806"/>
                    <a:pt x="71353" y="103339"/>
                    <a:pt x="71353" y="118102"/>
                  </a:cubicBezTo>
                  <a:close/>
                  <a:moveTo>
                    <a:pt x="182073" y="135325"/>
                  </a:moveTo>
                  <a:lnTo>
                    <a:pt x="236204" y="135325"/>
                  </a:lnTo>
                  <a:cubicBezTo>
                    <a:pt x="234973" y="150088"/>
                    <a:pt x="231283" y="164850"/>
                    <a:pt x="223902" y="177153"/>
                  </a:cubicBezTo>
                  <a:lnTo>
                    <a:pt x="174692" y="177153"/>
                  </a:lnTo>
                  <a:cubicBezTo>
                    <a:pt x="178383" y="163620"/>
                    <a:pt x="180844" y="150088"/>
                    <a:pt x="182073" y="135325"/>
                  </a:cubicBezTo>
                  <a:close/>
                  <a:moveTo>
                    <a:pt x="182073" y="118102"/>
                  </a:moveTo>
                  <a:cubicBezTo>
                    <a:pt x="180844" y="103339"/>
                    <a:pt x="179613" y="89806"/>
                    <a:pt x="175922" y="76274"/>
                  </a:cubicBezTo>
                  <a:lnTo>
                    <a:pt x="225131" y="76274"/>
                  </a:lnTo>
                  <a:cubicBezTo>
                    <a:pt x="231283" y="88576"/>
                    <a:pt x="236204" y="103339"/>
                    <a:pt x="237434" y="118102"/>
                  </a:cubicBezTo>
                  <a:lnTo>
                    <a:pt x="182073" y="118102"/>
                  </a:lnTo>
                  <a:close/>
                  <a:moveTo>
                    <a:pt x="212829" y="59051"/>
                  </a:moveTo>
                  <a:lnTo>
                    <a:pt x="168541" y="59051"/>
                  </a:lnTo>
                  <a:cubicBezTo>
                    <a:pt x="162390" y="44288"/>
                    <a:pt x="155009" y="30756"/>
                    <a:pt x="143937" y="18453"/>
                  </a:cubicBezTo>
                  <a:cubicBezTo>
                    <a:pt x="172232" y="23374"/>
                    <a:pt x="196836" y="38137"/>
                    <a:pt x="212829" y="59051"/>
                  </a:cubicBezTo>
                  <a:close/>
                  <a:moveTo>
                    <a:pt x="108260" y="18453"/>
                  </a:moveTo>
                  <a:cubicBezTo>
                    <a:pt x="98418" y="30756"/>
                    <a:pt x="89806" y="44288"/>
                    <a:pt x="83655" y="59051"/>
                  </a:cubicBezTo>
                  <a:lnTo>
                    <a:pt x="39367" y="59051"/>
                  </a:lnTo>
                  <a:cubicBezTo>
                    <a:pt x="56591" y="38137"/>
                    <a:pt x="79965" y="23374"/>
                    <a:pt x="108260" y="18453"/>
                  </a:cubicBezTo>
                  <a:close/>
                  <a:moveTo>
                    <a:pt x="39367" y="194376"/>
                  </a:moveTo>
                  <a:lnTo>
                    <a:pt x="83655" y="194376"/>
                  </a:lnTo>
                  <a:cubicBezTo>
                    <a:pt x="89806" y="209139"/>
                    <a:pt x="98418" y="222671"/>
                    <a:pt x="108260" y="234973"/>
                  </a:cubicBezTo>
                  <a:cubicBezTo>
                    <a:pt x="79965" y="230052"/>
                    <a:pt x="56591" y="215290"/>
                    <a:pt x="39367" y="194376"/>
                  </a:cubicBezTo>
                  <a:close/>
                  <a:moveTo>
                    <a:pt x="145167" y="234973"/>
                  </a:moveTo>
                  <a:cubicBezTo>
                    <a:pt x="155009" y="222671"/>
                    <a:pt x="163620" y="209139"/>
                    <a:pt x="169771" y="194376"/>
                  </a:cubicBezTo>
                  <a:lnTo>
                    <a:pt x="214059" y="194376"/>
                  </a:lnTo>
                  <a:cubicBezTo>
                    <a:pt x="196836" y="215290"/>
                    <a:pt x="172232" y="230052"/>
                    <a:pt x="145167" y="234973"/>
                  </a:cubicBez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87" name="Google Shape;287;p5"/>
            <p:cNvSpPr/>
            <p:nvPr/>
          </p:nvSpPr>
          <p:spPr>
            <a:xfrm>
              <a:off x="10578216" y="1985960"/>
              <a:ext cx="437727" cy="312947"/>
            </a:xfrm>
            <a:custGeom>
              <a:rect b="b" l="l" r="r" t="t"/>
              <a:pathLst>
                <a:path extrusionOk="0" h="194377" w="271880">
                  <a:moveTo>
                    <a:pt x="210369" y="126713"/>
                  </a:moveTo>
                  <a:cubicBezTo>
                    <a:pt x="227592" y="125483"/>
                    <a:pt x="242355" y="129174"/>
                    <a:pt x="253427" y="139016"/>
                  </a:cubicBezTo>
                  <a:cubicBezTo>
                    <a:pt x="264499" y="150088"/>
                    <a:pt x="270650" y="166081"/>
                    <a:pt x="271880" y="185764"/>
                  </a:cubicBezTo>
                  <a:cubicBezTo>
                    <a:pt x="271880" y="190685"/>
                    <a:pt x="268190" y="194376"/>
                    <a:pt x="263269" y="194376"/>
                  </a:cubicBezTo>
                  <a:cubicBezTo>
                    <a:pt x="258348" y="194376"/>
                    <a:pt x="254657" y="190685"/>
                    <a:pt x="254657" y="185764"/>
                  </a:cubicBezTo>
                  <a:cubicBezTo>
                    <a:pt x="254657" y="169771"/>
                    <a:pt x="249736" y="158699"/>
                    <a:pt x="242355" y="151318"/>
                  </a:cubicBezTo>
                  <a:cubicBezTo>
                    <a:pt x="234973" y="145167"/>
                    <a:pt x="225132" y="142706"/>
                    <a:pt x="212829" y="143936"/>
                  </a:cubicBezTo>
                  <a:cubicBezTo>
                    <a:pt x="207908" y="145167"/>
                    <a:pt x="202987" y="141476"/>
                    <a:pt x="202987" y="136555"/>
                  </a:cubicBezTo>
                  <a:cubicBezTo>
                    <a:pt x="201757" y="131634"/>
                    <a:pt x="205448" y="126713"/>
                    <a:pt x="210369" y="126713"/>
                  </a:cubicBezTo>
                  <a:close/>
                  <a:moveTo>
                    <a:pt x="60281" y="126713"/>
                  </a:moveTo>
                  <a:cubicBezTo>
                    <a:pt x="65202" y="127944"/>
                    <a:pt x="67663" y="131634"/>
                    <a:pt x="67663" y="136555"/>
                  </a:cubicBezTo>
                  <a:cubicBezTo>
                    <a:pt x="66432" y="141476"/>
                    <a:pt x="62741" y="145167"/>
                    <a:pt x="59051" y="143936"/>
                  </a:cubicBezTo>
                  <a:cubicBezTo>
                    <a:pt x="46749" y="142706"/>
                    <a:pt x="36907" y="145167"/>
                    <a:pt x="29525" y="151318"/>
                  </a:cubicBezTo>
                  <a:cubicBezTo>
                    <a:pt x="20914" y="158699"/>
                    <a:pt x="17223" y="171002"/>
                    <a:pt x="17223" y="185764"/>
                  </a:cubicBezTo>
                  <a:cubicBezTo>
                    <a:pt x="17223" y="190685"/>
                    <a:pt x="13532" y="194376"/>
                    <a:pt x="8612" y="194376"/>
                  </a:cubicBezTo>
                  <a:cubicBezTo>
                    <a:pt x="3691" y="194376"/>
                    <a:pt x="0" y="190685"/>
                    <a:pt x="0" y="185764"/>
                  </a:cubicBezTo>
                  <a:cubicBezTo>
                    <a:pt x="0" y="166081"/>
                    <a:pt x="6151" y="148857"/>
                    <a:pt x="17223" y="139016"/>
                  </a:cubicBezTo>
                  <a:cubicBezTo>
                    <a:pt x="28295" y="129174"/>
                    <a:pt x="43058" y="125483"/>
                    <a:pt x="60281" y="126713"/>
                  </a:cubicBezTo>
                  <a:close/>
                  <a:moveTo>
                    <a:pt x="135325" y="109491"/>
                  </a:moveTo>
                  <a:cubicBezTo>
                    <a:pt x="177153" y="109491"/>
                    <a:pt x="211599" y="143937"/>
                    <a:pt x="211599" y="185765"/>
                  </a:cubicBezTo>
                  <a:cubicBezTo>
                    <a:pt x="211599" y="190686"/>
                    <a:pt x="207908" y="194377"/>
                    <a:pt x="202988" y="194377"/>
                  </a:cubicBezTo>
                  <a:cubicBezTo>
                    <a:pt x="198067" y="194377"/>
                    <a:pt x="194376" y="190686"/>
                    <a:pt x="194376" y="185765"/>
                  </a:cubicBezTo>
                  <a:cubicBezTo>
                    <a:pt x="194376" y="153779"/>
                    <a:pt x="168541" y="126714"/>
                    <a:pt x="135325" y="126714"/>
                  </a:cubicBezTo>
                  <a:cubicBezTo>
                    <a:pt x="103339" y="126714"/>
                    <a:pt x="76274" y="152549"/>
                    <a:pt x="76274" y="185765"/>
                  </a:cubicBezTo>
                  <a:cubicBezTo>
                    <a:pt x="76274" y="190686"/>
                    <a:pt x="72583" y="194377"/>
                    <a:pt x="67663" y="194377"/>
                  </a:cubicBezTo>
                  <a:cubicBezTo>
                    <a:pt x="62742" y="194377"/>
                    <a:pt x="59051" y="190686"/>
                    <a:pt x="59051" y="185765"/>
                  </a:cubicBezTo>
                  <a:cubicBezTo>
                    <a:pt x="59051" y="143937"/>
                    <a:pt x="93497" y="109491"/>
                    <a:pt x="135325" y="109491"/>
                  </a:cubicBezTo>
                  <a:close/>
                  <a:moveTo>
                    <a:pt x="228822" y="56591"/>
                  </a:moveTo>
                  <a:cubicBezTo>
                    <a:pt x="218981" y="56591"/>
                    <a:pt x="211599" y="63973"/>
                    <a:pt x="211599" y="73814"/>
                  </a:cubicBezTo>
                  <a:cubicBezTo>
                    <a:pt x="211599" y="83656"/>
                    <a:pt x="218981" y="91038"/>
                    <a:pt x="228822" y="91038"/>
                  </a:cubicBezTo>
                  <a:cubicBezTo>
                    <a:pt x="238664" y="91038"/>
                    <a:pt x="246046" y="83656"/>
                    <a:pt x="246046" y="73814"/>
                  </a:cubicBezTo>
                  <a:cubicBezTo>
                    <a:pt x="246046" y="63973"/>
                    <a:pt x="238664" y="56591"/>
                    <a:pt x="228822" y="56591"/>
                  </a:cubicBezTo>
                  <a:close/>
                  <a:moveTo>
                    <a:pt x="41828" y="56591"/>
                  </a:moveTo>
                  <a:cubicBezTo>
                    <a:pt x="31987" y="56591"/>
                    <a:pt x="24605" y="63973"/>
                    <a:pt x="24605" y="73814"/>
                  </a:cubicBezTo>
                  <a:cubicBezTo>
                    <a:pt x="24605" y="83656"/>
                    <a:pt x="31987" y="91038"/>
                    <a:pt x="41828" y="91038"/>
                  </a:cubicBezTo>
                  <a:cubicBezTo>
                    <a:pt x="51670" y="91038"/>
                    <a:pt x="59052" y="83656"/>
                    <a:pt x="59052" y="73814"/>
                  </a:cubicBezTo>
                  <a:cubicBezTo>
                    <a:pt x="59052" y="63973"/>
                    <a:pt x="51670" y="56591"/>
                    <a:pt x="41828" y="56591"/>
                  </a:cubicBezTo>
                  <a:close/>
                  <a:moveTo>
                    <a:pt x="228822" y="39368"/>
                  </a:moveTo>
                  <a:cubicBezTo>
                    <a:pt x="248506" y="39368"/>
                    <a:pt x="263269" y="54131"/>
                    <a:pt x="263269" y="73814"/>
                  </a:cubicBezTo>
                  <a:cubicBezTo>
                    <a:pt x="263269" y="93498"/>
                    <a:pt x="247276" y="108261"/>
                    <a:pt x="228822" y="108261"/>
                  </a:cubicBezTo>
                  <a:cubicBezTo>
                    <a:pt x="209139" y="108261"/>
                    <a:pt x="194376" y="93498"/>
                    <a:pt x="194376" y="73814"/>
                  </a:cubicBezTo>
                  <a:cubicBezTo>
                    <a:pt x="194376" y="54131"/>
                    <a:pt x="209139" y="39368"/>
                    <a:pt x="228822" y="39368"/>
                  </a:cubicBezTo>
                  <a:close/>
                  <a:moveTo>
                    <a:pt x="41828" y="39368"/>
                  </a:moveTo>
                  <a:cubicBezTo>
                    <a:pt x="61512" y="39368"/>
                    <a:pt x="76275" y="54131"/>
                    <a:pt x="76275" y="73814"/>
                  </a:cubicBezTo>
                  <a:cubicBezTo>
                    <a:pt x="76275" y="93498"/>
                    <a:pt x="60282" y="108261"/>
                    <a:pt x="41828" y="108261"/>
                  </a:cubicBezTo>
                  <a:cubicBezTo>
                    <a:pt x="23375" y="108261"/>
                    <a:pt x="7382" y="93498"/>
                    <a:pt x="7382" y="73814"/>
                  </a:cubicBezTo>
                  <a:cubicBezTo>
                    <a:pt x="7382" y="54131"/>
                    <a:pt x="22145" y="39368"/>
                    <a:pt x="41828" y="39368"/>
                  </a:cubicBezTo>
                  <a:close/>
                  <a:moveTo>
                    <a:pt x="135326" y="17223"/>
                  </a:moveTo>
                  <a:cubicBezTo>
                    <a:pt x="116872" y="17223"/>
                    <a:pt x="100879" y="31986"/>
                    <a:pt x="100879" y="51670"/>
                  </a:cubicBezTo>
                  <a:cubicBezTo>
                    <a:pt x="100879" y="71353"/>
                    <a:pt x="115642" y="86116"/>
                    <a:pt x="135326" y="86116"/>
                  </a:cubicBezTo>
                  <a:cubicBezTo>
                    <a:pt x="155009" y="86116"/>
                    <a:pt x="169772" y="71353"/>
                    <a:pt x="169772" y="51670"/>
                  </a:cubicBezTo>
                  <a:cubicBezTo>
                    <a:pt x="169772" y="31986"/>
                    <a:pt x="153779" y="17223"/>
                    <a:pt x="135326" y="17223"/>
                  </a:cubicBezTo>
                  <a:close/>
                  <a:moveTo>
                    <a:pt x="135326" y="0"/>
                  </a:moveTo>
                  <a:cubicBezTo>
                    <a:pt x="162391" y="0"/>
                    <a:pt x="185765" y="22144"/>
                    <a:pt x="185765" y="50439"/>
                  </a:cubicBezTo>
                  <a:cubicBezTo>
                    <a:pt x="185765" y="77504"/>
                    <a:pt x="163621" y="100879"/>
                    <a:pt x="135326" y="100879"/>
                  </a:cubicBezTo>
                  <a:cubicBezTo>
                    <a:pt x="107031" y="100879"/>
                    <a:pt x="83656" y="78735"/>
                    <a:pt x="84886" y="50439"/>
                  </a:cubicBezTo>
                  <a:cubicBezTo>
                    <a:pt x="84886" y="23374"/>
                    <a:pt x="107031" y="0"/>
                    <a:pt x="135326" y="0"/>
                  </a:cubicBez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88" name="Google Shape;288;p5"/>
            <p:cNvSpPr/>
            <p:nvPr/>
          </p:nvSpPr>
          <p:spPr>
            <a:xfrm>
              <a:off x="8811267" y="3770833"/>
              <a:ext cx="373201" cy="375144"/>
            </a:xfrm>
            <a:custGeom>
              <a:rect b="b" l="l" r="r" t="t"/>
              <a:pathLst>
                <a:path extrusionOk="0" h="237433" w="236203">
                  <a:moveTo>
                    <a:pt x="193146" y="43058"/>
                  </a:moveTo>
                  <a:lnTo>
                    <a:pt x="164850" y="43058"/>
                  </a:lnTo>
                  <a:lnTo>
                    <a:pt x="151318" y="6151"/>
                  </a:lnTo>
                  <a:cubicBezTo>
                    <a:pt x="150088" y="2461"/>
                    <a:pt x="146397" y="0"/>
                    <a:pt x="143937" y="0"/>
                  </a:cubicBezTo>
                  <a:lnTo>
                    <a:pt x="126713" y="0"/>
                  </a:lnTo>
                  <a:lnTo>
                    <a:pt x="100879" y="0"/>
                  </a:lnTo>
                  <a:lnTo>
                    <a:pt x="83655" y="0"/>
                  </a:lnTo>
                  <a:cubicBezTo>
                    <a:pt x="79965" y="0"/>
                    <a:pt x="77504" y="2461"/>
                    <a:pt x="76274" y="6151"/>
                  </a:cubicBezTo>
                  <a:lnTo>
                    <a:pt x="62742" y="43058"/>
                  </a:lnTo>
                  <a:lnTo>
                    <a:pt x="41828" y="43058"/>
                  </a:lnTo>
                  <a:cubicBezTo>
                    <a:pt x="18453" y="43058"/>
                    <a:pt x="0" y="61511"/>
                    <a:pt x="0" y="84886"/>
                  </a:cubicBezTo>
                  <a:cubicBezTo>
                    <a:pt x="0" y="86116"/>
                    <a:pt x="0" y="86116"/>
                    <a:pt x="0" y="87346"/>
                  </a:cubicBezTo>
                  <a:lnTo>
                    <a:pt x="0" y="195606"/>
                  </a:lnTo>
                  <a:cubicBezTo>
                    <a:pt x="0" y="218981"/>
                    <a:pt x="18453" y="237434"/>
                    <a:pt x="41828" y="237434"/>
                  </a:cubicBezTo>
                  <a:lnTo>
                    <a:pt x="194376" y="237434"/>
                  </a:lnTo>
                  <a:cubicBezTo>
                    <a:pt x="217750" y="237434"/>
                    <a:pt x="236204" y="218981"/>
                    <a:pt x="236204" y="195606"/>
                  </a:cubicBezTo>
                  <a:lnTo>
                    <a:pt x="236204" y="84886"/>
                  </a:lnTo>
                  <a:cubicBezTo>
                    <a:pt x="234973" y="61511"/>
                    <a:pt x="216520" y="43058"/>
                    <a:pt x="193146" y="43058"/>
                  </a:cubicBezTo>
                  <a:close/>
                  <a:moveTo>
                    <a:pt x="89807" y="17223"/>
                  </a:moveTo>
                  <a:lnTo>
                    <a:pt x="100879" y="17223"/>
                  </a:lnTo>
                  <a:lnTo>
                    <a:pt x="126713" y="17223"/>
                  </a:lnTo>
                  <a:lnTo>
                    <a:pt x="139016" y="17223"/>
                  </a:lnTo>
                  <a:lnTo>
                    <a:pt x="148858" y="43058"/>
                  </a:lnTo>
                  <a:lnTo>
                    <a:pt x="82425" y="43058"/>
                  </a:lnTo>
                  <a:lnTo>
                    <a:pt x="89807" y="17223"/>
                  </a:lnTo>
                  <a:close/>
                  <a:moveTo>
                    <a:pt x="40598" y="60281"/>
                  </a:moveTo>
                  <a:lnTo>
                    <a:pt x="193146" y="60281"/>
                  </a:lnTo>
                  <a:cubicBezTo>
                    <a:pt x="204218" y="60281"/>
                    <a:pt x="214060" y="67663"/>
                    <a:pt x="217750" y="78735"/>
                  </a:cubicBezTo>
                  <a:cubicBezTo>
                    <a:pt x="216520" y="78735"/>
                    <a:pt x="216520" y="79965"/>
                    <a:pt x="215290" y="79965"/>
                  </a:cubicBezTo>
                  <a:lnTo>
                    <a:pt x="174692" y="119332"/>
                  </a:lnTo>
                  <a:lnTo>
                    <a:pt x="137786" y="119332"/>
                  </a:lnTo>
                  <a:cubicBezTo>
                    <a:pt x="134095" y="109490"/>
                    <a:pt x="125483" y="102109"/>
                    <a:pt x="114411" y="102109"/>
                  </a:cubicBezTo>
                  <a:cubicBezTo>
                    <a:pt x="103339" y="102109"/>
                    <a:pt x="93497" y="109490"/>
                    <a:pt x="91037" y="119332"/>
                  </a:cubicBezTo>
                  <a:lnTo>
                    <a:pt x="54130" y="119332"/>
                  </a:lnTo>
                  <a:lnTo>
                    <a:pt x="15993" y="82425"/>
                  </a:lnTo>
                  <a:cubicBezTo>
                    <a:pt x="15993" y="70123"/>
                    <a:pt x="27065" y="60281"/>
                    <a:pt x="40598" y="60281"/>
                  </a:cubicBezTo>
                  <a:close/>
                  <a:moveTo>
                    <a:pt x="121793" y="127944"/>
                  </a:moveTo>
                  <a:cubicBezTo>
                    <a:pt x="121793" y="132865"/>
                    <a:pt x="118102" y="136555"/>
                    <a:pt x="113181" y="136555"/>
                  </a:cubicBezTo>
                  <a:cubicBezTo>
                    <a:pt x="108260" y="136555"/>
                    <a:pt x="104569" y="132865"/>
                    <a:pt x="104569" y="127944"/>
                  </a:cubicBezTo>
                  <a:cubicBezTo>
                    <a:pt x="104569" y="123023"/>
                    <a:pt x="108260" y="119332"/>
                    <a:pt x="113181" y="119332"/>
                  </a:cubicBezTo>
                  <a:cubicBezTo>
                    <a:pt x="118102" y="119332"/>
                    <a:pt x="121793" y="123023"/>
                    <a:pt x="121793" y="127944"/>
                  </a:cubicBezTo>
                  <a:close/>
                  <a:moveTo>
                    <a:pt x="193146" y="221441"/>
                  </a:moveTo>
                  <a:lnTo>
                    <a:pt x="40598" y="221441"/>
                  </a:lnTo>
                  <a:cubicBezTo>
                    <a:pt x="27065" y="221441"/>
                    <a:pt x="14763" y="210369"/>
                    <a:pt x="14763" y="195606"/>
                  </a:cubicBezTo>
                  <a:lnTo>
                    <a:pt x="14763" y="105800"/>
                  </a:lnTo>
                  <a:lnTo>
                    <a:pt x="43058" y="132865"/>
                  </a:lnTo>
                  <a:cubicBezTo>
                    <a:pt x="44288" y="134095"/>
                    <a:pt x="46749" y="135325"/>
                    <a:pt x="49209" y="135325"/>
                  </a:cubicBezTo>
                  <a:lnTo>
                    <a:pt x="89807" y="135325"/>
                  </a:lnTo>
                  <a:cubicBezTo>
                    <a:pt x="93497" y="145167"/>
                    <a:pt x="102109" y="152548"/>
                    <a:pt x="113181" y="152548"/>
                  </a:cubicBezTo>
                  <a:cubicBezTo>
                    <a:pt x="124253" y="152548"/>
                    <a:pt x="134095" y="145167"/>
                    <a:pt x="136555" y="135325"/>
                  </a:cubicBezTo>
                  <a:lnTo>
                    <a:pt x="177153" y="135325"/>
                  </a:lnTo>
                  <a:cubicBezTo>
                    <a:pt x="179613" y="135325"/>
                    <a:pt x="182074" y="134095"/>
                    <a:pt x="183304" y="132865"/>
                  </a:cubicBezTo>
                  <a:lnTo>
                    <a:pt x="217750" y="98418"/>
                  </a:lnTo>
                  <a:lnTo>
                    <a:pt x="217750" y="194376"/>
                  </a:lnTo>
                  <a:cubicBezTo>
                    <a:pt x="217750" y="209139"/>
                    <a:pt x="206678" y="221441"/>
                    <a:pt x="193146" y="221441"/>
                  </a:cubicBez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289" name="Google Shape;289;p5"/>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90" name="Google Shape;290;p5"/>
          <p:cNvSpPr/>
          <p:nvPr/>
        </p:nvSpPr>
        <p:spPr>
          <a:xfrm>
            <a:off x="3183919" y="1289437"/>
            <a:ext cx="2384700" cy="1413900"/>
          </a:xfrm>
          <a:prstGeom prst="rect">
            <a:avLst/>
          </a:prstGeom>
          <a:solidFill>
            <a:schemeClr val="lt1"/>
          </a:solidFill>
          <a:ln>
            <a:noFill/>
          </a:ln>
          <a:effectLst>
            <a:outerShdw blurRad="190500" rotWithShape="0" algn="tr">
              <a:srgbClr val="000000">
                <a:alpha val="9804"/>
              </a:srgbClr>
            </a:outerShdw>
          </a:effectLst>
        </p:spPr>
        <p:txBody>
          <a:bodyPr anchorCtr="0" anchor="t" bIns="34275" lIns="205725" spcFirstLastPara="1" rIns="68575" wrap="square" tIns="13715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36312D"/>
                </a:solidFill>
                <a:latin typeface="Montserrat"/>
                <a:ea typeface="Montserrat"/>
                <a:cs typeface="Montserrat"/>
                <a:sym typeface="Montserrat"/>
              </a:rPr>
              <a:t>Our industries</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Banking and financial services</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Insurance</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Healthcare</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Life sciences </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Communications</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Manufacturing</a:t>
            </a:r>
            <a:endParaRPr b="0" i="0" sz="800" u="none" cap="none" strike="noStrike">
              <a:solidFill>
                <a:srgbClr val="36312D"/>
              </a:solidFill>
              <a:latin typeface="Montserrat"/>
              <a:ea typeface="Montserrat"/>
              <a:cs typeface="Montserrat"/>
              <a:sym typeface="Montserrat"/>
            </a:endParaRPr>
          </a:p>
          <a:p>
            <a:pPr indent="-127000" lvl="0" marL="127000" marR="0" rtl="0" algn="l">
              <a:lnSpc>
                <a:spcPct val="100000"/>
              </a:lnSpc>
              <a:spcBef>
                <a:spcPts val="2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High Tech</a:t>
            </a:r>
            <a:endParaRPr b="0" i="0" sz="800" u="none" cap="none" strike="noStrike">
              <a:solidFill>
                <a:srgbClr val="36312D"/>
              </a:solidFill>
              <a:latin typeface="Montserrat"/>
              <a:ea typeface="Montserrat"/>
              <a:cs typeface="Montserrat"/>
              <a:sym typeface="Montserrat"/>
            </a:endParaRPr>
          </a:p>
          <a:p>
            <a:pPr indent="-127000" lvl="0" marL="127000" marR="0" rtl="0" algn="l">
              <a:lnSpc>
                <a:spcPct val="100000"/>
              </a:lnSpc>
              <a:spcBef>
                <a:spcPts val="200"/>
              </a:spcBef>
              <a:spcAft>
                <a:spcPts val="0"/>
              </a:spcAft>
              <a:buClr>
                <a:srgbClr val="36312D"/>
              </a:buClr>
              <a:buSzPts val="800"/>
              <a:buFont typeface="Montserrat"/>
              <a:buChar char="•"/>
            </a:pPr>
            <a:r>
              <a:rPr b="0" i="0" lang="en" sz="800" u="none" cap="none" strike="noStrike">
                <a:solidFill>
                  <a:srgbClr val="36312D"/>
                </a:solidFill>
                <a:latin typeface="Montserrat"/>
                <a:ea typeface="Montserrat"/>
                <a:cs typeface="Montserrat"/>
                <a:sym typeface="Montserrat"/>
              </a:rPr>
              <a:t>Media</a:t>
            </a:r>
            <a:endParaRPr b="0" i="0" sz="800" u="none" cap="none" strike="noStrike">
              <a:solidFill>
                <a:srgbClr val="36312D"/>
              </a:solidFill>
              <a:latin typeface="Montserrat"/>
              <a:ea typeface="Montserrat"/>
              <a:cs typeface="Montserrat"/>
              <a:sym typeface="Montserrat"/>
            </a:endParaRPr>
          </a:p>
        </p:txBody>
      </p:sp>
      <p:sp>
        <p:nvSpPr>
          <p:cNvPr id="291" name="Google Shape;291;p5"/>
          <p:cNvSpPr/>
          <p:nvPr/>
        </p:nvSpPr>
        <p:spPr>
          <a:xfrm>
            <a:off x="385463" y="1289441"/>
            <a:ext cx="2709000" cy="3398100"/>
          </a:xfrm>
          <a:prstGeom prst="rect">
            <a:avLst/>
          </a:prstGeom>
          <a:solidFill>
            <a:schemeClr val="lt1"/>
          </a:solidFill>
          <a:ln>
            <a:noFill/>
          </a:ln>
          <a:effectLst>
            <a:outerShdw blurRad="190500" rotWithShape="0" algn="tr">
              <a:srgbClr val="000000">
                <a:alpha val="9804"/>
              </a:srgbClr>
            </a:outerShdw>
          </a:effectLst>
        </p:spPr>
        <p:txBody>
          <a:bodyPr anchorCtr="0" anchor="t" bIns="34275" lIns="205725" spcFirstLastPara="1" rIns="68575" wrap="square" tIns="13715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36312D"/>
                </a:solidFill>
                <a:latin typeface="Montserrat"/>
                <a:ea typeface="Montserrat"/>
                <a:cs typeface="Montserrat"/>
                <a:sym typeface="Montserrat"/>
              </a:rPr>
              <a:t>Our services</a:t>
            </a:r>
            <a:br>
              <a:rPr b="1" i="0" lang="en" sz="800" u="none" cap="none" strike="noStrike">
                <a:solidFill>
                  <a:schemeClr val="lt1"/>
                </a:solidFill>
                <a:latin typeface="Montserrat"/>
                <a:ea typeface="Montserrat"/>
                <a:cs typeface="Montserrat"/>
                <a:sym typeface="Montserrat"/>
              </a:rPr>
            </a:br>
            <a:br>
              <a:rPr b="1" i="0" lang="en" sz="800" u="none" cap="none" strike="noStrike">
                <a:solidFill>
                  <a:schemeClr val="lt1"/>
                </a:solidFill>
                <a:latin typeface="Montserrat"/>
                <a:ea typeface="Montserrat"/>
                <a:cs typeface="Montserrat"/>
                <a:sym typeface="Montserrat"/>
              </a:rPr>
            </a:br>
            <a:r>
              <a:rPr b="1" i="0" lang="en" sz="800" u="none" cap="none" strike="noStrike">
                <a:solidFill>
                  <a:srgbClr val="36312D"/>
                </a:solidFill>
                <a:latin typeface="Montserrat"/>
                <a:ea typeface="Montserrat"/>
                <a:cs typeface="Montserrat"/>
                <a:sym typeface="Montserrat"/>
              </a:rPr>
              <a:t>Strategy and design</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3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Creative services</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Industry and business advisory</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Experience design</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Business function and process reimagination</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Digital strategy and architecture</a:t>
            </a:r>
            <a:endParaRPr b="0" i="0" sz="1100" u="none" cap="none" strike="noStrike">
              <a:solidFill>
                <a:srgbClr val="000000"/>
              </a:solidFill>
              <a:latin typeface="Arial"/>
              <a:ea typeface="Arial"/>
              <a:cs typeface="Arial"/>
              <a:sym typeface="Arial"/>
            </a:endParaRPr>
          </a:p>
          <a:p>
            <a:pPr indent="-127000" lvl="0" marL="1270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Delivery transformation</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200"/>
              </a:spcBef>
              <a:spcAft>
                <a:spcPts val="0"/>
              </a:spcAft>
              <a:buClr>
                <a:srgbClr val="000000"/>
              </a:buClr>
              <a:buSzPts val="800"/>
              <a:buFont typeface="Arial"/>
              <a:buNone/>
            </a:pPr>
            <a:r>
              <a:t/>
            </a:r>
            <a:endParaRPr b="0" i="0" sz="800" u="none" cap="none" strike="noStrike">
              <a:solidFill>
                <a:schemeClr val="dk1"/>
              </a:solidFill>
              <a:latin typeface="Montserrat"/>
              <a:ea typeface="Montserrat"/>
              <a:cs typeface="Montserrat"/>
              <a:sym typeface="Montserrat"/>
            </a:endParaRPr>
          </a:p>
          <a:p>
            <a:pPr indent="0" lvl="0" marL="0" marR="0" rtl="0" algn="l">
              <a:lnSpc>
                <a:spcPct val="100000"/>
              </a:lnSpc>
              <a:spcBef>
                <a:spcPts val="200"/>
              </a:spcBef>
              <a:spcAft>
                <a:spcPts val="0"/>
              </a:spcAft>
              <a:buClr>
                <a:srgbClr val="000000"/>
              </a:buClr>
              <a:buSzPts val="800"/>
              <a:buFont typeface="Arial"/>
              <a:buNone/>
            </a:pPr>
            <a:r>
              <a:rPr b="1" i="0" lang="en" sz="800" u="none" cap="none" strike="noStrike">
                <a:solidFill>
                  <a:schemeClr val="dk1"/>
                </a:solidFill>
                <a:latin typeface="Montserrat"/>
                <a:ea typeface="Montserrat"/>
                <a:cs typeface="Montserrat"/>
                <a:sym typeface="Montserrat"/>
              </a:rPr>
              <a:t>Engineer and automate </a:t>
            </a:r>
            <a:endParaRPr b="0" i="0" sz="1100" u="none" cap="none" strike="noStrike">
              <a:solidFill>
                <a:srgbClr val="000000"/>
              </a:solidFill>
              <a:latin typeface="Arial"/>
              <a:ea typeface="Arial"/>
              <a:cs typeface="Arial"/>
              <a:sym typeface="Arial"/>
            </a:endParaRPr>
          </a:p>
          <a:p>
            <a:pPr indent="-177800" lvl="0" marL="1778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Cloud transformation</a:t>
            </a:r>
            <a:endParaRPr b="0" i="0" sz="1100" u="none" cap="none" strike="noStrike">
              <a:solidFill>
                <a:srgbClr val="000000"/>
              </a:solidFill>
              <a:latin typeface="Arial"/>
              <a:ea typeface="Arial"/>
              <a:cs typeface="Arial"/>
              <a:sym typeface="Arial"/>
            </a:endParaRPr>
          </a:p>
          <a:p>
            <a:pPr indent="-177800" lvl="0" marL="1778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Data and analytics</a:t>
            </a:r>
            <a:endParaRPr b="0" i="0" sz="1100" u="none" cap="none" strike="noStrike">
              <a:solidFill>
                <a:srgbClr val="000000"/>
              </a:solidFill>
              <a:latin typeface="Arial"/>
              <a:ea typeface="Arial"/>
              <a:cs typeface="Arial"/>
              <a:sym typeface="Arial"/>
            </a:endParaRPr>
          </a:p>
          <a:p>
            <a:pPr indent="-177800" lvl="0" marL="1778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Digital platforms</a:t>
            </a:r>
            <a:endParaRPr b="0" i="0" sz="1100" u="none" cap="none" strike="noStrike">
              <a:solidFill>
                <a:srgbClr val="000000"/>
              </a:solidFill>
              <a:latin typeface="Arial"/>
              <a:ea typeface="Arial"/>
              <a:cs typeface="Arial"/>
              <a:sym typeface="Arial"/>
            </a:endParaRPr>
          </a:p>
          <a:p>
            <a:pPr indent="-177800" lvl="0" marL="1778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Digital and AI engineering</a:t>
            </a:r>
            <a:endParaRPr b="0" i="0" sz="1100" u="none" cap="none" strike="noStrike">
              <a:solidFill>
                <a:srgbClr val="000000"/>
              </a:solidFill>
              <a:latin typeface="Arial"/>
              <a:ea typeface="Arial"/>
              <a:cs typeface="Arial"/>
              <a:sym typeface="Arial"/>
            </a:endParaRPr>
          </a:p>
          <a:p>
            <a:pPr indent="-177800" lvl="0" marL="1778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Digital assurance</a:t>
            </a:r>
            <a:endParaRPr b="0" i="0" sz="1100" u="none" cap="none" strike="noStrike">
              <a:solidFill>
                <a:srgbClr val="000000"/>
              </a:solidFill>
              <a:latin typeface="Arial"/>
              <a:ea typeface="Arial"/>
              <a:cs typeface="Arial"/>
              <a:sym typeface="Arial"/>
            </a:endParaRPr>
          </a:p>
          <a:p>
            <a:pPr indent="-177800" lvl="0" marL="177800" marR="0" rtl="0" algn="l">
              <a:lnSpc>
                <a:spcPct val="10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Managed services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800"/>
              <a:buFont typeface="Arial"/>
              <a:buNone/>
            </a:pPr>
            <a:r>
              <a:t/>
            </a:r>
            <a:endParaRPr b="0" i="0" sz="800" u="none" cap="none" strike="noStrike">
              <a:solidFill>
                <a:schemeClr val="dk1"/>
              </a:solidFill>
              <a:latin typeface="Montserrat"/>
              <a:ea typeface="Montserrat"/>
              <a:cs typeface="Montserrat"/>
              <a:sym typeface="Montserrat"/>
            </a:endParaRPr>
          </a:p>
          <a:p>
            <a:pPr indent="0" lvl="0" marL="0" marR="0" rtl="0" algn="l">
              <a:lnSpc>
                <a:spcPct val="100000"/>
              </a:lnSpc>
              <a:spcBef>
                <a:spcPts val="200"/>
              </a:spcBef>
              <a:spcAft>
                <a:spcPts val="0"/>
              </a:spcAft>
              <a:buClr>
                <a:srgbClr val="000000"/>
              </a:buClr>
              <a:buSzPts val="800"/>
              <a:buFont typeface="Arial"/>
              <a:buNone/>
            </a:pPr>
            <a:r>
              <a:rPr b="1" i="0" lang="en" sz="800" u="none" cap="none" strike="noStrike">
                <a:solidFill>
                  <a:schemeClr val="dk1"/>
                </a:solidFill>
                <a:latin typeface="Montserrat"/>
                <a:ea typeface="Montserrat"/>
                <a:cs typeface="Montserrat"/>
                <a:sym typeface="Montserrat"/>
              </a:rPr>
              <a:t>Analyze and optimize</a:t>
            </a:r>
            <a:endParaRPr b="0" i="0" sz="1100" u="none" cap="none" strike="noStrike">
              <a:solidFill>
                <a:srgbClr val="000000"/>
              </a:solidFill>
              <a:latin typeface="Arial"/>
              <a:ea typeface="Arial"/>
              <a:cs typeface="Arial"/>
              <a:sym typeface="Arial"/>
            </a:endParaRPr>
          </a:p>
          <a:p>
            <a:pPr indent="-127000" lvl="0" marL="127000" marR="0" rtl="0" algn="l">
              <a:lnSpc>
                <a:spcPct val="9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Real-time business intelligence</a:t>
            </a:r>
            <a:endParaRPr b="0" i="0" sz="1100" u="none" cap="none" strike="noStrike">
              <a:solidFill>
                <a:srgbClr val="000000"/>
              </a:solidFill>
              <a:latin typeface="Arial"/>
              <a:ea typeface="Arial"/>
              <a:cs typeface="Arial"/>
              <a:sym typeface="Arial"/>
            </a:endParaRPr>
          </a:p>
          <a:p>
            <a:pPr indent="-127000" lvl="0" marL="127000" marR="0" rtl="0" algn="l">
              <a:lnSpc>
                <a:spcPct val="9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Data-driven operations</a:t>
            </a:r>
            <a:endParaRPr b="0" i="0" sz="1100" u="none" cap="none" strike="noStrike">
              <a:solidFill>
                <a:srgbClr val="000000"/>
              </a:solidFill>
              <a:latin typeface="Arial"/>
              <a:ea typeface="Arial"/>
              <a:cs typeface="Arial"/>
              <a:sym typeface="Arial"/>
            </a:endParaRPr>
          </a:p>
          <a:p>
            <a:pPr indent="-127000" lvl="0" marL="127000" marR="0" rtl="0" algn="l">
              <a:lnSpc>
                <a:spcPct val="9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Experience analytics</a:t>
            </a:r>
            <a:endParaRPr b="0" i="0" sz="1100" u="none" cap="none" strike="noStrike">
              <a:solidFill>
                <a:srgbClr val="000000"/>
              </a:solidFill>
              <a:latin typeface="Arial"/>
              <a:ea typeface="Arial"/>
              <a:cs typeface="Arial"/>
              <a:sym typeface="Arial"/>
            </a:endParaRPr>
          </a:p>
          <a:p>
            <a:pPr indent="-127000" lvl="0" marL="127000" marR="0" rtl="0" algn="l">
              <a:lnSpc>
                <a:spcPct val="90000"/>
              </a:lnSpc>
              <a:spcBef>
                <a:spcPts val="200"/>
              </a:spcBef>
              <a:spcAft>
                <a:spcPts val="0"/>
              </a:spcAft>
              <a:buClr>
                <a:schemeClr val="dk1"/>
              </a:buClr>
              <a:buSzPts val="800"/>
              <a:buFont typeface="Arial"/>
              <a:buChar char="•"/>
            </a:pPr>
            <a:r>
              <a:rPr b="0" i="0" lang="en" sz="800" u="none" cap="none" strike="noStrike">
                <a:solidFill>
                  <a:schemeClr val="dk1"/>
                </a:solidFill>
                <a:latin typeface="Montserrat"/>
                <a:ea typeface="Montserrat"/>
                <a:cs typeface="Montserrat"/>
                <a:sym typeface="Montserrat"/>
              </a:rPr>
              <a:t>Business process optimization</a:t>
            </a:r>
            <a:endParaRPr b="0" i="0" sz="1100" u="none" cap="none" strike="noStrike">
              <a:solidFill>
                <a:srgbClr val="000000"/>
              </a:solidFill>
              <a:latin typeface="Arial"/>
              <a:ea typeface="Arial"/>
              <a:cs typeface="Arial"/>
              <a:sym typeface="Arial"/>
            </a:endParaRPr>
          </a:p>
          <a:p>
            <a:pPr indent="-76200" lvl="0" marL="127000" marR="0" rtl="0" algn="l">
              <a:lnSpc>
                <a:spcPct val="90000"/>
              </a:lnSpc>
              <a:spcBef>
                <a:spcPts val="200"/>
              </a:spcBef>
              <a:spcAft>
                <a:spcPts val="0"/>
              </a:spcAft>
              <a:buClr>
                <a:schemeClr val="lt1"/>
              </a:buClr>
              <a:buSzPts val="800"/>
              <a:buFont typeface="Arial"/>
              <a:buNone/>
            </a:pPr>
            <a:r>
              <a:t/>
            </a:r>
            <a:endParaRPr b="0" i="0" sz="800" u="none" cap="none" strike="noStrike">
              <a:solidFill>
                <a:schemeClr val="accent3"/>
              </a:solidFill>
              <a:latin typeface="Montserrat"/>
              <a:ea typeface="Montserrat"/>
              <a:cs typeface="Montserrat"/>
              <a:sym typeface="Montserrat"/>
            </a:endParaRPr>
          </a:p>
          <a:p>
            <a:pPr indent="-127000" lvl="0" marL="177800" marR="0" rtl="0" algn="l">
              <a:lnSpc>
                <a:spcPct val="110000"/>
              </a:lnSpc>
              <a:spcBef>
                <a:spcPts val="1200"/>
              </a:spcBef>
              <a:spcAft>
                <a:spcPts val="0"/>
              </a:spcAft>
              <a:buClr>
                <a:schemeClr val="lt1"/>
              </a:buClr>
              <a:buSzPts val="800"/>
              <a:buFont typeface="Arial"/>
              <a:buNone/>
            </a:pPr>
            <a:r>
              <a:t/>
            </a:r>
            <a:endParaRPr b="0" i="0" sz="800" u="none" cap="none" strike="noStrike">
              <a:solidFill>
                <a:schemeClr val="accent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Montserrat"/>
              <a:ea typeface="Montserrat"/>
              <a:cs typeface="Montserrat"/>
              <a:sym typeface="Montserrat"/>
            </a:endParaRPr>
          </a:p>
        </p:txBody>
      </p:sp>
      <p:sp>
        <p:nvSpPr>
          <p:cNvPr id="292" name="Google Shape;292;p5"/>
          <p:cNvSpPr/>
          <p:nvPr/>
        </p:nvSpPr>
        <p:spPr>
          <a:xfrm>
            <a:off x="3183919" y="2776784"/>
            <a:ext cx="2384700" cy="1273200"/>
          </a:xfrm>
          <a:prstGeom prst="rect">
            <a:avLst/>
          </a:prstGeom>
          <a:solidFill>
            <a:schemeClr val="lt1"/>
          </a:solidFill>
          <a:ln>
            <a:noFill/>
          </a:ln>
          <a:effectLst>
            <a:outerShdw blurRad="190500" rotWithShape="0" algn="tr">
              <a:srgbClr val="000000">
                <a:alpha val="9804"/>
              </a:srgbClr>
            </a:outerShdw>
          </a:effectLst>
        </p:spPr>
        <p:txBody>
          <a:bodyPr anchorCtr="0" anchor="t" bIns="34275" lIns="205725" spcFirstLastPara="1" rIns="68575" wrap="square" tIns="137150">
            <a:noAutofit/>
          </a:bodyPr>
          <a:lstStyle/>
          <a:p>
            <a:pPr indent="0" lvl="1" marL="0" marR="0" rtl="0" algn="l">
              <a:lnSpc>
                <a:spcPct val="100000"/>
              </a:lnSpc>
              <a:spcBef>
                <a:spcPts val="0"/>
              </a:spcBef>
              <a:spcAft>
                <a:spcPts val="0"/>
              </a:spcAft>
              <a:buClr>
                <a:srgbClr val="000000"/>
              </a:buClr>
              <a:buSzPts val="1200"/>
              <a:buFont typeface="Arial"/>
              <a:buNone/>
            </a:pPr>
            <a:r>
              <a:rPr b="1" i="0" lang="en" sz="1200" u="none" cap="none" strike="noStrike">
                <a:solidFill>
                  <a:srgbClr val="36312D"/>
                </a:solidFill>
                <a:latin typeface="Montserrat"/>
                <a:ea typeface="Montserrat"/>
                <a:cs typeface="Montserrat"/>
                <a:sym typeface="Montserrat"/>
              </a:rPr>
              <a:t>Our differentiators</a:t>
            </a:r>
            <a:endParaRPr b="0" i="0" sz="1100" u="none" cap="none" strike="noStrike">
              <a:solidFill>
                <a:srgbClr val="000000"/>
              </a:solidFill>
              <a:latin typeface="Arial"/>
              <a:ea typeface="Arial"/>
              <a:cs typeface="Arial"/>
              <a:sym typeface="Arial"/>
            </a:endParaRPr>
          </a:p>
          <a:p>
            <a:pPr indent="-88900" lvl="1" marL="88900" marR="0" rtl="0" algn="l">
              <a:lnSpc>
                <a:spcPct val="100000"/>
              </a:lnSpc>
              <a:spcBef>
                <a:spcPts val="3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Domain-driven solutions approach</a:t>
            </a:r>
            <a:endParaRPr b="0" i="0" sz="1100" u="none" cap="none" strike="noStrike">
              <a:solidFill>
                <a:srgbClr val="000000"/>
              </a:solidFill>
              <a:latin typeface="Arial"/>
              <a:ea typeface="Arial"/>
              <a:cs typeface="Arial"/>
              <a:sym typeface="Arial"/>
            </a:endParaRPr>
          </a:p>
          <a:p>
            <a:pPr indent="-88900" lvl="1" marL="88900" marR="0" rtl="0" algn="l">
              <a:lnSpc>
                <a:spcPct val="100000"/>
              </a:lnSpc>
              <a:spcBef>
                <a:spcPts val="3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Deep engineering history</a:t>
            </a:r>
            <a:endParaRPr b="0" i="0" sz="1100" u="none" cap="none" strike="noStrike">
              <a:solidFill>
                <a:srgbClr val="000000"/>
              </a:solidFill>
              <a:latin typeface="Arial"/>
              <a:ea typeface="Arial"/>
              <a:cs typeface="Arial"/>
              <a:sym typeface="Arial"/>
            </a:endParaRPr>
          </a:p>
          <a:p>
            <a:pPr indent="-88900" lvl="1" marL="88900" marR="0" rtl="0" algn="l">
              <a:lnSpc>
                <a:spcPct val="100000"/>
              </a:lnSpc>
              <a:spcBef>
                <a:spcPts val="3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Flexible working models</a:t>
            </a:r>
            <a:endParaRPr b="0" i="0" sz="1100" u="none" cap="none" strike="noStrike">
              <a:solidFill>
                <a:srgbClr val="000000"/>
              </a:solidFill>
              <a:latin typeface="Arial"/>
              <a:ea typeface="Arial"/>
              <a:cs typeface="Arial"/>
              <a:sym typeface="Arial"/>
            </a:endParaRPr>
          </a:p>
          <a:p>
            <a:pPr indent="-88900" lvl="1" marL="88900" marR="0" rtl="0" algn="l">
              <a:lnSpc>
                <a:spcPct val="100000"/>
              </a:lnSpc>
              <a:spcBef>
                <a:spcPts val="3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Quality delivery at speed</a:t>
            </a:r>
            <a:endParaRPr b="0" i="0" sz="1100" u="none" cap="none" strike="noStrike">
              <a:solidFill>
                <a:srgbClr val="000000"/>
              </a:solidFill>
              <a:latin typeface="Arial"/>
              <a:ea typeface="Arial"/>
              <a:cs typeface="Arial"/>
              <a:sym typeface="Arial"/>
            </a:endParaRPr>
          </a:p>
          <a:p>
            <a:pPr indent="-88900" lvl="1" marL="88900" marR="0" rtl="0" algn="l">
              <a:lnSpc>
                <a:spcPct val="100000"/>
              </a:lnSpc>
              <a:spcBef>
                <a:spcPts val="300"/>
              </a:spcBef>
              <a:spcAft>
                <a:spcPts val="0"/>
              </a:spcAft>
              <a:buClr>
                <a:srgbClr val="36312D"/>
              </a:buClr>
              <a:buSzPts val="800"/>
              <a:buFont typeface="Arial"/>
              <a:buChar char="•"/>
            </a:pPr>
            <a:r>
              <a:rPr b="0" i="0" lang="en" sz="800" u="none" cap="none" strike="noStrike">
                <a:solidFill>
                  <a:srgbClr val="36312D"/>
                </a:solidFill>
                <a:latin typeface="Montserrat"/>
                <a:ea typeface="Montserrat"/>
                <a:cs typeface="Montserrat"/>
                <a:sym typeface="Montserrat"/>
              </a:rPr>
              <a:t>Talent development pipeline</a:t>
            </a:r>
            <a:endParaRPr b="0" i="0" sz="11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6"/>
          <p:cNvSpPr txBox="1"/>
          <p:nvPr>
            <p:ph type="title"/>
          </p:nvPr>
        </p:nvSpPr>
        <p:spPr>
          <a:xfrm>
            <a:off x="548640" y="962006"/>
            <a:ext cx="2874300" cy="7053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1"/>
              </a:buClr>
              <a:buSzPts val="2600"/>
              <a:buFont typeface="Montserrat Light"/>
              <a:buNone/>
            </a:pPr>
            <a:r>
              <a:rPr lang="en" sz="2600"/>
              <a:t>We</a:t>
            </a:r>
            <a:r>
              <a:rPr lang="en" sz="2600">
                <a:latin typeface="Montserrat"/>
                <a:ea typeface="Montserrat"/>
                <a:cs typeface="Montserrat"/>
                <a:sym typeface="Montserrat"/>
              </a:rPr>
              <a:t> </a:t>
            </a:r>
            <a:r>
              <a:rPr b="1" lang="en" sz="2600">
                <a:solidFill>
                  <a:schemeClr val="dk2"/>
                </a:solidFill>
                <a:latin typeface="Montserrat"/>
                <a:ea typeface="Montserrat"/>
                <a:cs typeface="Montserrat"/>
                <a:sym typeface="Montserrat"/>
              </a:rPr>
              <a:t>know</a:t>
            </a:r>
            <a:r>
              <a:rPr lang="en" sz="2600">
                <a:latin typeface="Montserrat"/>
                <a:ea typeface="Montserrat"/>
                <a:cs typeface="Montserrat"/>
                <a:sym typeface="Montserrat"/>
              </a:rPr>
              <a:t> </a:t>
            </a:r>
            <a:r>
              <a:rPr lang="en" sz="2600"/>
              <a:t>industry</a:t>
            </a:r>
            <a:endParaRPr sz="2600"/>
          </a:p>
        </p:txBody>
      </p:sp>
      <p:sp>
        <p:nvSpPr>
          <p:cNvPr id="299" name="Google Shape;299;p6"/>
          <p:cNvSpPr txBox="1"/>
          <p:nvPr/>
        </p:nvSpPr>
        <p:spPr>
          <a:xfrm>
            <a:off x="548640" y="2118614"/>
            <a:ext cx="2477700" cy="1660800"/>
          </a:xfrm>
          <a:prstGeom prst="rect">
            <a:avLst/>
          </a:prstGeom>
          <a:noFill/>
          <a:ln>
            <a:noFill/>
          </a:ln>
        </p:spPr>
        <p:txBody>
          <a:bodyPr anchorCtr="0" anchor="t" bIns="34275" lIns="0" spcFirstLastPara="1" rIns="68575" wrap="square" tIns="34275">
            <a:spAutoFit/>
          </a:bodyPr>
          <a:lstStyle/>
          <a:p>
            <a:pPr indent="0" lvl="0" marL="0" marR="0" rtl="0" algn="l">
              <a:lnSpc>
                <a:spcPct val="120000"/>
              </a:lnSpc>
              <a:spcBef>
                <a:spcPts val="0"/>
              </a:spcBef>
              <a:spcAft>
                <a:spcPts val="0"/>
              </a:spcAft>
              <a:buClr>
                <a:schemeClr val="dk1"/>
              </a:buClr>
              <a:buSzPts val="1100"/>
              <a:buFont typeface="Montserrat"/>
              <a:buNone/>
            </a:pPr>
            <a:r>
              <a:rPr b="0" i="0" lang="en" sz="1100" u="none" cap="none" strike="noStrike">
                <a:solidFill>
                  <a:schemeClr val="dk1"/>
                </a:solidFill>
                <a:latin typeface="Montserrat"/>
                <a:ea typeface="Montserrat"/>
                <a:cs typeface="Montserrat"/>
                <a:sym typeface="Montserrat"/>
              </a:rPr>
              <a:t>We bring together tenured industry, R&amp;D, and capability leaders through a team model customized to your unique requirements. We thrive at the intersection of people, process and technology to focus on outcomes.</a:t>
            </a:r>
            <a:endParaRPr b="0" i="0" sz="1100" u="none" cap="none" strike="noStrike">
              <a:solidFill>
                <a:srgbClr val="000000"/>
              </a:solidFill>
              <a:latin typeface="Arial"/>
              <a:ea typeface="Arial"/>
              <a:cs typeface="Arial"/>
              <a:sym typeface="Arial"/>
            </a:endParaRPr>
          </a:p>
        </p:txBody>
      </p:sp>
      <p:sp>
        <p:nvSpPr>
          <p:cNvPr id="300" name="Google Shape;300;p6"/>
          <p:cNvSpPr txBox="1"/>
          <p:nvPr/>
        </p:nvSpPr>
        <p:spPr>
          <a:xfrm>
            <a:off x="3812128" y="1322915"/>
            <a:ext cx="1209000" cy="669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50+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banking and insurance customers</a:t>
            </a:r>
            <a:endParaRPr b="0" i="0" sz="1100" u="none" cap="none" strike="noStrike">
              <a:solidFill>
                <a:srgbClr val="000000"/>
              </a:solidFill>
              <a:latin typeface="Arial"/>
              <a:ea typeface="Arial"/>
              <a:cs typeface="Arial"/>
              <a:sym typeface="Arial"/>
            </a:endParaRPr>
          </a:p>
        </p:txBody>
      </p:sp>
      <p:sp>
        <p:nvSpPr>
          <p:cNvPr id="301" name="Google Shape;301;p6"/>
          <p:cNvSpPr txBox="1"/>
          <p:nvPr/>
        </p:nvSpPr>
        <p:spPr>
          <a:xfrm>
            <a:off x="3780644" y="927851"/>
            <a:ext cx="49527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1E2345"/>
              </a:buClr>
              <a:buSzPts val="1400"/>
              <a:buFont typeface="Montserrat"/>
              <a:buNone/>
            </a:pPr>
            <a:r>
              <a:rPr b="0" i="0" lang="en" sz="1400" u="none" cap="none" strike="noStrike">
                <a:solidFill>
                  <a:srgbClr val="1E2345"/>
                </a:solidFill>
                <a:latin typeface="Montserrat"/>
                <a:ea typeface="Montserrat"/>
                <a:cs typeface="Montserrat"/>
                <a:sym typeface="Montserrat"/>
              </a:rPr>
              <a:t>We work with </a:t>
            </a:r>
            <a:endParaRPr b="0" i="0" sz="1100" u="none" cap="none" strike="noStrike">
              <a:solidFill>
                <a:srgbClr val="000000"/>
              </a:solidFill>
              <a:latin typeface="Arial"/>
              <a:ea typeface="Arial"/>
              <a:cs typeface="Arial"/>
              <a:sym typeface="Arial"/>
            </a:endParaRPr>
          </a:p>
        </p:txBody>
      </p:sp>
      <p:sp>
        <p:nvSpPr>
          <p:cNvPr id="302" name="Google Shape;302;p6"/>
          <p:cNvSpPr txBox="1"/>
          <p:nvPr/>
        </p:nvSpPr>
        <p:spPr>
          <a:xfrm>
            <a:off x="5479241" y="1333353"/>
            <a:ext cx="1938000" cy="669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8</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telecommunication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companies across the globe</a:t>
            </a:r>
            <a:endParaRPr b="0" i="0" sz="1100" u="none" cap="none" strike="noStrike">
              <a:solidFill>
                <a:srgbClr val="000000"/>
              </a:solidFill>
              <a:latin typeface="Arial"/>
              <a:ea typeface="Arial"/>
              <a:cs typeface="Arial"/>
              <a:sym typeface="Arial"/>
            </a:endParaRPr>
          </a:p>
        </p:txBody>
      </p:sp>
      <p:cxnSp>
        <p:nvCxnSpPr>
          <p:cNvPr id="303" name="Google Shape;303;p6"/>
          <p:cNvCxnSpPr/>
          <p:nvPr/>
        </p:nvCxnSpPr>
        <p:spPr>
          <a:xfrm>
            <a:off x="3589649" y="541090"/>
            <a:ext cx="0" cy="4054200"/>
          </a:xfrm>
          <a:prstGeom prst="straightConnector1">
            <a:avLst/>
          </a:prstGeom>
          <a:noFill/>
          <a:ln cap="flat" cmpd="sng" w="9525">
            <a:solidFill>
              <a:schemeClr val="lt2"/>
            </a:solidFill>
            <a:prstDash val="solid"/>
            <a:miter lim="80"/>
            <a:headEnd len="sm" w="sm" type="none"/>
            <a:tailEnd len="sm" w="sm" type="none"/>
          </a:ln>
        </p:spPr>
      </p:cxnSp>
      <p:sp>
        <p:nvSpPr>
          <p:cNvPr id="304" name="Google Shape;304;p6"/>
          <p:cNvSpPr txBox="1"/>
          <p:nvPr/>
        </p:nvSpPr>
        <p:spPr>
          <a:xfrm>
            <a:off x="3837609" y="2208721"/>
            <a:ext cx="1209000" cy="792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40+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fintech and Insurtech startup partnerships</a:t>
            </a:r>
            <a:endParaRPr b="0" i="0" sz="1100" u="none" cap="none" strike="noStrike">
              <a:solidFill>
                <a:srgbClr val="000000"/>
              </a:solidFill>
              <a:latin typeface="Arial"/>
              <a:ea typeface="Arial"/>
              <a:cs typeface="Arial"/>
              <a:sym typeface="Arial"/>
            </a:endParaRPr>
          </a:p>
        </p:txBody>
      </p:sp>
      <p:sp>
        <p:nvSpPr>
          <p:cNvPr id="305" name="Google Shape;305;p6"/>
          <p:cNvSpPr txBox="1"/>
          <p:nvPr/>
        </p:nvSpPr>
        <p:spPr>
          <a:xfrm>
            <a:off x="5718571" y="1430936"/>
            <a:ext cx="12678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900"/>
              <a:buFont typeface="Montserrat"/>
              <a:buNone/>
            </a:pPr>
            <a:r>
              <a:rPr b="1" i="0" lang="en" sz="900" u="none" cap="none" strike="noStrike">
                <a:solidFill>
                  <a:srgbClr val="5E2CFE"/>
                </a:solidFill>
                <a:latin typeface="Montserrat"/>
                <a:ea typeface="Montserrat"/>
                <a:cs typeface="Montserrat"/>
                <a:sym typeface="Montserrat"/>
              </a:rPr>
              <a:t>out of top 10 </a:t>
            </a:r>
            <a:endParaRPr b="1" i="0" sz="900" u="none" cap="none" strike="noStrike">
              <a:solidFill>
                <a:srgbClr val="36312D"/>
              </a:solidFill>
              <a:latin typeface="Arial"/>
              <a:ea typeface="Arial"/>
              <a:cs typeface="Arial"/>
              <a:sym typeface="Arial"/>
            </a:endParaRPr>
          </a:p>
        </p:txBody>
      </p:sp>
      <p:sp>
        <p:nvSpPr>
          <p:cNvPr id="306" name="Google Shape;306;p6"/>
          <p:cNvSpPr txBox="1"/>
          <p:nvPr/>
        </p:nvSpPr>
        <p:spPr>
          <a:xfrm>
            <a:off x="5479241" y="3879647"/>
            <a:ext cx="1746300" cy="546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12</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global retail companies</a:t>
            </a:r>
            <a:endParaRPr b="0" i="0" sz="800" u="none" cap="none" strike="noStrike">
              <a:solidFill>
                <a:srgbClr val="5E2CFE"/>
              </a:solidFill>
              <a:latin typeface="Montserrat"/>
              <a:ea typeface="Montserrat"/>
              <a:cs typeface="Montserrat"/>
              <a:sym typeface="Montserrat"/>
            </a:endParaRPr>
          </a:p>
        </p:txBody>
      </p:sp>
      <p:sp>
        <p:nvSpPr>
          <p:cNvPr id="307" name="Google Shape;307;p6"/>
          <p:cNvSpPr txBox="1"/>
          <p:nvPr/>
        </p:nvSpPr>
        <p:spPr>
          <a:xfrm>
            <a:off x="5806655" y="3977230"/>
            <a:ext cx="12678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900"/>
              <a:buFont typeface="Montserrat"/>
              <a:buNone/>
            </a:pPr>
            <a:r>
              <a:rPr b="1" i="0" lang="en" sz="900" u="none" cap="none" strike="noStrike">
                <a:solidFill>
                  <a:srgbClr val="5E2CFE"/>
                </a:solidFill>
                <a:latin typeface="Montserrat"/>
                <a:ea typeface="Montserrat"/>
                <a:cs typeface="Montserrat"/>
                <a:sym typeface="Montserrat"/>
              </a:rPr>
              <a:t>out of top 50 </a:t>
            </a:r>
            <a:endParaRPr b="1" i="0" sz="900" u="none" cap="none" strike="noStrike">
              <a:solidFill>
                <a:srgbClr val="36312D"/>
              </a:solidFill>
              <a:latin typeface="Arial"/>
              <a:ea typeface="Arial"/>
              <a:cs typeface="Arial"/>
              <a:sym typeface="Arial"/>
            </a:endParaRPr>
          </a:p>
        </p:txBody>
      </p:sp>
      <p:sp>
        <p:nvSpPr>
          <p:cNvPr id="308" name="Google Shape;308;p6"/>
          <p:cNvSpPr txBox="1"/>
          <p:nvPr/>
        </p:nvSpPr>
        <p:spPr>
          <a:xfrm>
            <a:off x="7279968" y="1319101"/>
            <a:ext cx="1746300" cy="546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6</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restaurant chains</a:t>
            </a:r>
            <a:endParaRPr b="0" i="0" sz="800" u="none" cap="none" strike="noStrike">
              <a:solidFill>
                <a:srgbClr val="5E2CFE"/>
              </a:solidFill>
              <a:latin typeface="Montserrat"/>
              <a:ea typeface="Montserrat"/>
              <a:cs typeface="Montserrat"/>
              <a:sym typeface="Montserrat"/>
            </a:endParaRPr>
          </a:p>
        </p:txBody>
      </p:sp>
      <p:sp>
        <p:nvSpPr>
          <p:cNvPr id="309" name="Google Shape;309;p6"/>
          <p:cNvSpPr txBox="1"/>
          <p:nvPr/>
        </p:nvSpPr>
        <p:spPr>
          <a:xfrm>
            <a:off x="7519298" y="1416683"/>
            <a:ext cx="12678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900"/>
              <a:buFont typeface="Montserrat"/>
              <a:buNone/>
            </a:pPr>
            <a:r>
              <a:rPr b="1" i="0" lang="en" sz="900" u="none" cap="none" strike="noStrike">
                <a:solidFill>
                  <a:srgbClr val="5E2CFE"/>
                </a:solidFill>
                <a:latin typeface="Montserrat"/>
                <a:ea typeface="Montserrat"/>
                <a:cs typeface="Montserrat"/>
                <a:sym typeface="Montserrat"/>
              </a:rPr>
              <a:t>out of top 10 </a:t>
            </a:r>
            <a:endParaRPr b="1" i="0" sz="900" u="none" cap="none" strike="noStrike">
              <a:solidFill>
                <a:srgbClr val="36312D"/>
              </a:solidFill>
              <a:latin typeface="Arial"/>
              <a:ea typeface="Arial"/>
              <a:cs typeface="Arial"/>
              <a:sym typeface="Arial"/>
            </a:endParaRPr>
          </a:p>
        </p:txBody>
      </p:sp>
      <p:sp>
        <p:nvSpPr>
          <p:cNvPr id="310" name="Google Shape;310;p6"/>
          <p:cNvSpPr txBox="1"/>
          <p:nvPr/>
        </p:nvSpPr>
        <p:spPr>
          <a:xfrm>
            <a:off x="7305449" y="2207834"/>
            <a:ext cx="1746300" cy="669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5E2CFE"/>
                </a:solidFill>
                <a:latin typeface="Montserrat"/>
                <a:ea typeface="Montserrat"/>
                <a:cs typeface="Montserrat"/>
                <a:sym typeface="Montserrat"/>
              </a:rPr>
              <a:t>30+</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chemeClr val="dk1"/>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large manufacturing and industrial customers</a:t>
            </a:r>
            <a:endParaRPr b="0" i="0" sz="800" u="none" cap="none" strike="noStrike">
              <a:solidFill>
                <a:srgbClr val="5E2CFE"/>
              </a:solidFill>
              <a:latin typeface="Montserrat"/>
              <a:ea typeface="Montserrat"/>
              <a:cs typeface="Montserrat"/>
              <a:sym typeface="Montserrat"/>
            </a:endParaRPr>
          </a:p>
        </p:txBody>
      </p:sp>
      <p:sp>
        <p:nvSpPr>
          <p:cNvPr id="311" name="Google Shape;311;p6"/>
          <p:cNvSpPr txBox="1"/>
          <p:nvPr/>
        </p:nvSpPr>
        <p:spPr>
          <a:xfrm>
            <a:off x="7279968" y="3086426"/>
            <a:ext cx="1746300" cy="546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4</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logistics companies</a:t>
            </a:r>
            <a:endParaRPr b="0" i="0" sz="800" u="none" cap="none" strike="noStrike">
              <a:solidFill>
                <a:srgbClr val="5E2CFE"/>
              </a:solidFill>
              <a:latin typeface="Montserrat"/>
              <a:ea typeface="Montserrat"/>
              <a:cs typeface="Montserrat"/>
              <a:sym typeface="Montserrat"/>
            </a:endParaRPr>
          </a:p>
        </p:txBody>
      </p:sp>
      <p:sp>
        <p:nvSpPr>
          <p:cNvPr id="312" name="Google Shape;312;p6"/>
          <p:cNvSpPr txBox="1"/>
          <p:nvPr/>
        </p:nvSpPr>
        <p:spPr>
          <a:xfrm>
            <a:off x="7519298" y="3184008"/>
            <a:ext cx="12678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900"/>
              <a:buFont typeface="Montserrat"/>
              <a:buNone/>
            </a:pPr>
            <a:r>
              <a:rPr b="1" i="0" lang="en" sz="900" u="none" cap="none" strike="noStrike">
                <a:solidFill>
                  <a:srgbClr val="5E2CFE"/>
                </a:solidFill>
                <a:latin typeface="Montserrat"/>
                <a:ea typeface="Montserrat"/>
                <a:cs typeface="Montserrat"/>
                <a:sym typeface="Montserrat"/>
              </a:rPr>
              <a:t>out of top 10 </a:t>
            </a:r>
            <a:endParaRPr b="1" i="0" sz="900" u="none" cap="none" strike="noStrike">
              <a:solidFill>
                <a:srgbClr val="36312D"/>
              </a:solidFill>
              <a:latin typeface="Arial"/>
              <a:ea typeface="Arial"/>
              <a:cs typeface="Arial"/>
              <a:sym typeface="Arial"/>
            </a:endParaRPr>
          </a:p>
        </p:txBody>
      </p:sp>
      <p:sp>
        <p:nvSpPr>
          <p:cNvPr id="313" name="Google Shape;313;p6"/>
          <p:cNvSpPr txBox="1"/>
          <p:nvPr/>
        </p:nvSpPr>
        <p:spPr>
          <a:xfrm>
            <a:off x="3812128" y="3108827"/>
            <a:ext cx="1209000" cy="546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100+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hospital systems</a:t>
            </a:r>
            <a:endParaRPr b="0" i="0" sz="800" u="none" cap="none" strike="noStrike">
              <a:solidFill>
                <a:srgbClr val="5E2CFE"/>
              </a:solidFill>
              <a:latin typeface="Montserrat"/>
              <a:ea typeface="Montserrat"/>
              <a:cs typeface="Montserrat"/>
              <a:sym typeface="Montserrat"/>
            </a:endParaRPr>
          </a:p>
        </p:txBody>
      </p:sp>
      <p:sp>
        <p:nvSpPr>
          <p:cNvPr id="314" name="Google Shape;314;p6"/>
          <p:cNvSpPr txBox="1"/>
          <p:nvPr/>
        </p:nvSpPr>
        <p:spPr>
          <a:xfrm>
            <a:off x="7225556" y="3880813"/>
            <a:ext cx="1746300" cy="546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9</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healthcare payers</a:t>
            </a:r>
            <a:endParaRPr b="0" i="0" sz="800" u="none" cap="none" strike="noStrike">
              <a:solidFill>
                <a:srgbClr val="5E2CFE"/>
              </a:solidFill>
              <a:latin typeface="Montserrat"/>
              <a:ea typeface="Montserrat"/>
              <a:cs typeface="Montserrat"/>
              <a:sym typeface="Montserrat"/>
            </a:endParaRPr>
          </a:p>
        </p:txBody>
      </p:sp>
      <p:sp>
        <p:nvSpPr>
          <p:cNvPr id="315" name="Google Shape;315;p6"/>
          <p:cNvSpPr txBox="1"/>
          <p:nvPr/>
        </p:nvSpPr>
        <p:spPr>
          <a:xfrm>
            <a:off x="7464886" y="3978395"/>
            <a:ext cx="12678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900"/>
              <a:buFont typeface="Montserrat"/>
              <a:buNone/>
            </a:pPr>
            <a:r>
              <a:rPr b="1" i="0" lang="en" sz="900" u="none" cap="none" strike="noStrike">
                <a:solidFill>
                  <a:srgbClr val="5E2CFE"/>
                </a:solidFill>
                <a:latin typeface="Montserrat"/>
                <a:ea typeface="Montserrat"/>
                <a:cs typeface="Montserrat"/>
                <a:sym typeface="Montserrat"/>
              </a:rPr>
              <a:t>out of top 10 </a:t>
            </a:r>
            <a:endParaRPr b="1" i="0" sz="900" u="none" cap="none" strike="noStrike">
              <a:solidFill>
                <a:srgbClr val="36312D"/>
              </a:solidFill>
              <a:latin typeface="Arial"/>
              <a:ea typeface="Arial"/>
              <a:cs typeface="Arial"/>
              <a:sym typeface="Arial"/>
            </a:endParaRPr>
          </a:p>
        </p:txBody>
      </p:sp>
      <p:sp>
        <p:nvSpPr>
          <p:cNvPr id="316" name="Google Shape;316;p6"/>
          <p:cNvSpPr txBox="1"/>
          <p:nvPr/>
        </p:nvSpPr>
        <p:spPr>
          <a:xfrm>
            <a:off x="5479241" y="2235236"/>
            <a:ext cx="1746300" cy="546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6</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pharmaceutical companies</a:t>
            </a:r>
            <a:endParaRPr b="0" i="0" sz="800" u="none" cap="none" strike="noStrike">
              <a:solidFill>
                <a:srgbClr val="5E2CFE"/>
              </a:solidFill>
              <a:latin typeface="Montserrat"/>
              <a:ea typeface="Montserrat"/>
              <a:cs typeface="Montserrat"/>
              <a:sym typeface="Montserrat"/>
            </a:endParaRPr>
          </a:p>
        </p:txBody>
      </p:sp>
      <p:sp>
        <p:nvSpPr>
          <p:cNvPr id="317" name="Google Shape;317;p6"/>
          <p:cNvSpPr txBox="1"/>
          <p:nvPr/>
        </p:nvSpPr>
        <p:spPr>
          <a:xfrm>
            <a:off x="5718570" y="2332818"/>
            <a:ext cx="12678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900"/>
              <a:buFont typeface="Montserrat"/>
              <a:buNone/>
            </a:pPr>
            <a:r>
              <a:rPr b="1" i="0" lang="en" sz="900" u="none" cap="none" strike="noStrike">
                <a:solidFill>
                  <a:srgbClr val="5E2CFE"/>
                </a:solidFill>
                <a:latin typeface="Montserrat"/>
                <a:ea typeface="Montserrat"/>
                <a:cs typeface="Montserrat"/>
                <a:sym typeface="Montserrat"/>
              </a:rPr>
              <a:t>out of top 10 </a:t>
            </a:r>
            <a:endParaRPr b="1" i="0" sz="900" u="none" cap="none" strike="noStrike">
              <a:solidFill>
                <a:srgbClr val="36312D"/>
              </a:solidFill>
              <a:latin typeface="Arial"/>
              <a:ea typeface="Arial"/>
              <a:cs typeface="Arial"/>
              <a:sym typeface="Arial"/>
            </a:endParaRPr>
          </a:p>
        </p:txBody>
      </p:sp>
      <p:sp>
        <p:nvSpPr>
          <p:cNvPr id="318" name="Google Shape;318;p6"/>
          <p:cNvSpPr txBox="1"/>
          <p:nvPr/>
        </p:nvSpPr>
        <p:spPr>
          <a:xfrm>
            <a:off x="5479241" y="3086426"/>
            <a:ext cx="1746300" cy="546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8</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med device</a:t>
            </a:r>
            <a:endParaRPr b="0" i="0" sz="800" u="none" cap="none" strike="noStrike">
              <a:solidFill>
                <a:srgbClr val="5E2CFE"/>
              </a:solidFill>
              <a:latin typeface="Montserrat"/>
              <a:ea typeface="Montserrat"/>
              <a:cs typeface="Montserrat"/>
              <a:sym typeface="Montserrat"/>
            </a:endParaRPr>
          </a:p>
        </p:txBody>
      </p:sp>
      <p:sp>
        <p:nvSpPr>
          <p:cNvPr id="319" name="Google Shape;319;p6"/>
          <p:cNvSpPr txBox="1"/>
          <p:nvPr/>
        </p:nvSpPr>
        <p:spPr>
          <a:xfrm>
            <a:off x="5718570" y="3184008"/>
            <a:ext cx="12678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900"/>
              <a:buFont typeface="Montserrat"/>
              <a:buNone/>
            </a:pPr>
            <a:r>
              <a:rPr b="1" i="0" lang="en" sz="900" u="none" cap="none" strike="noStrike">
                <a:solidFill>
                  <a:srgbClr val="5E2CFE"/>
                </a:solidFill>
                <a:latin typeface="Montserrat"/>
                <a:ea typeface="Montserrat"/>
                <a:cs typeface="Montserrat"/>
                <a:sym typeface="Montserrat"/>
              </a:rPr>
              <a:t>out of top 15 </a:t>
            </a:r>
            <a:endParaRPr b="1" i="0" sz="900" u="none" cap="none" strike="noStrike">
              <a:solidFill>
                <a:srgbClr val="36312D"/>
              </a:solidFill>
              <a:latin typeface="Arial"/>
              <a:ea typeface="Arial"/>
              <a:cs typeface="Arial"/>
              <a:sym typeface="Arial"/>
            </a:endParaRPr>
          </a:p>
        </p:txBody>
      </p:sp>
      <p:grpSp>
        <p:nvGrpSpPr>
          <p:cNvPr id="320" name="Google Shape;320;p6"/>
          <p:cNvGrpSpPr/>
          <p:nvPr/>
        </p:nvGrpSpPr>
        <p:grpSpPr>
          <a:xfrm>
            <a:off x="3862998" y="2101209"/>
            <a:ext cx="4668499" cy="1692479"/>
            <a:chOff x="5370971" y="2801612"/>
            <a:chExt cx="6004500" cy="2256638"/>
          </a:xfrm>
        </p:grpSpPr>
        <p:cxnSp>
          <p:nvCxnSpPr>
            <p:cNvPr id="321" name="Google Shape;321;p6"/>
            <p:cNvCxnSpPr/>
            <p:nvPr/>
          </p:nvCxnSpPr>
          <p:spPr>
            <a:xfrm rot="10800000">
              <a:off x="5370971" y="5058250"/>
              <a:ext cx="6004500" cy="0"/>
            </a:xfrm>
            <a:prstGeom prst="straightConnector1">
              <a:avLst/>
            </a:prstGeom>
            <a:noFill/>
            <a:ln cap="flat" cmpd="sng" w="9525">
              <a:solidFill>
                <a:srgbClr val="DED4FF"/>
              </a:solidFill>
              <a:prstDash val="solid"/>
              <a:miter lim="80"/>
              <a:headEnd len="sm" w="sm" type="none"/>
              <a:tailEnd len="sm" w="sm" type="none"/>
            </a:ln>
          </p:spPr>
        </p:cxnSp>
        <p:cxnSp>
          <p:nvCxnSpPr>
            <p:cNvPr id="322" name="Google Shape;322;p6"/>
            <p:cNvCxnSpPr/>
            <p:nvPr/>
          </p:nvCxnSpPr>
          <p:spPr>
            <a:xfrm rot="10800000">
              <a:off x="5370971" y="4009627"/>
              <a:ext cx="6004500" cy="0"/>
            </a:xfrm>
            <a:prstGeom prst="straightConnector1">
              <a:avLst/>
            </a:prstGeom>
            <a:noFill/>
            <a:ln cap="flat" cmpd="sng" w="9525">
              <a:solidFill>
                <a:srgbClr val="DED4FF"/>
              </a:solidFill>
              <a:prstDash val="solid"/>
              <a:miter lim="80"/>
              <a:headEnd len="sm" w="sm" type="none"/>
              <a:tailEnd len="sm" w="sm" type="none"/>
            </a:ln>
          </p:spPr>
        </p:cxnSp>
        <p:cxnSp>
          <p:nvCxnSpPr>
            <p:cNvPr id="323" name="Google Shape;323;p6"/>
            <p:cNvCxnSpPr/>
            <p:nvPr/>
          </p:nvCxnSpPr>
          <p:spPr>
            <a:xfrm rot="10800000">
              <a:off x="5370971" y="2801612"/>
              <a:ext cx="6004500" cy="0"/>
            </a:xfrm>
            <a:prstGeom prst="straightConnector1">
              <a:avLst/>
            </a:prstGeom>
            <a:noFill/>
            <a:ln cap="flat" cmpd="sng" w="9525">
              <a:solidFill>
                <a:srgbClr val="DED4FF"/>
              </a:solidFill>
              <a:prstDash val="solid"/>
              <a:miter lim="80"/>
              <a:headEnd len="sm" w="sm" type="none"/>
              <a:tailEnd len="sm" w="sm" type="none"/>
            </a:ln>
          </p:spPr>
        </p:cxnSp>
      </p:grpSp>
      <p:sp>
        <p:nvSpPr>
          <p:cNvPr id="324" name="Google Shape;324;p6"/>
          <p:cNvSpPr/>
          <p:nvPr/>
        </p:nvSpPr>
        <p:spPr>
          <a:xfrm>
            <a:off x="548640" y="3719830"/>
            <a:ext cx="2654400" cy="461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12,000+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5E2CFE"/>
              </a:buClr>
              <a:buSzPts val="800"/>
              <a:buFont typeface="Montserrat Medium"/>
              <a:buNone/>
            </a:pPr>
            <a:r>
              <a:rPr b="0" i="0" lang="en" sz="800" u="none" cap="none" strike="noStrike">
                <a:solidFill>
                  <a:srgbClr val="5E2CFE"/>
                </a:solidFill>
                <a:latin typeface="Montserrat Medium"/>
                <a:ea typeface="Montserrat Medium"/>
                <a:cs typeface="Montserrat Medium"/>
                <a:sym typeface="Montserrat Medium"/>
              </a:rPr>
              <a:t>industry-trained professionals</a:t>
            </a:r>
            <a:endParaRPr b="0" i="0" sz="1100" u="none" cap="none" strike="noStrike">
              <a:solidFill>
                <a:srgbClr val="000000"/>
              </a:solidFill>
              <a:latin typeface="Arial"/>
              <a:ea typeface="Arial"/>
              <a:cs typeface="Arial"/>
              <a:sym typeface="Arial"/>
            </a:endParaRPr>
          </a:p>
        </p:txBody>
      </p:sp>
      <p:sp>
        <p:nvSpPr>
          <p:cNvPr id="325" name="Google Shape;325;p6"/>
          <p:cNvSpPr txBox="1"/>
          <p:nvPr/>
        </p:nvSpPr>
        <p:spPr>
          <a:xfrm>
            <a:off x="3828980" y="3895294"/>
            <a:ext cx="1410900" cy="792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2300"/>
              <a:buFont typeface="Montserrat"/>
              <a:buNone/>
            </a:pPr>
            <a:r>
              <a:rPr b="1" i="0" lang="en" sz="2300" u="none" cap="none" strike="noStrike">
                <a:solidFill>
                  <a:srgbClr val="5E2CFE"/>
                </a:solidFill>
                <a:latin typeface="Montserrat"/>
                <a:ea typeface="Montserrat"/>
                <a:cs typeface="Montserrat"/>
                <a:sym typeface="Montserrat"/>
              </a:rPr>
              <a:t>12</a:t>
            </a:r>
            <a:r>
              <a:rPr b="0" i="0" lang="en" sz="800" u="none" cap="none" strike="noStrike">
                <a:solidFill>
                  <a:srgbClr val="5E2CFE"/>
                </a:solidFill>
                <a:latin typeface="Montserrat"/>
                <a:ea typeface="Montserrat"/>
                <a:cs typeface="Montserrat"/>
                <a:sym typeface="Montserrat"/>
              </a:rPr>
              <a:t> </a:t>
            </a:r>
            <a:br>
              <a:rPr b="0" i="0" lang="en" sz="800" u="none" cap="none" strike="noStrike">
                <a:solidFill>
                  <a:srgbClr val="5E2CFE"/>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Aftermarket services in jet engine manufacturing</a:t>
            </a:r>
            <a:endParaRPr b="0" i="0" sz="800" u="none" cap="none" strike="noStrike">
              <a:solidFill>
                <a:srgbClr val="5E2CFE"/>
              </a:solidFill>
              <a:latin typeface="Montserrat"/>
              <a:ea typeface="Montserrat"/>
              <a:cs typeface="Montserrat"/>
              <a:sym typeface="Montserrat"/>
            </a:endParaRPr>
          </a:p>
        </p:txBody>
      </p:sp>
      <p:sp>
        <p:nvSpPr>
          <p:cNvPr id="326" name="Google Shape;326;p6"/>
          <p:cNvSpPr txBox="1"/>
          <p:nvPr/>
        </p:nvSpPr>
        <p:spPr>
          <a:xfrm>
            <a:off x="4180005" y="3925955"/>
            <a:ext cx="1267800" cy="346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5E2CFE"/>
                </a:solidFill>
                <a:latin typeface="Montserrat"/>
                <a:ea typeface="Montserrat"/>
                <a:cs typeface="Montserrat"/>
                <a:sym typeface="Montserrat"/>
              </a:rPr>
              <a:t>years of experience</a:t>
            </a:r>
            <a:endParaRPr b="1" i="0" sz="900" u="none" cap="none" strike="noStrike">
              <a:solidFill>
                <a:srgbClr val="36312D"/>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7"/>
          <p:cNvSpPr txBox="1"/>
          <p:nvPr>
            <p:ph type="title"/>
          </p:nvPr>
        </p:nvSpPr>
        <p:spPr>
          <a:xfrm>
            <a:off x="480060" y="342900"/>
            <a:ext cx="7855500" cy="7053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dk1"/>
              </a:buClr>
              <a:buSzPts val="2400"/>
              <a:buFont typeface="Montserrat Light"/>
              <a:buNone/>
            </a:pPr>
            <a:r>
              <a:rPr lang="en"/>
              <a:t>With a track record of making experiences </a:t>
            </a:r>
            <a:br>
              <a:rPr lang="en"/>
            </a:br>
            <a:r>
              <a:rPr b="1" lang="en">
                <a:solidFill>
                  <a:schemeClr val="dk2"/>
                </a:solidFill>
                <a:latin typeface="Montserrat"/>
                <a:ea typeface="Montserrat"/>
                <a:cs typeface="Montserrat"/>
                <a:sym typeface="Montserrat"/>
              </a:rPr>
              <a:t>better with technology </a:t>
            </a:r>
            <a:r>
              <a:rPr lang="en"/>
              <a:t>across every interaction</a:t>
            </a:r>
            <a:endParaRPr/>
          </a:p>
        </p:txBody>
      </p:sp>
      <p:sp>
        <p:nvSpPr>
          <p:cNvPr id="333" name="Google Shape;333;p7"/>
          <p:cNvSpPr/>
          <p:nvPr/>
        </p:nvSpPr>
        <p:spPr>
          <a:xfrm>
            <a:off x="2601685" y="1196154"/>
            <a:ext cx="1941000" cy="11547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120M+ Americans manage personal health insurance through </a:t>
            </a:r>
            <a:r>
              <a:rPr b="1" i="0" lang="en" sz="800" u="none" cap="none" strike="noStrike">
                <a:solidFill>
                  <a:srgbClr val="141C27"/>
                </a:solidFill>
                <a:latin typeface="Montserrat"/>
                <a:ea typeface="Montserrat"/>
                <a:cs typeface="Montserrat"/>
                <a:sym typeface="Montserrat"/>
              </a:rPr>
              <a:t>systems we support at 8 of the top 10 US health payers </a:t>
            </a:r>
            <a:r>
              <a:rPr b="0" i="0" lang="en" sz="800" u="none" cap="none" strike="noStrike">
                <a:solidFill>
                  <a:srgbClr val="141C27"/>
                </a:solidFill>
                <a:latin typeface="Montserrat"/>
                <a:ea typeface="Montserrat"/>
                <a:cs typeface="Montserrat"/>
                <a:sym typeface="Montserrat"/>
              </a:rPr>
              <a:t>with greater speed, accuracy and satisfaction</a:t>
            </a:r>
            <a:endParaRPr b="0" i="0" sz="1400" u="none" cap="none" strike="noStrike">
              <a:solidFill>
                <a:schemeClr val="lt1"/>
              </a:solidFill>
              <a:latin typeface="Arial"/>
              <a:ea typeface="Arial"/>
              <a:cs typeface="Arial"/>
              <a:sym typeface="Arial"/>
            </a:endParaRPr>
          </a:p>
        </p:txBody>
      </p:sp>
      <p:sp>
        <p:nvSpPr>
          <p:cNvPr id="334" name="Google Shape;334;p7"/>
          <p:cNvSpPr/>
          <p:nvPr/>
        </p:nvSpPr>
        <p:spPr>
          <a:xfrm>
            <a:off x="6714124" y="1194697"/>
            <a:ext cx="1941000" cy="8349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41C27"/>
                </a:solidFill>
                <a:latin typeface="Montserrat"/>
                <a:ea typeface="Montserrat"/>
                <a:cs typeface="Montserrat"/>
                <a:sym typeface="Montserrat"/>
              </a:rPr>
              <a:t>We help over 65M people connect online at home </a:t>
            </a:r>
            <a:r>
              <a:rPr b="0" i="0" lang="en" sz="800" u="none" cap="none" strike="noStrike">
                <a:solidFill>
                  <a:srgbClr val="141C27"/>
                </a:solidFill>
                <a:latin typeface="Montserrat"/>
                <a:ea typeface="Montserrat"/>
                <a:cs typeface="Montserrat"/>
                <a:sym typeface="Montserrat"/>
              </a:rPr>
              <a:t>everyday through some of the world’s leading ISVs</a:t>
            </a:r>
            <a:endParaRPr b="0" i="0" sz="1400" u="none" cap="none" strike="noStrike">
              <a:solidFill>
                <a:schemeClr val="lt1"/>
              </a:solidFill>
              <a:latin typeface="Montserrat"/>
              <a:ea typeface="Montserrat"/>
              <a:cs typeface="Montserrat"/>
              <a:sym typeface="Montserrat"/>
            </a:endParaRPr>
          </a:p>
        </p:txBody>
      </p:sp>
      <p:sp>
        <p:nvSpPr>
          <p:cNvPr id="335" name="Google Shape;335;p7"/>
          <p:cNvSpPr/>
          <p:nvPr/>
        </p:nvSpPr>
        <p:spPr>
          <a:xfrm>
            <a:off x="545465" y="2186252"/>
            <a:ext cx="1941000" cy="7041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A </a:t>
            </a:r>
            <a:r>
              <a:rPr b="1" i="0" lang="en" sz="800" u="none" cap="none" strike="noStrike">
                <a:solidFill>
                  <a:srgbClr val="141C27"/>
                </a:solidFill>
                <a:latin typeface="Montserrat"/>
                <a:ea typeface="Montserrat"/>
                <a:cs typeface="Montserrat"/>
                <a:sym typeface="Montserrat"/>
              </a:rPr>
              <a:t>30% reduction </a:t>
            </a:r>
            <a:r>
              <a:rPr b="0" i="0" lang="en" sz="800" u="none" cap="none" strike="noStrike">
                <a:solidFill>
                  <a:srgbClr val="141C27"/>
                </a:solidFill>
                <a:latin typeface="Montserrat"/>
                <a:ea typeface="Montserrat"/>
                <a:cs typeface="Montserrat"/>
                <a:sym typeface="Montserrat"/>
              </a:rPr>
              <a:t>in claims handling time led to faster service</a:t>
            </a:r>
            <a:endParaRPr b="1" i="0" sz="800" u="none" cap="none" strike="noStrike">
              <a:solidFill>
                <a:srgbClr val="5E2CFE"/>
              </a:solidFill>
              <a:latin typeface="Montserrat"/>
              <a:ea typeface="Montserrat"/>
              <a:cs typeface="Montserrat"/>
              <a:sym typeface="Montserrat"/>
            </a:endParaRPr>
          </a:p>
        </p:txBody>
      </p:sp>
      <p:sp>
        <p:nvSpPr>
          <p:cNvPr id="336" name="Google Shape;336;p7"/>
          <p:cNvSpPr/>
          <p:nvPr/>
        </p:nvSpPr>
        <p:spPr>
          <a:xfrm>
            <a:off x="2601685" y="2397303"/>
            <a:ext cx="1941000" cy="8439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We help over 60M people a day </a:t>
            </a:r>
            <a:r>
              <a:rPr b="1" i="0" lang="en" sz="800" u="none" cap="none" strike="noStrike">
                <a:solidFill>
                  <a:srgbClr val="141C27"/>
                </a:solidFill>
                <a:latin typeface="Montserrat"/>
                <a:ea typeface="Montserrat"/>
                <a:cs typeface="Montserrat"/>
                <a:sym typeface="Montserrat"/>
              </a:rPr>
              <a:t>manage their personal banking through mobile and web applications </a:t>
            </a:r>
            <a:endParaRPr b="1" i="0" sz="800" u="none" cap="none" strike="noStrike">
              <a:solidFill>
                <a:srgbClr val="5E2CFE"/>
              </a:solidFill>
              <a:latin typeface="Montserrat"/>
              <a:ea typeface="Montserrat"/>
              <a:cs typeface="Montserrat"/>
              <a:sym typeface="Montserrat"/>
            </a:endParaRPr>
          </a:p>
        </p:txBody>
      </p:sp>
      <p:sp>
        <p:nvSpPr>
          <p:cNvPr id="337" name="Google Shape;337;p7"/>
          <p:cNvSpPr/>
          <p:nvPr/>
        </p:nvSpPr>
        <p:spPr>
          <a:xfrm>
            <a:off x="6714124" y="2066846"/>
            <a:ext cx="1941000" cy="10470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41C27"/>
                </a:solidFill>
                <a:latin typeface="Montserrat"/>
                <a:ea typeface="Montserrat"/>
                <a:cs typeface="Montserrat"/>
                <a:sym typeface="Montserrat"/>
              </a:rPr>
              <a:t>400M households globally search, stream and consume content </a:t>
            </a:r>
            <a:r>
              <a:rPr b="0" i="0" lang="en" sz="800" u="none" cap="none" strike="noStrike">
                <a:solidFill>
                  <a:srgbClr val="141C27"/>
                </a:solidFill>
                <a:latin typeface="Montserrat"/>
                <a:ea typeface="Montserrat"/>
                <a:cs typeface="Montserrat"/>
                <a:sym typeface="Montserrat"/>
              </a:rPr>
              <a:t>from one of the world’s leading media companies on an AI driven platform we created</a:t>
            </a:r>
            <a:endParaRPr b="0" i="0" sz="1400" u="none" cap="none" strike="noStrike">
              <a:solidFill>
                <a:schemeClr val="lt1"/>
              </a:solidFill>
              <a:latin typeface="Arial"/>
              <a:ea typeface="Arial"/>
              <a:cs typeface="Arial"/>
              <a:sym typeface="Arial"/>
            </a:endParaRPr>
          </a:p>
        </p:txBody>
      </p:sp>
      <p:sp>
        <p:nvSpPr>
          <p:cNvPr id="338" name="Google Shape;338;p7"/>
          <p:cNvSpPr/>
          <p:nvPr/>
        </p:nvSpPr>
        <p:spPr>
          <a:xfrm>
            <a:off x="545465" y="2931476"/>
            <a:ext cx="1941000" cy="7041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41C27"/>
                </a:solidFill>
                <a:latin typeface="Montserrat"/>
                <a:ea typeface="Montserrat"/>
                <a:cs typeface="Montserrat"/>
                <a:sym typeface="Montserrat"/>
              </a:rPr>
              <a:t>$9T in frictionless transactions </a:t>
            </a:r>
            <a:r>
              <a:rPr b="0" i="0" lang="en" sz="800" u="none" cap="none" strike="noStrike">
                <a:solidFill>
                  <a:srgbClr val="141C27"/>
                </a:solidFill>
                <a:latin typeface="Montserrat"/>
                <a:ea typeface="Montserrat"/>
                <a:cs typeface="Montserrat"/>
                <a:sym typeface="Montserrat"/>
              </a:rPr>
              <a:t>processed everyday in 160 countries</a:t>
            </a:r>
            <a:endParaRPr b="0" i="0" sz="800" u="none" cap="none" strike="noStrike">
              <a:solidFill>
                <a:srgbClr val="141C27"/>
              </a:solidFill>
              <a:latin typeface="Montserrat"/>
              <a:ea typeface="Montserrat"/>
              <a:cs typeface="Montserrat"/>
              <a:sym typeface="Montserrat"/>
            </a:endParaRPr>
          </a:p>
        </p:txBody>
      </p:sp>
      <p:sp>
        <p:nvSpPr>
          <p:cNvPr id="339" name="Google Shape;339;p7"/>
          <p:cNvSpPr/>
          <p:nvPr/>
        </p:nvSpPr>
        <p:spPr>
          <a:xfrm>
            <a:off x="2601685" y="3287670"/>
            <a:ext cx="1941000" cy="9972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5000+ remote patient monitoring devices are using the IoT-enabled, </a:t>
            </a:r>
            <a:r>
              <a:rPr b="1" i="0" lang="en" sz="800" u="none" cap="none" strike="noStrike">
                <a:solidFill>
                  <a:srgbClr val="141C27"/>
                </a:solidFill>
                <a:latin typeface="Montserrat"/>
                <a:ea typeface="Montserrat"/>
                <a:cs typeface="Montserrat"/>
                <a:sym typeface="Montserrat"/>
              </a:rPr>
              <a:t>HITRUST-certified renal </a:t>
            </a:r>
            <a:br>
              <a:rPr b="1" i="0" lang="en" sz="800" u="none" cap="none" strike="noStrike">
                <a:solidFill>
                  <a:schemeClr val="lt1"/>
                </a:solidFill>
                <a:latin typeface="Montserrat"/>
                <a:ea typeface="Montserrat"/>
                <a:cs typeface="Montserrat"/>
                <a:sym typeface="Montserrat"/>
              </a:rPr>
            </a:br>
            <a:r>
              <a:rPr b="1" i="0" lang="en" sz="800" u="none" cap="none" strike="noStrike">
                <a:solidFill>
                  <a:srgbClr val="141C27"/>
                </a:solidFill>
                <a:latin typeface="Montserrat"/>
                <a:ea typeface="Montserrat"/>
                <a:cs typeface="Montserrat"/>
                <a:sym typeface="Montserrat"/>
              </a:rPr>
              <a:t>care platform </a:t>
            </a:r>
            <a:endParaRPr b="0" i="0" sz="1400" u="none" cap="none" strike="noStrike">
              <a:solidFill>
                <a:schemeClr val="lt1"/>
              </a:solidFill>
              <a:latin typeface="Montserrat"/>
              <a:ea typeface="Montserrat"/>
              <a:cs typeface="Montserrat"/>
              <a:sym typeface="Montserrat"/>
            </a:endParaRPr>
          </a:p>
        </p:txBody>
      </p:sp>
      <p:sp>
        <p:nvSpPr>
          <p:cNvPr id="340" name="Google Shape;340;p7"/>
          <p:cNvSpPr/>
          <p:nvPr/>
        </p:nvSpPr>
        <p:spPr>
          <a:xfrm>
            <a:off x="4657904" y="2874790"/>
            <a:ext cx="1941000" cy="7680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41C27"/>
                </a:solidFill>
                <a:latin typeface="Montserrat"/>
                <a:ea typeface="Montserrat"/>
                <a:cs typeface="Montserrat"/>
                <a:sym typeface="Montserrat"/>
              </a:rPr>
              <a:t>Reduced transaction processing times by 20% </a:t>
            </a:r>
            <a:r>
              <a:rPr b="0" i="0" lang="en" sz="800" u="none" cap="none" strike="noStrike">
                <a:solidFill>
                  <a:srgbClr val="141C27"/>
                </a:solidFill>
                <a:latin typeface="Montserrat"/>
                <a:ea typeface="Montserrat"/>
                <a:cs typeface="Montserrat"/>
                <a:sym typeface="Montserrat"/>
              </a:rPr>
              <a:t>for a global bank</a:t>
            </a:r>
            <a:endParaRPr b="0" i="0" sz="800" u="none" cap="none" strike="noStrike">
              <a:solidFill>
                <a:srgbClr val="141C27"/>
              </a:solidFill>
              <a:latin typeface="Montserrat"/>
              <a:ea typeface="Montserrat"/>
              <a:cs typeface="Montserrat"/>
              <a:sym typeface="Montserrat"/>
            </a:endParaRPr>
          </a:p>
        </p:txBody>
      </p:sp>
      <p:sp>
        <p:nvSpPr>
          <p:cNvPr id="341" name="Google Shape;341;p7"/>
          <p:cNvSpPr/>
          <p:nvPr/>
        </p:nvSpPr>
        <p:spPr>
          <a:xfrm>
            <a:off x="6714124" y="3151035"/>
            <a:ext cx="1941000" cy="6954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41C27"/>
                </a:solidFill>
                <a:latin typeface="Montserrat"/>
                <a:ea typeface="Montserrat"/>
                <a:cs typeface="Montserrat"/>
                <a:sym typeface="Montserrat"/>
              </a:rPr>
              <a:t>Payroll processing for </a:t>
            </a:r>
            <a:br>
              <a:rPr b="1" i="0" lang="en" sz="800" u="none" cap="none" strike="noStrike">
                <a:solidFill>
                  <a:schemeClr val="lt1"/>
                </a:solidFill>
                <a:latin typeface="Montserrat"/>
                <a:ea typeface="Montserrat"/>
                <a:cs typeface="Montserrat"/>
                <a:sym typeface="Montserrat"/>
              </a:rPr>
            </a:br>
            <a:r>
              <a:rPr b="1" i="0" lang="en" sz="800" u="none" cap="none" strike="noStrike">
                <a:solidFill>
                  <a:srgbClr val="141C27"/>
                </a:solidFill>
                <a:latin typeface="Montserrat"/>
                <a:ea typeface="Montserrat"/>
                <a:cs typeface="Montserrat"/>
                <a:sym typeface="Montserrat"/>
              </a:rPr>
              <a:t>over 3.2M employees </a:t>
            </a:r>
            <a:r>
              <a:rPr b="0" i="0" lang="en" sz="800" u="none" cap="none" strike="noStrike">
                <a:solidFill>
                  <a:srgbClr val="141C27"/>
                </a:solidFill>
                <a:latin typeface="Montserrat"/>
                <a:ea typeface="Montserrat"/>
                <a:cs typeface="Montserrat"/>
                <a:sym typeface="Montserrat"/>
              </a:rPr>
              <a:t>across the US</a:t>
            </a:r>
            <a:endParaRPr b="0" i="0" sz="1400" u="none" cap="none" strike="noStrike">
              <a:solidFill>
                <a:schemeClr val="lt1"/>
              </a:solidFill>
              <a:latin typeface="Montserrat"/>
              <a:ea typeface="Montserrat"/>
              <a:cs typeface="Montserrat"/>
              <a:sym typeface="Montserrat"/>
            </a:endParaRPr>
          </a:p>
        </p:txBody>
      </p:sp>
      <p:sp>
        <p:nvSpPr>
          <p:cNvPr id="342" name="Google Shape;342;p7"/>
          <p:cNvSpPr/>
          <p:nvPr/>
        </p:nvSpPr>
        <p:spPr>
          <a:xfrm>
            <a:off x="654164" y="3171068"/>
            <a:ext cx="214798" cy="145044"/>
          </a:xfrm>
          <a:custGeom>
            <a:rect b="b" l="l" r="r" t="t"/>
            <a:pathLst>
              <a:path extrusionOk="0" h="161160" w="238664">
                <a:moveTo>
                  <a:pt x="178383" y="100878"/>
                </a:moveTo>
                <a:lnTo>
                  <a:pt x="195606" y="100878"/>
                </a:lnTo>
                <a:cubicBezTo>
                  <a:pt x="200528" y="100878"/>
                  <a:pt x="204218" y="104569"/>
                  <a:pt x="204218" y="109490"/>
                </a:cubicBezTo>
                <a:lnTo>
                  <a:pt x="204218" y="118101"/>
                </a:lnTo>
                <a:cubicBezTo>
                  <a:pt x="204218" y="123022"/>
                  <a:pt x="200528" y="126713"/>
                  <a:pt x="195606" y="126713"/>
                </a:cubicBezTo>
                <a:lnTo>
                  <a:pt x="178383" y="126713"/>
                </a:lnTo>
                <a:cubicBezTo>
                  <a:pt x="173463" y="126713"/>
                  <a:pt x="169772" y="123022"/>
                  <a:pt x="169772" y="118101"/>
                </a:cubicBezTo>
                <a:lnTo>
                  <a:pt x="169772" y="109490"/>
                </a:lnTo>
                <a:cubicBezTo>
                  <a:pt x="169772" y="104569"/>
                  <a:pt x="173463" y="100878"/>
                  <a:pt x="178383" y="100878"/>
                </a:cubicBezTo>
                <a:close/>
                <a:moveTo>
                  <a:pt x="17223" y="61511"/>
                </a:moveTo>
                <a:lnTo>
                  <a:pt x="17223" y="134095"/>
                </a:lnTo>
                <a:cubicBezTo>
                  <a:pt x="17223" y="139016"/>
                  <a:pt x="20914" y="142706"/>
                  <a:pt x="25835" y="142706"/>
                </a:cubicBezTo>
                <a:lnTo>
                  <a:pt x="212830" y="142706"/>
                </a:lnTo>
                <a:cubicBezTo>
                  <a:pt x="216520" y="142706"/>
                  <a:pt x="221441" y="139016"/>
                  <a:pt x="220211" y="134095"/>
                </a:cubicBezTo>
                <a:lnTo>
                  <a:pt x="220211" y="61511"/>
                </a:lnTo>
                <a:close/>
                <a:moveTo>
                  <a:pt x="25835" y="17223"/>
                </a:moveTo>
                <a:cubicBezTo>
                  <a:pt x="20914" y="17223"/>
                  <a:pt x="17223" y="20914"/>
                  <a:pt x="18453" y="25835"/>
                </a:cubicBezTo>
                <a:lnTo>
                  <a:pt x="18453" y="36907"/>
                </a:lnTo>
                <a:lnTo>
                  <a:pt x="221441" y="36907"/>
                </a:lnTo>
                <a:lnTo>
                  <a:pt x="221441" y="25835"/>
                </a:lnTo>
                <a:cubicBezTo>
                  <a:pt x="221441" y="20914"/>
                  <a:pt x="217750" y="17223"/>
                  <a:pt x="212830" y="17223"/>
                </a:cubicBezTo>
                <a:close/>
                <a:moveTo>
                  <a:pt x="25835" y="0"/>
                </a:moveTo>
                <a:lnTo>
                  <a:pt x="212830" y="0"/>
                </a:lnTo>
                <a:cubicBezTo>
                  <a:pt x="226362" y="0"/>
                  <a:pt x="237434" y="11072"/>
                  <a:pt x="238664" y="25835"/>
                </a:cubicBezTo>
                <a:lnTo>
                  <a:pt x="238664" y="135325"/>
                </a:lnTo>
                <a:cubicBezTo>
                  <a:pt x="238664" y="150088"/>
                  <a:pt x="226362" y="161160"/>
                  <a:pt x="212830" y="161160"/>
                </a:cubicBezTo>
                <a:lnTo>
                  <a:pt x="25835" y="161160"/>
                </a:lnTo>
                <a:cubicBezTo>
                  <a:pt x="11072" y="161160"/>
                  <a:pt x="0" y="148858"/>
                  <a:pt x="0" y="135325"/>
                </a:cubicBezTo>
                <a:lnTo>
                  <a:pt x="0" y="25835"/>
                </a:lnTo>
                <a:cubicBezTo>
                  <a:pt x="0" y="11072"/>
                  <a:pt x="12302" y="0"/>
                  <a:pt x="25835" y="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43" name="Google Shape;343;p7"/>
          <p:cNvSpPr/>
          <p:nvPr/>
        </p:nvSpPr>
        <p:spPr>
          <a:xfrm>
            <a:off x="4765166" y="3120474"/>
            <a:ext cx="245799" cy="212885"/>
          </a:xfrm>
          <a:custGeom>
            <a:rect b="b" l="l" r="r" t="t"/>
            <a:pathLst>
              <a:path extrusionOk="0" h="236539" w="273110">
                <a:moveTo>
                  <a:pt x="137786" y="54913"/>
                </a:moveTo>
                <a:cubicBezTo>
                  <a:pt x="142706" y="54913"/>
                  <a:pt x="146397" y="58604"/>
                  <a:pt x="146397" y="63525"/>
                </a:cubicBezTo>
                <a:lnTo>
                  <a:pt x="146397" y="73366"/>
                </a:lnTo>
                <a:cubicBezTo>
                  <a:pt x="161160" y="75827"/>
                  <a:pt x="172232" y="86899"/>
                  <a:pt x="172232" y="99201"/>
                </a:cubicBezTo>
                <a:cubicBezTo>
                  <a:pt x="172232" y="104122"/>
                  <a:pt x="168542" y="107813"/>
                  <a:pt x="163620" y="107813"/>
                </a:cubicBezTo>
                <a:cubicBezTo>
                  <a:pt x="158699" y="107813"/>
                  <a:pt x="155009" y="104122"/>
                  <a:pt x="155009" y="99201"/>
                </a:cubicBezTo>
                <a:cubicBezTo>
                  <a:pt x="155009" y="94280"/>
                  <a:pt x="148858" y="89359"/>
                  <a:pt x="139016" y="89359"/>
                </a:cubicBezTo>
                <a:cubicBezTo>
                  <a:pt x="139016" y="89359"/>
                  <a:pt x="137786" y="89359"/>
                  <a:pt x="137786" y="89359"/>
                </a:cubicBezTo>
                <a:cubicBezTo>
                  <a:pt x="137786" y="89359"/>
                  <a:pt x="136555" y="89359"/>
                  <a:pt x="136555" y="89359"/>
                </a:cubicBezTo>
                <a:cubicBezTo>
                  <a:pt x="127944" y="89359"/>
                  <a:pt x="120562" y="94280"/>
                  <a:pt x="120562" y="99201"/>
                </a:cubicBezTo>
                <a:cubicBezTo>
                  <a:pt x="120562" y="102892"/>
                  <a:pt x="127944" y="105352"/>
                  <a:pt x="140246" y="109043"/>
                </a:cubicBezTo>
                <a:cubicBezTo>
                  <a:pt x="153779" y="112734"/>
                  <a:pt x="172232" y="117655"/>
                  <a:pt x="172232" y="136108"/>
                </a:cubicBezTo>
                <a:cubicBezTo>
                  <a:pt x="172232" y="148410"/>
                  <a:pt x="161160" y="159482"/>
                  <a:pt x="146397" y="161943"/>
                </a:cubicBezTo>
                <a:lnTo>
                  <a:pt x="146397" y="173015"/>
                </a:lnTo>
                <a:cubicBezTo>
                  <a:pt x="146397" y="177936"/>
                  <a:pt x="142706" y="181626"/>
                  <a:pt x="137786" y="181626"/>
                </a:cubicBezTo>
                <a:cubicBezTo>
                  <a:pt x="132865" y="181626"/>
                  <a:pt x="129174" y="177936"/>
                  <a:pt x="129174" y="173015"/>
                </a:cubicBezTo>
                <a:lnTo>
                  <a:pt x="129174" y="161943"/>
                </a:lnTo>
                <a:cubicBezTo>
                  <a:pt x="114411" y="159482"/>
                  <a:pt x="103339" y="148410"/>
                  <a:pt x="103339" y="136108"/>
                </a:cubicBezTo>
                <a:cubicBezTo>
                  <a:pt x="103339" y="131187"/>
                  <a:pt x="107030" y="127497"/>
                  <a:pt x="111951" y="127497"/>
                </a:cubicBezTo>
                <a:cubicBezTo>
                  <a:pt x="116872" y="127497"/>
                  <a:pt x="120562" y="131187"/>
                  <a:pt x="120562" y="136108"/>
                </a:cubicBezTo>
                <a:cubicBezTo>
                  <a:pt x="120562" y="141029"/>
                  <a:pt x="127944" y="145950"/>
                  <a:pt x="137786" y="145950"/>
                </a:cubicBezTo>
                <a:cubicBezTo>
                  <a:pt x="147628" y="145950"/>
                  <a:pt x="155009" y="139799"/>
                  <a:pt x="155009" y="136108"/>
                </a:cubicBezTo>
                <a:cubicBezTo>
                  <a:pt x="155009" y="132417"/>
                  <a:pt x="147628" y="129957"/>
                  <a:pt x="135325" y="126266"/>
                </a:cubicBezTo>
                <a:cubicBezTo>
                  <a:pt x="121792" y="122576"/>
                  <a:pt x="103339" y="117655"/>
                  <a:pt x="103339" y="99201"/>
                </a:cubicBezTo>
                <a:cubicBezTo>
                  <a:pt x="103339" y="86899"/>
                  <a:pt x="114411" y="75827"/>
                  <a:pt x="129174" y="73366"/>
                </a:cubicBezTo>
                <a:lnTo>
                  <a:pt x="129174" y="63525"/>
                </a:lnTo>
                <a:cubicBezTo>
                  <a:pt x="129174" y="58604"/>
                  <a:pt x="132865" y="54913"/>
                  <a:pt x="137786" y="54913"/>
                </a:cubicBezTo>
                <a:close/>
                <a:moveTo>
                  <a:pt x="194376" y="43841"/>
                </a:moveTo>
                <a:cubicBezTo>
                  <a:pt x="198067" y="40150"/>
                  <a:pt x="202988" y="40150"/>
                  <a:pt x="206678" y="45071"/>
                </a:cubicBezTo>
                <a:cubicBezTo>
                  <a:pt x="226362" y="63525"/>
                  <a:pt x="238664" y="90589"/>
                  <a:pt x="238664" y="118885"/>
                </a:cubicBezTo>
                <a:cubicBezTo>
                  <a:pt x="238664" y="175475"/>
                  <a:pt x="193146" y="220993"/>
                  <a:pt x="136555" y="220993"/>
                </a:cubicBezTo>
                <a:lnTo>
                  <a:pt x="43058" y="220993"/>
                </a:lnTo>
                <a:lnTo>
                  <a:pt x="43058" y="229605"/>
                </a:lnTo>
                <a:cubicBezTo>
                  <a:pt x="43058" y="234526"/>
                  <a:pt x="36907" y="238217"/>
                  <a:pt x="31986" y="235756"/>
                </a:cubicBezTo>
                <a:lnTo>
                  <a:pt x="3691" y="218533"/>
                </a:lnTo>
                <a:cubicBezTo>
                  <a:pt x="-1230" y="216073"/>
                  <a:pt x="-1230" y="207461"/>
                  <a:pt x="3691" y="205001"/>
                </a:cubicBezTo>
                <a:lnTo>
                  <a:pt x="31986" y="187777"/>
                </a:lnTo>
                <a:cubicBezTo>
                  <a:pt x="36907" y="184087"/>
                  <a:pt x="43058" y="187777"/>
                  <a:pt x="43058" y="193929"/>
                </a:cubicBezTo>
                <a:lnTo>
                  <a:pt x="43058" y="202540"/>
                </a:lnTo>
                <a:lnTo>
                  <a:pt x="136555" y="202540"/>
                </a:lnTo>
                <a:cubicBezTo>
                  <a:pt x="183304" y="202540"/>
                  <a:pt x="221441" y="164403"/>
                  <a:pt x="221441" y="117654"/>
                </a:cubicBezTo>
                <a:cubicBezTo>
                  <a:pt x="221441" y="94280"/>
                  <a:pt x="211600" y="72136"/>
                  <a:pt x="194376" y="56143"/>
                </a:cubicBezTo>
                <a:cubicBezTo>
                  <a:pt x="191916" y="52452"/>
                  <a:pt x="190686" y="47532"/>
                  <a:pt x="194376" y="43841"/>
                </a:cubicBezTo>
                <a:close/>
                <a:moveTo>
                  <a:pt x="241125" y="783"/>
                </a:moveTo>
                <a:lnTo>
                  <a:pt x="269420" y="18006"/>
                </a:lnTo>
                <a:cubicBezTo>
                  <a:pt x="274341" y="20467"/>
                  <a:pt x="274341" y="27848"/>
                  <a:pt x="269420" y="30309"/>
                </a:cubicBezTo>
                <a:lnTo>
                  <a:pt x="241125" y="47532"/>
                </a:lnTo>
                <a:cubicBezTo>
                  <a:pt x="236205" y="51223"/>
                  <a:pt x="230053" y="47532"/>
                  <a:pt x="230053" y="41381"/>
                </a:cubicBezTo>
                <a:lnTo>
                  <a:pt x="230053" y="32769"/>
                </a:lnTo>
                <a:lnTo>
                  <a:pt x="136556" y="32769"/>
                </a:lnTo>
                <a:cubicBezTo>
                  <a:pt x="89807" y="32769"/>
                  <a:pt x="51670" y="70906"/>
                  <a:pt x="51670" y="117655"/>
                </a:cubicBezTo>
                <a:cubicBezTo>
                  <a:pt x="51670" y="141029"/>
                  <a:pt x="61512" y="163173"/>
                  <a:pt x="78735" y="179166"/>
                </a:cubicBezTo>
                <a:cubicBezTo>
                  <a:pt x="81195" y="182857"/>
                  <a:pt x="82426" y="187778"/>
                  <a:pt x="78735" y="191468"/>
                </a:cubicBezTo>
                <a:cubicBezTo>
                  <a:pt x="77505" y="192699"/>
                  <a:pt x="75044" y="193929"/>
                  <a:pt x="72584" y="193929"/>
                </a:cubicBezTo>
                <a:cubicBezTo>
                  <a:pt x="70124" y="193929"/>
                  <a:pt x="67663" y="192699"/>
                  <a:pt x="66433" y="191468"/>
                </a:cubicBezTo>
                <a:cubicBezTo>
                  <a:pt x="45519" y="171785"/>
                  <a:pt x="34447" y="145950"/>
                  <a:pt x="34447" y="117655"/>
                </a:cubicBezTo>
                <a:cubicBezTo>
                  <a:pt x="34447" y="61064"/>
                  <a:pt x="79966" y="15546"/>
                  <a:pt x="136556" y="15546"/>
                </a:cubicBezTo>
                <a:lnTo>
                  <a:pt x="230053" y="15546"/>
                </a:lnTo>
                <a:lnTo>
                  <a:pt x="230053" y="6934"/>
                </a:lnTo>
                <a:cubicBezTo>
                  <a:pt x="230053" y="2013"/>
                  <a:pt x="236205" y="-1677"/>
                  <a:pt x="241125" y="783"/>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44" name="Google Shape;344;p7"/>
          <p:cNvSpPr/>
          <p:nvPr/>
        </p:nvSpPr>
        <p:spPr>
          <a:xfrm>
            <a:off x="2700514" y="2704932"/>
            <a:ext cx="228084" cy="219226"/>
          </a:xfrm>
          <a:custGeom>
            <a:rect b="b" l="l" r="r" t="t"/>
            <a:pathLst>
              <a:path extrusionOk="0" h="243585" w="253427">
                <a:moveTo>
                  <a:pt x="202988" y="152548"/>
                </a:moveTo>
                <a:cubicBezTo>
                  <a:pt x="198067" y="152548"/>
                  <a:pt x="194376" y="156239"/>
                  <a:pt x="194376" y="161160"/>
                </a:cubicBezTo>
                <a:cubicBezTo>
                  <a:pt x="194376" y="166081"/>
                  <a:pt x="198067" y="169772"/>
                  <a:pt x="202988" y="169772"/>
                </a:cubicBezTo>
                <a:cubicBezTo>
                  <a:pt x="207909" y="169772"/>
                  <a:pt x="211599" y="166081"/>
                  <a:pt x="211599" y="161160"/>
                </a:cubicBezTo>
                <a:cubicBezTo>
                  <a:pt x="211599" y="156239"/>
                  <a:pt x="207909" y="152548"/>
                  <a:pt x="202988" y="152548"/>
                </a:cubicBezTo>
                <a:close/>
                <a:moveTo>
                  <a:pt x="202987" y="87346"/>
                </a:moveTo>
                <a:cubicBezTo>
                  <a:pt x="207743" y="87346"/>
                  <a:pt x="211599" y="91202"/>
                  <a:pt x="211599" y="95958"/>
                </a:cubicBezTo>
                <a:cubicBezTo>
                  <a:pt x="211599" y="100714"/>
                  <a:pt x="207743" y="104569"/>
                  <a:pt x="202987" y="104569"/>
                </a:cubicBezTo>
                <a:cubicBezTo>
                  <a:pt x="198231" y="104569"/>
                  <a:pt x="194376" y="100714"/>
                  <a:pt x="194376" y="95958"/>
                </a:cubicBezTo>
                <a:cubicBezTo>
                  <a:pt x="194376" y="91202"/>
                  <a:pt x="198231" y="87346"/>
                  <a:pt x="202987" y="87346"/>
                </a:cubicBezTo>
                <a:close/>
                <a:moveTo>
                  <a:pt x="118101" y="61511"/>
                </a:moveTo>
                <a:cubicBezTo>
                  <a:pt x="122857" y="61511"/>
                  <a:pt x="126713" y="65367"/>
                  <a:pt x="126713" y="70123"/>
                </a:cubicBezTo>
                <a:cubicBezTo>
                  <a:pt x="126713" y="74879"/>
                  <a:pt x="122857" y="78734"/>
                  <a:pt x="118101" y="78734"/>
                </a:cubicBezTo>
                <a:cubicBezTo>
                  <a:pt x="113345" y="78734"/>
                  <a:pt x="109489" y="74879"/>
                  <a:pt x="109489" y="70123"/>
                </a:cubicBezTo>
                <a:cubicBezTo>
                  <a:pt x="109489" y="65367"/>
                  <a:pt x="113345" y="61511"/>
                  <a:pt x="118101" y="61511"/>
                </a:cubicBezTo>
                <a:close/>
                <a:moveTo>
                  <a:pt x="40597" y="14763"/>
                </a:moveTo>
                <a:cubicBezTo>
                  <a:pt x="25835" y="14763"/>
                  <a:pt x="14763" y="27065"/>
                  <a:pt x="14763" y="40598"/>
                </a:cubicBezTo>
                <a:lnTo>
                  <a:pt x="14763" y="151318"/>
                </a:lnTo>
                <a:lnTo>
                  <a:pt x="177153" y="151318"/>
                </a:lnTo>
                <a:cubicBezTo>
                  <a:pt x="179614" y="141476"/>
                  <a:pt x="189455" y="134095"/>
                  <a:pt x="200527" y="134095"/>
                </a:cubicBezTo>
                <a:cubicBezTo>
                  <a:pt x="215290" y="134095"/>
                  <a:pt x="226362" y="146397"/>
                  <a:pt x="226362" y="159930"/>
                </a:cubicBezTo>
                <a:cubicBezTo>
                  <a:pt x="226362" y="174692"/>
                  <a:pt x="214060" y="185764"/>
                  <a:pt x="200527" y="185764"/>
                </a:cubicBezTo>
                <a:cubicBezTo>
                  <a:pt x="189455" y="185764"/>
                  <a:pt x="180844" y="178383"/>
                  <a:pt x="177153" y="168541"/>
                </a:cubicBezTo>
                <a:lnTo>
                  <a:pt x="14763" y="168541"/>
                </a:lnTo>
                <a:lnTo>
                  <a:pt x="14763" y="177153"/>
                </a:lnTo>
                <a:cubicBezTo>
                  <a:pt x="14763" y="191916"/>
                  <a:pt x="25835" y="202988"/>
                  <a:pt x="39367" y="202988"/>
                </a:cubicBezTo>
                <a:lnTo>
                  <a:pt x="39367" y="184534"/>
                </a:lnTo>
                <a:cubicBezTo>
                  <a:pt x="39367" y="179613"/>
                  <a:pt x="43058" y="175923"/>
                  <a:pt x="47979" y="175923"/>
                </a:cubicBezTo>
                <a:cubicBezTo>
                  <a:pt x="52900" y="175923"/>
                  <a:pt x="56591" y="179613"/>
                  <a:pt x="56591" y="184534"/>
                </a:cubicBezTo>
                <a:lnTo>
                  <a:pt x="56591" y="222671"/>
                </a:lnTo>
                <a:cubicBezTo>
                  <a:pt x="56591" y="226362"/>
                  <a:pt x="59051" y="228822"/>
                  <a:pt x="61511" y="228822"/>
                </a:cubicBezTo>
                <a:lnTo>
                  <a:pt x="172232" y="228822"/>
                </a:lnTo>
                <a:cubicBezTo>
                  <a:pt x="174692" y="228822"/>
                  <a:pt x="177153" y="226362"/>
                  <a:pt x="177153" y="222671"/>
                </a:cubicBezTo>
                <a:lnTo>
                  <a:pt x="177153" y="217750"/>
                </a:lnTo>
                <a:lnTo>
                  <a:pt x="172232" y="217750"/>
                </a:lnTo>
                <a:cubicBezTo>
                  <a:pt x="161160" y="217750"/>
                  <a:pt x="151318" y="207908"/>
                  <a:pt x="151318" y="196836"/>
                </a:cubicBezTo>
                <a:lnTo>
                  <a:pt x="151318" y="186995"/>
                </a:lnTo>
                <a:cubicBezTo>
                  <a:pt x="151318" y="182074"/>
                  <a:pt x="155009" y="178383"/>
                  <a:pt x="159930" y="178383"/>
                </a:cubicBezTo>
                <a:cubicBezTo>
                  <a:pt x="164851" y="178383"/>
                  <a:pt x="168541" y="182074"/>
                  <a:pt x="168541" y="186995"/>
                </a:cubicBezTo>
                <a:lnTo>
                  <a:pt x="168541" y="196836"/>
                </a:lnTo>
                <a:cubicBezTo>
                  <a:pt x="168541" y="199297"/>
                  <a:pt x="169771" y="200527"/>
                  <a:pt x="172232" y="200527"/>
                </a:cubicBezTo>
                <a:lnTo>
                  <a:pt x="232513" y="200527"/>
                </a:lnTo>
                <a:cubicBezTo>
                  <a:pt x="234974" y="200527"/>
                  <a:pt x="236204" y="199297"/>
                  <a:pt x="236204" y="196836"/>
                </a:cubicBezTo>
                <a:lnTo>
                  <a:pt x="238664" y="196836"/>
                </a:lnTo>
                <a:lnTo>
                  <a:pt x="238664" y="81195"/>
                </a:lnTo>
                <a:cubicBezTo>
                  <a:pt x="238664" y="78734"/>
                  <a:pt x="237434" y="77505"/>
                  <a:pt x="234974" y="77505"/>
                </a:cubicBezTo>
                <a:lnTo>
                  <a:pt x="174692" y="77505"/>
                </a:lnTo>
                <a:cubicBezTo>
                  <a:pt x="172232" y="77505"/>
                  <a:pt x="171002" y="78734"/>
                  <a:pt x="171002" y="81195"/>
                </a:cubicBezTo>
                <a:lnTo>
                  <a:pt x="171002" y="132865"/>
                </a:lnTo>
                <a:cubicBezTo>
                  <a:pt x="171002" y="137786"/>
                  <a:pt x="167311" y="141476"/>
                  <a:pt x="162390" y="141476"/>
                </a:cubicBezTo>
                <a:cubicBezTo>
                  <a:pt x="157469" y="141476"/>
                  <a:pt x="153778" y="137786"/>
                  <a:pt x="153778" y="132865"/>
                </a:cubicBezTo>
                <a:lnTo>
                  <a:pt x="153778" y="81195"/>
                </a:lnTo>
                <a:cubicBezTo>
                  <a:pt x="153778" y="70123"/>
                  <a:pt x="163620" y="60281"/>
                  <a:pt x="174692" y="60281"/>
                </a:cubicBezTo>
                <a:lnTo>
                  <a:pt x="179614" y="60281"/>
                </a:lnTo>
                <a:lnTo>
                  <a:pt x="179614" y="55360"/>
                </a:lnTo>
                <a:cubicBezTo>
                  <a:pt x="179614" y="51670"/>
                  <a:pt x="177153" y="49209"/>
                  <a:pt x="174692" y="49209"/>
                </a:cubicBezTo>
                <a:lnTo>
                  <a:pt x="63972" y="49209"/>
                </a:lnTo>
                <a:cubicBezTo>
                  <a:pt x="61511" y="49209"/>
                  <a:pt x="59051" y="51670"/>
                  <a:pt x="59051" y="55360"/>
                </a:cubicBezTo>
                <a:lnTo>
                  <a:pt x="59051" y="134095"/>
                </a:lnTo>
                <a:cubicBezTo>
                  <a:pt x="59051" y="139016"/>
                  <a:pt x="55360" y="142706"/>
                  <a:pt x="50440" y="142706"/>
                </a:cubicBezTo>
                <a:cubicBezTo>
                  <a:pt x="45519" y="142706"/>
                  <a:pt x="41828" y="139016"/>
                  <a:pt x="41828" y="134095"/>
                </a:cubicBezTo>
                <a:lnTo>
                  <a:pt x="41828" y="55360"/>
                </a:lnTo>
                <a:cubicBezTo>
                  <a:pt x="41828" y="43058"/>
                  <a:pt x="50440" y="33216"/>
                  <a:pt x="62742" y="33216"/>
                </a:cubicBezTo>
                <a:lnTo>
                  <a:pt x="173463" y="33216"/>
                </a:lnTo>
                <a:cubicBezTo>
                  <a:pt x="184534" y="33216"/>
                  <a:pt x="194376" y="43058"/>
                  <a:pt x="194376" y="55360"/>
                </a:cubicBezTo>
                <a:lnTo>
                  <a:pt x="194376" y="60281"/>
                </a:lnTo>
                <a:lnTo>
                  <a:pt x="218980" y="60281"/>
                </a:lnTo>
                <a:lnTo>
                  <a:pt x="218980" y="40598"/>
                </a:lnTo>
                <a:cubicBezTo>
                  <a:pt x="218980" y="25835"/>
                  <a:pt x="206678" y="14763"/>
                  <a:pt x="193146" y="14763"/>
                </a:cubicBezTo>
                <a:close/>
                <a:moveTo>
                  <a:pt x="41828" y="0"/>
                </a:moveTo>
                <a:lnTo>
                  <a:pt x="194376" y="0"/>
                </a:lnTo>
                <a:cubicBezTo>
                  <a:pt x="217750" y="0"/>
                  <a:pt x="236204" y="18453"/>
                  <a:pt x="236204" y="41828"/>
                </a:cubicBezTo>
                <a:lnTo>
                  <a:pt x="236204" y="62742"/>
                </a:lnTo>
                <a:cubicBezTo>
                  <a:pt x="246045" y="65202"/>
                  <a:pt x="253427" y="73814"/>
                  <a:pt x="253427" y="82425"/>
                </a:cubicBezTo>
                <a:lnTo>
                  <a:pt x="253427" y="195606"/>
                </a:lnTo>
                <a:cubicBezTo>
                  <a:pt x="253427" y="206678"/>
                  <a:pt x="243585" y="216520"/>
                  <a:pt x="232513" y="216520"/>
                </a:cubicBezTo>
                <a:lnTo>
                  <a:pt x="194376" y="216520"/>
                </a:lnTo>
                <a:lnTo>
                  <a:pt x="194376" y="221441"/>
                </a:lnTo>
                <a:cubicBezTo>
                  <a:pt x="194376" y="233743"/>
                  <a:pt x="185765" y="243585"/>
                  <a:pt x="173463" y="243585"/>
                </a:cubicBezTo>
                <a:lnTo>
                  <a:pt x="62742" y="243585"/>
                </a:lnTo>
                <a:cubicBezTo>
                  <a:pt x="51670" y="243585"/>
                  <a:pt x="41828" y="233743"/>
                  <a:pt x="41828" y="221441"/>
                </a:cubicBezTo>
                <a:lnTo>
                  <a:pt x="41828" y="218981"/>
                </a:lnTo>
                <a:cubicBezTo>
                  <a:pt x="18453" y="218981"/>
                  <a:pt x="0" y="200527"/>
                  <a:pt x="0" y="177153"/>
                </a:cubicBezTo>
                <a:lnTo>
                  <a:pt x="0" y="41828"/>
                </a:lnTo>
                <a:cubicBezTo>
                  <a:pt x="0" y="18453"/>
                  <a:pt x="18453" y="0"/>
                  <a:pt x="41828" y="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45" name="Google Shape;345;p7"/>
          <p:cNvSpPr/>
          <p:nvPr/>
        </p:nvSpPr>
        <p:spPr>
          <a:xfrm>
            <a:off x="2726539" y="3652255"/>
            <a:ext cx="211088" cy="220168"/>
          </a:xfrm>
          <a:custGeom>
            <a:rect b="b" l="l" r="r" t="t"/>
            <a:pathLst>
              <a:path extrusionOk="0" h="238664" w="228822">
                <a:moveTo>
                  <a:pt x="159929" y="70123"/>
                </a:moveTo>
                <a:cubicBezTo>
                  <a:pt x="164849" y="70123"/>
                  <a:pt x="168540" y="73814"/>
                  <a:pt x="168540" y="78734"/>
                </a:cubicBezTo>
                <a:lnTo>
                  <a:pt x="168540" y="95958"/>
                </a:lnTo>
                <a:lnTo>
                  <a:pt x="185763" y="95958"/>
                </a:lnTo>
                <a:cubicBezTo>
                  <a:pt x="189454" y="95958"/>
                  <a:pt x="194375" y="99648"/>
                  <a:pt x="194375" y="104569"/>
                </a:cubicBezTo>
                <a:cubicBezTo>
                  <a:pt x="194375" y="109490"/>
                  <a:pt x="190685" y="113181"/>
                  <a:pt x="185763" y="113181"/>
                </a:cubicBezTo>
                <a:lnTo>
                  <a:pt x="168540" y="113181"/>
                </a:lnTo>
                <a:lnTo>
                  <a:pt x="168540" y="130404"/>
                </a:lnTo>
                <a:cubicBezTo>
                  <a:pt x="168540" y="135325"/>
                  <a:pt x="164849" y="139016"/>
                  <a:pt x="159929" y="139016"/>
                </a:cubicBezTo>
                <a:cubicBezTo>
                  <a:pt x="155008" y="139016"/>
                  <a:pt x="151317" y="135325"/>
                  <a:pt x="151317" y="130404"/>
                </a:cubicBezTo>
                <a:lnTo>
                  <a:pt x="151317" y="113181"/>
                </a:lnTo>
                <a:lnTo>
                  <a:pt x="134094" y="113181"/>
                </a:lnTo>
                <a:cubicBezTo>
                  <a:pt x="129173" y="113181"/>
                  <a:pt x="125482" y="109490"/>
                  <a:pt x="125482" y="104569"/>
                </a:cubicBezTo>
                <a:cubicBezTo>
                  <a:pt x="125482" y="99648"/>
                  <a:pt x="129173" y="95958"/>
                  <a:pt x="134094" y="95958"/>
                </a:cubicBezTo>
                <a:lnTo>
                  <a:pt x="151317" y="95958"/>
                </a:lnTo>
                <a:lnTo>
                  <a:pt x="151317" y="78734"/>
                </a:lnTo>
                <a:cubicBezTo>
                  <a:pt x="151317" y="73814"/>
                  <a:pt x="155008" y="70123"/>
                  <a:pt x="159929" y="70123"/>
                </a:cubicBezTo>
                <a:close/>
                <a:moveTo>
                  <a:pt x="118102" y="61511"/>
                </a:moveTo>
                <a:cubicBezTo>
                  <a:pt x="113180" y="61511"/>
                  <a:pt x="109490" y="65202"/>
                  <a:pt x="109490" y="70123"/>
                </a:cubicBezTo>
                <a:lnTo>
                  <a:pt x="109490" y="168541"/>
                </a:lnTo>
                <a:lnTo>
                  <a:pt x="129174" y="148858"/>
                </a:lnTo>
                <a:cubicBezTo>
                  <a:pt x="130404" y="147627"/>
                  <a:pt x="132864" y="146397"/>
                  <a:pt x="135325" y="146397"/>
                </a:cubicBezTo>
                <a:lnTo>
                  <a:pt x="201757" y="146397"/>
                </a:lnTo>
                <a:cubicBezTo>
                  <a:pt x="206678" y="146397"/>
                  <a:pt x="210369" y="142706"/>
                  <a:pt x="210369" y="137786"/>
                </a:cubicBezTo>
                <a:lnTo>
                  <a:pt x="211599" y="137786"/>
                </a:lnTo>
                <a:lnTo>
                  <a:pt x="211599" y="70123"/>
                </a:lnTo>
                <a:cubicBezTo>
                  <a:pt x="211599" y="65202"/>
                  <a:pt x="207908" y="61511"/>
                  <a:pt x="202988" y="61511"/>
                </a:cubicBezTo>
                <a:close/>
                <a:moveTo>
                  <a:pt x="36907" y="0"/>
                </a:moveTo>
                <a:lnTo>
                  <a:pt x="180843" y="0"/>
                </a:lnTo>
                <a:cubicBezTo>
                  <a:pt x="195606" y="0"/>
                  <a:pt x="206678" y="12302"/>
                  <a:pt x="206678" y="25835"/>
                </a:cubicBezTo>
                <a:lnTo>
                  <a:pt x="206678" y="45519"/>
                </a:lnTo>
                <a:cubicBezTo>
                  <a:pt x="217750" y="46749"/>
                  <a:pt x="227592" y="57821"/>
                  <a:pt x="228822" y="72583"/>
                </a:cubicBezTo>
                <a:lnTo>
                  <a:pt x="228822" y="140246"/>
                </a:lnTo>
                <a:cubicBezTo>
                  <a:pt x="228822" y="152548"/>
                  <a:pt x="218980" y="163620"/>
                  <a:pt x="206678" y="164850"/>
                </a:cubicBezTo>
                <a:lnTo>
                  <a:pt x="206678" y="212830"/>
                </a:lnTo>
                <a:cubicBezTo>
                  <a:pt x="206678" y="227592"/>
                  <a:pt x="194376" y="238664"/>
                  <a:pt x="180843" y="238664"/>
                </a:cubicBezTo>
                <a:lnTo>
                  <a:pt x="25834" y="238664"/>
                </a:lnTo>
                <a:cubicBezTo>
                  <a:pt x="11072" y="238664"/>
                  <a:pt x="0" y="226362"/>
                  <a:pt x="0" y="212830"/>
                </a:cubicBezTo>
                <a:lnTo>
                  <a:pt x="0" y="186995"/>
                </a:lnTo>
                <a:cubicBezTo>
                  <a:pt x="0" y="182074"/>
                  <a:pt x="3691" y="178383"/>
                  <a:pt x="8611" y="178383"/>
                </a:cubicBezTo>
                <a:lnTo>
                  <a:pt x="51669" y="178383"/>
                </a:lnTo>
                <a:cubicBezTo>
                  <a:pt x="54130" y="173462"/>
                  <a:pt x="60281" y="169772"/>
                  <a:pt x="66432" y="169772"/>
                </a:cubicBezTo>
                <a:cubicBezTo>
                  <a:pt x="76273" y="169772"/>
                  <a:pt x="83655" y="177153"/>
                  <a:pt x="83655" y="186995"/>
                </a:cubicBezTo>
                <a:cubicBezTo>
                  <a:pt x="83655" y="196836"/>
                  <a:pt x="76273" y="204218"/>
                  <a:pt x="66432" y="204218"/>
                </a:cubicBezTo>
                <a:cubicBezTo>
                  <a:pt x="60281" y="204218"/>
                  <a:pt x="54130" y="200527"/>
                  <a:pt x="51669" y="195606"/>
                </a:cubicBezTo>
                <a:lnTo>
                  <a:pt x="17223" y="195606"/>
                </a:lnTo>
                <a:lnTo>
                  <a:pt x="17223" y="212830"/>
                </a:lnTo>
                <a:cubicBezTo>
                  <a:pt x="17223" y="217750"/>
                  <a:pt x="20913" y="221441"/>
                  <a:pt x="25834" y="221441"/>
                </a:cubicBezTo>
                <a:lnTo>
                  <a:pt x="180843" y="221441"/>
                </a:lnTo>
                <a:cubicBezTo>
                  <a:pt x="185764" y="221441"/>
                  <a:pt x="189455" y="217750"/>
                  <a:pt x="189455" y="212830"/>
                </a:cubicBezTo>
                <a:lnTo>
                  <a:pt x="189455" y="164850"/>
                </a:lnTo>
                <a:lnTo>
                  <a:pt x="139016" y="164850"/>
                </a:lnTo>
                <a:lnTo>
                  <a:pt x="107029" y="196836"/>
                </a:lnTo>
                <a:cubicBezTo>
                  <a:pt x="105799" y="198067"/>
                  <a:pt x="103339" y="199297"/>
                  <a:pt x="100878" y="199297"/>
                </a:cubicBezTo>
                <a:cubicBezTo>
                  <a:pt x="99648" y="199297"/>
                  <a:pt x="98418" y="198067"/>
                  <a:pt x="97188" y="198067"/>
                </a:cubicBezTo>
                <a:cubicBezTo>
                  <a:pt x="94727" y="196836"/>
                  <a:pt x="92267" y="194376"/>
                  <a:pt x="92267" y="190685"/>
                </a:cubicBezTo>
                <a:lnTo>
                  <a:pt x="92267" y="71353"/>
                </a:lnTo>
                <a:cubicBezTo>
                  <a:pt x="92267" y="56591"/>
                  <a:pt x="104569" y="45519"/>
                  <a:pt x="118102" y="45519"/>
                </a:cubicBezTo>
                <a:lnTo>
                  <a:pt x="189455" y="45519"/>
                </a:lnTo>
                <a:lnTo>
                  <a:pt x="189455" y="25835"/>
                </a:lnTo>
                <a:cubicBezTo>
                  <a:pt x="189455" y="20914"/>
                  <a:pt x="185764" y="17223"/>
                  <a:pt x="180843" y="17223"/>
                </a:cubicBezTo>
                <a:lnTo>
                  <a:pt x="36907" y="17223"/>
                </a:lnTo>
                <a:cubicBezTo>
                  <a:pt x="31986" y="17223"/>
                  <a:pt x="28295" y="20914"/>
                  <a:pt x="28295" y="25835"/>
                </a:cubicBezTo>
                <a:lnTo>
                  <a:pt x="28295" y="161160"/>
                </a:lnTo>
                <a:cubicBezTo>
                  <a:pt x="28295" y="166081"/>
                  <a:pt x="24605" y="169772"/>
                  <a:pt x="19683" y="169772"/>
                </a:cubicBezTo>
                <a:cubicBezTo>
                  <a:pt x="14762" y="169772"/>
                  <a:pt x="11072" y="166081"/>
                  <a:pt x="11072" y="161160"/>
                </a:cubicBezTo>
                <a:lnTo>
                  <a:pt x="11072" y="25835"/>
                </a:lnTo>
                <a:cubicBezTo>
                  <a:pt x="11072" y="11072"/>
                  <a:pt x="23374" y="0"/>
                  <a:pt x="36907" y="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46" name="Google Shape;346;p7"/>
          <p:cNvSpPr/>
          <p:nvPr/>
        </p:nvSpPr>
        <p:spPr>
          <a:xfrm>
            <a:off x="6835675" y="1473563"/>
            <a:ext cx="233858" cy="178582"/>
          </a:xfrm>
          <a:custGeom>
            <a:rect b="b" l="l" r="r" t="t"/>
            <a:pathLst>
              <a:path extrusionOk="0" h="180843" w="236818">
                <a:moveTo>
                  <a:pt x="118409" y="146397"/>
                </a:moveTo>
                <a:cubicBezTo>
                  <a:pt x="127921" y="146397"/>
                  <a:pt x="135633" y="154108"/>
                  <a:pt x="135633" y="163620"/>
                </a:cubicBezTo>
                <a:cubicBezTo>
                  <a:pt x="135633" y="173132"/>
                  <a:pt x="127921" y="180843"/>
                  <a:pt x="118409" y="180843"/>
                </a:cubicBezTo>
                <a:cubicBezTo>
                  <a:pt x="108897" y="180843"/>
                  <a:pt x="101186" y="173132"/>
                  <a:pt x="101186" y="163620"/>
                </a:cubicBezTo>
                <a:cubicBezTo>
                  <a:pt x="101186" y="154108"/>
                  <a:pt x="108897" y="146397"/>
                  <a:pt x="118409" y="146397"/>
                </a:cubicBezTo>
                <a:close/>
                <a:moveTo>
                  <a:pt x="119179" y="106415"/>
                </a:moveTo>
                <a:cubicBezTo>
                  <a:pt x="133787" y="106415"/>
                  <a:pt x="148550" y="111951"/>
                  <a:pt x="160237" y="123023"/>
                </a:cubicBezTo>
                <a:cubicBezTo>
                  <a:pt x="163928" y="126714"/>
                  <a:pt x="163928" y="131635"/>
                  <a:pt x="160237" y="135326"/>
                </a:cubicBezTo>
                <a:cubicBezTo>
                  <a:pt x="159007" y="136556"/>
                  <a:pt x="156546" y="137786"/>
                  <a:pt x="154086" y="137786"/>
                </a:cubicBezTo>
                <a:cubicBezTo>
                  <a:pt x="151626" y="137786"/>
                  <a:pt x="149165" y="136556"/>
                  <a:pt x="147935" y="135326"/>
                </a:cubicBezTo>
                <a:cubicBezTo>
                  <a:pt x="131942" y="119332"/>
                  <a:pt x="107337" y="119332"/>
                  <a:pt x="91344" y="135326"/>
                </a:cubicBezTo>
                <a:cubicBezTo>
                  <a:pt x="87654" y="139016"/>
                  <a:pt x="82733" y="139016"/>
                  <a:pt x="79042" y="135326"/>
                </a:cubicBezTo>
                <a:cubicBezTo>
                  <a:pt x="75351" y="131635"/>
                  <a:pt x="75351" y="126714"/>
                  <a:pt x="79042" y="123023"/>
                </a:cubicBezTo>
                <a:cubicBezTo>
                  <a:pt x="90114" y="111951"/>
                  <a:pt x="104570" y="106415"/>
                  <a:pt x="119179" y="106415"/>
                </a:cubicBezTo>
                <a:close/>
                <a:moveTo>
                  <a:pt x="118871" y="71661"/>
                </a:moveTo>
                <a:cubicBezTo>
                  <a:pt x="142399" y="71661"/>
                  <a:pt x="165773" y="80580"/>
                  <a:pt x="183611" y="98418"/>
                </a:cubicBezTo>
                <a:cubicBezTo>
                  <a:pt x="187302" y="102109"/>
                  <a:pt x="187302" y="107030"/>
                  <a:pt x="183611" y="110721"/>
                </a:cubicBezTo>
                <a:cubicBezTo>
                  <a:pt x="182381" y="111951"/>
                  <a:pt x="179920" y="113181"/>
                  <a:pt x="177460" y="113181"/>
                </a:cubicBezTo>
                <a:cubicBezTo>
                  <a:pt x="174999" y="113181"/>
                  <a:pt x="172539" y="111951"/>
                  <a:pt x="171309" y="110721"/>
                </a:cubicBezTo>
                <a:cubicBezTo>
                  <a:pt x="143013" y="81195"/>
                  <a:pt x="95035" y="81195"/>
                  <a:pt x="65509" y="110721"/>
                </a:cubicBezTo>
                <a:cubicBezTo>
                  <a:pt x="61819" y="114411"/>
                  <a:pt x="56897" y="114411"/>
                  <a:pt x="53207" y="110721"/>
                </a:cubicBezTo>
                <a:cubicBezTo>
                  <a:pt x="49516" y="107030"/>
                  <a:pt x="49516" y="102109"/>
                  <a:pt x="53207" y="98418"/>
                </a:cubicBezTo>
                <a:cubicBezTo>
                  <a:pt x="71661" y="80580"/>
                  <a:pt x="95343" y="71661"/>
                  <a:pt x="118871" y="71661"/>
                </a:cubicBezTo>
                <a:close/>
                <a:moveTo>
                  <a:pt x="118564" y="35985"/>
                </a:moveTo>
                <a:cubicBezTo>
                  <a:pt x="151318" y="35985"/>
                  <a:pt x="184227" y="48595"/>
                  <a:pt x="209446" y="73815"/>
                </a:cubicBezTo>
                <a:cubicBezTo>
                  <a:pt x="213137" y="77505"/>
                  <a:pt x="213137" y="82426"/>
                  <a:pt x="209446" y="86117"/>
                </a:cubicBezTo>
                <a:cubicBezTo>
                  <a:pt x="208216" y="87347"/>
                  <a:pt x="205756" y="88577"/>
                  <a:pt x="203295" y="88577"/>
                </a:cubicBezTo>
                <a:cubicBezTo>
                  <a:pt x="200835" y="88577"/>
                  <a:pt x="198374" y="87347"/>
                  <a:pt x="197144" y="86117"/>
                </a:cubicBezTo>
                <a:cubicBezTo>
                  <a:pt x="154086" y="43059"/>
                  <a:pt x="83963" y="43059"/>
                  <a:pt x="40905" y="86117"/>
                </a:cubicBezTo>
                <a:cubicBezTo>
                  <a:pt x="37215" y="89807"/>
                  <a:pt x="32293" y="89807"/>
                  <a:pt x="28603" y="86117"/>
                </a:cubicBezTo>
                <a:cubicBezTo>
                  <a:pt x="24912" y="82426"/>
                  <a:pt x="24912" y="77505"/>
                  <a:pt x="28603" y="73815"/>
                </a:cubicBezTo>
                <a:cubicBezTo>
                  <a:pt x="53208" y="48595"/>
                  <a:pt x="85809" y="35985"/>
                  <a:pt x="118564" y="35985"/>
                </a:cubicBezTo>
                <a:close/>
                <a:moveTo>
                  <a:pt x="118409" y="0"/>
                </a:moveTo>
                <a:cubicBezTo>
                  <a:pt x="162697" y="0"/>
                  <a:pt x="203295" y="17223"/>
                  <a:pt x="234051" y="47979"/>
                </a:cubicBezTo>
                <a:cubicBezTo>
                  <a:pt x="237741" y="51669"/>
                  <a:pt x="237741" y="56591"/>
                  <a:pt x="234051" y="60281"/>
                </a:cubicBezTo>
                <a:cubicBezTo>
                  <a:pt x="232821" y="61511"/>
                  <a:pt x="230360" y="62742"/>
                  <a:pt x="227900" y="62742"/>
                </a:cubicBezTo>
                <a:cubicBezTo>
                  <a:pt x="225439" y="62742"/>
                  <a:pt x="222979" y="61511"/>
                  <a:pt x="221749" y="60281"/>
                </a:cubicBezTo>
                <a:cubicBezTo>
                  <a:pt x="193453" y="31986"/>
                  <a:pt x="157777" y="17223"/>
                  <a:pt x="118409" y="17223"/>
                </a:cubicBezTo>
                <a:cubicBezTo>
                  <a:pt x="79042" y="17223"/>
                  <a:pt x="42135" y="33216"/>
                  <a:pt x="15070" y="60281"/>
                </a:cubicBezTo>
                <a:cubicBezTo>
                  <a:pt x="11380" y="63972"/>
                  <a:pt x="6459" y="63972"/>
                  <a:pt x="2768" y="60281"/>
                </a:cubicBezTo>
                <a:cubicBezTo>
                  <a:pt x="-923" y="56591"/>
                  <a:pt x="-923" y="51669"/>
                  <a:pt x="2768" y="47979"/>
                </a:cubicBezTo>
                <a:cubicBezTo>
                  <a:pt x="33524" y="17223"/>
                  <a:pt x="75351" y="0"/>
                  <a:pt x="118409" y="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47" name="Google Shape;347;p7"/>
          <p:cNvSpPr/>
          <p:nvPr/>
        </p:nvSpPr>
        <p:spPr>
          <a:xfrm>
            <a:off x="653212" y="2397425"/>
            <a:ext cx="227994" cy="230311"/>
          </a:xfrm>
          <a:custGeom>
            <a:rect b="b" l="l" r="r" t="t"/>
            <a:pathLst>
              <a:path extrusionOk="0" h="237434" w="235045">
                <a:moveTo>
                  <a:pt x="15993" y="194376"/>
                </a:moveTo>
                <a:cubicBezTo>
                  <a:pt x="15993" y="209139"/>
                  <a:pt x="28295" y="220211"/>
                  <a:pt x="41828" y="220211"/>
                </a:cubicBezTo>
                <a:lnTo>
                  <a:pt x="83655" y="220211"/>
                </a:lnTo>
                <a:lnTo>
                  <a:pt x="109491" y="220211"/>
                </a:lnTo>
                <a:cubicBezTo>
                  <a:pt x="104569" y="212829"/>
                  <a:pt x="100879" y="204217"/>
                  <a:pt x="100879" y="194376"/>
                </a:cubicBezTo>
                <a:close/>
                <a:moveTo>
                  <a:pt x="83655" y="143937"/>
                </a:moveTo>
                <a:lnTo>
                  <a:pt x="142707" y="143937"/>
                </a:lnTo>
                <a:cubicBezTo>
                  <a:pt x="147627" y="143937"/>
                  <a:pt x="151317" y="147628"/>
                  <a:pt x="151317" y="152549"/>
                </a:cubicBezTo>
                <a:cubicBezTo>
                  <a:pt x="151317" y="157470"/>
                  <a:pt x="147627" y="161160"/>
                  <a:pt x="142707" y="161160"/>
                </a:cubicBezTo>
                <a:lnTo>
                  <a:pt x="83655" y="161160"/>
                </a:lnTo>
                <a:cubicBezTo>
                  <a:pt x="78735" y="161160"/>
                  <a:pt x="75044" y="157470"/>
                  <a:pt x="75044" y="152549"/>
                </a:cubicBezTo>
                <a:cubicBezTo>
                  <a:pt x="75044" y="147628"/>
                  <a:pt x="78735" y="143937"/>
                  <a:pt x="83655" y="143937"/>
                </a:cubicBezTo>
                <a:close/>
                <a:moveTo>
                  <a:pt x="83655" y="109490"/>
                </a:moveTo>
                <a:lnTo>
                  <a:pt x="142707" y="109490"/>
                </a:lnTo>
                <a:cubicBezTo>
                  <a:pt x="147627" y="109490"/>
                  <a:pt x="151317" y="113181"/>
                  <a:pt x="151317" y="118101"/>
                </a:cubicBezTo>
                <a:cubicBezTo>
                  <a:pt x="151317" y="123023"/>
                  <a:pt x="147627" y="126713"/>
                  <a:pt x="142707" y="126713"/>
                </a:cubicBezTo>
                <a:lnTo>
                  <a:pt x="83655" y="126713"/>
                </a:lnTo>
                <a:cubicBezTo>
                  <a:pt x="78735" y="126713"/>
                  <a:pt x="75044" y="123023"/>
                  <a:pt x="75044" y="118101"/>
                </a:cubicBezTo>
                <a:cubicBezTo>
                  <a:pt x="75044" y="113181"/>
                  <a:pt x="78735" y="109490"/>
                  <a:pt x="83655" y="109490"/>
                </a:cubicBezTo>
                <a:close/>
                <a:moveTo>
                  <a:pt x="83655" y="76274"/>
                </a:moveTo>
                <a:lnTo>
                  <a:pt x="142707" y="76274"/>
                </a:lnTo>
                <a:cubicBezTo>
                  <a:pt x="147627" y="76274"/>
                  <a:pt x="151317" y="79965"/>
                  <a:pt x="151317" y="84886"/>
                </a:cubicBezTo>
                <a:cubicBezTo>
                  <a:pt x="151317" y="89807"/>
                  <a:pt x="147627" y="93497"/>
                  <a:pt x="142707" y="93497"/>
                </a:cubicBezTo>
                <a:lnTo>
                  <a:pt x="83655" y="93497"/>
                </a:lnTo>
                <a:cubicBezTo>
                  <a:pt x="78735" y="93497"/>
                  <a:pt x="75044" y="89807"/>
                  <a:pt x="75044" y="84886"/>
                </a:cubicBezTo>
                <a:cubicBezTo>
                  <a:pt x="75044" y="79965"/>
                  <a:pt x="78735" y="76274"/>
                  <a:pt x="83655" y="76274"/>
                </a:cubicBezTo>
                <a:close/>
                <a:moveTo>
                  <a:pt x="41828" y="59051"/>
                </a:moveTo>
                <a:cubicBezTo>
                  <a:pt x="39367" y="59051"/>
                  <a:pt x="36907" y="60281"/>
                  <a:pt x="35677" y="61511"/>
                </a:cubicBezTo>
                <a:cubicBezTo>
                  <a:pt x="34446" y="62741"/>
                  <a:pt x="33216" y="65202"/>
                  <a:pt x="33216" y="67663"/>
                </a:cubicBezTo>
                <a:cubicBezTo>
                  <a:pt x="33216" y="70123"/>
                  <a:pt x="34446" y="72583"/>
                  <a:pt x="35677" y="73814"/>
                </a:cubicBezTo>
                <a:cubicBezTo>
                  <a:pt x="38137" y="76274"/>
                  <a:pt x="44289" y="76274"/>
                  <a:pt x="47979" y="73814"/>
                </a:cubicBezTo>
                <a:cubicBezTo>
                  <a:pt x="49209" y="72583"/>
                  <a:pt x="50440" y="70123"/>
                  <a:pt x="50440" y="67663"/>
                </a:cubicBezTo>
                <a:cubicBezTo>
                  <a:pt x="50440" y="65202"/>
                  <a:pt x="49209" y="62741"/>
                  <a:pt x="47979" y="61511"/>
                </a:cubicBezTo>
                <a:cubicBezTo>
                  <a:pt x="46748" y="60281"/>
                  <a:pt x="44289" y="59051"/>
                  <a:pt x="41828" y="59051"/>
                </a:cubicBezTo>
                <a:close/>
                <a:moveTo>
                  <a:pt x="83655" y="41828"/>
                </a:moveTo>
                <a:lnTo>
                  <a:pt x="109490" y="41828"/>
                </a:lnTo>
                <a:cubicBezTo>
                  <a:pt x="114411" y="41828"/>
                  <a:pt x="118102" y="45519"/>
                  <a:pt x="118102" y="50439"/>
                </a:cubicBezTo>
                <a:cubicBezTo>
                  <a:pt x="118102" y="55361"/>
                  <a:pt x="114411" y="59051"/>
                  <a:pt x="109490" y="59051"/>
                </a:cubicBezTo>
                <a:lnTo>
                  <a:pt x="83655" y="59051"/>
                </a:lnTo>
                <a:cubicBezTo>
                  <a:pt x="78735" y="59051"/>
                  <a:pt x="75044" y="55361"/>
                  <a:pt x="75044" y="50439"/>
                </a:cubicBezTo>
                <a:cubicBezTo>
                  <a:pt x="75044" y="45519"/>
                  <a:pt x="78735" y="41828"/>
                  <a:pt x="83655" y="41828"/>
                </a:cubicBezTo>
                <a:close/>
                <a:moveTo>
                  <a:pt x="201758" y="15993"/>
                </a:moveTo>
                <a:cubicBezTo>
                  <a:pt x="199297" y="15993"/>
                  <a:pt x="198067" y="15993"/>
                  <a:pt x="195606" y="17223"/>
                </a:cubicBezTo>
                <a:lnTo>
                  <a:pt x="194376" y="18453"/>
                </a:lnTo>
                <a:cubicBezTo>
                  <a:pt x="188225" y="24605"/>
                  <a:pt x="184534" y="33216"/>
                  <a:pt x="184534" y="41828"/>
                </a:cubicBezTo>
                <a:lnTo>
                  <a:pt x="218980" y="41828"/>
                </a:lnTo>
                <a:lnTo>
                  <a:pt x="218980" y="33216"/>
                </a:lnTo>
                <a:cubicBezTo>
                  <a:pt x="218980" y="23374"/>
                  <a:pt x="211599" y="15993"/>
                  <a:pt x="201758" y="15993"/>
                </a:cubicBezTo>
                <a:close/>
                <a:moveTo>
                  <a:pt x="83655" y="14763"/>
                </a:moveTo>
                <a:cubicBezTo>
                  <a:pt x="68893" y="14763"/>
                  <a:pt x="57821" y="27065"/>
                  <a:pt x="57821" y="40597"/>
                </a:cubicBezTo>
                <a:lnTo>
                  <a:pt x="57821" y="46748"/>
                </a:lnTo>
                <a:cubicBezTo>
                  <a:pt x="57821" y="47979"/>
                  <a:pt x="59051" y="47979"/>
                  <a:pt x="59051" y="47979"/>
                </a:cubicBezTo>
                <a:cubicBezTo>
                  <a:pt x="63972" y="52900"/>
                  <a:pt x="66433" y="59051"/>
                  <a:pt x="66433" y="66432"/>
                </a:cubicBezTo>
                <a:cubicBezTo>
                  <a:pt x="66433" y="73814"/>
                  <a:pt x="63972" y="79965"/>
                  <a:pt x="59051" y="84886"/>
                </a:cubicBezTo>
                <a:cubicBezTo>
                  <a:pt x="59051" y="86116"/>
                  <a:pt x="57821" y="86116"/>
                  <a:pt x="57821" y="86116"/>
                </a:cubicBezTo>
                <a:lnTo>
                  <a:pt x="57821" y="177153"/>
                </a:lnTo>
                <a:lnTo>
                  <a:pt x="108260" y="177153"/>
                </a:lnTo>
                <a:cubicBezTo>
                  <a:pt x="113181" y="177153"/>
                  <a:pt x="116872" y="180843"/>
                  <a:pt x="116872" y="185764"/>
                </a:cubicBezTo>
                <a:lnTo>
                  <a:pt x="116872" y="194376"/>
                </a:lnTo>
                <a:cubicBezTo>
                  <a:pt x="116872" y="209139"/>
                  <a:pt x="127944" y="220211"/>
                  <a:pt x="142707" y="220211"/>
                </a:cubicBezTo>
                <a:cubicBezTo>
                  <a:pt x="157469" y="220211"/>
                  <a:pt x="168541" y="207908"/>
                  <a:pt x="168541" y="194376"/>
                </a:cubicBezTo>
                <a:lnTo>
                  <a:pt x="167311" y="194376"/>
                </a:lnTo>
                <a:lnTo>
                  <a:pt x="167311" y="49209"/>
                </a:lnTo>
                <a:lnTo>
                  <a:pt x="167311" y="40597"/>
                </a:lnTo>
                <a:lnTo>
                  <a:pt x="167311" y="31986"/>
                </a:lnTo>
                <a:cubicBezTo>
                  <a:pt x="167311" y="25834"/>
                  <a:pt x="169771" y="19683"/>
                  <a:pt x="172232" y="14763"/>
                </a:cubicBezTo>
                <a:lnTo>
                  <a:pt x="142707" y="14763"/>
                </a:lnTo>
                <a:close/>
                <a:moveTo>
                  <a:pt x="84886" y="0"/>
                </a:moveTo>
                <a:lnTo>
                  <a:pt x="143937" y="0"/>
                </a:lnTo>
                <a:lnTo>
                  <a:pt x="194376" y="0"/>
                </a:lnTo>
                <a:lnTo>
                  <a:pt x="202988" y="0"/>
                </a:lnTo>
                <a:cubicBezTo>
                  <a:pt x="221441" y="0"/>
                  <a:pt x="236204" y="14763"/>
                  <a:pt x="234974" y="34446"/>
                </a:cubicBezTo>
                <a:lnTo>
                  <a:pt x="234974" y="51669"/>
                </a:lnTo>
                <a:cubicBezTo>
                  <a:pt x="234974" y="56590"/>
                  <a:pt x="231283" y="60281"/>
                  <a:pt x="226362" y="60281"/>
                </a:cubicBezTo>
                <a:lnTo>
                  <a:pt x="184534" y="60281"/>
                </a:lnTo>
                <a:lnTo>
                  <a:pt x="184534" y="195606"/>
                </a:lnTo>
                <a:cubicBezTo>
                  <a:pt x="184534" y="218980"/>
                  <a:pt x="166081" y="237434"/>
                  <a:pt x="142707" y="237434"/>
                </a:cubicBezTo>
                <a:lnTo>
                  <a:pt x="83655" y="237434"/>
                </a:lnTo>
                <a:lnTo>
                  <a:pt x="41828" y="237434"/>
                </a:lnTo>
                <a:cubicBezTo>
                  <a:pt x="18453" y="237434"/>
                  <a:pt x="0" y="218980"/>
                  <a:pt x="0" y="195606"/>
                </a:cubicBezTo>
                <a:lnTo>
                  <a:pt x="0" y="186994"/>
                </a:lnTo>
                <a:cubicBezTo>
                  <a:pt x="0" y="182074"/>
                  <a:pt x="3691" y="178383"/>
                  <a:pt x="8612" y="178383"/>
                </a:cubicBezTo>
                <a:lnTo>
                  <a:pt x="43058" y="178383"/>
                </a:lnTo>
                <a:lnTo>
                  <a:pt x="43058" y="93497"/>
                </a:lnTo>
                <a:cubicBezTo>
                  <a:pt x="35677" y="93497"/>
                  <a:pt x="29526" y="91037"/>
                  <a:pt x="24605" y="86116"/>
                </a:cubicBezTo>
                <a:cubicBezTo>
                  <a:pt x="19684" y="81195"/>
                  <a:pt x="17223" y="75044"/>
                  <a:pt x="17223" y="67663"/>
                </a:cubicBezTo>
                <a:cubicBezTo>
                  <a:pt x="17223" y="60281"/>
                  <a:pt x="19684" y="54130"/>
                  <a:pt x="24605" y="49209"/>
                </a:cubicBezTo>
                <a:cubicBezTo>
                  <a:pt x="29526" y="44288"/>
                  <a:pt x="36907" y="41828"/>
                  <a:pt x="43058" y="41828"/>
                </a:cubicBezTo>
                <a:cubicBezTo>
                  <a:pt x="43058" y="18453"/>
                  <a:pt x="61511" y="0"/>
                  <a:pt x="84886" y="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48" name="Google Shape;348;p7"/>
          <p:cNvSpPr/>
          <p:nvPr/>
        </p:nvSpPr>
        <p:spPr>
          <a:xfrm>
            <a:off x="6843346" y="3341137"/>
            <a:ext cx="216320" cy="229314"/>
          </a:xfrm>
          <a:custGeom>
            <a:rect b="b" l="l" r="r" t="t"/>
            <a:pathLst>
              <a:path extrusionOk="0" h="857250" w="808672">
                <a:moveTo>
                  <a:pt x="402908" y="749618"/>
                </a:moveTo>
                <a:cubicBezTo>
                  <a:pt x="388620" y="749618"/>
                  <a:pt x="376238" y="762000"/>
                  <a:pt x="376238" y="776288"/>
                </a:cubicBezTo>
                <a:cubicBezTo>
                  <a:pt x="376238" y="790575"/>
                  <a:pt x="387667" y="802958"/>
                  <a:pt x="402908" y="802958"/>
                </a:cubicBezTo>
                <a:cubicBezTo>
                  <a:pt x="417195" y="802958"/>
                  <a:pt x="429578" y="790575"/>
                  <a:pt x="429578" y="776288"/>
                </a:cubicBezTo>
                <a:cubicBezTo>
                  <a:pt x="429578" y="762000"/>
                  <a:pt x="418147" y="749618"/>
                  <a:pt x="402908" y="749618"/>
                </a:cubicBezTo>
                <a:close/>
                <a:moveTo>
                  <a:pt x="401955" y="132397"/>
                </a:moveTo>
                <a:cubicBezTo>
                  <a:pt x="416243" y="132397"/>
                  <a:pt x="428625" y="143827"/>
                  <a:pt x="428625" y="159067"/>
                </a:cubicBezTo>
                <a:lnTo>
                  <a:pt x="428625" y="211454"/>
                </a:lnTo>
                <a:cubicBezTo>
                  <a:pt x="495300" y="220979"/>
                  <a:pt x="544830" y="264794"/>
                  <a:pt x="544830" y="319087"/>
                </a:cubicBezTo>
                <a:cubicBezTo>
                  <a:pt x="544830" y="333374"/>
                  <a:pt x="533400" y="345757"/>
                  <a:pt x="518160" y="345757"/>
                </a:cubicBezTo>
                <a:cubicBezTo>
                  <a:pt x="503873" y="345757"/>
                  <a:pt x="491490" y="334327"/>
                  <a:pt x="491490" y="319087"/>
                </a:cubicBezTo>
                <a:cubicBezTo>
                  <a:pt x="491490" y="288607"/>
                  <a:pt x="451485" y="262889"/>
                  <a:pt x="402908" y="262889"/>
                </a:cubicBezTo>
                <a:cubicBezTo>
                  <a:pt x="355283" y="262889"/>
                  <a:pt x="314325" y="288607"/>
                  <a:pt x="314325" y="319087"/>
                </a:cubicBezTo>
                <a:cubicBezTo>
                  <a:pt x="314325" y="347662"/>
                  <a:pt x="350520" y="359092"/>
                  <a:pt x="410528" y="375285"/>
                </a:cubicBezTo>
                <a:cubicBezTo>
                  <a:pt x="470535" y="391477"/>
                  <a:pt x="545783" y="411479"/>
                  <a:pt x="545783" y="483870"/>
                </a:cubicBezTo>
                <a:cubicBezTo>
                  <a:pt x="545783" y="538162"/>
                  <a:pt x="496253" y="581977"/>
                  <a:pt x="429578" y="591502"/>
                </a:cubicBezTo>
                <a:lnTo>
                  <a:pt x="429578" y="651510"/>
                </a:lnTo>
                <a:cubicBezTo>
                  <a:pt x="429578" y="665797"/>
                  <a:pt x="418148" y="678179"/>
                  <a:pt x="402908" y="678179"/>
                </a:cubicBezTo>
                <a:cubicBezTo>
                  <a:pt x="388620" y="678179"/>
                  <a:pt x="376238" y="666750"/>
                  <a:pt x="376238" y="651510"/>
                </a:cubicBezTo>
                <a:lnTo>
                  <a:pt x="376238" y="591502"/>
                </a:lnTo>
                <a:cubicBezTo>
                  <a:pt x="309563" y="581977"/>
                  <a:pt x="260033" y="538162"/>
                  <a:pt x="260033" y="483870"/>
                </a:cubicBezTo>
                <a:cubicBezTo>
                  <a:pt x="260033" y="469582"/>
                  <a:pt x="271463" y="457200"/>
                  <a:pt x="286703" y="457200"/>
                </a:cubicBezTo>
                <a:cubicBezTo>
                  <a:pt x="300990" y="457200"/>
                  <a:pt x="313373" y="468629"/>
                  <a:pt x="313373" y="483870"/>
                </a:cubicBezTo>
                <a:cubicBezTo>
                  <a:pt x="313373" y="514350"/>
                  <a:pt x="353378" y="540067"/>
                  <a:pt x="401955" y="540067"/>
                </a:cubicBezTo>
                <a:cubicBezTo>
                  <a:pt x="449580" y="540067"/>
                  <a:pt x="490538" y="514350"/>
                  <a:pt x="490538" y="483870"/>
                </a:cubicBezTo>
                <a:cubicBezTo>
                  <a:pt x="490538" y="455295"/>
                  <a:pt x="454343" y="443864"/>
                  <a:pt x="394335" y="427672"/>
                </a:cubicBezTo>
                <a:cubicBezTo>
                  <a:pt x="334328" y="411479"/>
                  <a:pt x="259080" y="391477"/>
                  <a:pt x="259080" y="319087"/>
                </a:cubicBezTo>
                <a:cubicBezTo>
                  <a:pt x="259080" y="264794"/>
                  <a:pt x="308610" y="220979"/>
                  <a:pt x="375285" y="211454"/>
                </a:cubicBezTo>
                <a:lnTo>
                  <a:pt x="375285" y="159067"/>
                </a:lnTo>
                <a:cubicBezTo>
                  <a:pt x="375285" y="144779"/>
                  <a:pt x="386715" y="132397"/>
                  <a:pt x="401955" y="132397"/>
                </a:cubicBezTo>
                <a:close/>
                <a:moveTo>
                  <a:pt x="402908" y="0"/>
                </a:moveTo>
                <a:cubicBezTo>
                  <a:pt x="625792" y="0"/>
                  <a:pt x="806767" y="180023"/>
                  <a:pt x="808672" y="401955"/>
                </a:cubicBezTo>
                <a:cubicBezTo>
                  <a:pt x="808672" y="556260"/>
                  <a:pt x="718185" y="699135"/>
                  <a:pt x="579120" y="765810"/>
                </a:cubicBezTo>
                <a:cubicBezTo>
                  <a:pt x="565785" y="772478"/>
                  <a:pt x="549592" y="766763"/>
                  <a:pt x="542925" y="753428"/>
                </a:cubicBezTo>
                <a:cubicBezTo>
                  <a:pt x="536258" y="740093"/>
                  <a:pt x="541972" y="723900"/>
                  <a:pt x="555308" y="717233"/>
                </a:cubicBezTo>
                <a:cubicBezTo>
                  <a:pt x="675322" y="659130"/>
                  <a:pt x="753428" y="535305"/>
                  <a:pt x="753428" y="401955"/>
                </a:cubicBezTo>
                <a:cubicBezTo>
                  <a:pt x="753428" y="208598"/>
                  <a:pt x="596265" y="52388"/>
                  <a:pt x="403860" y="52388"/>
                </a:cubicBezTo>
                <a:cubicBezTo>
                  <a:pt x="210503" y="52388"/>
                  <a:pt x="54293" y="209550"/>
                  <a:pt x="54293" y="401955"/>
                </a:cubicBezTo>
                <a:cubicBezTo>
                  <a:pt x="54293" y="572453"/>
                  <a:pt x="168592" y="713423"/>
                  <a:pt x="329565" y="744855"/>
                </a:cubicBezTo>
                <a:cubicBezTo>
                  <a:pt x="341947" y="716280"/>
                  <a:pt x="370522" y="695325"/>
                  <a:pt x="403860" y="695325"/>
                </a:cubicBezTo>
                <a:cubicBezTo>
                  <a:pt x="448628" y="695325"/>
                  <a:pt x="484822" y="731520"/>
                  <a:pt x="484822" y="776288"/>
                </a:cubicBezTo>
                <a:cubicBezTo>
                  <a:pt x="484822" y="821055"/>
                  <a:pt x="448628" y="857250"/>
                  <a:pt x="403860" y="857250"/>
                </a:cubicBezTo>
                <a:cubicBezTo>
                  <a:pt x="366713" y="857250"/>
                  <a:pt x="337185" y="833438"/>
                  <a:pt x="326708" y="800100"/>
                </a:cubicBezTo>
                <a:cubicBezTo>
                  <a:pt x="136208" y="766763"/>
                  <a:pt x="0" y="602933"/>
                  <a:pt x="0" y="402908"/>
                </a:cubicBezTo>
                <a:cubicBezTo>
                  <a:pt x="0" y="180975"/>
                  <a:pt x="180975" y="0"/>
                  <a:pt x="402908" y="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49" name="Google Shape;349;p7"/>
          <p:cNvSpPr/>
          <p:nvPr/>
        </p:nvSpPr>
        <p:spPr>
          <a:xfrm>
            <a:off x="6867776" y="2455174"/>
            <a:ext cx="167254" cy="249233"/>
          </a:xfrm>
          <a:custGeom>
            <a:rect b="b" l="l" r="r" t="t"/>
            <a:pathLst>
              <a:path extrusionOk="0" h="576262" w="386715">
                <a:moveTo>
                  <a:pt x="332423" y="503872"/>
                </a:moveTo>
                <a:cubicBezTo>
                  <a:pt x="321945" y="503872"/>
                  <a:pt x="314325" y="512444"/>
                  <a:pt x="314325" y="521969"/>
                </a:cubicBezTo>
                <a:cubicBezTo>
                  <a:pt x="314325" y="532447"/>
                  <a:pt x="322898" y="540067"/>
                  <a:pt x="332423" y="540067"/>
                </a:cubicBezTo>
                <a:cubicBezTo>
                  <a:pt x="341948" y="540067"/>
                  <a:pt x="350520" y="531494"/>
                  <a:pt x="350520" y="521969"/>
                </a:cubicBezTo>
                <a:cubicBezTo>
                  <a:pt x="350520" y="511492"/>
                  <a:pt x="342900" y="503872"/>
                  <a:pt x="332423" y="503872"/>
                </a:cubicBezTo>
                <a:close/>
                <a:moveTo>
                  <a:pt x="177165" y="188594"/>
                </a:moveTo>
                <a:cubicBezTo>
                  <a:pt x="202883" y="188594"/>
                  <a:pt x="221933" y="203834"/>
                  <a:pt x="226695" y="229552"/>
                </a:cubicBezTo>
                <a:cubicBezTo>
                  <a:pt x="227648" y="231457"/>
                  <a:pt x="227648" y="232409"/>
                  <a:pt x="227648" y="234314"/>
                </a:cubicBezTo>
                <a:lnTo>
                  <a:pt x="227648" y="362902"/>
                </a:lnTo>
                <a:cubicBezTo>
                  <a:pt x="249555" y="362902"/>
                  <a:pt x="283845" y="365759"/>
                  <a:pt x="311468" y="388619"/>
                </a:cubicBezTo>
                <a:cubicBezTo>
                  <a:pt x="334328" y="407669"/>
                  <a:pt x="346710" y="435292"/>
                  <a:pt x="349568" y="471487"/>
                </a:cubicBezTo>
                <a:cubicBezTo>
                  <a:pt x="370523" y="478154"/>
                  <a:pt x="385763" y="498157"/>
                  <a:pt x="386715" y="522922"/>
                </a:cubicBezTo>
                <a:cubicBezTo>
                  <a:pt x="386715" y="552449"/>
                  <a:pt x="362903" y="576262"/>
                  <a:pt x="333375" y="576262"/>
                </a:cubicBezTo>
                <a:cubicBezTo>
                  <a:pt x="303848" y="576262"/>
                  <a:pt x="280035" y="552449"/>
                  <a:pt x="280035" y="522922"/>
                </a:cubicBezTo>
                <a:cubicBezTo>
                  <a:pt x="280035" y="500062"/>
                  <a:pt x="295275" y="480059"/>
                  <a:pt x="315278" y="472439"/>
                </a:cubicBezTo>
                <a:cubicBezTo>
                  <a:pt x="313373" y="447674"/>
                  <a:pt x="304800" y="428624"/>
                  <a:pt x="290513" y="416242"/>
                </a:cubicBezTo>
                <a:cubicBezTo>
                  <a:pt x="260985" y="391477"/>
                  <a:pt x="214313" y="400049"/>
                  <a:pt x="214313" y="400049"/>
                </a:cubicBezTo>
                <a:cubicBezTo>
                  <a:pt x="208598" y="401002"/>
                  <a:pt x="202883" y="400049"/>
                  <a:pt x="199073" y="396239"/>
                </a:cubicBezTo>
                <a:cubicBezTo>
                  <a:pt x="195263" y="393382"/>
                  <a:pt x="192405" y="388619"/>
                  <a:pt x="192405" y="382904"/>
                </a:cubicBezTo>
                <a:lnTo>
                  <a:pt x="192405" y="237172"/>
                </a:lnTo>
                <a:cubicBezTo>
                  <a:pt x="190500" y="227647"/>
                  <a:pt x="183833" y="225742"/>
                  <a:pt x="178118" y="225742"/>
                </a:cubicBezTo>
                <a:cubicBezTo>
                  <a:pt x="169545" y="225742"/>
                  <a:pt x="164783" y="228599"/>
                  <a:pt x="163830" y="236219"/>
                </a:cubicBezTo>
                <a:lnTo>
                  <a:pt x="163830" y="428624"/>
                </a:lnTo>
                <a:cubicBezTo>
                  <a:pt x="163830" y="435292"/>
                  <a:pt x="159068" y="441959"/>
                  <a:pt x="152400" y="444817"/>
                </a:cubicBezTo>
                <a:cubicBezTo>
                  <a:pt x="144780" y="447674"/>
                  <a:pt x="137160" y="445769"/>
                  <a:pt x="132398" y="441007"/>
                </a:cubicBezTo>
                <a:lnTo>
                  <a:pt x="84773" y="393382"/>
                </a:lnTo>
                <a:cubicBezTo>
                  <a:pt x="81915" y="391477"/>
                  <a:pt x="76200" y="390524"/>
                  <a:pt x="70485" y="396239"/>
                </a:cubicBezTo>
                <a:cubicBezTo>
                  <a:pt x="64770" y="401954"/>
                  <a:pt x="67628" y="407669"/>
                  <a:pt x="68580" y="409574"/>
                </a:cubicBezTo>
                <a:lnTo>
                  <a:pt x="128588" y="473392"/>
                </a:lnTo>
                <a:cubicBezTo>
                  <a:pt x="135255" y="481012"/>
                  <a:pt x="135255" y="492442"/>
                  <a:pt x="127635" y="499109"/>
                </a:cubicBezTo>
                <a:cubicBezTo>
                  <a:pt x="123825" y="501967"/>
                  <a:pt x="120015" y="503872"/>
                  <a:pt x="115253" y="503872"/>
                </a:cubicBezTo>
                <a:cubicBezTo>
                  <a:pt x="110490" y="503872"/>
                  <a:pt x="105728" y="501967"/>
                  <a:pt x="101918" y="498157"/>
                </a:cubicBezTo>
                <a:lnTo>
                  <a:pt x="41910" y="432434"/>
                </a:lnTo>
                <a:cubicBezTo>
                  <a:pt x="41910" y="431482"/>
                  <a:pt x="40958" y="431482"/>
                  <a:pt x="40958" y="430529"/>
                </a:cubicBezTo>
                <a:cubicBezTo>
                  <a:pt x="32385" y="419099"/>
                  <a:pt x="23813" y="391477"/>
                  <a:pt x="45720" y="369569"/>
                </a:cubicBezTo>
                <a:cubicBezTo>
                  <a:pt x="67628" y="347662"/>
                  <a:pt x="94298" y="355282"/>
                  <a:pt x="105728" y="361949"/>
                </a:cubicBezTo>
                <a:cubicBezTo>
                  <a:pt x="106680" y="362902"/>
                  <a:pt x="107633" y="363854"/>
                  <a:pt x="108585" y="364807"/>
                </a:cubicBezTo>
                <a:lnTo>
                  <a:pt x="127635" y="383857"/>
                </a:lnTo>
                <a:lnTo>
                  <a:pt x="127635" y="234314"/>
                </a:lnTo>
                <a:cubicBezTo>
                  <a:pt x="129540" y="214312"/>
                  <a:pt x="143828" y="188594"/>
                  <a:pt x="177165" y="188594"/>
                </a:cubicBezTo>
                <a:close/>
                <a:moveTo>
                  <a:pt x="174308" y="0"/>
                </a:moveTo>
                <a:cubicBezTo>
                  <a:pt x="270510" y="0"/>
                  <a:pt x="348615" y="78105"/>
                  <a:pt x="348615" y="174308"/>
                </a:cubicBezTo>
                <a:cubicBezTo>
                  <a:pt x="348615" y="229553"/>
                  <a:pt x="322898" y="280035"/>
                  <a:pt x="279083" y="313373"/>
                </a:cubicBezTo>
                <a:cubicBezTo>
                  <a:pt x="276225" y="316230"/>
                  <a:pt x="272415" y="317183"/>
                  <a:pt x="268605" y="317183"/>
                </a:cubicBezTo>
                <a:cubicBezTo>
                  <a:pt x="262890" y="317183"/>
                  <a:pt x="258128" y="315278"/>
                  <a:pt x="254317" y="310515"/>
                </a:cubicBezTo>
                <a:cubicBezTo>
                  <a:pt x="248603" y="302895"/>
                  <a:pt x="250508" y="291465"/>
                  <a:pt x="258128" y="285750"/>
                </a:cubicBezTo>
                <a:cubicBezTo>
                  <a:pt x="293370" y="259080"/>
                  <a:pt x="313373" y="219075"/>
                  <a:pt x="313373" y="175260"/>
                </a:cubicBezTo>
                <a:cubicBezTo>
                  <a:pt x="313373" y="99060"/>
                  <a:pt x="251460" y="37147"/>
                  <a:pt x="175260" y="37147"/>
                </a:cubicBezTo>
                <a:cubicBezTo>
                  <a:pt x="99060" y="37147"/>
                  <a:pt x="37147" y="99060"/>
                  <a:pt x="37147" y="175260"/>
                </a:cubicBezTo>
                <a:cubicBezTo>
                  <a:pt x="37147" y="219075"/>
                  <a:pt x="56197" y="259080"/>
                  <a:pt x="91440" y="285750"/>
                </a:cubicBezTo>
                <a:cubicBezTo>
                  <a:pt x="100013" y="291465"/>
                  <a:pt x="100965" y="302895"/>
                  <a:pt x="95250" y="310515"/>
                </a:cubicBezTo>
                <a:cubicBezTo>
                  <a:pt x="89535" y="319088"/>
                  <a:pt x="78105" y="320040"/>
                  <a:pt x="70485" y="314325"/>
                </a:cubicBezTo>
                <a:cubicBezTo>
                  <a:pt x="26670" y="280988"/>
                  <a:pt x="953" y="230505"/>
                  <a:pt x="0" y="174308"/>
                </a:cubicBezTo>
                <a:cubicBezTo>
                  <a:pt x="0" y="78105"/>
                  <a:pt x="78105" y="0"/>
                  <a:pt x="174308" y="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50" name="Google Shape;350;p7"/>
          <p:cNvSpPr/>
          <p:nvPr/>
        </p:nvSpPr>
        <p:spPr>
          <a:xfrm>
            <a:off x="2726539" y="1630790"/>
            <a:ext cx="227124" cy="226784"/>
          </a:xfrm>
          <a:custGeom>
            <a:rect b="b" l="l" r="r" t="t"/>
            <a:pathLst>
              <a:path extrusionOk="0" h="954880" w="956310">
                <a:moveTo>
                  <a:pt x="956310" y="280568"/>
                </a:moveTo>
                <a:cubicBezTo>
                  <a:pt x="956310" y="123640"/>
                  <a:pt x="834390" y="0"/>
                  <a:pt x="679132" y="0"/>
                </a:cubicBezTo>
                <a:cubicBezTo>
                  <a:pt x="605790" y="0"/>
                  <a:pt x="532448" y="29483"/>
                  <a:pt x="478155" y="79890"/>
                </a:cubicBezTo>
                <a:cubicBezTo>
                  <a:pt x="423863" y="29483"/>
                  <a:pt x="350520" y="0"/>
                  <a:pt x="277178" y="0"/>
                </a:cubicBezTo>
                <a:cubicBezTo>
                  <a:pt x="121920" y="0"/>
                  <a:pt x="0" y="122689"/>
                  <a:pt x="0" y="280568"/>
                </a:cubicBezTo>
                <a:cubicBezTo>
                  <a:pt x="0" y="447957"/>
                  <a:pt x="131445" y="583961"/>
                  <a:pt x="318135" y="756106"/>
                </a:cubicBezTo>
                <a:cubicBezTo>
                  <a:pt x="331470" y="768470"/>
                  <a:pt x="351473" y="767519"/>
                  <a:pt x="362903" y="754203"/>
                </a:cubicBezTo>
                <a:cubicBezTo>
                  <a:pt x="375285" y="740888"/>
                  <a:pt x="374333" y="720916"/>
                  <a:pt x="360998" y="709503"/>
                </a:cubicBezTo>
                <a:cubicBezTo>
                  <a:pt x="186690" y="547820"/>
                  <a:pt x="63818" y="422278"/>
                  <a:pt x="63818" y="280568"/>
                </a:cubicBezTo>
                <a:cubicBezTo>
                  <a:pt x="63818" y="158830"/>
                  <a:pt x="158115" y="63722"/>
                  <a:pt x="277178" y="63722"/>
                </a:cubicBezTo>
                <a:cubicBezTo>
                  <a:pt x="343853" y="63722"/>
                  <a:pt x="409575" y="95108"/>
                  <a:pt x="453390" y="146466"/>
                </a:cubicBezTo>
                <a:cubicBezTo>
                  <a:pt x="465773" y="160732"/>
                  <a:pt x="490538" y="160732"/>
                  <a:pt x="501968" y="146466"/>
                </a:cubicBezTo>
                <a:cubicBezTo>
                  <a:pt x="545783" y="94157"/>
                  <a:pt x="611505" y="63722"/>
                  <a:pt x="678180" y="63722"/>
                </a:cubicBezTo>
                <a:cubicBezTo>
                  <a:pt x="798195" y="63722"/>
                  <a:pt x="891540" y="158830"/>
                  <a:pt x="891540" y="280568"/>
                </a:cubicBezTo>
                <a:cubicBezTo>
                  <a:pt x="891540" y="436544"/>
                  <a:pt x="744855" y="571597"/>
                  <a:pt x="521018" y="776078"/>
                </a:cubicBezTo>
                <a:cubicBezTo>
                  <a:pt x="507683" y="769421"/>
                  <a:pt x="492443" y="764665"/>
                  <a:pt x="476250" y="764665"/>
                </a:cubicBezTo>
                <a:cubicBezTo>
                  <a:pt x="423863" y="764665"/>
                  <a:pt x="381000" y="807464"/>
                  <a:pt x="381000" y="859773"/>
                </a:cubicBezTo>
                <a:cubicBezTo>
                  <a:pt x="381000" y="912082"/>
                  <a:pt x="423863" y="954881"/>
                  <a:pt x="476250" y="954881"/>
                </a:cubicBezTo>
                <a:cubicBezTo>
                  <a:pt x="528638" y="954881"/>
                  <a:pt x="571500" y="912082"/>
                  <a:pt x="571500" y="859773"/>
                </a:cubicBezTo>
                <a:cubicBezTo>
                  <a:pt x="571500" y="846458"/>
                  <a:pt x="568643" y="834094"/>
                  <a:pt x="563880" y="821730"/>
                </a:cubicBezTo>
                <a:cubicBezTo>
                  <a:pt x="800100" y="607738"/>
                  <a:pt x="956310" y="465076"/>
                  <a:pt x="956310" y="280568"/>
                </a:cubicBezTo>
                <a:close/>
                <a:moveTo>
                  <a:pt x="477203" y="893061"/>
                </a:moveTo>
                <a:cubicBezTo>
                  <a:pt x="460058" y="893061"/>
                  <a:pt x="445770" y="878794"/>
                  <a:pt x="445770" y="861675"/>
                </a:cubicBezTo>
                <a:cubicBezTo>
                  <a:pt x="445770" y="844556"/>
                  <a:pt x="460058" y="830290"/>
                  <a:pt x="477203" y="830290"/>
                </a:cubicBezTo>
                <a:cubicBezTo>
                  <a:pt x="494348" y="830290"/>
                  <a:pt x="508635" y="844556"/>
                  <a:pt x="508635" y="861675"/>
                </a:cubicBezTo>
                <a:cubicBezTo>
                  <a:pt x="508635" y="878794"/>
                  <a:pt x="495300" y="893061"/>
                  <a:pt x="477203" y="893061"/>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51" name="Google Shape;351;p7"/>
          <p:cNvSpPr/>
          <p:nvPr/>
        </p:nvSpPr>
        <p:spPr>
          <a:xfrm>
            <a:off x="4667711" y="3690232"/>
            <a:ext cx="1941000" cy="10518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Contact center transformation for agents for better intent &amp; context to provide real time answers, </a:t>
            </a:r>
            <a:r>
              <a:rPr b="1" i="0" lang="en" sz="800" u="none" cap="none" strike="noStrike">
                <a:solidFill>
                  <a:srgbClr val="36312D"/>
                </a:solidFill>
                <a:latin typeface="Montserrat"/>
                <a:ea typeface="Montserrat"/>
                <a:cs typeface="Montserrat"/>
                <a:sym typeface="Montserrat"/>
              </a:rPr>
              <a:t>increasing the accuracy to 95%</a:t>
            </a:r>
            <a:endParaRPr b="0" i="0" sz="1400" u="none" cap="none" strike="noStrike">
              <a:solidFill>
                <a:schemeClr val="lt1"/>
              </a:solidFill>
              <a:latin typeface="Arial"/>
              <a:ea typeface="Arial"/>
              <a:cs typeface="Arial"/>
              <a:sym typeface="Arial"/>
            </a:endParaRPr>
          </a:p>
        </p:txBody>
      </p:sp>
      <p:sp>
        <p:nvSpPr>
          <p:cNvPr id="352" name="Google Shape;352;p7"/>
          <p:cNvSpPr/>
          <p:nvPr/>
        </p:nvSpPr>
        <p:spPr>
          <a:xfrm>
            <a:off x="4775819" y="4074194"/>
            <a:ext cx="227124" cy="226784"/>
          </a:xfrm>
          <a:custGeom>
            <a:rect b="b" l="l" r="r" t="t"/>
            <a:pathLst>
              <a:path extrusionOk="0" h="954880" w="956310">
                <a:moveTo>
                  <a:pt x="956310" y="280568"/>
                </a:moveTo>
                <a:cubicBezTo>
                  <a:pt x="956310" y="123640"/>
                  <a:pt x="834390" y="0"/>
                  <a:pt x="679132" y="0"/>
                </a:cubicBezTo>
                <a:cubicBezTo>
                  <a:pt x="605790" y="0"/>
                  <a:pt x="532448" y="29483"/>
                  <a:pt x="478155" y="79890"/>
                </a:cubicBezTo>
                <a:cubicBezTo>
                  <a:pt x="423863" y="29483"/>
                  <a:pt x="350520" y="0"/>
                  <a:pt x="277178" y="0"/>
                </a:cubicBezTo>
                <a:cubicBezTo>
                  <a:pt x="121920" y="0"/>
                  <a:pt x="0" y="122689"/>
                  <a:pt x="0" y="280568"/>
                </a:cubicBezTo>
                <a:cubicBezTo>
                  <a:pt x="0" y="447957"/>
                  <a:pt x="131445" y="583961"/>
                  <a:pt x="318135" y="756106"/>
                </a:cubicBezTo>
                <a:cubicBezTo>
                  <a:pt x="331470" y="768470"/>
                  <a:pt x="351473" y="767519"/>
                  <a:pt x="362903" y="754203"/>
                </a:cubicBezTo>
                <a:cubicBezTo>
                  <a:pt x="375285" y="740888"/>
                  <a:pt x="374333" y="720916"/>
                  <a:pt x="360998" y="709503"/>
                </a:cubicBezTo>
                <a:cubicBezTo>
                  <a:pt x="186690" y="547820"/>
                  <a:pt x="63818" y="422278"/>
                  <a:pt x="63818" y="280568"/>
                </a:cubicBezTo>
                <a:cubicBezTo>
                  <a:pt x="63818" y="158830"/>
                  <a:pt x="158115" y="63722"/>
                  <a:pt x="277178" y="63722"/>
                </a:cubicBezTo>
                <a:cubicBezTo>
                  <a:pt x="343853" y="63722"/>
                  <a:pt x="409575" y="95108"/>
                  <a:pt x="453390" y="146466"/>
                </a:cubicBezTo>
                <a:cubicBezTo>
                  <a:pt x="465773" y="160732"/>
                  <a:pt x="490538" y="160732"/>
                  <a:pt x="501968" y="146466"/>
                </a:cubicBezTo>
                <a:cubicBezTo>
                  <a:pt x="545783" y="94157"/>
                  <a:pt x="611505" y="63722"/>
                  <a:pt x="678180" y="63722"/>
                </a:cubicBezTo>
                <a:cubicBezTo>
                  <a:pt x="798195" y="63722"/>
                  <a:pt x="891540" y="158830"/>
                  <a:pt x="891540" y="280568"/>
                </a:cubicBezTo>
                <a:cubicBezTo>
                  <a:pt x="891540" y="436544"/>
                  <a:pt x="744855" y="571597"/>
                  <a:pt x="521018" y="776078"/>
                </a:cubicBezTo>
                <a:cubicBezTo>
                  <a:pt x="507683" y="769421"/>
                  <a:pt x="492443" y="764665"/>
                  <a:pt x="476250" y="764665"/>
                </a:cubicBezTo>
                <a:cubicBezTo>
                  <a:pt x="423863" y="764665"/>
                  <a:pt x="381000" y="807464"/>
                  <a:pt x="381000" y="859773"/>
                </a:cubicBezTo>
                <a:cubicBezTo>
                  <a:pt x="381000" y="912082"/>
                  <a:pt x="423863" y="954881"/>
                  <a:pt x="476250" y="954881"/>
                </a:cubicBezTo>
                <a:cubicBezTo>
                  <a:pt x="528638" y="954881"/>
                  <a:pt x="571500" y="912082"/>
                  <a:pt x="571500" y="859773"/>
                </a:cubicBezTo>
                <a:cubicBezTo>
                  <a:pt x="571500" y="846458"/>
                  <a:pt x="568643" y="834094"/>
                  <a:pt x="563880" y="821730"/>
                </a:cubicBezTo>
                <a:cubicBezTo>
                  <a:pt x="800100" y="607738"/>
                  <a:pt x="956310" y="465076"/>
                  <a:pt x="956310" y="280568"/>
                </a:cubicBezTo>
                <a:close/>
                <a:moveTo>
                  <a:pt x="477203" y="893061"/>
                </a:moveTo>
                <a:cubicBezTo>
                  <a:pt x="460058" y="893061"/>
                  <a:pt x="445770" y="878794"/>
                  <a:pt x="445770" y="861675"/>
                </a:cubicBezTo>
                <a:cubicBezTo>
                  <a:pt x="445770" y="844556"/>
                  <a:pt x="460058" y="830290"/>
                  <a:pt x="477203" y="830290"/>
                </a:cubicBezTo>
                <a:cubicBezTo>
                  <a:pt x="494348" y="830290"/>
                  <a:pt x="508635" y="844556"/>
                  <a:pt x="508635" y="861675"/>
                </a:cubicBezTo>
                <a:cubicBezTo>
                  <a:pt x="508635" y="878794"/>
                  <a:pt x="495300" y="893061"/>
                  <a:pt x="477203" y="893061"/>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53" name="Google Shape;353;p7"/>
          <p:cNvSpPr/>
          <p:nvPr/>
        </p:nvSpPr>
        <p:spPr>
          <a:xfrm>
            <a:off x="545465" y="1197797"/>
            <a:ext cx="1941000" cy="9471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A global pharmaceutical company </a:t>
            </a:r>
            <a:r>
              <a:rPr b="1" i="0" lang="en" sz="800" u="none" cap="none" strike="noStrike">
                <a:solidFill>
                  <a:srgbClr val="141C27"/>
                </a:solidFill>
                <a:latin typeface="Montserrat"/>
                <a:ea typeface="Montserrat"/>
                <a:cs typeface="Montserrat"/>
                <a:sym typeface="Montserrat"/>
              </a:rPr>
              <a:t>fast-tracked clinical trials by 25% </a:t>
            </a:r>
            <a:r>
              <a:rPr b="0" i="0" lang="en" sz="800" u="none" cap="none" strike="noStrike">
                <a:solidFill>
                  <a:srgbClr val="141C27"/>
                </a:solidFill>
                <a:latin typeface="Montserrat"/>
                <a:ea typeface="Montserrat"/>
                <a:cs typeface="Montserrat"/>
                <a:sym typeface="Montserrat"/>
              </a:rPr>
              <a:t>to help over 10M+ potential patients receive HC faster.</a:t>
            </a:r>
            <a:endParaRPr b="0" i="0" sz="1400" u="none" cap="none" strike="noStrike">
              <a:solidFill>
                <a:schemeClr val="lt1"/>
              </a:solidFill>
              <a:latin typeface="Arial"/>
              <a:ea typeface="Arial"/>
              <a:cs typeface="Arial"/>
              <a:sym typeface="Arial"/>
            </a:endParaRPr>
          </a:p>
        </p:txBody>
      </p:sp>
      <p:sp>
        <p:nvSpPr>
          <p:cNvPr id="354" name="Google Shape;354;p7"/>
          <p:cNvSpPr/>
          <p:nvPr/>
        </p:nvSpPr>
        <p:spPr>
          <a:xfrm>
            <a:off x="651037" y="1542256"/>
            <a:ext cx="218002" cy="219160"/>
          </a:xfrm>
          <a:custGeom>
            <a:rect b="b" l="l" r="r" t="t"/>
            <a:pathLst>
              <a:path extrusionOk="0" h="255580" w="254230">
                <a:moveTo>
                  <a:pt x="215935" y="142399"/>
                </a:moveTo>
                <a:lnTo>
                  <a:pt x="164266" y="233436"/>
                </a:lnTo>
                <a:cubicBezTo>
                  <a:pt x="187640" y="243277"/>
                  <a:pt x="215935" y="233436"/>
                  <a:pt x="228238" y="211291"/>
                </a:cubicBezTo>
                <a:lnTo>
                  <a:pt x="230698" y="207601"/>
                </a:lnTo>
                <a:cubicBezTo>
                  <a:pt x="236849" y="195299"/>
                  <a:pt x="239310" y="181766"/>
                  <a:pt x="234389" y="169464"/>
                </a:cubicBezTo>
                <a:cubicBezTo>
                  <a:pt x="231929" y="158392"/>
                  <a:pt x="224547" y="148550"/>
                  <a:pt x="215935" y="142399"/>
                </a:cubicBezTo>
                <a:close/>
                <a:moveTo>
                  <a:pt x="182720" y="130096"/>
                </a:moveTo>
                <a:cubicBezTo>
                  <a:pt x="165496" y="130096"/>
                  <a:pt x="148273" y="138708"/>
                  <a:pt x="138431" y="155931"/>
                </a:cubicBezTo>
                <a:lnTo>
                  <a:pt x="135971" y="159622"/>
                </a:lnTo>
                <a:cubicBezTo>
                  <a:pt x="129819" y="170694"/>
                  <a:pt x="127360" y="184227"/>
                  <a:pt x="132280" y="198989"/>
                </a:cubicBezTo>
                <a:cubicBezTo>
                  <a:pt x="134741" y="210061"/>
                  <a:pt x="142122" y="219903"/>
                  <a:pt x="150733" y="226054"/>
                </a:cubicBezTo>
                <a:lnTo>
                  <a:pt x="202403" y="133787"/>
                </a:lnTo>
                <a:cubicBezTo>
                  <a:pt x="195022" y="131327"/>
                  <a:pt x="188871" y="130096"/>
                  <a:pt x="182720" y="130096"/>
                </a:cubicBezTo>
                <a:close/>
                <a:moveTo>
                  <a:pt x="35093" y="84578"/>
                </a:moveTo>
                <a:cubicBezTo>
                  <a:pt x="30171" y="84578"/>
                  <a:pt x="26481" y="88269"/>
                  <a:pt x="26481" y="93190"/>
                </a:cubicBezTo>
                <a:cubicBezTo>
                  <a:pt x="26481" y="98111"/>
                  <a:pt x="30171" y="101801"/>
                  <a:pt x="35093" y="101801"/>
                </a:cubicBezTo>
                <a:cubicBezTo>
                  <a:pt x="40013" y="101801"/>
                  <a:pt x="43703" y="98111"/>
                  <a:pt x="43703" y="93190"/>
                </a:cubicBezTo>
                <a:cubicBezTo>
                  <a:pt x="43703" y="88269"/>
                  <a:pt x="40013" y="84578"/>
                  <a:pt x="35093" y="84578"/>
                </a:cubicBezTo>
                <a:close/>
                <a:moveTo>
                  <a:pt x="145813" y="35061"/>
                </a:moveTo>
                <a:cubicBezTo>
                  <a:pt x="154732" y="35061"/>
                  <a:pt x="163652" y="38444"/>
                  <a:pt x="170418" y="45210"/>
                </a:cubicBezTo>
                <a:cubicBezTo>
                  <a:pt x="174108" y="48901"/>
                  <a:pt x="174108" y="53822"/>
                  <a:pt x="170418" y="57513"/>
                </a:cubicBezTo>
                <a:cubicBezTo>
                  <a:pt x="166727" y="61204"/>
                  <a:pt x="161806" y="61204"/>
                  <a:pt x="158116" y="57513"/>
                </a:cubicBezTo>
                <a:cubicBezTo>
                  <a:pt x="150734" y="50131"/>
                  <a:pt x="139662" y="50131"/>
                  <a:pt x="133511" y="57513"/>
                </a:cubicBezTo>
                <a:lnTo>
                  <a:pt x="119978" y="71045"/>
                </a:lnTo>
                <a:cubicBezTo>
                  <a:pt x="118748" y="72276"/>
                  <a:pt x="116288" y="73506"/>
                  <a:pt x="113827" y="73506"/>
                </a:cubicBezTo>
                <a:cubicBezTo>
                  <a:pt x="111366" y="73506"/>
                  <a:pt x="108907" y="72276"/>
                  <a:pt x="107676" y="71045"/>
                </a:cubicBezTo>
                <a:cubicBezTo>
                  <a:pt x="103985" y="67355"/>
                  <a:pt x="103985" y="62434"/>
                  <a:pt x="107676" y="58743"/>
                </a:cubicBezTo>
                <a:lnTo>
                  <a:pt x="121209" y="45210"/>
                </a:lnTo>
                <a:cubicBezTo>
                  <a:pt x="127975" y="38444"/>
                  <a:pt x="136894" y="35061"/>
                  <a:pt x="145813" y="35061"/>
                </a:cubicBezTo>
                <a:close/>
                <a:moveTo>
                  <a:pt x="144582" y="15685"/>
                </a:moveTo>
                <a:cubicBezTo>
                  <a:pt x="131665" y="15685"/>
                  <a:pt x="118748" y="20606"/>
                  <a:pt x="108906" y="30448"/>
                </a:cubicBezTo>
                <a:lnTo>
                  <a:pt x="75690" y="63664"/>
                </a:lnTo>
                <a:lnTo>
                  <a:pt x="139662" y="127636"/>
                </a:lnTo>
                <a:cubicBezTo>
                  <a:pt x="149503" y="119024"/>
                  <a:pt x="163036" y="114104"/>
                  <a:pt x="176569" y="112873"/>
                </a:cubicBezTo>
                <a:cubicBezTo>
                  <a:pt x="177799" y="112873"/>
                  <a:pt x="177799" y="111643"/>
                  <a:pt x="177799" y="111643"/>
                </a:cubicBezTo>
                <a:lnTo>
                  <a:pt x="183950" y="105492"/>
                </a:lnTo>
                <a:cubicBezTo>
                  <a:pt x="203633" y="85808"/>
                  <a:pt x="203633" y="53822"/>
                  <a:pt x="183950" y="34139"/>
                </a:cubicBezTo>
                <a:lnTo>
                  <a:pt x="180259" y="30448"/>
                </a:lnTo>
                <a:cubicBezTo>
                  <a:pt x="170417" y="20606"/>
                  <a:pt x="157499" y="15685"/>
                  <a:pt x="144582" y="15685"/>
                </a:cubicBezTo>
                <a:close/>
                <a:moveTo>
                  <a:pt x="146274" y="0"/>
                </a:moveTo>
                <a:cubicBezTo>
                  <a:pt x="163651" y="0"/>
                  <a:pt x="180874" y="6459"/>
                  <a:pt x="193791" y="19376"/>
                </a:cubicBezTo>
                <a:lnTo>
                  <a:pt x="197482" y="23067"/>
                </a:lnTo>
                <a:cubicBezTo>
                  <a:pt x="222086" y="47671"/>
                  <a:pt x="223317" y="88269"/>
                  <a:pt x="199943" y="115334"/>
                </a:cubicBezTo>
                <a:cubicBezTo>
                  <a:pt x="204864" y="116564"/>
                  <a:pt x="211015" y="119024"/>
                  <a:pt x="215935" y="121485"/>
                </a:cubicBezTo>
                <a:lnTo>
                  <a:pt x="219627" y="123945"/>
                </a:lnTo>
                <a:cubicBezTo>
                  <a:pt x="235619" y="132557"/>
                  <a:pt x="246691" y="147320"/>
                  <a:pt x="251612" y="164543"/>
                </a:cubicBezTo>
                <a:cubicBezTo>
                  <a:pt x="256533" y="181766"/>
                  <a:pt x="254073" y="200219"/>
                  <a:pt x="247922" y="217443"/>
                </a:cubicBezTo>
                <a:lnTo>
                  <a:pt x="245461" y="221133"/>
                </a:lnTo>
                <a:cubicBezTo>
                  <a:pt x="233159" y="243277"/>
                  <a:pt x="209784" y="255580"/>
                  <a:pt x="186410" y="255580"/>
                </a:cubicBezTo>
                <a:cubicBezTo>
                  <a:pt x="175338" y="255580"/>
                  <a:pt x="164266" y="253119"/>
                  <a:pt x="153194" y="246968"/>
                </a:cubicBezTo>
                <a:lnTo>
                  <a:pt x="149503" y="244508"/>
                </a:lnTo>
                <a:cubicBezTo>
                  <a:pt x="133511" y="235896"/>
                  <a:pt x="122438" y="221133"/>
                  <a:pt x="117517" y="203910"/>
                </a:cubicBezTo>
                <a:cubicBezTo>
                  <a:pt x="116287" y="202680"/>
                  <a:pt x="116287" y="201450"/>
                  <a:pt x="116287" y="200219"/>
                </a:cubicBezTo>
                <a:cubicBezTo>
                  <a:pt x="102755" y="211291"/>
                  <a:pt x="87992" y="216212"/>
                  <a:pt x="71999" y="216212"/>
                </a:cubicBezTo>
                <a:cubicBezTo>
                  <a:pt x="54776" y="216212"/>
                  <a:pt x="37552" y="210061"/>
                  <a:pt x="24020" y="196529"/>
                </a:cubicBezTo>
                <a:lnTo>
                  <a:pt x="20330" y="192838"/>
                </a:lnTo>
                <a:cubicBezTo>
                  <a:pt x="-3045" y="169464"/>
                  <a:pt x="-6736" y="133787"/>
                  <a:pt x="11718" y="106722"/>
                </a:cubicBezTo>
                <a:cubicBezTo>
                  <a:pt x="11718" y="106722"/>
                  <a:pt x="11718" y="105492"/>
                  <a:pt x="12948" y="105492"/>
                </a:cubicBezTo>
                <a:cubicBezTo>
                  <a:pt x="10488" y="101801"/>
                  <a:pt x="9257" y="98111"/>
                  <a:pt x="9257" y="93190"/>
                </a:cubicBezTo>
                <a:cubicBezTo>
                  <a:pt x="9257" y="78427"/>
                  <a:pt x="21560" y="67355"/>
                  <a:pt x="35093" y="67355"/>
                </a:cubicBezTo>
                <a:cubicBezTo>
                  <a:pt x="49855" y="67355"/>
                  <a:pt x="60927" y="78427"/>
                  <a:pt x="60927" y="93190"/>
                </a:cubicBezTo>
                <a:cubicBezTo>
                  <a:pt x="60927" y="107952"/>
                  <a:pt x="48625" y="119024"/>
                  <a:pt x="35093" y="119024"/>
                </a:cubicBezTo>
                <a:cubicBezTo>
                  <a:pt x="31401" y="119024"/>
                  <a:pt x="27711" y="117794"/>
                  <a:pt x="25250" y="116564"/>
                </a:cubicBezTo>
                <a:cubicBezTo>
                  <a:pt x="11718" y="136247"/>
                  <a:pt x="14178" y="163313"/>
                  <a:pt x="31401" y="180536"/>
                </a:cubicBezTo>
                <a:lnTo>
                  <a:pt x="35093" y="184227"/>
                </a:lnTo>
                <a:cubicBezTo>
                  <a:pt x="54776" y="203910"/>
                  <a:pt x="86761" y="203910"/>
                  <a:pt x="106446" y="184227"/>
                </a:cubicBezTo>
                <a:lnTo>
                  <a:pt x="112597" y="178076"/>
                </a:lnTo>
                <a:cubicBezTo>
                  <a:pt x="113827" y="169464"/>
                  <a:pt x="116287" y="160852"/>
                  <a:pt x="121208" y="152241"/>
                </a:cubicBezTo>
                <a:lnTo>
                  <a:pt x="123668" y="148550"/>
                </a:lnTo>
                <a:cubicBezTo>
                  <a:pt x="124899" y="146090"/>
                  <a:pt x="127360" y="143629"/>
                  <a:pt x="128589" y="141169"/>
                </a:cubicBezTo>
                <a:lnTo>
                  <a:pt x="58466" y="71046"/>
                </a:lnTo>
                <a:cubicBezTo>
                  <a:pt x="54776" y="67355"/>
                  <a:pt x="54776" y="62434"/>
                  <a:pt x="58466" y="58743"/>
                </a:cubicBezTo>
                <a:lnTo>
                  <a:pt x="97834" y="19376"/>
                </a:lnTo>
                <a:cubicBezTo>
                  <a:pt x="111367" y="6459"/>
                  <a:pt x="128897" y="0"/>
                  <a:pt x="146274" y="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55" name="Google Shape;355;p7"/>
          <p:cNvSpPr/>
          <p:nvPr/>
        </p:nvSpPr>
        <p:spPr>
          <a:xfrm>
            <a:off x="4657904" y="1196154"/>
            <a:ext cx="1941000" cy="8121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41C27"/>
                </a:solidFill>
                <a:latin typeface="Montserrat"/>
                <a:ea typeface="Montserrat"/>
                <a:cs typeface="Montserrat"/>
                <a:sym typeface="Montserrat"/>
              </a:rPr>
              <a:t>Consolidated 30+ customer apps into one experience </a:t>
            </a:r>
            <a:r>
              <a:rPr b="0" i="0" lang="en" sz="800" u="none" cap="none" strike="noStrike">
                <a:solidFill>
                  <a:srgbClr val="141C27"/>
                </a:solidFill>
                <a:latin typeface="Montserrat"/>
                <a:ea typeface="Montserrat"/>
                <a:cs typeface="Montserrat"/>
                <a:sym typeface="Montserrat"/>
              </a:rPr>
              <a:t>for a global telco giant</a:t>
            </a:r>
            <a:endParaRPr b="0" i="0" sz="1400" u="none" cap="none" strike="noStrike">
              <a:solidFill>
                <a:schemeClr val="lt1"/>
              </a:solidFill>
              <a:latin typeface="Arial"/>
              <a:ea typeface="Arial"/>
              <a:cs typeface="Arial"/>
              <a:sym typeface="Arial"/>
            </a:endParaRPr>
          </a:p>
        </p:txBody>
      </p:sp>
      <p:sp>
        <p:nvSpPr>
          <p:cNvPr id="356" name="Google Shape;356;p7"/>
          <p:cNvSpPr/>
          <p:nvPr/>
        </p:nvSpPr>
        <p:spPr>
          <a:xfrm>
            <a:off x="4657904" y="2059348"/>
            <a:ext cx="1941000" cy="7680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41C27"/>
                </a:solidFill>
                <a:latin typeface="Montserrat"/>
                <a:ea typeface="Montserrat"/>
                <a:cs typeface="Montserrat"/>
                <a:sym typeface="Montserrat"/>
              </a:rPr>
              <a:t>33% increase in call deflection rate </a:t>
            </a:r>
            <a:r>
              <a:rPr b="0" i="0" lang="en" sz="800" u="none" cap="none" strike="noStrike">
                <a:solidFill>
                  <a:srgbClr val="141C27"/>
                </a:solidFill>
                <a:latin typeface="Montserrat"/>
                <a:ea typeface="Montserrat"/>
                <a:cs typeface="Montserrat"/>
                <a:sym typeface="Montserrat"/>
              </a:rPr>
              <a:t>for leading telco provider</a:t>
            </a:r>
            <a:endParaRPr b="0" i="0" sz="1400" u="none" cap="none" strike="noStrike">
              <a:solidFill>
                <a:schemeClr val="lt1"/>
              </a:solidFill>
              <a:latin typeface="Montserrat"/>
              <a:ea typeface="Montserrat"/>
              <a:cs typeface="Montserrat"/>
              <a:sym typeface="Montserrat"/>
            </a:endParaRPr>
          </a:p>
        </p:txBody>
      </p:sp>
      <p:sp>
        <p:nvSpPr>
          <p:cNvPr id="357" name="Google Shape;357;p7"/>
          <p:cNvSpPr/>
          <p:nvPr/>
        </p:nvSpPr>
        <p:spPr>
          <a:xfrm>
            <a:off x="552682" y="3676700"/>
            <a:ext cx="1941000" cy="946800"/>
          </a:xfrm>
          <a:prstGeom prst="roundRect">
            <a:avLst>
              <a:gd fmla="val 8728" name="adj"/>
            </a:avLst>
          </a:prstGeom>
          <a:solidFill>
            <a:srgbClr val="DED4FF">
              <a:alpha val="69804"/>
            </a:srgbClr>
          </a:solidFill>
          <a:ln>
            <a:noFill/>
          </a:ln>
        </p:spPr>
        <p:txBody>
          <a:bodyPr anchorCtr="0" anchor="ctr" bIns="68575" lIns="411475" spcFirstLastPara="1" rIns="137150" wrap="square" tIns="685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Agentic AI solution to simulate real-world inspection of a clinical trial site to </a:t>
            </a:r>
            <a:r>
              <a:rPr b="1" i="0" lang="en" sz="800" u="none" cap="none" strike="noStrike">
                <a:solidFill>
                  <a:srgbClr val="36312D"/>
                </a:solidFill>
                <a:latin typeface="Montserrat"/>
                <a:ea typeface="Montserrat"/>
                <a:cs typeface="Montserrat"/>
                <a:sym typeface="Montserrat"/>
              </a:rPr>
              <a:t>identify gaps and assess readiness</a:t>
            </a:r>
            <a:endParaRPr b="0" i="0" sz="1400" u="none" cap="none" strike="noStrike">
              <a:solidFill>
                <a:schemeClr val="lt1"/>
              </a:solidFill>
              <a:latin typeface="Arial"/>
              <a:ea typeface="Arial"/>
              <a:cs typeface="Arial"/>
              <a:sym typeface="Arial"/>
            </a:endParaRPr>
          </a:p>
        </p:txBody>
      </p:sp>
      <p:sp>
        <p:nvSpPr>
          <p:cNvPr id="358" name="Google Shape;358;p7"/>
          <p:cNvSpPr/>
          <p:nvPr/>
        </p:nvSpPr>
        <p:spPr>
          <a:xfrm>
            <a:off x="4796644" y="2301047"/>
            <a:ext cx="182860" cy="219077"/>
          </a:xfrm>
          <a:custGeom>
            <a:rect b="b" l="l" r="r" t="t"/>
            <a:pathLst>
              <a:path extrusionOk="0" h="237482" w="198222">
                <a:moveTo>
                  <a:pt x="71353" y="166129"/>
                </a:moveTo>
                <a:lnTo>
                  <a:pt x="54130" y="215338"/>
                </a:lnTo>
                <a:lnTo>
                  <a:pt x="120563" y="188273"/>
                </a:lnTo>
                <a:close/>
                <a:moveTo>
                  <a:pt x="116872" y="130453"/>
                </a:moveTo>
                <a:lnTo>
                  <a:pt x="83656" y="152597"/>
                </a:lnTo>
                <a:lnTo>
                  <a:pt x="131634" y="173511"/>
                </a:lnTo>
                <a:close/>
                <a:moveTo>
                  <a:pt x="99649" y="87395"/>
                </a:moveTo>
                <a:cubicBezTo>
                  <a:pt x="99649" y="87395"/>
                  <a:pt x="98418" y="87395"/>
                  <a:pt x="97188" y="88625"/>
                </a:cubicBezTo>
                <a:lnTo>
                  <a:pt x="81195" y="134143"/>
                </a:lnTo>
                <a:lnTo>
                  <a:pt x="110720" y="114460"/>
                </a:lnTo>
                <a:lnTo>
                  <a:pt x="102109" y="87395"/>
                </a:lnTo>
                <a:cubicBezTo>
                  <a:pt x="100879" y="87395"/>
                  <a:pt x="100879" y="87395"/>
                  <a:pt x="99649" y="87395"/>
                </a:cubicBezTo>
                <a:close/>
                <a:moveTo>
                  <a:pt x="99649" y="35725"/>
                </a:moveTo>
                <a:cubicBezTo>
                  <a:pt x="91037" y="35725"/>
                  <a:pt x="82425" y="43107"/>
                  <a:pt x="82425" y="52948"/>
                </a:cubicBezTo>
                <a:cubicBezTo>
                  <a:pt x="82425" y="62790"/>
                  <a:pt x="89807" y="70171"/>
                  <a:pt x="99649" y="70171"/>
                </a:cubicBezTo>
                <a:cubicBezTo>
                  <a:pt x="109491" y="70171"/>
                  <a:pt x="116872" y="62790"/>
                  <a:pt x="116872" y="52948"/>
                </a:cubicBezTo>
                <a:cubicBezTo>
                  <a:pt x="116872" y="43107"/>
                  <a:pt x="109491" y="35725"/>
                  <a:pt x="99649" y="35725"/>
                </a:cubicBezTo>
                <a:close/>
                <a:moveTo>
                  <a:pt x="147627" y="18502"/>
                </a:moveTo>
                <a:cubicBezTo>
                  <a:pt x="151318" y="16042"/>
                  <a:pt x="157469" y="17272"/>
                  <a:pt x="159930" y="20962"/>
                </a:cubicBezTo>
                <a:cubicBezTo>
                  <a:pt x="167311" y="30804"/>
                  <a:pt x="171002" y="41876"/>
                  <a:pt x="171002" y="54179"/>
                </a:cubicBezTo>
                <a:cubicBezTo>
                  <a:pt x="171002" y="67711"/>
                  <a:pt x="166081" y="81244"/>
                  <a:pt x="157469" y="91086"/>
                </a:cubicBezTo>
                <a:cubicBezTo>
                  <a:pt x="156239" y="92316"/>
                  <a:pt x="153779" y="93546"/>
                  <a:pt x="151318" y="93546"/>
                </a:cubicBezTo>
                <a:cubicBezTo>
                  <a:pt x="148858" y="93546"/>
                  <a:pt x="147627" y="92316"/>
                  <a:pt x="143937" y="92316"/>
                </a:cubicBezTo>
                <a:cubicBezTo>
                  <a:pt x="140246" y="88625"/>
                  <a:pt x="140246" y="83704"/>
                  <a:pt x="142707" y="80014"/>
                </a:cubicBezTo>
                <a:cubicBezTo>
                  <a:pt x="148858" y="72632"/>
                  <a:pt x="152549" y="64020"/>
                  <a:pt x="152549" y="54179"/>
                </a:cubicBezTo>
                <a:cubicBezTo>
                  <a:pt x="152549" y="45567"/>
                  <a:pt x="150088" y="38186"/>
                  <a:pt x="145167" y="30804"/>
                </a:cubicBezTo>
                <a:cubicBezTo>
                  <a:pt x="142707" y="27114"/>
                  <a:pt x="143937" y="20962"/>
                  <a:pt x="147627" y="18502"/>
                </a:cubicBezTo>
                <a:close/>
                <a:moveTo>
                  <a:pt x="99649" y="18502"/>
                </a:moveTo>
                <a:cubicBezTo>
                  <a:pt x="119332" y="18502"/>
                  <a:pt x="134095" y="34495"/>
                  <a:pt x="134095" y="52948"/>
                </a:cubicBezTo>
                <a:cubicBezTo>
                  <a:pt x="134095" y="65250"/>
                  <a:pt x="127944" y="75093"/>
                  <a:pt x="118102" y="81244"/>
                </a:cubicBezTo>
                <a:lnTo>
                  <a:pt x="164851" y="226410"/>
                </a:lnTo>
                <a:cubicBezTo>
                  <a:pt x="167311" y="231331"/>
                  <a:pt x="164851" y="236252"/>
                  <a:pt x="159930" y="237482"/>
                </a:cubicBezTo>
                <a:cubicBezTo>
                  <a:pt x="158700" y="237482"/>
                  <a:pt x="158700" y="237482"/>
                  <a:pt x="157469" y="237482"/>
                </a:cubicBezTo>
                <a:cubicBezTo>
                  <a:pt x="153778" y="237482"/>
                  <a:pt x="150088" y="235022"/>
                  <a:pt x="148858" y="231331"/>
                </a:cubicBezTo>
                <a:lnTo>
                  <a:pt x="137786" y="196885"/>
                </a:lnTo>
                <a:lnTo>
                  <a:pt x="41828" y="236252"/>
                </a:lnTo>
                <a:cubicBezTo>
                  <a:pt x="41828" y="236252"/>
                  <a:pt x="40598" y="236252"/>
                  <a:pt x="39367" y="236252"/>
                </a:cubicBezTo>
                <a:cubicBezTo>
                  <a:pt x="38137" y="236252"/>
                  <a:pt x="38137" y="236252"/>
                  <a:pt x="36907" y="236252"/>
                </a:cubicBezTo>
                <a:cubicBezTo>
                  <a:pt x="35677" y="236252"/>
                  <a:pt x="35677" y="235022"/>
                  <a:pt x="34447" y="235022"/>
                </a:cubicBezTo>
                <a:cubicBezTo>
                  <a:pt x="33216" y="233792"/>
                  <a:pt x="33216" y="233792"/>
                  <a:pt x="33216" y="233792"/>
                </a:cubicBezTo>
                <a:cubicBezTo>
                  <a:pt x="33216" y="233792"/>
                  <a:pt x="31986" y="233792"/>
                  <a:pt x="31986" y="232562"/>
                </a:cubicBezTo>
                <a:cubicBezTo>
                  <a:pt x="31986" y="231331"/>
                  <a:pt x="31986" y="231331"/>
                  <a:pt x="31986" y="231331"/>
                </a:cubicBezTo>
                <a:cubicBezTo>
                  <a:pt x="31986" y="231331"/>
                  <a:pt x="31986" y="230101"/>
                  <a:pt x="31986" y="230101"/>
                </a:cubicBezTo>
                <a:cubicBezTo>
                  <a:pt x="31986" y="230101"/>
                  <a:pt x="31986" y="230101"/>
                  <a:pt x="31986" y="228871"/>
                </a:cubicBezTo>
                <a:cubicBezTo>
                  <a:pt x="31986" y="228871"/>
                  <a:pt x="31986" y="227641"/>
                  <a:pt x="31986" y="227641"/>
                </a:cubicBezTo>
                <a:cubicBezTo>
                  <a:pt x="31986" y="227641"/>
                  <a:pt x="31986" y="226410"/>
                  <a:pt x="31986" y="226410"/>
                </a:cubicBezTo>
                <a:lnTo>
                  <a:pt x="56591" y="151366"/>
                </a:lnTo>
                <a:cubicBezTo>
                  <a:pt x="56591" y="150136"/>
                  <a:pt x="57821" y="150136"/>
                  <a:pt x="57821" y="148906"/>
                </a:cubicBezTo>
                <a:lnTo>
                  <a:pt x="81195" y="81244"/>
                </a:lnTo>
                <a:cubicBezTo>
                  <a:pt x="71353" y="75093"/>
                  <a:pt x="65202" y="65250"/>
                  <a:pt x="65202" y="52948"/>
                </a:cubicBezTo>
                <a:cubicBezTo>
                  <a:pt x="65202" y="33265"/>
                  <a:pt x="81195" y="18502"/>
                  <a:pt x="99649" y="18502"/>
                </a:cubicBezTo>
                <a:close/>
                <a:moveTo>
                  <a:pt x="50439" y="16042"/>
                </a:moveTo>
                <a:cubicBezTo>
                  <a:pt x="55360" y="19733"/>
                  <a:pt x="55360" y="24654"/>
                  <a:pt x="52900" y="28344"/>
                </a:cubicBezTo>
                <a:cubicBezTo>
                  <a:pt x="47979" y="35726"/>
                  <a:pt x="45518" y="43107"/>
                  <a:pt x="45518" y="51719"/>
                </a:cubicBezTo>
                <a:cubicBezTo>
                  <a:pt x="45518" y="61561"/>
                  <a:pt x="49209" y="70172"/>
                  <a:pt x="55360" y="77553"/>
                </a:cubicBezTo>
                <a:cubicBezTo>
                  <a:pt x="57821" y="81244"/>
                  <a:pt x="57821" y="87395"/>
                  <a:pt x="54130" y="89856"/>
                </a:cubicBezTo>
                <a:cubicBezTo>
                  <a:pt x="52900" y="91086"/>
                  <a:pt x="51670" y="92316"/>
                  <a:pt x="49209" y="92316"/>
                </a:cubicBezTo>
                <a:cubicBezTo>
                  <a:pt x="46749" y="92316"/>
                  <a:pt x="44288" y="92316"/>
                  <a:pt x="43058" y="89856"/>
                </a:cubicBezTo>
                <a:cubicBezTo>
                  <a:pt x="34446" y="80014"/>
                  <a:pt x="29526" y="66481"/>
                  <a:pt x="27065" y="51719"/>
                </a:cubicBezTo>
                <a:cubicBezTo>
                  <a:pt x="27065" y="39416"/>
                  <a:pt x="30756" y="28344"/>
                  <a:pt x="38137" y="18503"/>
                </a:cubicBezTo>
                <a:cubicBezTo>
                  <a:pt x="41828" y="14812"/>
                  <a:pt x="46749" y="13582"/>
                  <a:pt x="50439" y="16042"/>
                </a:cubicBezTo>
                <a:close/>
                <a:moveTo>
                  <a:pt x="171002" y="1279"/>
                </a:moveTo>
                <a:cubicBezTo>
                  <a:pt x="174693" y="-1181"/>
                  <a:pt x="180844" y="49"/>
                  <a:pt x="183304" y="3739"/>
                </a:cubicBezTo>
                <a:cubicBezTo>
                  <a:pt x="193146" y="18502"/>
                  <a:pt x="199297" y="35725"/>
                  <a:pt x="198067" y="54179"/>
                </a:cubicBezTo>
                <a:cubicBezTo>
                  <a:pt x="198067" y="75093"/>
                  <a:pt x="190685" y="94776"/>
                  <a:pt x="177153" y="109539"/>
                </a:cubicBezTo>
                <a:cubicBezTo>
                  <a:pt x="175923" y="110769"/>
                  <a:pt x="173462" y="112000"/>
                  <a:pt x="171002" y="112000"/>
                </a:cubicBezTo>
                <a:cubicBezTo>
                  <a:pt x="169772" y="112000"/>
                  <a:pt x="167311" y="110769"/>
                  <a:pt x="166081" y="109539"/>
                </a:cubicBezTo>
                <a:cubicBezTo>
                  <a:pt x="162390" y="105849"/>
                  <a:pt x="162390" y="100927"/>
                  <a:pt x="164851" y="97237"/>
                </a:cubicBezTo>
                <a:cubicBezTo>
                  <a:pt x="174693" y="84934"/>
                  <a:pt x="180844" y="68942"/>
                  <a:pt x="180844" y="52948"/>
                </a:cubicBezTo>
                <a:cubicBezTo>
                  <a:pt x="180844" y="38186"/>
                  <a:pt x="177153" y="24653"/>
                  <a:pt x="168541" y="13581"/>
                </a:cubicBezTo>
                <a:cubicBezTo>
                  <a:pt x="166081" y="9891"/>
                  <a:pt x="167311" y="3739"/>
                  <a:pt x="171002" y="1279"/>
                </a:cubicBezTo>
                <a:close/>
                <a:moveTo>
                  <a:pt x="28295" y="1279"/>
                </a:moveTo>
                <a:cubicBezTo>
                  <a:pt x="31986" y="4970"/>
                  <a:pt x="33216" y="9891"/>
                  <a:pt x="30756" y="13581"/>
                </a:cubicBezTo>
                <a:cubicBezTo>
                  <a:pt x="23375" y="24653"/>
                  <a:pt x="18453" y="38186"/>
                  <a:pt x="18453" y="52948"/>
                </a:cubicBezTo>
                <a:cubicBezTo>
                  <a:pt x="18453" y="68942"/>
                  <a:pt x="23375" y="84934"/>
                  <a:pt x="34447" y="97237"/>
                </a:cubicBezTo>
                <a:cubicBezTo>
                  <a:pt x="38137" y="100927"/>
                  <a:pt x="36907" y="105849"/>
                  <a:pt x="31986" y="108309"/>
                </a:cubicBezTo>
                <a:cubicBezTo>
                  <a:pt x="30756" y="109539"/>
                  <a:pt x="29526" y="110769"/>
                  <a:pt x="27065" y="110769"/>
                </a:cubicBezTo>
                <a:cubicBezTo>
                  <a:pt x="24605" y="110769"/>
                  <a:pt x="22144" y="110769"/>
                  <a:pt x="20914" y="108309"/>
                </a:cubicBezTo>
                <a:cubicBezTo>
                  <a:pt x="7381" y="92316"/>
                  <a:pt x="0" y="72632"/>
                  <a:pt x="0" y="52948"/>
                </a:cubicBezTo>
                <a:cubicBezTo>
                  <a:pt x="0" y="35725"/>
                  <a:pt x="6151" y="18502"/>
                  <a:pt x="15993" y="3739"/>
                </a:cubicBezTo>
                <a:cubicBezTo>
                  <a:pt x="19684" y="49"/>
                  <a:pt x="24605" y="-1181"/>
                  <a:pt x="28295" y="1279"/>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59" name="Google Shape;359;p7"/>
          <p:cNvSpPr/>
          <p:nvPr/>
        </p:nvSpPr>
        <p:spPr>
          <a:xfrm>
            <a:off x="661381" y="4012666"/>
            <a:ext cx="219032" cy="219033"/>
          </a:xfrm>
          <a:custGeom>
            <a:rect b="b" l="l" r="r" t="t"/>
            <a:pathLst>
              <a:path extrusionOk="0" h="237434" w="237433">
                <a:moveTo>
                  <a:pt x="211599" y="67663"/>
                </a:moveTo>
                <a:lnTo>
                  <a:pt x="169771" y="67663"/>
                </a:lnTo>
                <a:lnTo>
                  <a:pt x="169771" y="25835"/>
                </a:lnTo>
                <a:cubicBezTo>
                  <a:pt x="169771" y="12302"/>
                  <a:pt x="158699" y="0"/>
                  <a:pt x="143936" y="0"/>
                </a:cubicBezTo>
                <a:lnTo>
                  <a:pt x="93497" y="0"/>
                </a:lnTo>
                <a:cubicBezTo>
                  <a:pt x="79965" y="0"/>
                  <a:pt x="67663" y="11072"/>
                  <a:pt x="67663" y="25835"/>
                </a:cubicBezTo>
                <a:lnTo>
                  <a:pt x="67663" y="67663"/>
                </a:lnTo>
                <a:lnTo>
                  <a:pt x="25834" y="67663"/>
                </a:lnTo>
                <a:cubicBezTo>
                  <a:pt x="12302" y="67663"/>
                  <a:pt x="0" y="78734"/>
                  <a:pt x="0" y="93497"/>
                </a:cubicBezTo>
                <a:lnTo>
                  <a:pt x="0" y="143937"/>
                </a:lnTo>
                <a:cubicBezTo>
                  <a:pt x="0" y="157469"/>
                  <a:pt x="11072" y="169772"/>
                  <a:pt x="25834" y="169772"/>
                </a:cubicBezTo>
                <a:lnTo>
                  <a:pt x="35676" y="169772"/>
                </a:lnTo>
                <a:cubicBezTo>
                  <a:pt x="40597" y="169772"/>
                  <a:pt x="44288" y="166081"/>
                  <a:pt x="44288" y="161160"/>
                </a:cubicBezTo>
                <a:cubicBezTo>
                  <a:pt x="44288" y="156239"/>
                  <a:pt x="40597" y="152548"/>
                  <a:pt x="35676" y="152548"/>
                </a:cubicBezTo>
                <a:lnTo>
                  <a:pt x="25834" y="152548"/>
                </a:lnTo>
                <a:cubicBezTo>
                  <a:pt x="20913" y="152548"/>
                  <a:pt x="17223" y="148858"/>
                  <a:pt x="17223" y="143937"/>
                </a:cubicBezTo>
                <a:lnTo>
                  <a:pt x="17223" y="93497"/>
                </a:lnTo>
                <a:cubicBezTo>
                  <a:pt x="17223" y="88577"/>
                  <a:pt x="20913" y="84886"/>
                  <a:pt x="25834" y="84886"/>
                </a:cubicBezTo>
                <a:lnTo>
                  <a:pt x="76273" y="84886"/>
                </a:lnTo>
                <a:cubicBezTo>
                  <a:pt x="81195" y="84886"/>
                  <a:pt x="84885" y="81195"/>
                  <a:pt x="84885" y="76274"/>
                </a:cubicBezTo>
                <a:lnTo>
                  <a:pt x="84885" y="25835"/>
                </a:lnTo>
                <a:cubicBezTo>
                  <a:pt x="84885" y="20914"/>
                  <a:pt x="88576" y="17223"/>
                  <a:pt x="93497" y="17223"/>
                </a:cubicBezTo>
                <a:lnTo>
                  <a:pt x="143936" y="17223"/>
                </a:lnTo>
                <a:cubicBezTo>
                  <a:pt x="148857" y="17223"/>
                  <a:pt x="152548" y="20914"/>
                  <a:pt x="152548" y="25835"/>
                </a:cubicBezTo>
                <a:lnTo>
                  <a:pt x="152548" y="76274"/>
                </a:lnTo>
                <a:cubicBezTo>
                  <a:pt x="152548" y="81195"/>
                  <a:pt x="156238" y="84886"/>
                  <a:pt x="161159" y="84886"/>
                </a:cubicBezTo>
                <a:lnTo>
                  <a:pt x="211599" y="84886"/>
                </a:lnTo>
                <a:cubicBezTo>
                  <a:pt x="216520" y="84886"/>
                  <a:pt x="220210" y="88577"/>
                  <a:pt x="220210" y="93497"/>
                </a:cubicBezTo>
                <a:lnTo>
                  <a:pt x="220210" y="143937"/>
                </a:lnTo>
                <a:cubicBezTo>
                  <a:pt x="220210" y="148858"/>
                  <a:pt x="216520" y="152548"/>
                  <a:pt x="211599" y="152548"/>
                </a:cubicBezTo>
                <a:lnTo>
                  <a:pt x="161159" y="152548"/>
                </a:lnTo>
                <a:cubicBezTo>
                  <a:pt x="156238" y="152548"/>
                  <a:pt x="152548" y="156239"/>
                  <a:pt x="152548" y="161160"/>
                </a:cubicBezTo>
                <a:lnTo>
                  <a:pt x="152548" y="211599"/>
                </a:lnTo>
                <a:cubicBezTo>
                  <a:pt x="152548" y="216520"/>
                  <a:pt x="148857" y="220211"/>
                  <a:pt x="143936" y="220211"/>
                </a:cubicBezTo>
                <a:lnTo>
                  <a:pt x="93497" y="220211"/>
                </a:lnTo>
                <a:cubicBezTo>
                  <a:pt x="88576" y="220211"/>
                  <a:pt x="84885" y="216520"/>
                  <a:pt x="84885" y="211599"/>
                </a:cubicBezTo>
                <a:lnTo>
                  <a:pt x="84885" y="201757"/>
                </a:lnTo>
                <a:cubicBezTo>
                  <a:pt x="94727" y="198067"/>
                  <a:pt x="102109" y="189455"/>
                  <a:pt x="102109" y="178383"/>
                </a:cubicBezTo>
                <a:cubicBezTo>
                  <a:pt x="102109" y="164850"/>
                  <a:pt x="91036" y="152548"/>
                  <a:pt x="76273" y="152548"/>
                </a:cubicBezTo>
                <a:cubicBezTo>
                  <a:pt x="62741" y="152548"/>
                  <a:pt x="50439" y="163620"/>
                  <a:pt x="50439" y="178383"/>
                </a:cubicBezTo>
                <a:cubicBezTo>
                  <a:pt x="50439" y="189455"/>
                  <a:pt x="57820" y="199297"/>
                  <a:pt x="67663" y="201757"/>
                </a:cubicBezTo>
                <a:lnTo>
                  <a:pt x="67663" y="211599"/>
                </a:lnTo>
                <a:cubicBezTo>
                  <a:pt x="67663" y="225132"/>
                  <a:pt x="78734" y="237434"/>
                  <a:pt x="93497" y="237434"/>
                </a:cubicBezTo>
                <a:lnTo>
                  <a:pt x="143936" y="237434"/>
                </a:lnTo>
                <a:cubicBezTo>
                  <a:pt x="157469" y="237434"/>
                  <a:pt x="169771" y="226362"/>
                  <a:pt x="169771" y="211599"/>
                </a:cubicBezTo>
                <a:lnTo>
                  <a:pt x="169771" y="169772"/>
                </a:lnTo>
                <a:lnTo>
                  <a:pt x="211599" y="169772"/>
                </a:lnTo>
                <a:cubicBezTo>
                  <a:pt x="225131" y="169772"/>
                  <a:pt x="237434" y="158699"/>
                  <a:pt x="237434" y="143937"/>
                </a:cubicBezTo>
                <a:lnTo>
                  <a:pt x="237434" y="93497"/>
                </a:lnTo>
                <a:cubicBezTo>
                  <a:pt x="237434" y="78734"/>
                  <a:pt x="226361" y="67663"/>
                  <a:pt x="211599" y="67663"/>
                </a:cubicBezTo>
                <a:close/>
                <a:moveTo>
                  <a:pt x="76273" y="168541"/>
                </a:moveTo>
                <a:cubicBezTo>
                  <a:pt x="81195" y="168541"/>
                  <a:pt x="84885" y="172232"/>
                  <a:pt x="84885" y="177153"/>
                </a:cubicBezTo>
                <a:cubicBezTo>
                  <a:pt x="84885" y="182074"/>
                  <a:pt x="81195" y="185764"/>
                  <a:pt x="76273" y="185764"/>
                </a:cubicBezTo>
                <a:cubicBezTo>
                  <a:pt x="71353" y="185764"/>
                  <a:pt x="67663" y="182074"/>
                  <a:pt x="67663" y="177153"/>
                </a:cubicBezTo>
                <a:cubicBezTo>
                  <a:pt x="67663" y="172232"/>
                  <a:pt x="71353" y="168541"/>
                  <a:pt x="76273" y="168541"/>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360" name="Google Shape;360;p7"/>
          <p:cNvSpPr/>
          <p:nvPr/>
        </p:nvSpPr>
        <p:spPr>
          <a:xfrm>
            <a:off x="4796644" y="1450813"/>
            <a:ext cx="170509" cy="268856"/>
          </a:xfrm>
          <a:custGeom>
            <a:rect b="b" l="l" r="r" t="t"/>
            <a:pathLst>
              <a:path extrusionOk="0" h="271572" w="172231">
                <a:moveTo>
                  <a:pt x="134095" y="89807"/>
                </a:moveTo>
                <a:cubicBezTo>
                  <a:pt x="137785" y="92267"/>
                  <a:pt x="141476" y="93497"/>
                  <a:pt x="146397" y="93497"/>
                </a:cubicBezTo>
                <a:cubicBezTo>
                  <a:pt x="159930" y="93497"/>
                  <a:pt x="172232" y="82425"/>
                  <a:pt x="172232" y="67663"/>
                </a:cubicBezTo>
                <a:cubicBezTo>
                  <a:pt x="172232" y="54130"/>
                  <a:pt x="161160" y="41828"/>
                  <a:pt x="146397" y="41828"/>
                </a:cubicBezTo>
                <a:cubicBezTo>
                  <a:pt x="132864" y="41828"/>
                  <a:pt x="120562" y="52900"/>
                  <a:pt x="120562" y="67663"/>
                </a:cubicBezTo>
                <a:cubicBezTo>
                  <a:pt x="120562" y="71353"/>
                  <a:pt x="121792" y="73814"/>
                  <a:pt x="121792" y="76274"/>
                </a:cubicBezTo>
                <a:cubicBezTo>
                  <a:pt x="113181" y="86116"/>
                  <a:pt x="103339" y="103339"/>
                  <a:pt x="103339" y="126713"/>
                </a:cubicBezTo>
                <a:lnTo>
                  <a:pt x="103339" y="161160"/>
                </a:lnTo>
                <a:lnTo>
                  <a:pt x="94727" y="161160"/>
                </a:lnTo>
                <a:lnTo>
                  <a:pt x="94727" y="49209"/>
                </a:lnTo>
                <a:cubicBezTo>
                  <a:pt x="104569" y="45518"/>
                  <a:pt x="111951" y="36907"/>
                  <a:pt x="111951" y="25835"/>
                </a:cubicBezTo>
                <a:cubicBezTo>
                  <a:pt x="111951" y="12302"/>
                  <a:pt x="100878" y="0"/>
                  <a:pt x="86116" y="0"/>
                </a:cubicBezTo>
                <a:cubicBezTo>
                  <a:pt x="72583" y="0"/>
                  <a:pt x="60281" y="11072"/>
                  <a:pt x="60281" y="25835"/>
                </a:cubicBezTo>
                <a:cubicBezTo>
                  <a:pt x="60281" y="36907"/>
                  <a:pt x="67663" y="46749"/>
                  <a:pt x="77504" y="49209"/>
                </a:cubicBezTo>
                <a:lnTo>
                  <a:pt x="77504" y="161160"/>
                </a:lnTo>
                <a:lnTo>
                  <a:pt x="68893" y="161160"/>
                </a:lnTo>
                <a:lnTo>
                  <a:pt x="68893" y="126713"/>
                </a:lnTo>
                <a:cubicBezTo>
                  <a:pt x="68893" y="102109"/>
                  <a:pt x="59051" y="86116"/>
                  <a:pt x="50439" y="76274"/>
                </a:cubicBezTo>
                <a:cubicBezTo>
                  <a:pt x="51669" y="73814"/>
                  <a:pt x="51669" y="70123"/>
                  <a:pt x="51669" y="67663"/>
                </a:cubicBezTo>
                <a:cubicBezTo>
                  <a:pt x="51669" y="54130"/>
                  <a:pt x="40597" y="41828"/>
                  <a:pt x="25835" y="41828"/>
                </a:cubicBezTo>
                <a:cubicBezTo>
                  <a:pt x="12302" y="41828"/>
                  <a:pt x="0" y="52900"/>
                  <a:pt x="0" y="67663"/>
                </a:cubicBezTo>
                <a:cubicBezTo>
                  <a:pt x="0" y="81195"/>
                  <a:pt x="11072" y="93497"/>
                  <a:pt x="25835" y="93497"/>
                </a:cubicBezTo>
                <a:cubicBezTo>
                  <a:pt x="30756" y="93497"/>
                  <a:pt x="34446" y="92267"/>
                  <a:pt x="38137" y="89807"/>
                </a:cubicBezTo>
                <a:cubicBezTo>
                  <a:pt x="46748" y="100879"/>
                  <a:pt x="50439" y="113181"/>
                  <a:pt x="50439" y="126713"/>
                </a:cubicBezTo>
                <a:lnTo>
                  <a:pt x="50439" y="161160"/>
                </a:lnTo>
                <a:lnTo>
                  <a:pt x="15993" y="161160"/>
                </a:lnTo>
                <a:cubicBezTo>
                  <a:pt x="11072" y="161160"/>
                  <a:pt x="7381" y="164850"/>
                  <a:pt x="7381" y="169771"/>
                </a:cubicBezTo>
                <a:lnTo>
                  <a:pt x="7381" y="228822"/>
                </a:lnTo>
                <a:cubicBezTo>
                  <a:pt x="7381" y="233743"/>
                  <a:pt x="11072" y="237434"/>
                  <a:pt x="15993" y="237434"/>
                </a:cubicBezTo>
                <a:cubicBezTo>
                  <a:pt x="20914" y="237434"/>
                  <a:pt x="24605" y="233743"/>
                  <a:pt x="24605" y="228822"/>
                </a:cubicBezTo>
                <a:lnTo>
                  <a:pt x="24605" y="178383"/>
                </a:lnTo>
                <a:lnTo>
                  <a:pt x="75044" y="178383"/>
                </a:lnTo>
                <a:lnTo>
                  <a:pt x="75044" y="212829"/>
                </a:lnTo>
                <a:lnTo>
                  <a:pt x="60281" y="212829"/>
                </a:lnTo>
                <a:cubicBezTo>
                  <a:pt x="52900" y="212829"/>
                  <a:pt x="46748" y="221441"/>
                  <a:pt x="51669" y="227592"/>
                </a:cubicBezTo>
                <a:lnTo>
                  <a:pt x="75044" y="266959"/>
                </a:lnTo>
                <a:cubicBezTo>
                  <a:pt x="78734" y="273110"/>
                  <a:pt x="88576" y="273110"/>
                  <a:pt x="93497" y="266959"/>
                </a:cubicBezTo>
                <a:lnTo>
                  <a:pt x="116872" y="227592"/>
                </a:lnTo>
                <a:cubicBezTo>
                  <a:pt x="120562" y="221441"/>
                  <a:pt x="115641" y="212829"/>
                  <a:pt x="108260" y="212829"/>
                </a:cubicBezTo>
                <a:lnTo>
                  <a:pt x="93497" y="212829"/>
                </a:lnTo>
                <a:lnTo>
                  <a:pt x="93497" y="178383"/>
                </a:lnTo>
                <a:lnTo>
                  <a:pt x="143936" y="178383"/>
                </a:lnTo>
                <a:lnTo>
                  <a:pt x="143936" y="228822"/>
                </a:lnTo>
                <a:cubicBezTo>
                  <a:pt x="143936" y="233743"/>
                  <a:pt x="147627" y="237434"/>
                  <a:pt x="152548" y="237434"/>
                </a:cubicBezTo>
                <a:cubicBezTo>
                  <a:pt x="157469" y="237434"/>
                  <a:pt x="161160" y="233743"/>
                  <a:pt x="161160" y="228822"/>
                </a:cubicBezTo>
                <a:lnTo>
                  <a:pt x="161160" y="169771"/>
                </a:lnTo>
                <a:cubicBezTo>
                  <a:pt x="161160" y="164850"/>
                  <a:pt x="157469" y="161160"/>
                  <a:pt x="152548" y="161160"/>
                </a:cubicBezTo>
                <a:lnTo>
                  <a:pt x="118102" y="161160"/>
                </a:lnTo>
                <a:lnTo>
                  <a:pt x="118102" y="126713"/>
                </a:lnTo>
                <a:cubicBezTo>
                  <a:pt x="120562" y="113181"/>
                  <a:pt x="125483" y="99648"/>
                  <a:pt x="134095" y="89807"/>
                </a:cubicBezTo>
                <a:close/>
                <a:moveTo>
                  <a:pt x="146397" y="59051"/>
                </a:moveTo>
                <a:cubicBezTo>
                  <a:pt x="151318" y="59051"/>
                  <a:pt x="155009" y="62742"/>
                  <a:pt x="155009" y="67663"/>
                </a:cubicBezTo>
                <a:cubicBezTo>
                  <a:pt x="155009" y="72583"/>
                  <a:pt x="151318" y="76274"/>
                  <a:pt x="146397" y="76274"/>
                </a:cubicBezTo>
                <a:cubicBezTo>
                  <a:pt x="141476" y="76274"/>
                  <a:pt x="137785" y="72583"/>
                  <a:pt x="137785" y="67663"/>
                </a:cubicBezTo>
                <a:cubicBezTo>
                  <a:pt x="137785" y="62742"/>
                  <a:pt x="141476" y="59051"/>
                  <a:pt x="146397" y="59051"/>
                </a:cubicBezTo>
                <a:close/>
                <a:moveTo>
                  <a:pt x="87346" y="17223"/>
                </a:moveTo>
                <a:cubicBezTo>
                  <a:pt x="92267" y="17223"/>
                  <a:pt x="95958" y="20914"/>
                  <a:pt x="95958" y="25835"/>
                </a:cubicBezTo>
                <a:cubicBezTo>
                  <a:pt x="95958" y="30756"/>
                  <a:pt x="92267" y="34446"/>
                  <a:pt x="87346" y="34446"/>
                </a:cubicBezTo>
                <a:cubicBezTo>
                  <a:pt x="82425" y="34446"/>
                  <a:pt x="78734" y="30756"/>
                  <a:pt x="78734" y="25835"/>
                </a:cubicBezTo>
                <a:cubicBezTo>
                  <a:pt x="78734" y="20914"/>
                  <a:pt x="82425" y="17223"/>
                  <a:pt x="87346" y="17223"/>
                </a:cubicBezTo>
                <a:close/>
                <a:moveTo>
                  <a:pt x="27065" y="76274"/>
                </a:moveTo>
                <a:cubicBezTo>
                  <a:pt x="22144" y="76274"/>
                  <a:pt x="18453" y="72583"/>
                  <a:pt x="18453" y="67663"/>
                </a:cubicBezTo>
                <a:cubicBezTo>
                  <a:pt x="18453" y="62742"/>
                  <a:pt x="22144" y="59051"/>
                  <a:pt x="27065" y="59051"/>
                </a:cubicBezTo>
                <a:cubicBezTo>
                  <a:pt x="31986" y="59051"/>
                  <a:pt x="35677" y="62742"/>
                  <a:pt x="35677" y="67663"/>
                </a:cubicBezTo>
                <a:cubicBezTo>
                  <a:pt x="35677" y="72583"/>
                  <a:pt x="31986" y="76274"/>
                  <a:pt x="27065" y="76274"/>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graphicFrame>
        <p:nvGraphicFramePr>
          <p:cNvPr id="366" name="Google Shape;366;p8"/>
          <p:cNvGraphicFramePr/>
          <p:nvPr/>
        </p:nvGraphicFramePr>
        <p:xfrm>
          <a:off x="6322317" y="1493978"/>
          <a:ext cx="3000000" cy="3000000"/>
        </p:xfrm>
        <a:graphic>
          <a:graphicData uri="http://schemas.openxmlformats.org/drawingml/2006/table">
            <a:tbl>
              <a:tblPr bandRow="1" firstRow="1">
                <a:noFill/>
                <a:tableStyleId>{7B8F28BD-A5D3-4F48-8E5D-2E6F7DAD82E8}</a:tableStyleId>
              </a:tblPr>
              <a:tblGrid>
                <a:gridCol w="760575"/>
                <a:gridCol w="760575"/>
                <a:gridCol w="760575"/>
              </a:tblGrid>
              <a:tr h="397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r>
              <a:tr h="397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r>
              <a:tr h="397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r>
              <a:tr h="397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r>
              <a:tr h="397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r>
              <a:tr h="397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DED4FF"/>
                      </a:solidFill>
                      <a:prstDash val="solid"/>
                      <a:round/>
                      <a:headEnd len="sm" w="sm" type="none"/>
                      <a:tailEnd len="sm" w="sm" type="none"/>
                    </a:lnB>
                    <a:solidFill>
                      <a:schemeClr val="lt1"/>
                    </a:solidFill>
                  </a:tcPr>
                </a:tc>
              </a:tr>
              <a:tr h="3977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68600" marL="68600">
                    <a:lnL cap="flat" cmpd="sng" w="9525">
                      <a:solidFill>
                        <a:srgbClr val="DED4FF"/>
                      </a:solidFill>
                      <a:prstDash val="solid"/>
                      <a:round/>
                      <a:headEnd len="sm" w="sm" type="none"/>
                      <a:tailEnd len="sm" w="sm" type="none"/>
                    </a:lnL>
                    <a:lnR cap="flat" cmpd="sng" w="9525">
                      <a:solidFill>
                        <a:srgbClr val="DED4FF"/>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600"/>
                        <a:buFont typeface="Arial"/>
                        <a:buNone/>
                      </a:pPr>
                      <a:r>
                        <a:t/>
                      </a:r>
                      <a:endParaRPr sz="600" u="none" cap="none" strike="noStrike">
                        <a:latin typeface="Montserrat ExtraLight"/>
                        <a:ea typeface="Montserrat ExtraLight"/>
                        <a:cs typeface="Montserrat ExtraLight"/>
                        <a:sym typeface="Montserrat ExtraLight"/>
                      </a:endParaRPr>
                    </a:p>
                  </a:txBody>
                  <a:tcPr marT="34300" marB="34300" marR="68600" marL="68600">
                    <a:lnL cap="flat" cmpd="sng" w="9525">
                      <a:solidFill>
                        <a:srgbClr val="DED4F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ED4F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367" name="Google Shape;367;p8"/>
          <p:cNvSpPr txBox="1"/>
          <p:nvPr>
            <p:ph type="title"/>
          </p:nvPr>
        </p:nvSpPr>
        <p:spPr>
          <a:xfrm>
            <a:off x="480060" y="342900"/>
            <a:ext cx="8125800" cy="705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600"/>
              <a:buFont typeface="Montserrat Light"/>
              <a:buNone/>
            </a:pPr>
            <a:r>
              <a:rPr b="0" lang="en" sz="2600">
                <a:latin typeface="Montserrat Light"/>
                <a:ea typeface="Montserrat Light"/>
                <a:cs typeface="Montserrat Light"/>
                <a:sym typeface="Montserrat Light"/>
              </a:rPr>
              <a:t>Our </a:t>
            </a:r>
            <a:r>
              <a:rPr lang="en">
                <a:latin typeface="Montserrat Light"/>
                <a:ea typeface="Montserrat Light"/>
                <a:cs typeface="Montserrat Light"/>
                <a:sym typeface="Montserrat Light"/>
              </a:rPr>
              <a:t>100</a:t>
            </a:r>
            <a:r>
              <a:rPr b="0" lang="en" sz="2600">
                <a:latin typeface="Montserrat Light"/>
                <a:ea typeface="Montserrat Light"/>
                <a:cs typeface="Montserrat Light"/>
                <a:sym typeface="Montserrat Light"/>
              </a:rPr>
              <a:t>+ partners give us superpowers</a:t>
            </a:r>
            <a:endParaRPr/>
          </a:p>
        </p:txBody>
      </p:sp>
      <p:sp>
        <p:nvSpPr>
          <p:cNvPr id="368" name="Google Shape;368;p8"/>
          <p:cNvSpPr txBox="1"/>
          <p:nvPr/>
        </p:nvSpPr>
        <p:spPr>
          <a:xfrm>
            <a:off x="480060" y="4091023"/>
            <a:ext cx="4369800" cy="438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E2CFE"/>
              </a:buClr>
              <a:buSzPts val="1200"/>
              <a:buFont typeface="Montserrat"/>
              <a:buNone/>
            </a:pPr>
            <a:r>
              <a:rPr b="1" i="0" lang="en" sz="1200" u="none" cap="none" strike="noStrike">
                <a:solidFill>
                  <a:srgbClr val="5E2CFE"/>
                </a:solidFill>
                <a:latin typeface="Montserrat"/>
                <a:ea typeface="Montserrat"/>
                <a:cs typeface="Montserrat"/>
                <a:sym typeface="Montserrat"/>
              </a:rPr>
              <a:t>5000+ </a:t>
            </a:r>
            <a:r>
              <a:rPr b="0" i="0" lang="en" sz="1200" u="none" cap="none" strike="noStrike">
                <a:solidFill>
                  <a:srgbClr val="5E2CFE"/>
                </a:solidFill>
                <a:latin typeface="Montserrat Light"/>
                <a:ea typeface="Montserrat Light"/>
                <a:cs typeface="Montserrat Light"/>
                <a:sym typeface="Montserrat Light"/>
              </a:rPr>
              <a:t>partner certified engineers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5E2CFE"/>
              </a:buClr>
              <a:buSzPts val="1200"/>
              <a:buFont typeface="Montserrat"/>
              <a:buNone/>
            </a:pPr>
            <a:r>
              <a:rPr b="1" i="0" lang="en" sz="1200" u="none" cap="none" strike="noStrike">
                <a:solidFill>
                  <a:srgbClr val="5E2CFE"/>
                </a:solidFill>
                <a:latin typeface="Montserrat"/>
                <a:ea typeface="Montserrat"/>
                <a:cs typeface="Montserrat"/>
                <a:sym typeface="Montserrat"/>
              </a:rPr>
              <a:t>50+ </a:t>
            </a:r>
            <a:r>
              <a:rPr b="0" i="0" lang="en" sz="1200" u="none" cap="none" strike="noStrike">
                <a:solidFill>
                  <a:srgbClr val="5E2CFE"/>
                </a:solidFill>
                <a:latin typeface="Montserrat Light"/>
                <a:ea typeface="Montserrat Light"/>
                <a:cs typeface="Montserrat Light"/>
                <a:sym typeface="Montserrat Light"/>
              </a:rPr>
              <a:t>unique partner marketplace offerings</a:t>
            </a:r>
            <a:endParaRPr b="0" i="0" sz="1100" u="none" cap="none" strike="noStrike">
              <a:solidFill>
                <a:srgbClr val="000000"/>
              </a:solidFill>
              <a:latin typeface="Arial"/>
              <a:ea typeface="Arial"/>
              <a:cs typeface="Arial"/>
              <a:sym typeface="Arial"/>
            </a:endParaRPr>
          </a:p>
        </p:txBody>
      </p:sp>
      <p:sp>
        <p:nvSpPr>
          <p:cNvPr id="369" name="Google Shape;369;p8"/>
          <p:cNvSpPr txBox="1"/>
          <p:nvPr/>
        </p:nvSpPr>
        <p:spPr>
          <a:xfrm>
            <a:off x="2088275" y="1578197"/>
            <a:ext cx="17145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6312D"/>
              </a:buClr>
              <a:buSzPts val="800"/>
              <a:buFont typeface="Arial"/>
              <a:buNone/>
            </a:pPr>
            <a:r>
              <a:rPr b="0" i="0" lang="en" sz="800" u="none" cap="none" strike="noStrike">
                <a:solidFill>
                  <a:srgbClr val="36312D"/>
                </a:solidFill>
                <a:latin typeface="Montserrat"/>
                <a:ea typeface="Montserrat"/>
                <a:cs typeface="Montserrat"/>
                <a:sym typeface="Montserrat"/>
              </a:rPr>
              <a:t>Premier Partner with SCA</a:t>
            </a:r>
            <a:endParaRPr b="0" i="0" sz="1100" u="none" cap="none" strike="noStrike">
              <a:solidFill>
                <a:srgbClr val="000000"/>
              </a:solidFill>
              <a:latin typeface="Arial"/>
              <a:ea typeface="Arial"/>
              <a:cs typeface="Arial"/>
              <a:sym typeface="Arial"/>
            </a:endParaRPr>
          </a:p>
        </p:txBody>
      </p:sp>
      <p:sp>
        <p:nvSpPr>
          <p:cNvPr id="370" name="Google Shape;370;p8"/>
          <p:cNvSpPr txBox="1"/>
          <p:nvPr/>
        </p:nvSpPr>
        <p:spPr>
          <a:xfrm>
            <a:off x="2097650" y="2599844"/>
            <a:ext cx="17145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AI Cloud Partner (multiple solutions)</a:t>
            </a:r>
            <a:endParaRPr b="0" i="0" sz="800" u="none" cap="none" strike="noStrike">
              <a:solidFill>
                <a:srgbClr val="36312D"/>
              </a:solidFill>
              <a:latin typeface="Montserrat"/>
              <a:ea typeface="Montserrat"/>
              <a:cs typeface="Montserrat"/>
              <a:sym typeface="Montserrat"/>
            </a:endParaRPr>
          </a:p>
        </p:txBody>
      </p:sp>
      <p:sp>
        <p:nvSpPr>
          <p:cNvPr id="371" name="Google Shape;371;p8"/>
          <p:cNvSpPr txBox="1"/>
          <p:nvPr/>
        </p:nvSpPr>
        <p:spPr>
          <a:xfrm>
            <a:off x="546593" y="1578197"/>
            <a:ext cx="14184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6312D"/>
              </a:buClr>
              <a:buSzPts val="800"/>
              <a:buFont typeface="Arial"/>
              <a:buNone/>
            </a:pPr>
            <a:r>
              <a:rPr b="0" i="0" lang="en" sz="800" u="none" cap="none" strike="noStrike">
                <a:solidFill>
                  <a:srgbClr val="36312D"/>
                </a:solidFill>
                <a:latin typeface="Montserrat"/>
                <a:ea typeface="Montserrat"/>
                <a:cs typeface="Montserrat"/>
                <a:sym typeface="Montserrat"/>
              </a:rPr>
              <a:t>Platinum Partner</a:t>
            </a:r>
            <a:endParaRPr b="0" i="0" sz="1100" u="none" cap="none" strike="noStrike">
              <a:solidFill>
                <a:srgbClr val="000000"/>
              </a:solidFill>
              <a:latin typeface="Arial"/>
              <a:ea typeface="Arial"/>
              <a:cs typeface="Arial"/>
              <a:sym typeface="Arial"/>
            </a:endParaRPr>
          </a:p>
        </p:txBody>
      </p:sp>
      <p:sp>
        <p:nvSpPr>
          <p:cNvPr id="372" name="Google Shape;372;p8"/>
          <p:cNvSpPr txBox="1"/>
          <p:nvPr/>
        </p:nvSpPr>
        <p:spPr>
          <a:xfrm>
            <a:off x="539947" y="2599844"/>
            <a:ext cx="14403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Global Premier Partner</a:t>
            </a:r>
            <a:endParaRPr b="0" i="0" sz="1100" u="none" cap="none" strike="noStrike">
              <a:solidFill>
                <a:srgbClr val="000000"/>
              </a:solidFill>
              <a:latin typeface="Arial"/>
              <a:ea typeface="Arial"/>
              <a:cs typeface="Arial"/>
              <a:sym typeface="Arial"/>
            </a:endParaRPr>
          </a:p>
        </p:txBody>
      </p:sp>
      <p:sp>
        <p:nvSpPr>
          <p:cNvPr id="373" name="Google Shape;373;p8"/>
          <p:cNvSpPr txBox="1"/>
          <p:nvPr/>
        </p:nvSpPr>
        <p:spPr>
          <a:xfrm>
            <a:off x="3994121" y="2599844"/>
            <a:ext cx="17145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6312D"/>
              </a:buClr>
              <a:buSzPts val="800"/>
              <a:buFont typeface="Arial"/>
              <a:buNone/>
            </a:pPr>
            <a:r>
              <a:rPr b="0" i="0" lang="en" sz="800" u="none" cap="none" strike="noStrike">
                <a:solidFill>
                  <a:srgbClr val="36312D"/>
                </a:solidFill>
                <a:latin typeface="Montserrat"/>
                <a:ea typeface="Montserrat"/>
                <a:cs typeface="Montserrat"/>
                <a:sym typeface="Montserrat"/>
              </a:rPr>
              <a:t>Global Elite Partner</a:t>
            </a:r>
            <a:endParaRPr b="0" i="0" sz="1100" u="none" cap="none" strike="noStrike">
              <a:solidFill>
                <a:srgbClr val="000000"/>
              </a:solidFill>
              <a:latin typeface="Arial"/>
              <a:ea typeface="Arial"/>
              <a:cs typeface="Arial"/>
              <a:sym typeface="Arial"/>
            </a:endParaRPr>
          </a:p>
        </p:txBody>
      </p:sp>
      <p:sp>
        <p:nvSpPr>
          <p:cNvPr id="374" name="Google Shape;374;p8"/>
          <p:cNvSpPr txBox="1"/>
          <p:nvPr/>
        </p:nvSpPr>
        <p:spPr>
          <a:xfrm>
            <a:off x="546593" y="3646464"/>
            <a:ext cx="17145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6312D"/>
              </a:buClr>
              <a:buSzPts val="800"/>
              <a:buFont typeface="Arial"/>
              <a:buNone/>
            </a:pPr>
            <a:r>
              <a:rPr b="0" i="0" lang="en" sz="800" u="none" cap="none" strike="noStrike">
                <a:solidFill>
                  <a:srgbClr val="36312D"/>
                </a:solidFill>
                <a:latin typeface="Montserrat"/>
                <a:ea typeface="Montserrat"/>
                <a:cs typeface="Montserrat"/>
                <a:sym typeface="Montserrat"/>
              </a:rPr>
              <a:t>Summit Partner</a:t>
            </a:r>
            <a:endParaRPr b="0" i="0" sz="1100" u="none" cap="none" strike="noStrike">
              <a:solidFill>
                <a:srgbClr val="000000"/>
              </a:solidFill>
              <a:latin typeface="Arial"/>
              <a:ea typeface="Arial"/>
              <a:cs typeface="Arial"/>
              <a:sym typeface="Arial"/>
            </a:endParaRPr>
          </a:p>
        </p:txBody>
      </p:sp>
      <p:pic>
        <p:nvPicPr>
          <p:cNvPr id="375" name="Google Shape;375;p8"/>
          <p:cNvPicPr preferRelativeResize="0"/>
          <p:nvPr/>
        </p:nvPicPr>
        <p:blipFill rotWithShape="1">
          <a:blip r:embed="rId3">
            <a:alphaModFix/>
          </a:blip>
          <a:srcRect b="0" l="0" r="0" t="0"/>
          <a:stretch/>
        </p:blipFill>
        <p:spPr>
          <a:xfrm>
            <a:off x="2097650" y="1204548"/>
            <a:ext cx="446280" cy="266201"/>
          </a:xfrm>
          <a:prstGeom prst="rect">
            <a:avLst/>
          </a:prstGeom>
          <a:noFill/>
          <a:ln>
            <a:noFill/>
          </a:ln>
        </p:spPr>
      </p:pic>
      <p:pic>
        <p:nvPicPr>
          <p:cNvPr id="376" name="Google Shape;376;p8"/>
          <p:cNvPicPr preferRelativeResize="0"/>
          <p:nvPr/>
        </p:nvPicPr>
        <p:blipFill rotWithShape="1">
          <a:blip r:embed="rId4">
            <a:alphaModFix/>
          </a:blip>
          <a:srcRect b="0" l="0" r="0" t="0"/>
          <a:stretch/>
        </p:blipFill>
        <p:spPr>
          <a:xfrm>
            <a:off x="3910363" y="2248475"/>
            <a:ext cx="1073774" cy="235032"/>
          </a:xfrm>
          <a:prstGeom prst="rect">
            <a:avLst/>
          </a:prstGeom>
          <a:noFill/>
          <a:ln>
            <a:noFill/>
          </a:ln>
        </p:spPr>
      </p:pic>
      <p:pic>
        <p:nvPicPr>
          <p:cNvPr id="377" name="Google Shape;377;p8"/>
          <p:cNvPicPr preferRelativeResize="0"/>
          <p:nvPr/>
        </p:nvPicPr>
        <p:blipFill rotWithShape="1">
          <a:blip r:embed="rId5">
            <a:alphaModFix/>
          </a:blip>
          <a:srcRect b="0" l="0" r="0" t="0"/>
          <a:stretch/>
        </p:blipFill>
        <p:spPr>
          <a:xfrm>
            <a:off x="2097650" y="2267619"/>
            <a:ext cx="942101" cy="199651"/>
          </a:xfrm>
          <a:prstGeom prst="rect">
            <a:avLst/>
          </a:prstGeom>
          <a:noFill/>
          <a:ln>
            <a:noFill/>
          </a:ln>
        </p:spPr>
      </p:pic>
      <p:grpSp>
        <p:nvGrpSpPr>
          <p:cNvPr id="378" name="Google Shape;378;p8"/>
          <p:cNvGrpSpPr/>
          <p:nvPr/>
        </p:nvGrpSpPr>
        <p:grpSpPr>
          <a:xfrm>
            <a:off x="548716" y="3191920"/>
            <a:ext cx="477247" cy="355100"/>
            <a:chOff x="4805743" y="2518981"/>
            <a:chExt cx="2592324" cy="1814512"/>
          </a:xfrm>
        </p:grpSpPr>
        <p:sp>
          <p:nvSpPr>
            <p:cNvPr id="379" name="Google Shape;379;p8"/>
            <p:cNvSpPr/>
            <p:nvPr/>
          </p:nvSpPr>
          <p:spPr>
            <a:xfrm>
              <a:off x="4805743" y="2518981"/>
              <a:ext cx="2592324" cy="1814512"/>
            </a:xfrm>
            <a:custGeom>
              <a:rect b="b" l="l" r="r" t="t"/>
              <a:pathLst>
                <a:path extrusionOk="0" h="1814512" w="2592324">
                  <a:moveTo>
                    <a:pt x="1078801" y="197929"/>
                  </a:moveTo>
                  <a:cubicBezTo>
                    <a:pt x="1162431" y="110871"/>
                    <a:pt x="1278826" y="56769"/>
                    <a:pt x="1407509" y="56769"/>
                  </a:cubicBezTo>
                  <a:cubicBezTo>
                    <a:pt x="1578578" y="56769"/>
                    <a:pt x="1727930" y="152209"/>
                    <a:pt x="1807464" y="293846"/>
                  </a:cubicBezTo>
                  <a:cubicBezTo>
                    <a:pt x="1876615" y="262985"/>
                    <a:pt x="1953101" y="245745"/>
                    <a:pt x="2033492" y="245745"/>
                  </a:cubicBezTo>
                  <a:cubicBezTo>
                    <a:pt x="2342102" y="245745"/>
                    <a:pt x="2592324" y="498158"/>
                    <a:pt x="2592324" y="809530"/>
                  </a:cubicBezTo>
                  <a:cubicBezTo>
                    <a:pt x="2592324" y="1120902"/>
                    <a:pt x="2342102" y="1373315"/>
                    <a:pt x="2033492" y="1373315"/>
                  </a:cubicBezTo>
                  <a:cubicBezTo>
                    <a:pt x="1995773" y="1373315"/>
                    <a:pt x="1959007" y="1369504"/>
                    <a:pt x="1923383" y="1362361"/>
                  </a:cubicBezTo>
                  <a:cubicBezTo>
                    <a:pt x="1853374" y="1487234"/>
                    <a:pt x="1719929" y="1571625"/>
                    <a:pt x="1566863" y="1571625"/>
                  </a:cubicBezTo>
                  <a:cubicBezTo>
                    <a:pt x="1502759" y="1571625"/>
                    <a:pt x="1442085" y="1556861"/>
                    <a:pt x="1388173" y="1530477"/>
                  </a:cubicBezTo>
                  <a:cubicBezTo>
                    <a:pt x="1317212" y="1697450"/>
                    <a:pt x="1151858" y="1814512"/>
                    <a:pt x="959072" y="1814512"/>
                  </a:cubicBezTo>
                  <a:cubicBezTo>
                    <a:pt x="758380" y="1814512"/>
                    <a:pt x="587312" y="1687544"/>
                    <a:pt x="521684" y="1509427"/>
                  </a:cubicBezTo>
                  <a:cubicBezTo>
                    <a:pt x="493014" y="1515523"/>
                    <a:pt x="463201" y="1518666"/>
                    <a:pt x="432721" y="1518666"/>
                  </a:cubicBezTo>
                  <a:cubicBezTo>
                    <a:pt x="193738" y="1518666"/>
                    <a:pt x="0" y="1322927"/>
                    <a:pt x="0" y="1081468"/>
                  </a:cubicBezTo>
                  <a:cubicBezTo>
                    <a:pt x="0" y="919639"/>
                    <a:pt x="87058" y="778383"/>
                    <a:pt x="216313" y="702754"/>
                  </a:cubicBezTo>
                  <a:cubicBezTo>
                    <a:pt x="189643" y="641413"/>
                    <a:pt x="174879" y="573881"/>
                    <a:pt x="174879" y="502825"/>
                  </a:cubicBezTo>
                  <a:cubicBezTo>
                    <a:pt x="174879" y="225076"/>
                    <a:pt x="400336" y="0"/>
                    <a:pt x="678371" y="0"/>
                  </a:cubicBezTo>
                  <a:cubicBezTo>
                    <a:pt x="841629" y="0"/>
                    <a:pt x="986790" y="77629"/>
                    <a:pt x="1078801" y="197929"/>
                  </a:cubicBezTo>
                  <a:close/>
                </a:path>
              </a:pathLst>
            </a:custGeom>
            <a:solidFill>
              <a:srgbClr val="009DDC"/>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0" name="Google Shape;380;p8"/>
            <p:cNvGrpSpPr/>
            <p:nvPr/>
          </p:nvGrpSpPr>
          <p:grpSpPr>
            <a:xfrm>
              <a:off x="5180633" y="3152489"/>
              <a:ext cx="1952415" cy="442341"/>
              <a:chOff x="5180633" y="3152489"/>
              <a:chExt cx="1952415" cy="442341"/>
            </a:xfrm>
          </p:grpSpPr>
          <p:sp>
            <p:nvSpPr>
              <p:cNvPr id="381" name="Google Shape;381;p8"/>
              <p:cNvSpPr/>
              <p:nvPr/>
            </p:nvSpPr>
            <p:spPr>
              <a:xfrm>
                <a:off x="5180633" y="3248310"/>
                <a:ext cx="180227" cy="244601"/>
              </a:xfrm>
              <a:custGeom>
                <a:rect b="b" l="l" r="r" t="t"/>
                <a:pathLst>
                  <a:path extrusionOk="0" h="244601" w="180227">
                    <a:moveTo>
                      <a:pt x="586" y="211646"/>
                    </a:moveTo>
                    <a:cubicBezTo>
                      <a:pt x="-1033" y="215932"/>
                      <a:pt x="1157" y="216789"/>
                      <a:pt x="1729" y="217551"/>
                    </a:cubicBezTo>
                    <a:cubicBezTo>
                      <a:pt x="6587" y="221075"/>
                      <a:pt x="11539" y="223647"/>
                      <a:pt x="16493" y="226504"/>
                    </a:cubicBezTo>
                    <a:cubicBezTo>
                      <a:pt x="42877" y="240506"/>
                      <a:pt x="67928" y="244602"/>
                      <a:pt x="94026" y="244602"/>
                    </a:cubicBezTo>
                    <a:cubicBezTo>
                      <a:pt x="147176" y="244602"/>
                      <a:pt x="180227" y="216313"/>
                      <a:pt x="180227" y="170783"/>
                    </a:cubicBezTo>
                    <a:lnTo>
                      <a:pt x="180227" y="169926"/>
                    </a:lnTo>
                    <a:cubicBezTo>
                      <a:pt x="180227" y="127826"/>
                      <a:pt x="142889" y="112490"/>
                      <a:pt x="108028" y="101441"/>
                    </a:cubicBezTo>
                    <a:lnTo>
                      <a:pt x="103456" y="100013"/>
                    </a:lnTo>
                    <a:cubicBezTo>
                      <a:pt x="77071" y="91440"/>
                      <a:pt x="54307" y="84011"/>
                      <a:pt x="54307" y="66675"/>
                    </a:cubicBezTo>
                    <a:lnTo>
                      <a:pt x="54307" y="65818"/>
                    </a:lnTo>
                    <a:cubicBezTo>
                      <a:pt x="54307" y="50959"/>
                      <a:pt x="67642" y="40005"/>
                      <a:pt x="88216" y="40005"/>
                    </a:cubicBezTo>
                    <a:cubicBezTo>
                      <a:pt x="111171" y="40005"/>
                      <a:pt x="138222" y="47625"/>
                      <a:pt x="155748" y="57245"/>
                    </a:cubicBezTo>
                    <a:cubicBezTo>
                      <a:pt x="155748" y="57245"/>
                      <a:pt x="160892" y="60579"/>
                      <a:pt x="162796" y="55626"/>
                    </a:cubicBezTo>
                    <a:cubicBezTo>
                      <a:pt x="163844" y="52959"/>
                      <a:pt x="172703" y="29051"/>
                      <a:pt x="173560" y="26479"/>
                    </a:cubicBezTo>
                    <a:cubicBezTo>
                      <a:pt x="174608" y="23717"/>
                      <a:pt x="172798" y="21622"/>
                      <a:pt x="170988" y="20479"/>
                    </a:cubicBezTo>
                    <a:cubicBezTo>
                      <a:pt x="150986" y="8287"/>
                      <a:pt x="123363" y="0"/>
                      <a:pt x="94788" y="0"/>
                    </a:cubicBezTo>
                    <a:lnTo>
                      <a:pt x="89454" y="0"/>
                    </a:lnTo>
                    <a:cubicBezTo>
                      <a:pt x="40781" y="0"/>
                      <a:pt x="6777" y="29432"/>
                      <a:pt x="6777" y="71533"/>
                    </a:cubicBezTo>
                    <a:lnTo>
                      <a:pt x="6777" y="72390"/>
                    </a:lnTo>
                    <a:cubicBezTo>
                      <a:pt x="6777" y="116777"/>
                      <a:pt x="44305" y="131254"/>
                      <a:pt x="79358" y="141256"/>
                    </a:cubicBezTo>
                    <a:lnTo>
                      <a:pt x="84977" y="142970"/>
                    </a:lnTo>
                    <a:cubicBezTo>
                      <a:pt x="110600" y="150781"/>
                      <a:pt x="132602" y="157639"/>
                      <a:pt x="132602" y="175546"/>
                    </a:cubicBezTo>
                    <a:lnTo>
                      <a:pt x="132602" y="176403"/>
                    </a:lnTo>
                    <a:cubicBezTo>
                      <a:pt x="132602" y="192881"/>
                      <a:pt x="118220" y="205073"/>
                      <a:pt x="95169" y="205073"/>
                    </a:cubicBezTo>
                    <a:cubicBezTo>
                      <a:pt x="86216" y="205073"/>
                      <a:pt x="57545" y="204883"/>
                      <a:pt x="26684" y="185356"/>
                    </a:cubicBezTo>
                    <a:cubicBezTo>
                      <a:pt x="22970" y="183166"/>
                      <a:pt x="20779" y="181642"/>
                      <a:pt x="17921" y="179832"/>
                    </a:cubicBezTo>
                    <a:cubicBezTo>
                      <a:pt x="16397" y="178879"/>
                      <a:pt x="12587" y="177260"/>
                      <a:pt x="10968" y="182213"/>
                    </a:cubicBezTo>
                    <a:lnTo>
                      <a:pt x="586" y="211646"/>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8"/>
              <p:cNvSpPr/>
              <p:nvPr/>
            </p:nvSpPr>
            <p:spPr>
              <a:xfrm>
                <a:off x="5959111" y="3248310"/>
                <a:ext cx="180227" cy="244601"/>
              </a:xfrm>
              <a:custGeom>
                <a:rect b="b" l="l" r="r" t="t"/>
                <a:pathLst>
                  <a:path extrusionOk="0" h="244601" w="180227">
                    <a:moveTo>
                      <a:pt x="586" y="211646"/>
                    </a:moveTo>
                    <a:cubicBezTo>
                      <a:pt x="-1034" y="215932"/>
                      <a:pt x="1157" y="216789"/>
                      <a:pt x="1729" y="217551"/>
                    </a:cubicBezTo>
                    <a:cubicBezTo>
                      <a:pt x="6587" y="221075"/>
                      <a:pt x="11540" y="223647"/>
                      <a:pt x="16492" y="226504"/>
                    </a:cubicBezTo>
                    <a:cubicBezTo>
                      <a:pt x="42972" y="240506"/>
                      <a:pt x="67928" y="244602"/>
                      <a:pt x="94026" y="244602"/>
                    </a:cubicBezTo>
                    <a:cubicBezTo>
                      <a:pt x="147175" y="244602"/>
                      <a:pt x="180227" y="216313"/>
                      <a:pt x="180227" y="170783"/>
                    </a:cubicBezTo>
                    <a:lnTo>
                      <a:pt x="180227" y="169926"/>
                    </a:lnTo>
                    <a:cubicBezTo>
                      <a:pt x="180227" y="127826"/>
                      <a:pt x="142985" y="112490"/>
                      <a:pt x="108028" y="101441"/>
                    </a:cubicBezTo>
                    <a:lnTo>
                      <a:pt x="103456" y="100013"/>
                    </a:lnTo>
                    <a:cubicBezTo>
                      <a:pt x="77072" y="91440"/>
                      <a:pt x="54307" y="84011"/>
                      <a:pt x="54307" y="66675"/>
                    </a:cubicBezTo>
                    <a:lnTo>
                      <a:pt x="54307" y="65818"/>
                    </a:lnTo>
                    <a:cubicBezTo>
                      <a:pt x="54307" y="50959"/>
                      <a:pt x="67642" y="40005"/>
                      <a:pt x="88216" y="40005"/>
                    </a:cubicBezTo>
                    <a:cubicBezTo>
                      <a:pt x="111076" y="40005"/>
                      <a:pt x="138222" y="47625"/>
                      <a:pt x="155748" y="57245"/>
                    </a:cubicBezTo>
                    <a:cubicBezTo>
                      <a:pt x="155748" y="57245"/>
                      <a:pt x="160891" y="60579"/>
                      <a:pt x="162797" y="55626"/>
                    </a:cubicBezTo>
                    <a:cubicBezTo>
                      <a:pt x="163844" y="52959"/>
                      <a:pt x="172703" y="29051"/>
                      <a:pt x="173560" y="26479"/>
                    </a:cubicBezTo>
                    <a:cubicBezTo>
                      <a:pt x="174607" y="23717"/>
                      <a:pt x="172798" y="21622"/>
                      <a:pt x="170988" y="20479"/>
                    </a:cubicBezTo>
                    <a:cubicBezTo>
                      <a:pt x="150986" y="8287"/>
                      <a:pt x="123363" y="0"/>
                      <a:pt x="94788" y="0"/>
                    </a:cubicBezTo>
                    <a:lnTo>
                      <a:pt x="89454" y="0"/>
                    </a:lnTo>
                    <a:cubicBezTo>
                      <a:pt x="40781" y="0"/>
                      <a:pt x="6777" y="29432"/>
                      <a:pt x="6777" y="71533"/>
                    </a:cubicBezTo>
                    <a:lnTo>
                      <a:pt x="6777" y="72390"/>
                    </a:lnTo>
                    <a:cubicBezTo>
                      <a:pt x="6777" y="116777"/>
                      <a:pt x="44306" y="131254"/>
                      <a:pt x="79357" y="141256"/>
                    </a:cubicBezTo>
                    <a:lnTo>
                      <a:pt x="84977" y="142970"/>
                    </a:lnTo>
                    <a:cubicBezTo>
                      <a:pt x="110599" y="150781"/>
                      <a:pt x="132602" y="157639"/>
                      <a:pt x="132602" y="175546"/>
                    </a:cubicBezTo>
                    <a:lnTo>
                      <a:pt x="132602" y="176403"/>
                    </a:lnTo>
                    <a:cubicBezTo>
                      <a:pt x="132602" y="192881"/>
                      <a:pt x="118220" y="205073"/>
                      <a:pt x="95169" y="205073"/>
                    </a:cubicBezTo>
                    <a:cubicBezTo>
                      <a:pt x="86215" y="205073"/>
                      <a:pt x="57545" y="204883"/>
                      <a:pt x="26684" y="185356"/>
                    </a:cubicBezTo>
                    <a:cubicBezTo>
                      <a:pt x="22970" y="183166"/>
                      <a:pt x="20779" y="181642"/>
                      <a:pt x="17921" y="179832"/>
                    </a:cubicBezTo>
                    <a:cubicBezTo>
                      <a:pt x="16969" y="179261"/>
                      <a:pt x="12492" y="177451"/>
                      <a:pt x="10968" y="182213"/>
                    </a:cubicBezTo>
                    <a:lnTo>
                      <a:pt x="586" y="211646"/>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8"/>
              <p:cNvSpPr/>
              <p:nvPr/>
            </p:nvSpPr>
            <p:spPr>
              <a:xfrm>
                <a:off x="6325076" y="3249072"/>
                <a:ext cx="216800" cy="243078"/>
              </a:xfrm>
              <a:custGeom>
                <a:rect b="b" l="l" r="r" t="t"/>
                <a:pathLst>
                  <a:path extrusionOk="0" h="243078" w="216800">
                    <a:moveTo>
                      <a:pt x="210408" y="74009"/>
                    </a:moveTo>
                    <a:cubicBezTo>
                      <a:pt x="206026" y="59246"/>
                      <a:pt x="199263" y="46292"/>
                      <a:pt x="190214" y="35433"/>
                    </a:cubicBezTo>
                    <a:cubicBezTo>
                      <a:pt x="181166" y="24575"/>
                      <a:pt x="169736" y="15812"/>
                      <a:pt x="156115" y="9525"/>
                    </a:cubicBezTo>
                    <a:cubicBezTo>
                      <a:pt x="142589" y="3143"/>
                      <a:pt x="126587" y="0"/>
                      <a:pt x="108490" y="0"/>
                    </a:cubicBezTo>
                    <a:cubicBezTo>
                      <a:pt x="90488" y="0"/>
                      <a:pt x="74486" y="3239"/>
                      <a:pt x="60865" y="9525"/>
                    </a:cubicBezTo>
                    <a:cubicBezTo>
                      <a:pt x="47339" y="15812"/>
                      <a:pt x="35814" y="24575"/>
                      <a:pt x="26765" y="35433"/>
                    </a:cubicBezTo>
                    <a:cubicBezTo>
                      <a:pt x="17717" y="46292"/>
                      <a:pt x="10954" y="59246"/>
                      <a:pt x="6572" y="74009"/>
                    </a:cubicBezTo>
                    <a:cubicBezTo>
                      <a:pt x="2191" y="88678"/>
                      <a:pt x="0" y="104680"/>
                      <a:pt x="0" y="121730"/>
                    </a:cubicBezTo>
                    <a:cubicBezTo>
                      <a:pt x="0" y="138779"/>
                      <a:pt x="2191" y="154781"/>
                      <a:pt x="6572" y="169450"/>
                    </a:cubicBezTo>
                    <a:cubicBezTo>
                      <a:pt x="10954" y="184214"/>
                      <a:pt x="17717" y="197168"/>
                      <a:pt x="26765" y="208026"/>
                    </a:cubicBezTo>
                    <a:cubicBezTo>
                      <a:pt x="35814" y="218885"/>
                      <a:pt x="47339" y="227552"/>
                      <a:pt x="60865" y="233744"/>
                    </a:cubicBezTo>
                    <a:cubicBezTo>
                      <a:pt x="74486" y="239935"/>
                      <a:pt x="90488" y="243078"/>
                      <a:pt x="108490" y="243078"/>
                    </a:cubicBezTo>
                    <a:cubicBezTo>
                      <a:pt x="126492" y="243078"/>
                      <a:pt x="142494" y="239935"/>
                      <a:pt x="156020" y="233744"/>
                    </a:cubicBezTo>
                    <a:cubicBezTo>
                      <a:pt x="169545" y="227552"/>
                      <a:pt x="181070" y="218885"/>
                      <a:pt x="190119" y="208026"/>
                    </a:cubicBezTo>
                    <a:cubicBezTo>
                      <a:pt x="199168" y="197168"/>
                      <a:pt x="205931" y="184214"/>
                      <a:pt x="210312" y="169450"/>
                    </a:cubicBezTo>
                    <a:cubicBezTo>
                      <a:pt x="214598" y="154781"/>
                      <a:pt x="216789" y="138779"/>
                      <a:pt x="216789" y="121730"/>
                    </a:cubicBezTo>
                    <a:cubicBezTo>
                      <a:pt x="216979" y="104680"/>
                      <a:pt x="214789" y="88678"/>
                      <a:pt x="210408" y="74009"/>
                    </a:cubicBezTo>
                    <a:moveTo>
                      <a:pt x="166021" y="121730"/>
                    </a:moveTo>
                    <a:cubicBezTo>
                      <a:pt x="166021" y="147447"/>
                      <a:pt x="161258" y="167735"/>
                      <a:pt x="151829" y="182118"/>
                    </a:cubicBezTo>
                    <a:cubicBezTo>
                      <a:pt x="142494" y="196310"/>
                      <a:pt x="128302" y="203168"/>
                      <a:pt x="108585" y="203168"/>
                    </a:cubicBezTo>
                    <a:cubicBezTo>
                      <a:pt x="88868" y="203168"/>
                      <a:pt x="74771" y="196310"/>
                      <a:pt x="65532" y="182118"/>
                    </a:cubicBezTo>
                    <a:cubicBezTo>
                      <a:pt x="56198" y="167831"/>
                      <a:pt x="51530" y="147447"/>
                      <a:pt x="51530" y="121730"/>
                    </a:cubicBezTo>
                    <a:cubicBezTo>
                      <a:pt x="51530" y="96012"/>
                      <a:pt x="56293" y="75819"/>
                      <a:pt x="65532" y="61627"/>
                    </a:cubicBezTo>
                    <a:cubicBezTo>
                      <a:pt x="74771" y="47530"/>
                      <a:pt x="88868" y="40767"/>
                      <a:pt x="108585" y="40767"/>
                    </a:cubicBezTo>
                    <a:cubicBezTo>
                      <a:pt x="128302" y="40767"/>
                      <a:pt x="142494" y="47625"/>
                      <a:pt x="151829" y="61627"/>
                    </a:cubicBezTo>
                    <a:cubicBezTo>
                      <a:pt x="161258" y="75724"/>
                      <a:pt x="166021" y="96012"/>
                      <a:pt x="166021" y="121730"/>
                    </a:cubicBezTo>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8"/>
              <p:cNvSpPr/>
              <p:nvPr/>
            </p:nvSpPr>
            <p:spPr>
              <a:xfrm>
                <a:off x="6729222" y="3248786"/>
                <a:ext cx="182196" cy="243173"/>
              </a:xfrm>
              <a:custGeom>
                <a:rect b="b" l="l" r="r" t="t"/>
                <a:pathLst>
                  <a:path extrusionOk="0" h="243173" w="182196">
                    <a:moveTo>
                      <a:pt x="170783" y="196501"/>
                    </a:moveTo>
                    <a:cubicBezTo>
                      <a:pt x="169354" y="192215"/>
                      <a:pt x="165163" y="193834"/>
                      <a:pt x="165163" y="193834"/>
                    </a:cubicBezTo>
                    <a:cubicBezTo>
                      <a:pt x="158687" y="196310"/>
                      <a:pt x="151829" y="198596"/>
                      <a:pt x="144494" y="199739"/>
                    </a:cubicBezTo>
                    <a:cubicBezTo>
                      <a:pt x="137065" y="200883"/>
                      <a:pt x="128873" y="201454"/>
                      <a:pt x="120205" y="201454"/>
                    </a:cubicBezTo>
                    <a:cubicBezTo>
                      <a:pt x="98774" y="201454"/>
                      <a:pt x="81629" y="195072"/>
                      <a:pt x="69437" y="182404"/>
                    </a:cubicBezTo>
                    <a:cubicBezTo>
                      <a:pt x="57150" y="169736"/>
                      <a:pt x="50292" y="149352"/>
                      <a:pt x="50387" y="121729"/>
                    </a:cubicBezTo>
                    <a:cubicBezTo>
                      <a:pt x="50482" y="96584"/>
                      <a:pt x="56579" y="77724"/>
                      <a:pt x="67437" y="63246"/>
                    </a:cubicBezTo>
                    <a:cubicBezTo>
                      <a:pt x="78200" y="48959"/>
                      <a:pt x="94774" y="41529"/>
                      <a:pt x="116681" y="41529"/>
                    </a:cubicBezTo>
                    <a:cubicBezTo>
                      <a:pt x="134969" y="41529"/>
                      <a:pt x="148971" y="43625"/>
                      <a:pt x="163639" y="48292"/>
                    </a:cubicBezTo>
                    <a:cubicBezTo>
                      <a:pt x="163639" y="48292"/>
                      <a:pt x="167068" y="49816"/>
                      <a:pt x="168783" y="45244"/>
                    </a:cubicBezTo>
                    <a:cubicBezTo>
                      <a:pt x="172688" y="34481"/>
                      <a:pt x="175546" y="26766"/>
                      <a:pt x="179737" y="14954"/>
                    </a:cubicBezTo>
                    <a:cubicBezTo>
                      <a:pt x="180880" y="11525"/>
                      <a:pt x="178022" y="10097"/>
                      <a:pt x="176974" y="9716"/>
                    </a:cubicBezTo>
                    <a:cubicBezTo>
                      <a:pt x="171259" y="7429"/>
                      <a:pt x="157639" y="3810"/>
                      <a:pt x="147352" y="2191"/>
                    </a:cubicBezTo>
                    <a:cubicBezTo>
                      <a:pt x="137731" y="762"/>
                      <a:pt x="126587" y="0"/>
                      <a:pt x="114014" y="0"/>
                    </a:cubicBezTo>
                    <a:cubicBezTo>
                      <a:pt x="95345" y="0"/>
                      <a:pt x="78772" y="3143"/>
                      <a:pt x="64579" y="9525"/>
                    </a:cubicBezTo>
                    <a:cubicBezTo>
                      <a:pt x="50387" y="15812"/>
                      <a:pt x="38386" y="24575"/>
                      <a:pt x="28861" y="35433"/>
                    </a:cubicBezTo>
                    <a:cubicBezTo>
                      <a:pt x="19336" y="46292"/>
                      <a:pt x="12097" y="59246"/>
                      <a:pt x="7239" y="74009"/>
                    </a:cubicBezTo>
                    <a:cubicBezTo>
                      <a:pt x="2381" y="88678"/>
                      <a:pt x="0" y="104775"/>
                      <a:pt x="0" y="121825"/>
                    </a:cubicBezTo>
                    <a:cubicBezTo>
                      <a:pt x="0" y="158687"/>
                      <a:pt x="9906" y="188404"/>
                      <a:pt x="29527" y="210217"/>
                    </a:cubicBezTo>
                    <a:cubicBezTo>
                      <a:pt x="49149" y="232125"/>
                      <a:pt x="78676" y="243173"/>
                      <a:pt x="117157" y="243173"/>
                    </a:cubicBezTo>
                    <a:cubicBezTo>
                      <a:pt x="139922" y="243173"/>
                      <a:pt x="163258" y="238601"/>
                      <a:pt x="180022" y="231934"/>
                    </a:cubicBezTo>
                    <a:cubicBezTo>
                      <a:pt x="180022" y="231934"/>
                      <a:pt x="183261" y="230410"/>
                      <a:pt x="181832" y="226695"/>
                    </a:cubicBezTo>
                    <a:lnTo>
                      <a:pt x="170783" y="196501"/>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8"/>
              <p:cNvSpPr/>
              <p:nvPr/>
            </p:nvSpPr>
            <p:spPr>
              <a:xfrm>
                <a:off x="6925056" y="3249072"/>
                <a:ext cx="207992" cy="243078"/>
              </a:xfrm>
              <a:custGeom>
                <a:rect b="b" l="l" r="r" t="t"/>
                <a:pathLst>
                  <a:path extrusionOk="0" h="243078" w="207992">
                    <a:moveTo>
                      <a:pt x="202025" y="65627"/>
                    </a:moveTo>
                    <a:cubicBezTo>
                      <a:pt x="198215" y="51435"/>
                      <a:pt x="188881" y="37052"/>
                      <a:pt x="182785" y="30480"/>
                    </a:cubicBezTo>
                    <a:cubicBezTo>
                      <a:pt x="173069" y="20098"/>
                      <a:pt x="163639" y="12764"/>
                      <a:pt x="154210" y="8763"/>
                    </a:cubicBezTo>
                    <a:cubicBezTo>
                      <a:pt x="141922" y="3524"/>
                      <a:pt x="127254" y="0"/>
                      <a:pt x="111157" y="0"/>
                    </a:cubicBezTo>
                    <a:cubicBezTo>
                      <a:pt x="92392" y="0"/>
                      <a:pt x="75343" y="3143"/>
                      <a:pt x="61531" y="9620"/>
                    </a:cubicBezTo>
                    <a:cubicBezTo>
                      <a:pt x="47720" y="16097"/>
                      <a:pt x="36100" y="24956"/>
                      <a:pt x="26956" y="36005"/>
                    </a:cubicBezTo>
                    <a:cubicBezTo>
                      <a:pt x="17812" y="47054"/>
                      <a:pt x="10954" y="60103"/>
                      <a:pt x="6572" y="75057"/>
                    </a:cubicBezTo>
                    <a:cubicBezTo>
                      <a:pt x="2191" y="89821"/>
                      <a:pt x="0" y="106013"/>
                      <a:pt x="0" y="122968"/>
                    </a:cubicBezTo>
                    <a:cubicBezTo>
                      <a:pt x="0" y="140303"/>
                      <a:pt x="2286" y="156401"/>
                      <a:pt x="6858" y="170974"/>
                    </a:cubicBezTo>
                    <a:cubicBezTo>
                      <a:pt x="11430" y="185642"/>
                      <a:pt x="18764" y="198501"/>
                      <a:pt x="28670" y="209169"/>
                    </a:cubicBezTo>
                    <a:cubicBezTo>
                      <a:pt x="38576" y="219933"/>
                      <a:pt x="51245" y="228314"/>
                      <a:pt x="66484" y="234220"/>
                    </a:cubicBezTo>
                    <a:cubicBezTo>
                      <a:pt x="81629" y="240030"/>
                      <a:pt x="99917" y="243078"/>
                      <a:pt x="121063" y="243078"/>
                    </a:cubicBezTo>
                    <a:cubicBezTo>
                      <a:pt x="164497" y="242983"/>
                      <a:pt x="187262" y="233267"/>
                      <a:pt x="196787" y="228029"/>
                    </a:cubicBezTo>
                    <a:cubicBezTo>
                      <a:pt x="198406" y="227076"/>
                      <a:pt x="200025" y="225457"/>
                      <a:pt x="198025" y="220885"/>
                    </a:cubicBezTo>
                    <a:lnTo>
                      <a:pt x="188214" y="193358"/>
                    </a:lnTo>
                    <a:cubicBezTo>
                      <a:pt x="186690" y="189262"/>
                      <a:pt x="182594" y="190691"/>
                      <a:pt x="182594" y="190691"/>
                    </a:cubicBezTo>
                    <a:cubicBezTo>
                      <a:pt x="171831" y="194691"/>
                      <a:pt x="156591" y="201835"/>
                      <a:pt x="120872" y="201835"/>
                    </a:cubicBezTo>
                    <a:cubicBezTo>
                      <a:pt x="97536" y="201835"/>
                      <a:pt x="80296" y="194882"/>
                      <a:pt x="69437" y="184118"/>
                    </a:cubicBezTo>
                    <a:cubicBezTo>
                      <a:pt x="58293" y="173165"/>
                      <a:pt x="52864" y="156972"/>
                      <a:pt x="52006" y="134112"/>
                    </a:cubicBezTo>
                    <a:lnTo>
                      <a:pt x="202216" y="134208"/>
                    </a:lnTo>
                    <a:cubicBezTo>
                      <a:pt x="202216" y="134208"/>
                      <a:pt x="206216" y="134208"/>
                      <a:pt x="206597" y="130302"/>
                    </a:cubicBezTo>
                    <a:cubicBezTo>
                      <a:pt x="206692" y="128778"/>
                      <a:pt x="211741" y="99441"/>
                      <a:pt x="202025" y="65627"/>
                    </a:cubicBezTo>
                    <a:close/>
                    <a:moveTo>
                      <a:pt x="52673" y="97060"/>
                    </a:moveTo>
                    <a:cubicBezTo>
                      <a:pt x="54769" y="82772"/>
                      <a:pt x="58674" y="70866"/>
                      <a:pt x="64770" y="61627"/>
                    </a:cubicBezTo>
                    <a:cubicBezTo>
                      <a:pt x="74009" y="47530"/>
                      <a:pt x="88011" y="39815"/>
                      <a:pt x="107728" y="39815"/>
                    </a:cubicBezTo>
                    <a:cubicBezTo>
                      <a:pt x="127445" y="39815"/>
                      <a:pt x="140494" y="47530"/>
                      <a:pt x="149828" y="61627"/>
                    </a:cubicBezTo>
                    <a:cubicBezTo>
                      <a:pt x="156020" y="70866"/>
                      <a:pt x="158687" y="83249"/>
                      <a:pt x="159734" y="97060"/>
                    </a:cubicBezTo>
                    <a:lnTo>
                      <a:pt x="52673" y="9706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8"/>
              <p:cNvSpPr/>
              <p:nvPr/>
            </p:nvSpPr>
            <p:spPr>
              <a:xfrm>
                <a:off x="5721762" y="3249072"/>
                <a:ext cx="207910" cy="243078"/>
              </a:xfrm>
              <a:custGeom>
                <a:rect b="b" l="l" r="r" t="t"/>
                <a:pathLst>
                  <a:path extrusionOk="0" h="243078" w="207910">
                    <a:moveTo>
                      <a:pt x="202025" y="65627"/>
                    </a:moveTo>
                    <a:cubicBezTo>
                      <a:pt x="198215" y="51435"/>
                      <a:pt x="188881" y="37052"/>
                      <a:pt x="182785" y="30480"/>
                    </a:cubicBezTo>
                    <a:cubicBezTo>
                      <a:pt x="173069" y="20098"/>
                      <a:pt x="163640" y="12764"/>
                      <a:pt x="154210" y="8763"/>
                    </a:cubicBezTo>
                    <a:cubicBezTo>
                      <a:pt x="141922" y="3524"/>
                      <a:pt x="127254" y="0"/>
                      <a:pt x="111157" y="0"/>
                    </a:cubicBezTo>
                    <a:cubicBezTo>
                      <a:pt x="92393" y="0"/>
                      <a:pt x="75343" y="3143"/>
                      <a:pt x="61532" y="9620"/>
                    </a:cubicBezTo>
                    <a:cubicBezTo>
                      <a:pt x="47720" y="16097"/>
                      <a:pt x="36100" y="24956"/>
                      <a:pt x="26956" y="36005"/>
                    </a:cubicBezTo>
                    <a:cubicBezTo>
                      <a:pt x="17812" y="47054"/>
                      <a:pt x="10954" y="60103"/>
                      <a:pt x="6572" y="75057"/>
                    </a:cubicBezTo>
                    <a:cubicBezTo>
                      <a:pt x="2191" y="89821"/>
                      <a:pt x="0" y="106013"/>
                      <a:pt x="0" y="122968"/>
                    </a:cubicBezTo>
                    <a:cubicBezTo>
                      <a:pt x="0" y="140303"/>
                      <a:pt x="2286" y="156401"/>
                      <a:pt x="6858" y="170974"/>
                    </a:cubicBezTo>
                    <a:cubicBezTo>
                      <a:pt x="11430" y="185642"/>
                      <a:pt x="18764" y="198501"/>
                      <a:pt x="28575" y="209169"/>
                    </a:cubicBezTo>
                    <a:cubicBezTo>
                      <a:pt x="38481" y="219933"/>
                      <a:pt x="51149" y="228314"/>
                      <a:pt x="66389" y="234220"/>
                    </a:cubicBezTo>
                    <a:cubicBezTo>
                      <a:pt x="81534" y="240030"/>
                      <a:pt x="99822" y="243078"/>
                      <a:pt x="120968" y="243078"/>
                    </a:cubicBezTo>
                    <a:cubicBezTo>
                      <a:pt x="164402" y="242983"/>
                      <a:pt x="187262" y="233267"/>
                      <a:pt x="196691" y="228029"/>
                    </a:cubicBezTo>
                    <a:cubicBezTo>
                      <a:pt x="198311" y="227076"/>
                      <a:pt x="199930" y="225457"/>
                      <a:pt x="197929" y="220885"/>
                    </a:cubicBezTo>
                    <a:lnTo>
                      <a:pt x="188119" y="193358"/>
                    </a:lnTo>
                    <a:cubicBezTo>
                      <a:pt x="186595" y="189262"/>
                      <a:pt x="182499" y="190691"/>
                      <a:pt x="182499" y="190691"/>
                    </a:cubicBezTo>
                    <a:cubicBezTo>
                      <a:pt x="171736" y="194691"/>
                      <a:pt x="156496" y="201835"/>
                      <a:pt x="120777" y="201835"/>
                    </a:cubicBezTo>
                    <a:cubicBezTo>
                      <a:pt x="97536" y="201835"/>
                      <a:pt x="80201" y="194882"/>
                      <a:pt x="69342" y="184118"/>
                    </a:cubicBezTo>
                    <a:cubicBezTo>
                      <a:pt x="58293" y="173165"/>
                      <a:pt x="52769" y="156972"/>
                      <a:pt x="51911" y="134112"/>
                    </a:cubicBezTo>
                    <a:lnTo>
                      <a:pt x="202121" y="134208"/>
                    </a:lnTo>
                    <a:cubicBezTo>
                      <a:pt x="202121" y="134208"/>
                      <a:pt x="206121" y="134208"/>
                      <a:pt x="206502" y="130302"/>
                    </a:cubicBezTo>
                    <a:cubicBezTo>
                      <a:pt x="206597" y="128778"/>
                      <a:pt x="211646" y="99441"/>
                      <a:pt x="202025" y="65627"/>
                    </a:cubicBezTo>
                    <a:close/>
                    <a:moveTo>
                      <a:pt x="52578" y="97060"/>
                    </a:moveTo>
                    <a:cubicBezTo>
                      <a:pt x="54674" y="82772"/>
                      <a:pt x="58579" y="70866"/>
                      <a:pt x="64675" y="61627"/>
                    </a:cubicBezTo>
                    <a:cubicBezTo>
                      <a:pt x="73914" y="47530"/>
                      <a:pt x="87916" y="39815"/>
                      <a:pt x="107633" y="39815"/>
                    </a:cubicBezTo>
                    <a:cubicBezTo>
                      <a:pt x="127349" y="39815"/>
                      <a:pt x="140399" y="47530"/>
                      <a:pt x="149733" y="61627"/>
                    </a:cubicBezTo>
                    <a:cubicBezTo>
                      <a:pt x="155924" y="70866"/>
                      <a:pt x="158591" y="83249"/>
                      <a:pt x="159639" y="97060"/>
                    </a:cubicBezTo>
                    <a:lnTo>
                      <a:pt x="52578" y="9706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8"/>
              <p:cNvSpPr/>
              <p:nvPr/>
            </p:nvSpPr>
            <p:spPr>
              <a:xfrm>
                <a:off x="5387816" y="3248882"/>
                <a:ext cx="194315" cy="243268"/>
              </a:xfrm>
              <a:custGeom>
                <a:rect b="b" l="l" r="r" t="t"/>
                <a:pathLst>
                  <a:path extrusionOk="0" h="243268" w="194315">
                    <a:moveTo>
                      <a:pt x="121539" y="90011"/>
                    </a:moveTo>
                    <a:cubicBezTo>
                      <a:pt x="115443" y="89535"/>
                      <a:pt x="107537" y="89345"/>
                      <a:pt x="98108" y="89345"/>
                    </a:cubicBezTo>
                    <a:cubicBezTo>
                      <a:pt x="85249" y="89345"/>
                      <a:pt x="72771" y="90964"/>
                      <a:pt x="61151" y="94107"/>
                    </a:cubicBezTo>
                    <a:cubicBezTo>
                      <a:pt x="49435" y="97250"/>
                      <a:pt x="38862" y="102203"/>
                      <a:pt x="29813" y="108680"/>
                    </a:cubicBezTo>
                    <a:cubicBezTo>
                      <a:pt x="20669" y="115253"/>
                      <a:pt x="13335" y="123539"/>
                      <a:pt x="8001" y="133445"/>
                    </a:cubicBezTo>
                    <a:cubicBezTo>
                      <a:pt x="2667" y="143351"/>
                      <a:pt x="0" y="154972"/>
                      <a:pt x="0" y="168116"/>
                    </a:cubicBezTo>
                    <a:cubicBezTo>
                      <a:pt x="0" y="181451"/>
                      <a:pt x="2286" y="192977"/>
                      <a:pt x="6858" y="202406"/>
                    </a:cubicBezTo>
                    <a:cubicBezTo>
                      <a:pt x="11430" y="211931"/>
                      <a:pt x="18002" y="219837"/>
                      <a:pt x="26479" y="225933"/>
                    </a:cubicBezTo>
                    <a:cubicBezTo>
                      <a:pt x="34862" y="232029"/>
                      <a:pt x="45149" y="236506"/>
                      <a:pt x="57055" y="239173"/>
                    </a:cubicBezTo>
                    <a:cubicBezTo>
                      <a:pt x="68866" y="241840"/>
                      <a:pt x="82201" y="243269"/>
                      <a:pt x="96869" y="243269"/>
                    </a:cubicBezTo>
                    <a:cubicBezTo>
                      <a:pt x="112300" y="243269"/>
                      <a:pt x="127635" y="241935"/>
                      <a:pt x="142494" y="239459"/>
                    </a:cubicBezTo>
                    <a:cubicBezTo>
                      <a:pt x="157258" y="236982"/>
                      <a:pt x="175355" y="233267"/>
                      <a:pt x="180308" y="232124"/>
                    </a:cubicBezTo>
                    <a:cubicBezTo>
                      <a:pt x="185356" y="230981"/>
                      <a:pt x="190881" y="229457"/>
                      <a:pt x="190881" y="229457"/>
                    </a:cubicBezTo>
                    <a:cubicBezTo>
                      <a:pt x="194596" y="228505"/>
                      <a:pt x="194310" y="224504"/>
                      <a:pt x="194310" y="224504"/>
                    </a:cubicBezTo>
                    <a:lnTo>
                      <a:pt x="194215" y="87059"/>
                    </a:lnTo>
                    <a:cubicBezTo>
                      <a:pt x="194215" y="56960"/>
                      <a:pt x="186214" y="34576"/>
                      <a:pt x="170307" y="20764"/>
                    </a:cubicBezTo>
                    <a:cubicBezTo>
                      <a:pt x="154496" y="6953"/>
                      <a:pt x="131350" y="0"/>
                      <a:pt x="101251" y="0"/>
                    </a:cubicBezTo>
                    <a:cubicBezTo>
                      <a:pt x="90011" y="0"/>
                      <a:pt x="71819" y="1524"/>
                      <a:pt x="60960" y="3715"/>
                    </a:cubicBezTo>
                    <a:cubicBezTo>
                      <a:pt x="60960" y="3715"/>
                      <a:pt x="28194" y="10096"/>
                      <a:pt x="14669" y="20669"/>
                    </a:cubicBezTo>
                    <a:cubicBezTo>
                      <a:pt x="14669" y="20669"/>
                      <a:pt x="11716" y="22479"/>
                      <a:pt x="13335" y="26670"/>
                    </a:cubicBezTo>
                    <a:lnTo>
                      <a:pt x="24003" y="55245"/>
                    </a:lnTo>
                    <a:cubicBezTo>
                      <a:pt x="25337" y="58960"/>
                      <a:pt x="28956" y="57721"/>
                      <a:pt x="28956" y="57721"/>
                    </a:cubicBezTo>
                    <a:cubicBezTo>
                      <a:pt x="28956" y="57721"/>
                      <a:pt x="30099" y="57245"/>
                      <a:pt x="31433" y="56483"/>
                    </a:cubicBezTo>
                    <a:cubicBezTo>
                      <a:pt x="60293" y="40767"/>
                      <a:pt x="96869" y="41243"/>
                      <a:pt x="96869" y="41243"/>
                    </a:cubicBezTo>
                    <a:cubicBezTo>
                      <a:pt x="113062" y="41243"/>
                      <a:pt x="125635" y="44482"/>
                      <a:pt x="134017" y="50959"/>
                    </a:cubicBezTo>
                    <a:cubicBezTo>
                      <a:pt x="142208" y="57245"/>
                      <a:pt x="146399" y="66770"/>
                      <a:pt x="146399" y="86773"/>
                    </a:cubicBezTo>
                    <a:lnTo>
                      <a:pt x="146399" y="93154"/>
                    </a:lnTo>
                    <a:cubicBezTo>
                      <a:pt x="133350" y="91154"/>
                      <a:pt x="121539" y="90011"/>
                      <a:pt x="121539" y="90011"/>
                    </a:cubicBezTo>
                    <a:close/>
                    <a:moveTo>
                      <a:pt x="61722" y="195644"/>
                    </a:moveTo>
                    <a:cubicBezTo>
                      <a:pt x="55817" y="190976"/>
                      <a:pt x="54959" y="189738"/>
                      <a:pt x="53054" y="186690"/>
                    </a:cubicBezTo>
                    <a:cubicBezTo>
                      <a:pt x="50102" y="182118"/>
                      <a:pt x="48578" y="175546"/>
                      <a:pt x="48578" y="167164"/>
                    </a:cubicBezTo>
                    <a:cubicBezTo>
                      <a:pt x="48578" y="154019"/>
                      <a:pt x="52959" y="144494"/>
                      <a:pt x="62008" y="138113"/>
                    </a:cubicBezTo>
                    <a:cubicBezTo>
                      <a:pt x="61913" y="138113"/>
                      <a:pt x="74962" y="126873"/>
                      <a:pt x="105632" y="127254"/>
                    </a:cubicBezTo>
                    <a:cubicBezTo>
                      <a:pt x="127159" y="127540"/>
                      <a:pt x="146399" y="130683"/>
                      <a:pt x="146399" y="130683"/>
                    </a:cubicBezTo>
                    <a:lnTo>
                      <a:pt x="146399" y="198977"/>
                    </a:lnTo>
                    <a:lnTo>
                      <a:pt x="146399" y="198977"/>
                    </a:lnTo>
                    <a:cubicBezTo>
                      <a:pt x="146399" y="198977"/>
                      <a:pt x="127349" y="203073"/>
                      <a:pt x="105823" y="204406"/>
                    </a:cubicBezTo>
                    <a:cubicBezTo>
                      <a:pt x="75152" y="206216"/>
                      <a:pt x="61627" y="195548"/>
                      <a:pt x="61722" y="195644"/>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8"/>
              <p:cNvSpPr/>
              <p:nvPr/>
            </p:nvSpPr>
            <p:spPr>
              <a:xfrm>
                <a:off x="6582536" y="3251598"/>
                <a:ext cx="138987" cy="235599"/>
              </a:xfrm>
              <a:custGeom>
                <a:rect b="b" l="l" r="r" t="t"/>
                <a:pathLst>
                  <a:path extrusionOk="0" h="235599" w="138987">
                    <a:moveTo>
                      <a:pt x="138684" y="9953"/>
                    </a:moveTo>
                    <a:cubicBezTo>
                      <a:pt x="139827" y="6523"/>
                      <a:pt x="137446" y="4904"/>
                      <a:pt x="136398" y="4523"/>
                    </a:cubicBezTo>
                    <a:cubicBezTo>
                      <a:pt x="133826" y="3571"/>
                      <a:pt x="121063" y="904"/>
                      <a:pt x="111252" y="237"/>
                    </a:cubicBezTo>
                    <a:cubicBezTo>
                      <a:pt x="92393" y="-906"/>
                      <a:pt x="81915" y="2237"/>
                      <a:pt x="72485" y="6428"/>
                    </a:cubicBezTo>
                    <a:cubicBezTo>
                      <a:pt x="63151" y="10619"/>
                      <a:pt x="52864" y="17382"/>
                      <a:pt x="47054" y="25192"/>
                    </a:cubicBezTo>
                    <a:lnTo>
                      <a:pt x="47054" y="6905"/>
                    </a:lnTo>
                    <a:cubicBezTo>
                      <a:pt x="47054" y="4428"/>
                      <a:pt x="45244" y="2332"/>
                      <a:pt x="42767" y="2332"/>
                    </a:cubicBezTo>
                    <a:lnTo>
                      <a:pt x="4286" y="2332"/>
                    </a:lnTo>
                    <a:cubicBezTo>
                      <a:pt x="1810" y="2332"/>
                      <a:pt x="0" y="4333"/>
                      <a:pt x="0" y="6905"/>
                    </a:cubicBezTo>
                    <a:lnTo>
                      <a:pt x="0" y="231028"/>
                    </a:lnTo>
                    <a:cubicBezTo>
                      <a:pt x="0" y="233504"/>
                      <a:pt x="2000" y="235600"/>
                      <a:pt x="4572" y="235600"/>
                    </a:cubicBezTo>
                    <a:lnTo>
                      <a:pt x="44101" y="235600"/>
                    </a:lnTo>
                    <a:cubicBezTo>
                      <a:pt x="46577" y="235600"/>
                      <a:pt x="48673" y="233599"/>
                      <a:pt x="48673" y="231028"/>
                    </a:cubicBezTo>
                    <a:lnTo>
                      <a:pt x="48673" y="119109"/>
                    </a:lnTo>
                    <a:cubicBezTo>
                      <a:pt x="48673" y="104059"/>
                      <a:pt x="50292" y="89105"/>
                      <a:pt x="53626" y="79675"/>
                    </a:cubicBezTo>
                    <a:cubicBezTo>
                      <a:pt x="56864" y="70341"/>
                      <a:pt x="61341" y="62912"/>
                      <a:pt x="66770" y="57578"/>
                    </a:cubicBezTo>
                    <a:cubicBezTo>
                      <a:pt x="72200" y="52243"/>
                      <a:pt x="78486" y="48529"/>
                      <a:pt x="85344" y="46433"/>
                    </a:cubicBezTo>
                    <a:cubicBezTo>
                      <a:pt x="92297" y="44338"/>
                      <a:pt x="100013" y="43576"/>
                      <a:pt x="105537" y="43576"/>
                    </a:cubicBezTo>
                    <a:cubicBezTo>
                      <a:pt x="113348" y="43576"/>
                      <a:pt x="122016" y="45576"/>
                      <a:pt x="122016" y="45576"/>
                    </a:cubicBezTo>
                    <a:cubicBezTo>
                      <a:pt x="124873" y="45862"/>
                      <a:pt x="126492" y="44147"/>
                      <a:pt x="127540" y="41480"/>
                    </a:cubicBezTo>
                    <a:cubicBezTo>
                      <a:pt x="130016" y="34622"/>
                      <a:pt x="137255" y="13953"/>
                      <a:pt x="138684" y="9953"/>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8"/>
              <p:cNvSpPr/>
              <p:nvPr/>
            </p:nvSpPr>
            <p:spPr>
              <a:xfrm>
                <a:off x="6091561" y="3152489"/>
                <a:ext cx="262343" cy="442341"/>
              </a:xfrm>
              <a:custGeom>
                <a:rect b="b" l="l" r="r" t="t"/>
                <a:pathLst>
                  <a:path extrusionOk="0" h="442341" w="262343">
                    <a:moveTo>
                      <a:pt x="259137" y="5144"/>
                    </a:moveTo>
                    <a:cubicBezTo>
                      <a:pt x="254374" y="3620"/>
                      <a:pt x="249993" y="2667"/>
                      <a:pt x="244278" y="1619"/>
                    </a:cubicBezTo>
                    <a:cubicBezTo>
                      <a:pt x="238468" y="571"/>
                      <a:pt x="231610" y="0"/>
                      <a:pt x="223895" y="0"/>
                    </a:cubicBezTo>
                    <a:cubicBezTo>
                      <a:pt x="196748" y="0"/>
                      <a:pt x="175317" y="7715"/>
                      <a:pt x="160267" y="22860"/>
                    </a:cubicBezTo>
                    <a:cubicBezTo>
                      <a:pt x="145313" y="37910"/>
                      <a:pt x="135121" y="60865"/>
                      <a:pt x="130073" y="90964"/>
                    </a:cubicBezTo>
                    <a:lnTo>
                      <a:pt x="128263" y="101155"/>
                    </a:lnTo>
                    <a:lnTo>
                      <a:pt x="94164" y="101155"/>
                    </a:lnTo>
                    <a:cubicBezTo>
                      <a:pt x="94164" y="101155"/>
                      <a:pt x="89973" y="100965"/>
                      <a:pt x="89116" y="105537"/>
                    </a:cubicBezTo>
                    <a:lnTo>
                      <a:pt x="83496" y="136779"/>
                    </a:lnTo>
                    <a:cubicBezTo>
                      <a:pt x="83115" y="139732"/>
                      <a:pt x="84353" y="141637"/>
                      <a:pt x="88354" y="141637"/>
                    </a:cubicBezTo>
                    <a:lnTo>
                      <a:pt x="121596" y="141637"/>
                    </a:lnTo>
                    <a:lnTo>
                      <a:pt x="87878" y="329660"/>
                    </a:lnTo>
                    <a:cubicBezTo>
                      <a:pt x="85211" y="344805"/>
                      <a:pt x="82258" y="357283"/>
                      <a:pt x="78924" y="366713"/>
                    </a:cubicBezTo>
                    <a:cubicBezTo>
                      <a:pt x="75590" y="376047"/>
                      <a:pt x="72447" y="383000"/>
                      <a:pt x="68446" y="388048"/>
                    </a:cubicBezTo>
                    <a:cubicBezTo>
                      <a:pt x="64637" y="392906"/>
                      <a:pt x="60922" y="396526"/>
                      <a:pt x="54730" y="398716"/>
                    </a:cubicBezTo>
                    <a:cubicBezTo>
                      <a:pt x="49587" y="400431"/>
                      <a:pt x="43586" y="401288"/>
                      <a:pt x="37014" y="401288"/>
                    </a:cubicBezTo>
                    <a:cubicBezTo>
                      <a:pt x="33395" y="401288"/>
                      <a:pt x="28537" y="400717"/>
                      <a:pt x="25012" y="399955"/>
                    </a:cubicBezTo>
                    <a:cubicBezTo>
                      <a:pt x="21393" y="399288"/>
                      <a:pt x="19583" y="398431"/>
                      <a:pt x="16916" y="397288"/>
                    </a:cubicBezTo>
                    <a:cubicBezTo>
                      <a:pt x="16916" y="397288"/>
                      <a:pt x="13011" y="395764"/>
                      <a:pt x="11487" y="399669"/>
                    </a:cubicBezTo>
                    <a:cubicBezTo>
                      <a:pt x="10249" y="402812"/>
                      <a:pt x="1390" y="427196"/>
                      <a:pt x="343" y="430244"/>
                    </a:cubicBezTo>
                    <a:cubicBezTo>
                      <a:pt x="-705" y="433197"/>
                      <a:pt x="819" y="435578"/>
                      <a:pt x="2629" y="436245"/>
                    </a:cubicBezTo>
                    <a:cubicBezTo>
                      <a:pt x="7010" y="437864"/>
                      <a:pt x="10344" y="438817"/>
                      <a:pt x="16345" y="440246"/>
                    </a:cubicBezTo>
                    <a:cubicBezTo>
                      <a:pt x="24727" y="442246"/>
                      <a:pt x="31775" y="442341"/>
                      <a:pt x="38347" y="442341"/>
                    </a:cubicBezTo>
                    <a:cubicBezTo>
                      <a:pt x="52159" y="442341"/>
                      <a:pt x="64827" y="440436"/>
                      <a:pt x="75209" y="436626"/>
                    </a:cubicBezTo>
                    <a:cubicBezTo>
                      <a:pt x="85687" y="432816"/>
                      <a:pt x="94926" y="426244"/>
                      <a:pt x="103022" y="417290"/>
                    </a:cubicBezTo>
                    <a:cubicBezTo>
                      <a:pt x="111785" y="407575"/>
                      <a:pt x="117310" y="397478"/>
                      <a:pt x="122548" y="383667"/>
                    </a:cubicBezTo>
                    <a:cubicBezTo>
                      <a:pt x="127787" y="369951"/>
                      <a:pt x="132169" y="352996"/>
                      <a:pt x="135788" y="333185"/>
                    </a:cubicBezTo>
                    <a:lnTo>
                      <a:pt x="169602" y="141637"/>
                    </a:lnTo>
                    <a:lnTo>
                      <a:pt x="219132" y="141637"/>
                    </a:lnTo>
                    <a:cubicBezTo>
                      <a:pt x="219132" y="141637"/>
                      <a:pt x="223323" y="141827"/>
                      <a:pt x="224180" y="137255"/>
                    </a:cubicBezTo>
                    <a:lnTo>
                      <a:pt x="229800" y="106013"/>
                    </a:lnTo>
                    <a:cubicBezTo>
                      <a:pt x="230181" y="103061"/>
                      <a:pt x="228943" y="101155"/>
                      <a:pt x="224942" y="101155"/>
                    </a:cubicBezTo>
                    <a:lnTo>
                      <a:pt x="176936" y="101155"/>
                    </a:lnTo>
                    <a:cubicBezTo>
                      <a:pt x="177222" y="100108"/>
                      <a:pt x="179317" y="83153"/>
                      <a:pt x="184842" y="67246"/>
                    </a:cubicBezTo>
                    <a:cubicBezTo>
                      <a:pt x="187223" y="60484"/>
                      <a:pt x="191605" y="54959"/>
                      <a:pt x="195415" y="51245"/>
                    </a:cubicBezTo>
                    <a:cubicBezTo>
                      <a:pt x="199129" y="47530"/>
                      <a:pt x="203321" y="44958"/>
                      <a:pt x="207988" y="43434"/>
                    </a:cubicBezTo>
                    <a:cubicBezTo>
                      <a:pt x="212750" y="41910"/>
                      <a:pt x="218179" y="41148"/>
                      <a:pt x="224085" y="41148"/>
                    </a:cubicBezTo>
                    <a:cubicBezTo>
                      <a:pt x="228562" y="41148"/>
                      <a:pt x="233038" y="41720"/>
                      <a:pt x="236467" y="42386"/>
                    </a:cubicBezTo>
                    <a:cubicBezTo>
                      <a:pt x="241135" y="43339"/>
                      <a:pt x="242945" y="43910"/>
                      <a:pt x="244183" y="44291"/>
                    </a:cubicBezTo>
                    <a:cubicBezTo>
                      <a:pt x="249040" y="45815"/>
                      <a:pt x="249707" y="44291"/>
                      <a:pt x="250660" y="42005"/>
                    </a:cubicBezTo>
                    <a:lnTo>
                      <a:pt x="262185" y="10478"/>
                    </a:lnTo>
                    <a:cubicBezTo>
                      <a:pt x="263042" y="6953"/>
                      <a:pt x="260185" y="5524"/>
                      <a:pt x="259137" y="5144"/>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8"/>
              <p:cNvSpPr/>
              <p:nvPr/>
            </p:nvSpPr>
            <p:spPr>
              <a:xfrm>
                <a:off x="5630989" y="3157347"/>
                <a:ext cx="48387" cy="329850"/>
              </a:xfrm>
              <a:custGeom>
                <a:rect b="b" l="l" r="r" t="t"/>
                <a:pathLst>
                  <a:path extrusionOk="0" h="329850" w="48387">
                    <a:moveTo>
                      <a:pt x="48387" y="325279"/>
                    </a:moveTo>
                    <a:cubicBezTo>
                      <a:pt x="48387" y="327755"/>
                      <a:pt x="46577" y="329851"/>
                      <a:pt x="44101" y="329851"/>
                    </a:cubicBezTo>
                    <a:lnTo>
                      <a:pt x="4286" y="329851"/>
                    </a:lnTo>
                    <a:cubicBezTo>
                      <a:pt x="1810" y="329851"/>
                      <a:pt x="0" y="327850"/>
                      <a:pt x="0" y="325279"/>
                    </a:cubicBezTo>
                    <a:lnTo>
                      <a:pt x="0" y="4572"/>
                    </a:lnTo>
                    <a:cubicBezTo>
                      <a:pt x="0" y="2096"/>
                      <a:pt x="1810" y="0"/>
                      <a:pt x="4286" y="0"/>
                    </a:cubicBezTo>
                    <a:lnTo>
                      <a:pt x="44101" y="0"/>
                    </a:lnTo>
                    <a:cubicBezTo>
                      <a:pt x="46577" y="0"/>
                      <a:pt x="48387" y="2000"/>
                      <a:pt x="48387" y="4572"/>
                    </a:cubicBezTo>
                    <a:lnTo>
                      <a:pt x="48387" y="325279"/>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391" name="Google Shape;391;p8"/>
          <p:cNvPicPr preferRelativeResize="0"/>
          <p:nvPr/>
        </p:nvPicPr>
        <p:blipFill rotWithShape="1">
          <a:blip r:embed="rId6">
            <a:alphaModFix/>
          </a:blip>
          <a:srcRect b="0" l="0" r="0" t="0"/>
          <a:stretch/>
        </p:blipFill>
        <p:spPr>
          <a:xfrm>
            <a:off x="546295" y="1237907"/>
            <a:ext cx="784212" cy="204549"/>
          </a:xfrm>
          <a:prstGeom prst="rect">
            <a:avLst/>
          </a:prstGeom>
          <a:noFill/>
          <a:ln>
            <a:noFill/>
          </a:ln>
        </p:spPr>
      </p:pic>
      <p:grpSp>
        <p:nvGrpSpPr>
          <p:cNvPr id="392" name="Google Shape;392;p8"/>
          <p:cNvGrpSpPr/>
          <p:nvPr/>
        </p:nvGrpSpPr>
        <p:grpSpPr>
          <a:xfrm>
            <a:off x="2108706" y="3308789"/>
            <a:ext cx="955003" cy="144778"/>
            <a:chOff x="773261" y="4918963"/>
            <a:chExt cx="1168772" cy="177185"/>
          </a:xfrm>
        </p:grpSpPr>
        <p:grpSp>
          <p:nvGrpSpPr>
            <p:cNvPr id="393" name="Google Shape;393;p8"/>
            <p:cNvGrpSpPr/>
            <p:nvPr/>
          </p:nvGrpSpPr>
          <p:grpSpPr>
            <a:xfrm>
              <a:off x="773261" y="4918963"/>
              <a:ext cx="1154666" cy="177185"/>
              <a:chOff x="773261" y="4918963"/>
              <a:chExt cx="1154666" cy="177185"/>
            </a:xfrm>
          </p:grpSpPr>
          <p:sp>
            <p:nvSpPr>
              <p:cNvPr id="394" name="Google Shape;394;p8"/>
              <p:cNvSpPr/>
              <p:nvPr/>
            </p:nvSpPr>
            <p:spPr>
              <a:xfrm>
                <a:off x="1204812" y="4918963"/>
                <a:ext cx="40412" cy="41071"/>
              </a:xfrm>
              <a:custGeom>
                <a:rect b="b" l="l" r="r" t="t"/>
                <a:pathLst>
                  <a:path extrusionOk="0" h="93344" w="95087">
                    <a:moveTo>
                      <a:pt x="47544" y="0"/>
                    </a:moveTo>
                    <a:cubicBezTo>
                      <a:pt x="73217" y="0"/>
                      <a:pt x="95087" y="20002"/>
                      <a:pt x="95087" y="46673"/>
                    </a:cubicBezTo>
                    <a:cubicBezTo>
                      <a:pt x="95087" y="72390"/>
                      <a:pt x="74168" y="93345"/>
                      <a:pt x="47544" y="93345"/>
                    </a:cubicBezTo>
                    <a:cubicBezTo>
                      <a:pt x="21870" y="93345"/>
                      <a:pt x="0" y="73342"/>
                      <a:pt x="0" y="46673"/>
                    </a:cubicBezTo>
                    <a:cubicBezTo>
                      <a:pt x="951" y="20002"/>
                      <a:pt x="21870" y="0"/>
                      <a:pt x="47544" y="0"/>
                    </a:cubicBezTo>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395" name="Google Shape;395;p8"/>
              <p:cNvSpPr/>
              <p:nvPr/>
            </p:nvSpPr>
            <p:spPr>
              <a:xfrm>
                <a:off x="1209652" y="4974605"/>
                <a:ext cx="30713" cy="119024"/>
              </a:xfrm>
              <a:custGeom>
                <a:rect b="b" l="l" r="r" t="t"/>
                <a:pathLst>
                  <a:path extrusionOk="0" h="270509" w="72266">
                    <a:moveTo>
                      <a:pt x="0" y="0"/>
                    </a:moveTo>
                    <a:lnTo>
                      <a:pt x="72266" y="0"/>
                    </a:lnTo>
                    <a:lnTo>
                      <a:pt x="72266" y="270510"/>
                    </a:lnTo>
                    <a:lnTo>
                      <a:pt x="0" y="270510"/>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396" name="Google Shape;396;p8"/>
              <p:cNvSpPr/>
              <p:nvPr/>
            </p:nvSpPr>
            <p:spPr>
              <a:xfrm>
                <a:off x="993070" y="4973350"/>
                <a:ext cx="70721" cy="120281"/>
              </a:xfrm>
              <a:custGeom>
                <a:rect b="b" l="l" r="r" t="t"/>
                <a:pathLst>
                  <a:path extrusionOk="0" h="273367" w="166402">
                    <a:moveTo>
                      <a:pt x="145483" y="0"/>
                    </a:moveTo>
                    <a:cubicBezTo>
                      <a:pt x="116006" y="0"/>
                      <a:pt x="90333" y="10477"/>
                      <a:pt x="69414" y="27623"/>
                    </a:cubicBezTo>
                    <a:lnTo>
                      <a:pt x="69414" y="2857"/>
                    </a:lnTo>
                    <a:lnTo>
                      <a:pt x="0" y="2857"/>
                    </a:lnTo>
                    <a:lnTo>
                      <a:pt x="0" y="273367"/>
                    </a:lnTo>
                    <a:lnTo>
                      <a:pt x="72266" y="273367"/>
                    </a:lnTo>
                    <a:lnTo>
                      <a:pt x="72266" y="100965"/>
                    </a:lnTo>
                    <a:cubicBezTo>
                      <a:pt x="81775" y="86677"/>
                      <a:pt x="107448" y="67627"/>
                      <a:pt x="137876" y="67627"/>
                    </a:cubicBezTo>
                    <a:cubicBezTo>
                      <a:pt x="148336" y="67627"/>
                      <a:pt x="158796" y="68580"/>
                      <a:pt x="166403" y="72390"/>
                    </a:cubicBezTo>
                    <a:lnTo>
                      <a:pt x="166403" y="2857"/>
                    </a:lnTo>
                    <a:cubicBezTo>
                      <a:pt x="159746" y="952"/>
                      <a:pt x="152139" y="0"/>
                      <a:pt x="145483" y="0"/>
                    </a:cubicBezTo>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397" name="Google Shape;397;p8"/>
              <p:cNvSpPr/>
              <p:nvPr/>
            </p:nvSpPr>
            <p:spPr>
              <a:xfrm>
                <a:off x="773261" y="4972095"/>
                <a:ext cx="91331" cy="124053"/>
              </a:xfrm>
              <a:custGeom>
                <a:rect b="b" l="l" r="r" t="t"/>
                <a:pathLst>
                  <a:path extrusionOk="0" h="281939" w="214897">
                    <a:moveTo>
                      <a:pt x="35182" y="193358"/>
                    </a:moveTo>
                    <a:cubicBezTo>
                      <a:pt x="53249" y="210502"/>
                      <a:pt x="81775" y="220027"/>
                      <a:pt x="108399" y="220027"/>
                    </a:cubicBezTo>
                    <a:cubicBezTo>
                      <a:pt x="127417" y="220027"/>
                      <a:pt x="142631" y="210502"/>
                      <a:pt x="142631" y="197168"/>
                    </a:cubicBezTo>
                    <a:cubicBezTo>
                      <a:pt x="142631" y="156210"/>
                      <a:pt x="12361" y="171450"/>
                      <a:pt x="12361" y="83820"/>
                    </a:cubicBezTo>
                    <a:cubicBezTo>
                      <a:pt x="12361" y="32385"/>
                      <a:pt x="61807" y="0"/>
                      <a:pt x="115056" y="0"/>
                    </a:cubicBezTo>
                    <a:cubicBezTo>
                      <a:pt x="150238" y="0"/>
                      <a:pt x="188273" y="13335"/>
                      <a:pt x="206339" y="27623"/>
                    </a:cubicBezTo>
                    <a:lnTo>
                      <a:pt x="172108" y="80010"/>
                    </a:lnTo>
                    <a:cubicBezTo>
                      <a:pt x="157845" y="69533"/>
                      <a:pt x="139778" y="61913"/>
                      <a:pt x="120761" y="61913"/>
                    </a:cubicBezTo>
                    <a:cubicBezTo>
                      <a:pt x="100792" y="61913"/>
                      <a:pt x="84628" y="69533"/>
                      <a:pt x="84628" y="83820"/>
                    </a:cubicBezTo>
                    <a:cubicBezTo>
                      <a:pt x="84628" y="119063"/>
                      <a:pt x="214897" y="104775"/>
                      <a:pt x="214897" y="198120"/>
                    </a:cubicBezTo>
                    <a:cubicBezTo>
                      <a:pt x="214897" y="249555"/>
                      <a:pt x="164501" y="281940"/>
                      <a:pt x="108399" y="281940"/>
                    </a:cubicBezTo>
                    <a:cubicBezTo>
                      <a:pt x="71315" y="281940"/>
                      <a:pt x="32330" y="269558"/>
                      <a:pt x="0" y="245745"/>
                    </a:cubicBezTo>
                    <a:lnTo>
                      <a:pt x="35182" y="193358"/>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398" name="Google Shape;398;p8"/>
              <p:cNvSpPr/>
              <p:nvPr/>
            </p:nvSpPr>
            <p:spPr>
              <a:xfrm>
                <a:off x="870864" y="4972095"/>
                <a:ext cx="109517" cy="123634"/>
              </a:xfrm>
              <a:custGeom>
                <a:rect b="b" l="l" r="r" t="t"/>
                <a:pathLst>
                  <a:path extrusionOk="0" h="280987" w="257686">
                    <a:moveTo>
                      <a:pt x="257686" y="138113"/>
                    </a:moveTo>
                    <a:cubicBezTo>
                      <a:pt x="257686" y="62865"/>
                      <a:pt x="205388" y="0"/>
                      <a:pt x="131220" y="0"/>
                    </a:cubicBezTo>
                    <a:cubicBezTo>
                      <a:pt x="51347" y="0"/>
                      <a:pt x="0" y="65723"/>
                      <a:pt x="0" y="140970"/>
                    </a:cubicBezTo>
                    <a:cubicBezTo>
                      <a:pt x="0" y="225743"/>
                      <a:pt x="60856" y="280988"/>
                      <a:pt x="140729" y="280988"/>
                    </a:cubicBezTo>
                    <a:cubicBezTo>
                      <a:pt x="182567" y="280988"/>
                      <a:pt x="225357" y="263843"/>
                      <a:pt x="251030" y="232410"/>
                    </a:cubicBezTo>
                    <a:lnTo>
                      <a:pt x="210143" y="191452"/>
                    </a:lnTo>
                    <a:cubicBezTo>
                      <a:pt x="197781" y="205740"/>
                      <a:pt x="173059" y="222885"/>
                      <a:pt x="142631" y="222885"/>
                    </a:cubicBezTo>
                    <a:cubicBezTo>
                      <a:pt x="104596" y="222885"/>
                      <a:pt x="74168" y="197168"/>
                      <a:pt x="70365" y="159068"/>
                    </a:cubicBezTo>
                    <a:lnTo>
                      <a:pt x="256735" y="159068"/>
                    </a:lnTo>
                    <a:cubicBezTo>
                      <a:pt x="256735" y="152400"/>
                      <a:pt x="257686" y="145733"/>
                      <a:pt x="257686" y="138113"/>
                    </a:cubicBezTo>
                    <a:close/>
                    <a:moveTo>
                      <a:pt x="73217" y="105727"/>
                    </a:moveTo>
                    <a:cubicBezTo>
                      <a:pt x="76070" y="80963"/>
                      <a:pt x="100792" y="58102"/>
                      <a:pt x="131220" y="58102"/>
                    </a:cubicBezTo>
                    <a:cubicBezTo>
                      <a:pt x="160697" y="58102"/>
                      <a:pt x="182567" y="81915"/>
                      <a:pt x="184469" y="105727"/>
                    </a:cubicBezTo>
                    <a:lnTo>
                      <a:pt x="73217" y="105727"/>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399" name="Google Shape;399;p8"/>
              <p:cNvSpPr/>
              <p:nvPr/>
            </p:nvSpPr>
            <p:spPr>
              <a:xfrm>
                <a:off x="1073330" y="4974605"/>
                <a:ext cx="126085" cy="118605"/>
              </a:xfrm>
              <a:custGeom>
                <a:rect b="b" l="l" r="r" t="t"/>
                <a:pathLst>
                  <a:path extrusionOk="0" h="269557" w="296671">
                    <a:moveTo>
                      <a:pt x="148336" y="164783"/>
                    </a:moveTo>
                    <a:lnTo>
                      <a:pt x="222504" y="0"/>
                    </a:lnTo>
                    <a:lnTo>
                      <a:pt x="296672" y="0"/>
                    </a:lnTo>
                    <a:lnTo>
                      <a:pt x="174010" y="269558"/>
                    </a:lnTo>
                    <a:lnTo>
                      <a:pt x="123613" y="269558"/>
                    </a:lnTo>
                    <a:lnTo>
                      <a:pt x="0" y="0"/>
                    </a:lnTo>
                    <a:lnTo>
                      <a:pt x="75119" y="0"/>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400" name="Google Shape;400;p8"/>
              <p:cNvSpPr/>
              <p:nvPr/>
            </p:nvSpPr>
            <p:spPr>
              <a:xfrm>
                <a:off x="1254017" y="4972513"/>
                <a:ext cx="112750" cy="123634"/>
              </a:xfrm>
              <a:custGeom>
                <a:rect b="b" l="l" r="r" t="t"/>
                <a:pathLst>
                  <a:path extrusionOk="0" h="280987" w="265293">
                    <a:moveTo>
                      <a:pt x="265293" y="220028"/>
                    </a:moveTo>
                    <a:cubicBezTo>
                      <a:pt x="233915" y="261938"/>
                      <a:pt x="193978" y="280988"/>
                      <a:pt x="143582" y="280988"/>
                    </a:cubicBezTo>
                    <a:cubicBezTo>
                      <a:pt x="60856" y="280988"/>
                      <a:pt x="0" y="219075"/>
                      <a:pt x="0" y="140970"/>
                    </a:cubicBezTo>
                    <a:cubicBezTo>
                      <a:pt x="0" y="62865"/>
                      <a:pt x="62758" y="0"/>
                      <a:pt x="144532" y="0"/>
                    </a:cubicBezTo>
                    <a:cubicBezTo>
                      <a:pt x="191125" y="0"/>
                      <a:pt x="232964" y="21908"/>
                      <a:pt x="257686" y="54293"/>
                    </a:cubicBezTo>
                    <a:lnTo>
                      <a:pt x="206339" y="99060"/>
                    </a:lnTo>
                    <a:cubicBezTo>
                      <a:pt x="192076" y="80010"/>
                      <a:pt x="170206" y="66675"/>
                      <a:pt x="144532" y="66675"/>
                    </a:cubicBezTo>
                    <a:cubicBezTo>
                      <a:pt x="102694" y="66675"/>
                      <a:pt x="72266" y="100013"/>
                      <a:pt x="72266" y="140970"/>
                    </a:cubicBezTo>
                    <a:cubicBezTo>
                      <a:pt x="72266" y="182880"/>
                      <a:pt x="102694" y="214313"/>
                      <a:pt x="146434" y="214313"/>
                    </a:cubicBezTo>
                    <a:cubicBezTo>
                      <a:pt x="175911" y="214313"/>
                      <a:pt x="198732" y="196215"/>
                      <a:pt x="211094" y="179070"/>
                    </a:cubicBezTo>
                    <a:lnTo>
                      <a:pt x="265293" y="220028"/>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401" name="Google Shape;401;p8"/>
              <p:cNvSpPr/>
              <p:nvPr/>
            </p:nvSpPr>
            <p:spPr>
              <a:xfrm>
                <a:off x="1370980" y="4972095"/>
                <a:ext cx="109112" cy="123634"/>
              </a:xfrm>
              <a:custGeom>
                <a:rect b="b" l="l" r="r" t="t"/>
                <a:pathLst>
                  <a:path extrusionOk="0" h="280987" w="256735">
                    <a:moveTo>
                      <a:pt x="251030" y="232410"/>
                    </a:moveTo>
                    <a:cubicBezTo>
                      <a:pt x="225357" y="263843"/>
                      <a:pt x="182567" y="280988"/>
                      <a:pt x="140729" y="280988"/>
                    </a:cubicBezTo>
                    <a:cubicBezTo>
                      <a:pt x="60856" y="280988"/>
                      <a:pt x="0" y="225743"/>
                      <a:pt x="0" y="140970"/>
                    </a:cubicBezTo>
                    <a:cubicBezTo>
                      <a:pt x="0" y="65723"/>
                      <a:pt x="51347" y="0"/>
                      <a:pt x="130269" y="0"/>
                    </a:cubicBezTo>
                    <a:cubicBezTo>
                      <a:pt x="204437" y="0"/>
                      <a:pt x="256735" y="62865"/>
                      <a:pt x="256735" y="138113"/>
                    </a:cubicBezTo>
                    <a:cubicBezTo>
                      <a:pt x="256735" y="145733"/>
                      <a:pt x="255784" y="152400"/>
                      <a:pt x="254834" y="159068"/>
                    </a:cubicBezTo>
                    <a:lnTo>
                      <a:pt x="68463" y="159068"/>
                    </a:lnTo>
                    <a:cubicBezTo>
                      <a:pt x="72266" y="197168"/>
                      <a:pt x="102694" y="222885"/>
                      <a:pt x="140729" y="222885"/>
                    </a:cubicBezTo>
                    <a:cubicBezTo>
                      <a:pt x="171157" y="222885"/>
                      <a:pt x="195880" y="205740"/>
                      <a:pt x="208241" y="191452"/>
                    </a:cubicBezTo>
                    <a:lnTo>
                      <a:pt x="251030" y="232410"/>
                    </a:lnTo>
                    <a:close/>
                    <a:moveTo>
                      <a:pt x="184469" y="105727"/>
                    </a:moveTo>
                    <a:cubicBezTo>
                      <a:pt x="182567" y="81915"/>
                      <a:pt x="160697" y="58102"/>
                      <a:pt x="131220" y="58102"/>
                    </a:cubicBezTo>
                    <a:cubicBezTo>
                      <a:pt x="101743" y="58102"/>
                      <a:pt x="77021" y="80963"/>
                      <a:pt x="73217" y="105727"/>
                    </a:cubicBezTo>
                    <a:lnTo>
                      <a:pt x="184469" y="105727"/>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402" name="Google Shape;402;p8"/>
              <p:cNvSpPr/>
              <p:nvPr/>
            </p:nvSpPr>
            <p:spPr>
              <a:xfrm>
                <a:off x="1492378" y="4971677"/>
                <a:ext cx="113154" cy="121539"/>
              </a:xfrm>
              <a:custGeom>
                <a:rect b="b" l="l" r="r" t="t"/>
                <a:pathLst>
                  <a:path extrusionOk="0" h="276225" w="266244">
                    <a:moveTo>
                      <a:pt x="0" y="276225"/>
                    </a:moveTo>
                    <a:lnTo>
                      <a:pt x="0" y="5715"/>
                    </a:lnTo>
                    <a:lnTo>
                      <a:pt x="69414" y="5715"/>
                    </a:lnTo>
                    <a:lnTo>
                      <a:pt x="69414" y="27623"/>
                    </a:lnTo>
                    <a:cubicBezTo>
                      <a:pt x="90333" y="10477"/>
                      <a:pt x="115055" y="0"/>
                      <a:pt x="145483" y="0"/>
                    </a:cubicBezTo>
                    <a:cubicBezTo>
                      <a:pt x="182567" y="0"/>
                      <a:pt x="216799" y="17145"/>
                      <a:pt x="238669" y="43815"/>
                    </a:cubicBezTo>
                    <a:cubicBezTo>
                      <a:pt x="256735" y="64770"/>
                      <a:pt x="266244" y="92392"/>
                      <a:pt x="266244" y="138113"/>
                    </a:cubicBezTo>
                    <a:lnTo>
                      <a:pt x="266244" y="275273"/>
                    </a:lnTo>
                    <a:lnTo>
                      <a:pt x="193978" y="275273"/>
                    </a:lnTo>
                    <a:lnTo>
                      <a:pt x="193978" y="132398"/>
                    </a:lnTo>
                    <a:cubicBezTo>
                      <a:pt x="193978" y="105727"/>
                      <a:pt x="188273" y="91440"/>
                      <a:pt x="177813" y="81915"/>
                    </a:cubicBezTo>
                    <a:cubicBezTo>
                      <a:pt x="168304" y="72390"/>
                      <a:pt x="154041" y="66675"/>
                      <a:pt x="136925" y="66675"/>
                    </a:cubicBezTo>
                    <a:cubicBezTo>
                      <a:pt x="106498" y="66675"/>
                      <a:pt x="81775" y="85725"/>
                      <a:pt x="71315" y="100013"/>
                    </a:cubicBezTo>
                    <a:lnTo>
                      <a:pt x="71315" y="275273"/>
                    </a:lnTo>
                    <a:lnTo>
                      <a:pt x="0" y="275273"/>
                    </a:lnTo>
                    <a:lnTo>
                      <a:pt x="0" y="276225"/>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403" name="Google Shape;403;p8"/>
              <p:cNvSpPr/>
              <p:nvPr/>
            </p:nvSpPr>
            <p:spPr>
              <a:xfrm>
                <a:off x="1617004" y="4972091"/>
                <a:ext cx="134168" cy="123603"/>
              </a:xfrm>
              <a:custGeom>
                <a:rect b="b" l="l" r="r" t="t"/>
                <a:pathLst>
                  <a:path extrusionOk="0" h="280916" w="315689">
                    <a:moveTo>
                      <a:pt x="157845" y="9"/>
                    </a:moveTo>
                    <a:cubicBezTo>
                      <a:pt x="72266" y="-943"/>
                      <a:pt x="951" y="70494"/>
                      <a:pt x="0" y="156219"/>
                    </a:cubicBezTo>
                    <a:cubicBezTo>
                      <a:pt x="0" y="201939"/>
                      <a:pt x="19017" y="243849"/>
                      <a:pt x="49445" y="272424"/>
                    </a:cubicBezTo>
                    <a:cubicBezTo>
                      <a:pt x="60856" y="282902"/>
                      <a:pt x="77972" y="283854"/>
                      <a:pt x="90333" y="274329"/>
                    </a:cubicBezTo>
                    <a:cubicBezTo>
                      <a:pt x="108399" y="260042"/>
                      <a:pt x="131220" y="252422"/>
                      <a:pt x="157845" y="252422"/>
                    </a:cubicBezTo>
                    <a:cubicBezTo>
                      <a:pt x="184469" y="252422"/>
                      <a:pt x="207290" y="260994"/>
                      <a:pt x="225357" y="274329"/>
                    </a:cubicBezTo>
                    <a:cubicBezTo>
                      <a:pt x="237718" y="283854"/>
                      <a:pt x="254834" y="282902"/>
                      <a:pt x="266244" y="272424"/>
                    </a:cubicBezTo>
                    <a:cubicBezTo>
                      <a:pt x="296672" y="243849"/>
                      <a:pt x="315690" y="202892"/>
                      <a:pt x="315690" y="158124"/>
                    </a:cubicBezTo>
                    <a:cubicBezTo>
                      <a:pt x="313788" y="70494"/>
                      <a:pt x="244374" y="9"/>
                      <a:pt x="157845" y="9"/>
                    </a:cubicBezTo>
                    <a:moveTo>
                      <a:pt x="156894" y="237182"/>
                    </a:moveTo>
                    <a:cubicBezTo>
                      <a:pt x="110301" y="237182"/>
                      <a:pt x="77972" y="201939"/>
                      <a:pt x="77972" y="158124"/>
                    </a:cubicBezTo>
                    <a:cubicBezTo>
                      <a:pt x="77972" y="114309"/>
                      <a:pt x="110301" y="79067"/>
                      <a:pt x="156894" y="79067"/>
                    </a:cubicBezTo>
                    <a:cubicBezTo>
                      <a:pt x="203487" y="79067"/>
                      <a:pt x="235816" y="115262"/>
                      <a:pt x="235816" y="158124"/>
                    </a:cubicBezTo>
                    <a:cubicBezTo>
                      <a:pt x="235816" y="201939"/>
                      <a:pt x="203487" y="237182"/>
                      <a:pt x="156894" y="237182"/>
                    </a:cubicBezTo>
                  </a:path>
                </a:pathLst>
              </a:custGeom>
              <a:solidFill>
                <a:srgbClr val="82B6A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404" name="Google Shape;404;p8"/>
              <p:cNvSpPr/>
              <p:nvPr/>
            </p:nvSpPr>
            <p:spPr>
              <a:xfrm>
                <a:off x="1742436" y="4974605"/>
                <a:ext cx="185491" cy="118605"/>
              </a:xfrm>
              <a:custGeom>
                <a:rect b="b" l="l" r="r" t="t"/>
                <a:pathLst>
                  <a:path extrusionOk="0" h="269557" w="436450">
                    <a:moveTo>
                      <a:pt x="160697" y="269558"/>
                    </a:moveTo>
                    <a:lnTo>
                      <a:pt x="107448" y="269558"/>
                    </a:lnTo>
                    <a:lnTo>
                      <a:pt x="0" y="0"/>
                    </a:lnTo>
                    <a:lnTo>
                      <a:pt x="72266" y="0"/>
                    </a:lnTo>
                    <a:lnTo>
                      <a:pt x="130269" y="154305"/>
                    </a:lnTo>
                    <a:lnTo>
                      <a:pt x="188273" y="0"/>
                    </a:lnTo>
                    <a:lnTo>
                      <a:pt x="248178" y="0"/>
                    </a:lnTo>
                    <a:lnTo>
                      <a:pt x="305230" y="154305"/>
                    </a:lnTo>
                    <a:lnTo>
                      <a:pt x="364184" y="0"/>
                    </a:lnTo>
                    <a:lnTo>
                      <a:pt x="436450" y="0"/>
                    </a:lnTo>
                    <a:lnTo>
                      <a:pt x="329002" y="269558"/>
                    </a:lnTo>
                    <a:lnTo>
                      <a:pt x="275753" y="269558"/>
                    </a:lnTo>
                    <a:lnTo>
                      <a:pt x="217750" y="116205"/>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grpSp>
        <p:grpSp>
          <p:nvGrpSpPr>
            <p:cNvPr id="405" name="Google Shape;405;p8"/>
            <p:cNvGrpSpPr/>
            <p:nvPr/>
          </p:nvGrpSpPr>
          <p:grpSpPr>
            <a:xfrm>
              <a:off x="1913798" y="5063228"/>
              <a:ext cx="28235" cy="29284"/>
              <a:chOff x="7408203" y="3499485"/>
              <a:chExt cx="66561" cy="66675"/>
            </a:xfrm>
          </p:grpSpPr>
          <p:sp>
            <p:nvSpPr>
              <p:cNvPr id="406" name="Google Shape;406;p8"/>
              <p:cNvSpPr/>
              <p:nvPr/>
            </p:nvSpPr>
            <p:spPr>
              <a:xfrm>
                <a:off x="7431974" y="3516629"/>
                <a:ext cx="22820" cy="32385"/>
              </a:xfrm>
              <a:custGeom>
                <a:rect b="b" l="l" r="r" t="t"/>
                <a:pathLst>
                  <a:path extrusionOk="0" h="32385" w="22820">
                    <a:moveTo>
                      <a:pt x="10460" y="20003"/>
                    </a:moveTo>
                    <a:lnTo>
                      <a:pt x="4754" y="20003"/>
                    </a:lnTo>
                    <a:lnTo>
                      <a:pt x="4754" y="31433"/>
                    </a:lnTo>
                    <a:lnTo>
                      <a:pt x="0" y="31433"/>
                    </a:lnTo>
                    <a:lnTo>
                      <a:pt x="0" y="0"/>
                    </a:lnTo>
                    <a:lnTo>
                      <a:pt x="12361" y="0"/>
                    </a:lnTo>
                    <a:cubicBezTo>
                      <a:pt x="18067" y="0"/>
                      <a:pt x="22821" y="4763"/>
                      <a:pt x="22821" y="10478"/>
                    </a:cubicBezTo>
                    <a:cubicBezTo>
                      <a:pt x="22821" y="14288"/>
                      <a:pt x="19968" y="18098"/>
                      <a:pt x="16165" y="20003"/>
                    </a:cubicBezTo>
                    <a:lnTo>
                      <a:pt x="22821" y="32385"/>
                    </a:lnTo>
                    <a:lnTo>
                      <a:pt x="17116" y="32385"/>
                    </a:lnTo>
                    <a:lnTo>
                      <a:pt x="10460" y="20003"/>
                    </a:lnTo>
                    <a:close/>
                    <a:moveTo>
                      <a:pt x="3803" y="16193"/>
                    </a:moveTo>
                    <a:lnTo>
                      <a:pt x="11411" y="16193"/>
                    </a:lnTo>
                    <a:cubicBezTo>
                      <a:pt x="14263" y="16193"/>
                      <a:pt x="16165" y="14288"/>
                      <a:pt x="16165" y="10478"/>
                    </a:cubicBezTo>
                    <a:cubicBezTo>
                      <a:pt x="16165" y="7620"/>
                      <a:pt x="14263" y="4763"/>
                      <a:pt x="11411" y="4763"/>
                    </a:cubicBezTo>
                    <a:lnTo>
                      <a:pt x="3803" y="4763"/>
                    </a:lnTo>
                    <a:lnTo>
                      <a:pt x="3803" y="16193"/>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sp>
            <p:nvSpPr>
              <p:cNvPr id="407" name="Google Shape;407;p8"/>
              <p:cNvSpPr/>
              <p:nvPr/>
            </p:nvSpPr>
            <p:spPr>
              <a:xfrm>
                <a:off x="7408203" y="3499485"/>
                <a:ext cx="66561" cy="66675"/>
              </a:xfrm>
              <a:custGeom>
                <a:rect b="b" l="l" r="r" t="t"/>
                <a:pathLst>
                  <a:path extrusionOk="0" h="66675" w="66561">
                    <a:moveTo>
                      <a:pt x="33281" y="4763"/>
                    </a:moveTo>
                    <a:cubicBezTo>
                      <a:pt x="49445" y="4763"/>
                      <a:pt x="61807" y="18098"/>
                      <a:pt x="61807" y="33338"/>
                    </a:cubicBezTo>
                    <a:cubicBezTo>
                      <a:pt x="61807" y="48577"/>
                      <a:pt x="48495" y="61913"/>
                      <a:pt x="33281" y="61913"/>
                    </a:cubicBezTo>
                    <a:cubicBezTo>
                      <a:pt x="17116" y="61913"/>
                      <a:pt x="4754" y="48577"/>
                      <a:pt x="4754" y="33338"/>
                    </a:cubicBezTo>
                    <a:cubicBezTo>
                      <a:pt x="4754" y="18098"/>
                      <a:pt x="17116" y="4763"/>
                      <a:pt x="33281" y="4763"/>
                    </a:cubicBezTo>
                    <a:moveTo>
                      <a:pt x="33281" y="0"/>
                    </a:moveTo>
                    <a:cubicBezTo>
                      <a:pt x="14263" y="0"/>
                      <a:pt x="0" y="15240"/>
                      <a:pt x="0" y="33338"/>
                    </a:cubicBezTo>
                    <a:cubicBezTo>
                      <a:pt x="0" y="51435"/>
                      <a:pt x="15214" y="66675"/>
                      <a:pt x="33281" y="66675"/>
                    </a:cubicBezTo>
                    <a:cubicBezTo>
                      <a:pt x="51347" y="66675"/>
                      <a:pt x="66561" y="51435"/>
                      <a:pt x="66561" y="33338"/>
                    </a:cubicBezTo>
                    <a:cubicBezTo>
                      <a:pt x="66561" y="15240"/>
                      <a:pt x="52298" y="0"/>
                      <a:pt x="33281" y="0"/>
                    </a:cubicBezTo>
                    <a:lnTo>
                      <a:pt x="33281" y="0"/>
                    </a:lnTo>
                    <a:close/>
                  </a:path>
                </a:pathLst>
              </a:custGeom>
              <a:solidFill>
                <a:srgbClr val="293F4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C"/>
                  </a:solidFill>
                  <a:latin typeface="Arial"/>
                  <a:ea typeface="Arial"/>
                  <a:cs typeface="Arial"/>
                  <a:sym typeface="Arial"/>
                </a:endParaRPr>
              </a:p>
            </p:txBody>
          </p:sp>
        </p:grpSp>
      </p:grpSp>
      <p:pic>
        <p:nvPicPr>
          <p:cNvPr id="408" name="Google Shape;408;p8"/>
          <p:cNvPicPr preferRelativeResize="0"/>
          <p:nvPr/>
        </p:nvPicPr>
        <p:blipFill rotWithShape="1">
          <a:blip r:embed="rId7">
            <a:alphaModFix/>
          </a:blip>
          <a:srcRect b="0" l="0" r="0" t="0"/>
          <a:stretch/>
        </p:blipFill>
        <p:spPr>
          <a:xfrm>
            <a:off x="3994121" y="3275725"/>
            <a:ext cx="965937" cy="230985"/>
          </a:xfrm>
          <a:prstGeom prst="rect">
            <a:avLst/>
          </a:prstGeom>
          <a:noFill/>
          <a:ln>
            <a:noFill/>
          </a:ln>
        </p:spPr>
      </p:pic>
      <p:grpSp>
        <p:nvGrpSpPr>
          <p:cNvPr id="409" name="Google Shape;409;p8"/>
          <p:cNvGrpSpPr/>
          <p:nvPr/>
        </p:nvGrpSpPr>
        <p:grpSpPr>
          <a:xfrm>
            <a:off x="550163" y="2266971"/>
            <a:ext cx="584105" cy="190773"/>
            <a:chOff x="1880092" y="4807895"/>
            <a:chExt cx="3209370" cy="1048203"/>
          </a:xfrm>
        </p:grpSpPr>
        <p:sp>
          <p:nvSpPr>
            <p:cNvPr id="410" name="Google Shape;410;p8"/>
            <p:cNvSpPr/>
            <p:nvPr/>
          </p:nvSpPr>
          <p:spPr>
            <a:xfrm>
              <a:off x="1880092" y="4807895"/>
              <a:ext cx="790775" cy="813640"/>
            </a:xfrm>
            <a:custGeom>
              <a:rect b="b" l="l" r="r" t="t"/>
              <a:pathLst>
                <a:path extrusionOk="0" h="813640" w="790775">
                  <a:moveTo>
                    <a:pt x="411705" y="813425"/>
                  </a:moveTo>
                  <a:cubicBezTo>
                    <a:pt x="302785" y="814848"/>
                    <a:pt x="198134" y="771868"/>
                    <a:pt x="121757" y="694353"/>
                  </a:cubicBezTo>
                  <a:cubicBezTo>
                    <a:pt x="42819" y="620158"/>
                    <a:pt x="-1299" y="516172"/>
                    <a:pt x="29" y="407822"/>
                  </a:cubicBezTo>
                  <a:cubicBezTo>
                    <a:pt x="-1299" y="299471"/>
                    <a:pt x="42819" y="195580"/>
                    <a:pt x="121757" y="121290"/>
                  </a:cubicBezTo>
                  <a:cubicBezTo>
                    <a:pt x="197850" y="43016"/>
                    <a:pt x="302595" y="-818"/>
                    <a:pt x="411705" y="36"/>
                  </a:cubicBezTo>
                  <a:cubicBezTo>
                    <a:pt x="515691" y="-1387"/>
                    <a:pt x="615882" y="39031"/>
                    <a:pt x="689887" y="112087"/>
                  </a:cubicBezTo>
                  <a:lnTo>
                    <a:pt x="611707" y="191690"/>
                  </a:lnTo>
                  <a:cubicBezTo>
                    <a:pt x="558196" y="139886"/>
                    <a:pt x="486184" y="111518"/>
                    <a:pt x="411705" y="112562"/>
                  </a:cubicBezTo>
                  <a:cubicBezTo>
                    <a:pt x="333620" y="111613"/>
                    <a:pt x="258666" y="143492"/>
                    <a:pt x="205155" y="200419"/>
                  </a:cubicBezTo>
                  <a:cubicBezTo>
                    <a:pt x="149652" y="255543"/>
                    <a:pt x="119006" y="330971"/>
                    <a:pt x="120334" y="409150"/>
                  </a:cubicBezTo>
                  <a:cubicBezTo>
                    <a:pt x="119670" y="486475"/>
                    <a:pt x="150221" y="560765"/>
                    <a:pt x="205155" y="615225"/>
                  </a:cubicBezTo>
                  <a:cubicBezTo>
                    <a:pt x="318250" y="728035"/>
                    <a:pt x="500700" y="730122"/>
                    <a:pt x="616451" y="620064"/>
                  </a:cubicBezTo>
                  <a:cubicBezTo>
                    <a:pt x="650987" y="582397"/>
                    <a:pt x="672049" y="534294"/>
                    <a:pt x="676604" y="483439"/>
                  </a:cubicBezTo>
                  <a:lnTo>
                    <a:pt x="412938" y="483439"/>
                  </a:lnTo>
                  <a:lnTo>
                    <a:pt x="412938" y="370914"/>
                  </a:lnTo>
                  <a:lnTo>
                    <a:pt x="785998" y="370914"/>
                  </a:lnTo>
                  <a:cubicBezTo>
                    <a:pt x="789603" y="393590"/>
                    <a:pt x="791121" y="416456"/>
                    <a:pt x="790362" y="439511"/>
                  </a:cubicBezTo>
                  <a:cubicBezTo>
                    <a:pt x="795011" y="535432"/>
                    <a:pt x="760286" y="629077"/>
                    <a:pt x="694061" y="698812"/>
                  </a:cubicBezTo>
                  <a:cubicBezTo>
                    <a:pt x="620626" y="775284"/>
                    <a:pt x="517873" y="817030"/>
                    <a:pt x="411705" y="813425"/>
                  </a:cubicBezTo>
                  <a:close/>
                </a:path>
              </a:pathLst>
            </a:custGeom>
            <a:solidFill>
              <a:srgbClr val="4285F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11" name="Google Shape;411;p8"/>
            <p:cNvSpPr/>
            <p:nvPr/>
          </p:nvSpPr>
          <p:spPr>
            <a:xfrm>
              <a:off x="2710970" y="5098542"/>
              <a:ext cx="524384" cy="522801"/>
            </a:xfrm>
            <a:custGeom>
              <a:rect b="b" l="l" r="r" t="t"/>
              <a:pathLst>
                <a:path extrusionOk="0" h="522801" w="524384">
                  <a:moveTo>
                    <a:pt x="448296" y="448014"/>
                  </a:moveTo>
                  <a:cubicBezTo>
                    <a:pt x="344214" y="547730"/>
                    <a:pt x="180076" y="547730"/>
                    <a:pt x="76089" y="448014"/>
                  </a:cubicBezTo>
                  <a:cubicBezTo>
                    <a:pt x="25709" y="399151"/>
                    <a:pt x="-1806" y="331409"/>
                    <a:pt x="92" y="261294"/>
                  </a:cubicBezTo>
                  <a:cubicBezTo>
                    <a:pt x="-1806" y="191179"/>
                    <a:pt x="25804" y="123436"/>
                    <a:pt x="76089" y="74574"/>
                  </a:cubicBezTo>
                  <a:cubicBezTo>
                    <a:pt x="180265" y="-24858"/>
                    <a:pt x="344214" y="-24858"/>
                    <a:pt x="448296" y="74574"/>
                  </a:cubicBezTo>
                  <a:cubicBezTo>
                    <a:pt x="498676" y="123436"/>
                    <a:pt x="526190" y="191179"/>
                    <a:pt x="524293" y="261294"/>
                  </a:cubicBezTo>
                  <a:cubicBezTo>
                    <a:pt x="526095" y="331503"/>
                    <a:pt x="498391" y="399246"/>
                    <a:pt x="447821" y="448014"/>
                  </a:cubicBezTo>
                  <a:lnTo>
                    <a:pt x="448296" y="448014"/>
                  </a:lnTo>
                  <a:close/>
                  <a:moveTo>
                    <a:pt x="158159" y="374673"/>
                  </a:moveTo>
                  <a:cubicBezTo>
                    <a:pt x="211860" y="432074"/>
                    <a:pt x="301994" y="435015"/>
                    <a:pt x="359395" y="381219"/>
                  </a:cubicBezTo>
                  <a:cubicBezTo>
                    <a:pt x="361672" y="379037"/>
                    <a:pt x="363854" y="376855"/>
                    <a:pt x="365941" y="374673"/>
                  </a:cubicBezTo>
                  <a:cubicBezTo>
                    <a:pt x="395259" y="344312"/>
                    <a:pt x="411103" y="303514"/>
                    <a:pt x="409870" y="261294"/>
                  </a:cubicBezTo>
                  <a:cubicBezTo>
                    <a:pt x="411198" y="218978"/>
                    <a:pt x="395354" y="177896"/>
                    <a:pt x="365941" y="147440"/>
                  </a:cubicBezTo>
                  <a:cubicBezTo>
                    <a:pt x="310723" y="89849"/>
                    <a:pt x="219165" y="87857"/>
                    <a:pt x="161479" y="143076"/>
                  </a:cubicBezTo>
                  <a:cubicBezTo>
                    <a:pt x="160056" y="144499"/>
                    <a:pt x="158538" y="145922"/>
                    <a:pt x="157115" y="147440"/>
                  </a:cubicBezTo>
                  <a:cubicBezTo>
                    <a:pt x="127703" y="177896"/>
                    <a:pt x="111858" y="218978"/>
                    <a:pt x="113187" y="261294"/>
                  </a:cubicBezTo>
                  <a:cubicBezTo>
                    <a:pt x="112048" y="303514"/>
                    <a:pt x="128082" y="344407"/>
                    <a:pt x="157589" y="374673"/>
                  </a:cubicBezTo>
                  <a:lnTo>
                    <a:pt x="158159" y="374673"/>
                  </a:lnTo>
                  <a:lnTo>
                    <a:pt x="158159" y="374673"/>
                  </a:lnTo>
                  <a:close/>
                </a:path>
              </a:pathLst>
            </a:custGeom>
            <a:solidFill>
              <a:srgbClr val="EA433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12" name="Google Shape;412;p8"/>
            <p:cNvSpPr/>
            <p:nvPr/>
          </p:nvSpPr>
          <p:spPr>
            <a:xfrm>
              <a:off x="3282990" y="5098329"/>
              <a:ext cx="524402" cy="523014"/>
            </a:xfrm>
            <a:custGeom>
              <a:rect b="b" l="l" r="r" t="t"/>
              <a:pathLst>
                <a:path extrusionOk="0" h="523014" w="524402">
                  <a:moveTo>
                    <a:pt x="448295" y="448227"/>
                  </a:moveTo>
                  <a:cubicBezTo>
                    <a:pt x="344214" y="547944"/>
                    <a:pt x="180075" y="547944"/>
                    <a:pt x="76089" y="448227"/>
                  </a:cubicBezTo>
                  <a:cubicBezTo>
                    <a:pt x="25709" y="399365"/>
                    <a:pt x="-1806" y="331622"/>
                    <a:pt x="92" y="261507"/>
                  </a:cubicBezTo>
                  <a:cubicBezTo>
                    <a:pt x="-1806" y="191392"/>
                    <a:pt x="25804" y="123650"/>
                    <a:pt x="76089" y="74788"/>
                  </a:cubicBezTo>
                  <a:cubicBezTo>
                    <a:pt x="180170" y="-24929"/>
                    <a:pt x="344309" y="-24929"/>
                    <a:pt x="448295" y="74788"/>
                  </a:cubicBezTo>
                  <a:cubicBezTo>
                    <a:pt x="498676" y="123650"/>
                    <a:pt x="526190" y="191392"/>
                    <a:pt x="524293" y="261507"/>
                  </a:cubicBezTo>
                  <a:cubicBezTo>
                    <a:pt x="526380" y="331622"/>
                    <a:pt x="498770" y="399365"/>
                    <a:pt x="448295" y="448227"/>
                  </a:cubicBezTo>
                  <a:close/>
                  <a:moveTo>
                    <a:pt x="158348" y="374886"/>
                  </a:moveTo>
                  <a:cubicBezTo>
                    <a:pt x="212049" y="432287"/>
                    <a:pt x="302183" y="435229"/>
                    <a:pt x="359584" y="381433"/>
                  </a:cubicBezTo>
                  <a:cubicBezTo>
                    <a:pt x="361861" y="379251"/>
                    <a:pt x="364044" y="377069"/>
                    <a:pt x="366131" y="374886"/>
                  </a:cubicBezTo>
                  <a:cubicBezTo>
                    <a:pt x="395448" y="344525"/>
                    <a:pt x="411293" y="303728"/>
                    <a:pt x="410059" y="261507"/>
                  </a:cubicBezTo>
                  <a:cubicBezTo>
                    <a:pt x="411388" y="219192"/>
                    <a:pt x="395543" y="178110"/>
                    <a:pt x="366131" y="147654"/>
                  </a:cubicBezTo>
                  <a:cubicBezTo>
                    <a:pt x="310912" y="90063"/>
                    <a:pt x="219355" y="88070"/>
                    <a:pt x="161764" y="143289"/>
                  </a:cubicBezTo>
                  <a:cubicBezTo>
                    <a:pt x="160341" y="144713"/>
                    <a:pt x="158823" y="146136"/>
                    <a:pt x="157399" y="147654"/>
                  </a:cubicBezTo>
                  <a:cubicBezTo>
                    <a:pt x="127987" y="178110"/>
                    <a:pt x="112143" y="219192"/>
                    <a:pt x="113471" y="261507"/>
                  </a:cubicBezTo>
                  <a:cubicBezTo>
                    <a:pt x="112332" y="303728"/>
                    <a:pt x="128367" y="344620"/>
                    <a:pt x="157874" y="374886"/>
                  </a:cubicBezTo>
                  <a:lnTo>
                    <a:pt x="158348" y="374886"/>
                  </a:lnTo>
                  <a:lnTo>
                    <a:pt x="158348" y="374886"/>
                  </a:lnTo>
                  <a:close/>
                </a:path>
              </a:pathLst>
            </a:custGeom>
            <a:solidFill>
              <a:srgbClr val="FABD07"/>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13" name="Google Shape;413;p8"/>
            <p:cNvSpPr/>
            <p:nvPr/>
          </p:nvSpPr>
          <p:spPr>
            <a:xfrm>
              <a:off x="3854396" y="5097593"/>
              <a:ext cx="502758" cy="758505"/>
            </a:xfrm>
            <a:custGeom>
              <a:rect b="b" l="l" r="r" t="t"/>
              <a:pathLst>
                <a:path extrusionOk="0" h="758505" w="502758">
                  <a:moveTo>
                    <a:pt x="253080" y="758360"/>
                  </a:moveTo>
                  <a:cubicBezTo>
                    <a:pt x="200422" y="759973"/>
                    <a:pt x="148809" y="743559"/>
                    <a:pt x="106778" y="711775"/>
                  </a:cubicBezTo>
                  <a:cubicBezTo>
                    <a:pt x="69491" y="683786"/>
                    <a:pt x="40079" y="646499"/>
                    <a:pt x="21483" y="603709"/>
                  </a:cubicBezTo>
                  <a:lnTo>
                    <a:pt x="121674" y="561963"/>
                  </a:lnTo>
                  <a:cubicBezTo>
                    <a:pt x="132585" y="587580"/>
                    <a:pt x="149568" y="610066"/>
                    <a:pt x="171295" y="627429"/>
                  </a:cubicBezTo>
                  <a:cubicBezTo>
                    <a:pt x="194445" y="646120"/>
                    <a:pt x="223573" y="655987"/>
                    <a:pt x="253459" y="655133"/>
                  </a:cubicBezTo>
                  <a:cubicBezTo>
                    <a:pt x="291695" y="657505"/>
                    <a:pt x="329077" y="642989"/>
                    <a:pt x="355833" y="615569"/>
                  </a:cubicBezTo>
                  <a:cubicBezTo>
                    <a:pt x="382303" y="583690"/>
                    <a:pt x="395397" y="542703"/>
                    <a:pt x="392361" y="501336"/>
                  </a:cubicBezTo>
                  <a:lnTo>
                    <a:pt x="392361" y="463575"/>
                  </a:lnTo>
                  <a:lnTo>
                    <a:pt x="388376" y="463575"/>
                  </a:lnTo>
                  <a:cubicBezTo>
                    <a:pt x="354409" y="503898"/>
                    <a:pt x="303460" y="525814"/>
                    <a:pt x="250897" y="522873"/>
                  </a:cubicBezTo>
                  <a:cubicBezTo>
                    <a:pt x="184198" y="523063"/>
                    <a:pt x="120440" y="495359"/>
                    <a:pt x="75184" y="446402"/>
                  </a:cubicBezTo>
                  <a:cubicBezTo>
                    <a:pt x="26037" y="397919"/>
                    <a:pt x="-1098" y="331410"/>
                    <a:pt x="40" y="262244"/>
                  </a:cubicBezTo>
                  <a:cubicBezTo>
                    <a:pt x="-1193" y="192793"/>
                    <a:pt x="25942" y="125809"/>
                    <a:pt x="75184" y="76852"/>
                  </a:cubicBezTo>
                  <a:cubicBezTo>
                    <a:pt x="120440" y="27705"/>
                    <a:pt x="184198" y="-189"/>
                    <a:pt x="250897" y="1"/>
                  </a:cubicBezTo>
                  <a:cubicBezTo>
                    <a:pt x="278792" y="-94"/>
                    <a:pt x="306496" y="6168"/>
                    <a:pt x="331733" y="18028"/>
                  </a:cubicBezTo>
                  <a:cubicBezTo>
                    <a:pt x="353650" y="27516"/>
                    <a:pt x="373100" y="41842"/>
                    <a:pt x="388945" y="59774"/>
                  </a:cubicBezTo>
                  <a:lnTo>
                    <a:pt x="392930" y="59774"/>
                  </a:lnTo>
                  <a:lnTo>
                    <a:pt x="392930" y="18028"/>
                  </a:lnTo>
                  <a:lnTo>
                    <a:pt x="501945" y="18028"/>
                  </a:lnTo>
                  <a:lnTo>
                    <a:pt x="501945" y="485966"/>
                  </a:lnTo>
                  <a:cubicBezTo>
                    <a:pt x="507732" y="560729"/>
                    <a:pt x="482495" y="634734"/>
                    <a:pt x="432020" y="690333"/>
                  </a:cubicBezTo>
                  <a:cubicBezTo>
                    <a:pt x="383916" y="736064"/>
                    <a:pt x="319494" y="760637"/>
                    <a:pt x="253080" y="758360"/>
                  </a:cubicBezTo>
                  <a:close/>
                  <a:moveTo>
                    <a:pt x="261049" y="420879"/>
                  </a:moveTo>
                  <a:cubicBezTo>
                    <a:pt x="299001" y="421733"/>
                    <a:pt x="335434" y="405604"/>
                    <a:pt x="360292" y="376951"/>
                  </a:cubicBezTo>
                  <a:cubicBezTo>
                    <a:pt x="387332" y="345926"/>
                    <a:pt x="401753" y="305698"/>
                    <a:pt x="400235" y="264426"/>
                  </a:cubicBezTo>
                  <a:cubicBezTo>
                    <a:pt x="401848" y="222490"/>
                    <a:pt x="387617" y="181597"/>
                    <a:pt x="360292" y="149718"/>
                  </a:cubicBezTo>
                  <a:cubicBezTo>
                    <a:pt x="335339" y="120970"/>
                    <a:pt x="299001" y="104936"/>
                    <a:pt x="261049" y="105790"/>
                  </a:cubicBezTo>
                  <a:cubicBezTo>
                    <a:pt x="222055" y="105031"/>
                    <a:pt x="184578" y="120970"/>
                    <a:pt x="158202" y="149718"/>
                  </a:cubicBezTo>
                  <a:cubicBezTo>
                    <a:pt x="129169" y="180459"/>
                    <a:pt x="113324" y="221351"/>
                    <a:pt x="114273" y="263572"/>
                  </a:cubicBezTo>
                  <a:cubicBezTo>
                    <a:pt x="113419" y="305413"/>
                    <a:pt x="129169" y="345926"/>
                    <a:pt x="158202" y="376097"/>
                  </a:cubicBezTo>
                  <a:cubicBezTo>
                    <a:pt x="184388" y="405035"/>
                    <a:pt x="221865" y="421354"/>
                    <a:pt x="261049" y="420879"/>
                  </a:cubicBezTo>
                  <a:close/>
                </a:path>
              </a:pathLst>
            </a:custGeom>
            <a:solidFill>
              <a:srgbClr val="4285F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14" name="Google Shape;414;p8"/>
            <p:cNvSpPr/>
            <p:nvPr/>
          </p:nvSpPr>
          <p:spPr>
            <a:xfrm>
              <a:off x="4435374" y="4837344"/>
              <a:ext cx="114707" cy="768131"/>
            </a:xfrm>
            <a:custGeom>
              <a:rect b="b" l="l" r="r" t="t"/>
              <a:pathLst>
                <a:path extrusionOk="0" h="768131" w="114707">
                  <a:moveTo>
                    <a:pt x="0" y="0"/>
                  </a:moveTo>
                  <a:lnTo>
                    <a:pt x="114707" y="0"/>
                  </a:lnTo>
                  <a:lnTo>
                    <a:pt x="114707" y="768132"/>
                  </a:lnTo>
                  <a:lnTo>
                    <a:pt x="0" y="768132"/>
                  </a:lnTo>
                  <a:close/>
                </a:path>
              </a:pathLst>
            </a:custGeom>
            <a:solidFill>
              <a:srgbClr val="33A85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15" name="Google Shape;415;p8"/>
            <p:cNvSpPr/>
            <p:nvPr/>
          </p:nvSpPr>
          <p:spPr>
            <a:xfrm>
              <a:off x="4605221" y="5098305"/>
              <a:ext cx="484241" cy="523098"/>
            </a:xfrm>
            <a:custGeom>
              <a:rect b="b" l="l" r="r" t="t"/>
              <a:pathLst>
                <a:path extrusionOk="0" h="523098" w="484241">
                  <a:moveTo>
                    <a:pt x="259475" y="523014"/>
                  </a:moveTo>
                  <a:cubicBezTo>
                    <a:pt x="190025" y="524817"/>
                    <a:pt x="123041" y="497587"/>
                    <a:pt x="74463" y="447871"/>
                  </a:cubicBezTo>
                  <a:cubicBezTo>
                    <a:pt x="25222" y="398535"/>
                    <a:pt x="-1629" y="331171"/>
                    <a:pt x="174" y="261626"/>
                  </a:cubicBezTo>
                  <a:cubicBezTo>
                    <a:pt x="-2388" y="191796"/>
                    <a:pt x="23419" y="123958"/>
                    <a:pt x="71807" y="73483"/>
                  </a:cubicBezTo>
                  <a:cubicBezTo>
                    <a:pt x="117443" y="25380"/>
                    <a:pt x="181296" y="-1281"/>
                    <a:pt x="247521" y="47"/>
                  </a:cubicBezTo>
                  <a:cubicBezTo>
                    <a:pt x="277692" y="-332"/>
                    <a:pt x="307578" y="5550"/>
                    <a:pt x="335378" y="17125"/>
                  </a:cubicBezTo>
                  <a:cubicBezTo>
                    <a:pt x="360425" y="27277"/>
                    <a:pt x="383291" y="42173"/>
                    <a:pt x="402551" y="61054"/>
                  </a:cubicBezTo>
                  <a:cubicBezTo>
                    <a:pt x="419155" y="77088"/>
                    <a:pt x="433861" y="94830"/>
                    <a:pt x="446480" y="114280"/>
                  </a:cubicBezTo>
                  <a:cubicBezTo>
                    <a:pt x="456727" y="130599"/>
                    <a:pt x="465361" y="147867"/>
                    <a:pt x="472381" y="165609"/>
                  </a:cubicBezTo>
                  <a:lnTo>
                    <a:pt x="484241" y="195496"/>
                  </a:lnTo>
                  <a:lnTo>
                    <a:pt x="132718" y="340090"/>
                  </a:lnTo>
                  <a:cubicBezTo>
                    <a:pt x="154540" y="390090"/>
                    <a:pt x="204731" y="421590"/>
                    <a:pt x="259286" y="419218"/>
                  </a:cubicBezTo>
                  <a:cubicBezTo>
                    <a:pt x="311943" y="419408"/>
                    <a:pt x="360805" y="391798"/>
                    <a:pt x="388035" y="346731"/>
                  </a:cubicBezTo>
                  <a:lnTo>
                    <a:pt x="475892" y="406030"/>
                  </a:lnTo>
                  <a:cubicBezTo>
                    <a:pt x="453501" y="438099"/>
                    <a:pt x="424753" y="465329"/>
                    <a:pt x="391451" y="486012"/>
                  </a:cubicBezTo>
                  <a:cubicBezTo>
                    <a:pt x="352171" y="511060"/>
                    <a:pt x="306155" y="523868"/>
                    <a:pt x="259475" y="523014"/>
                  </a:cubicBezTo>
                  <a:close/>
                  <a:moveTo>
                    <a:pt x="112699" y="253561"/>
                  </a:moveTo>
                  <a:lnTo>
                    <a:pt x="346478" y="156406"/>
                  </a:lnTo>
                  <a:cubicBezTo>
                    <a:pt x="339268" y="139328"/>
                    <a:pt x="326459" y="125191"/>
                    <a:pt x="309950" y="116463"/>
                  </a:cubicBezTo>
                  <a:cubicBezTo>
                    <a:pt x="291639" y="106121"/>
                    <a:pt x="270861" y="100808"/>
                    <a:pt x="249798" y="101092"/>
                  </a:cubicBezTo>
                  <a:cubicBezTo>
                    <a:pt x="214124" y="102041"/>
                    <a:pt x="180062" y="117032"/>
                    <a:pt x="155394" y="142839"/>
                  </a:cubicBezTo>
                  <a:cubicBezTo>
                    <a:pt x="125318" y="171587"/>
                    <a:pt x="109663" y="212100"/>
                    <a:pt x="112699" y="253561"/>
                  </a:cubicBezTo>
                  <a:close/>
                </a:path>
              </a:pathLst>
            </a:custGeom>
            <a:solidFill>
              <a:srgbClr val="EA433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grpSp>
      <p:sp>
        <p:nvSpPr>
          <p:cNvPr id="416" name="Google Shape;416;p8"/>
          <p:cNvSpPr txBox="1"/>
          <p:nvPr/>
        </p:nvSpPr>
        <p:spPr>
          <a:xfrm>
            <a:off x="2096053" y="3646464"/>
            <a:ext cx="1752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Premier Partner</a:t>
            </a:r>
            <a:endParaRPr b="0" i="0" sz="800" u="none" cap="none" strike="noStrike">
              <a:solidFill>
                <a:srgbClr val="141C27"/>
              </a:solidFill>
              <a:latin typeface="Montserrat"/>
              <a:ea typeface="Montserrat"/>
              <a:cs typeface="Montserrat"/>
              <a:sym typeface="Montserrat"/>
            </a:endParaRPr>
          </a:p>
        </p:txBody>
      </p:sp>
      <p:sp>
        <p:nvSpPr>
          <p:cNvPr id="417" name="Google Shape;417;p8"/>
          <p:cNvSpPr txBox="1"/>
          <p:nvPr/>
        </p:nvSpPr>
        <p:spPr>
          <a:xfrm>
            <a:off x="3996704" y="1578197"/>
            <a:ext cx="14403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Select Partner</a:t>
            </a:r>
            <a:endParaRPr b="0" i="0" sz="800" u="none" cap="none" strike="noStrike">
              <a:solidFill>
                <a:srgbClr val="141C27"/>
              </a:solidFill>
              <a:latin typeface="Montserrat"/>
              <a:ea typeface="Montserrat"/>
              <a:cs typeface="Montserrat"/>
              <a:sym typeface="Montserrat"/>
            </a:endParaRPr>
          </a:p>
        </p:txBody>
      </p:sp>
      <p:sp>
        <p:nvSpPr>
          <p:cNvPr id="418" name="Google Shape;418;p8"/>
          <p:cNvSpPr txBox="1"/>
          <p:nvPr/>
        </p:nvSpPr>
        <p:spPr>
          <a:xfrm>
            <a:off x="3994121" y="3646464"/>
            <a:ext cx="16242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C27"/>
              </a:buClr>
              <a:buSzPts val="800"/>
              <a:buFont typeface="Arial"/>
              <a:buNone/>
            </a:pPr>
            <a:r>
              <a:rPr b="0" i="0" lang="en" sz="800" u="none" cap="none" strike="noStrike">
                <a:solidFill>
                  <a:srgbClr val="141C27"/>
                </a:solidFill>
                <a:latin typeface="Montserrat"/>
                <a:ea typeface="Montserrat"/>
                <a:cs typeface="Montserrat"/>
                <a:sym typeface="Montserrat"/>
              </a:rPr>
              <a:t>Elite Partner</a:t>
            </a:r>
            <a:endParaRPr b="0" i="0" sz="1100" u="none" cap="none" strike="noStrike">
              <a:solidFill>
                <a:srgbClr val="000000"/>
              </a:solidFill>
              <a:latin typeface="Arial"/>
              <a:ea typeface="Arial"/>
              <a:cs typeface="Arial"/>
              <a:sym typeface="Arial"/>
            </a:endParaRPr>
          </a:p>
        </p:txBody>
      </p:sp>
      <p:sp>
        <p:nvSpPr>
          <p:cNvPr id="419" name="Google Shape;419;p8"/>
          <p:cNvSpPr txBox="1"/>
          <p:nvPr/>
        </p:nvSpPr>
        <p:spPr>
          <a:xfrm>
            <a:off x="6353999" y="1133713"/>
            <a:ext cx="2242800" cy="253800"/>
          </a:xfrm>
          <a:prstGeom prst="rect">
            <a:avLst/>
          </a:prstGeom>
          <a:noFill/>
          <a:ln>
            <a:noFill/>
          </a:ln>
        </p:spPr>
        <p:txBody>
          <a:bodyPr anchorCtr="0" anchor="t" bIns="34275" lIns="0" spcFirstLastPara="1" rIns="68575" wrap="square" tIns="34275">
            <a:spAutoFit/>
          </a:bodyPr>
          <a:lstStyle/>
          <a:p>
            <a:pPr indent="0" lvl="0" marL="0" marR="0" rtl="0" algn="l">
              <a:lnSpc>
                <a:spcPct val="100000"/>
              </a:lnSpc>
              <a:spcBef>
                <a:spcPts val="0"/>
              </a:spcBef>
              <a:spcAft>
                <a:spcPts val="0"/>
              </a:spcAft>
              <a:buClr>
                <a:srgbClr val="1E2345"/>
              </a:buClr>
              <a:buSzPts val="1200"/>
              <a:buFont typeface="Montserrat Light"/>
              <a:buNone/>
            </a:pPr>
            <a:r>
              <a:rPr b="0" i="0" lang="en" sz="1200" u="none" cap="none" strike="noStrike">
                <a:solidFill>
                  <a:srgbClr val="1E2345"/>
                </a:solidFill>
                <a:latin typeface="Montserrat Light"/>
                <a:ea typeface="Montserrat Light"/>
                <a:cs typeface="Montserrat Light"/>
                <a:sym typeface="Montserrat Light"/>
              </a:rPr>
              <a:t>Other key partnerships</a:t>
            </a:r>
            <a:endParaRPr b="0" i="0" sz="1200" u="none" cap="none" strike="noStrike">
              <a:solidFill>
                <a:srgbClr val="1E2345"/>
              </a:solidFill>
              <a:latin typeface="Montserrat Light"/>
              <a:ea typeface="Montserrat Light"/>
              <a:cs typeface="Montserrat Light"/>
              <a:sym typeface="Montserrat Light"/>
            </a:endParaRPr>
          </a:p>
        </p:txBody>
      </p:sp>
      <p:cxnSp>
        <p:nvCxnSpPr>
          <p:cNvPr id="420" name="Google Shape;420;p8"/>
          <p:cNvCxnSpPr/>
          <p:nvPr/>
        </p:nvCxnSpPr>
        <p:spPr>
          <a:xfrm>
            <a:off x="6116202" y="1189253"/>
            <a:ext cx="0" cy="3448200"/>
          </a:xfrm>
          <a:prstGeom prst="straightConnector1">
            <a:avLst/>
          </a:prstGeom>
          <a:noFill/>
          <a:ln cap="flat" cmpd="sng" w="9525">
            <a:solidFill>
              <a:schemeClr val="lt2"/>
            </a:solidFill>
            <a:prstDash val="solid"/>
            <a:miter lim="80"/>
            <a:headEnd len="sm" w="sm" type="none"/>
            <a:tailEnd len="sm" w="sm" type="none"/>
          </a:ln>
        </p:spPr>
      </p:cxnSp>
      <p:grpSp>
        <p:nvGrpSpPr>
          <p:cNvPr id="421" name="Google Shape;421;p8"/>
          <p:cNvGrpSpPr/>
          <p:nvPr/>
        </p:nvGrpSpPr>
        <p:grpSpPr>
          <a:xfrm>
            <a:off x="546866" y="1957422"/>
            <a:ext cx="5071779" cy="1017310"/>
            <a:chOff x="729108" y="3052095"/>
            <a:chExt cx="7144357" cy="1528411"/>
          </a:xfrm>
        </p:grpSpPr>
        <p:cxnSp>
          <p:nvCxnSpPr>
            <p:cNvPr id="422" name="Google Shape;422;p8"/>
            <p:cNvCxnSpPr/>
            <p:nvPr/>
          </p:nvCxnSpPr>
          <p:spPr>
            <a:xfrm rot="10800000">
              <a:off x="729108" y="4580506"/>
              <a:ext cx="7113000" cy="0"/>
            </a:xfrm>
            <a:prstGeom prst="straightConnector1">
              <a:avLst/>
            </a:prstGeom>
            <a:noFill/>
            <a:ln cap="flat" cmpd="sng" w="9525">
              <a:solidFill>
                <a:srgbClr val="DED4FF"/>
              </a:solidFill>
              <a:prstDash val="solid"/>
              <a:miter lim="80"/>
              <a:headEnd len="sm" w="sm" type="none"/>
              <a:tailEnd len="sm" w="sm" type="none"/>
            </a:ln>
          </p:spPr>
        </p:cxnSp>
        <p:cxnSp>
          <p:nvCxnSpPr>
            <p:cNvPr id="423" name="Google Shape;423;p8"/>
            <p:cNvCxnSpPr/>
            <p:nvPr/>
          </p:nvCxnSpPr>
          <p:spPr>
            <a:xfrm rot="10800000">
              <a:off x="760465" y="3052095"/>
              <a:ext cx="7113000" cy="0"/>
            </a:xfrm>
            <a:prstGeom prst="straightConnector1">
              <a:avLst/>
            </a:prstGeom>
            <a:noFill/>
            <a:ln cap="flat" cmpd="sng" w="9525">
              <a:solidFill>
                <a:srgbClr val="DED4FF"/>
              </a:solidFill>
              <a:prstDash val="solid"/>
              <a:miter lim="80"/>
              <a:headEnd len="sm" w="sm" type="none"/>
              <a:tailEnd len="sm" w="sm" type="none"/>
            </a:ln>
          </p:spPr>
        </p:cxnSp>
      </p:grpSp>
      <p:pic>
        <p:nvPicPr>
          <p:cNvPr descr="Fair Databricks Salaries: How They Fast-Tracked Global Pay Equity" id="424" name="Google Shape;424;p8"/>
          <p:cNvPicPr preferRelativeResize="0"/>
          <p:nvPr/>
        </p:nvPicPr>
        <p:blipFill rotWithShape="1">
          <a:blip r:embed="rId8">
            <a:alphaModFix/>
          </a:blip>
          <a:srcRect b="0" l="0" r="0" t="0"/>
          <a:stretch/>
        </p:blipFill>
        <p:spPr>
          <a:xfrm>
            <a:off x="3994121" y="1119197"/>
            <a:ext cx="982516" cy="381373"/>
          </a:xfrm>
          <a:prstGeom prst="rect">
            <a:avLst/>
          </a:prstGeom>
          <a:noFill/>
          <a:ln>
            <a:noFill/>
          </a:ln>
        </p:spPr>
      </p:pic>
      <p:pic>
        <p:nvPicPr>
          <p:cNvPr descr="File:Appian Logo.svg - Wikipedia" id="425" name="Google Shape;425;p8"/>
          <p:cNvPicPr preferRelativeResize="0"/>
          <p:nvPr/>
        </p:nvPicPr>
        <p:blipFill rotWithShape="1">
          <a:blip r:embed="rId9">
            <a:alphaModFix/>
          </a:blip>
          <a:srcRect b="0" l="0" r="0" t="0"/>
          <a:stretch/>
        </p:blipFill>
        <p:spPr>
          <a:xfrm>
            <a:off x="6414653" y="1625765"/>
            <a:ext cx="366536" cy="138001"/>
          </a:xfrm>
          <a:prstGeom prst="rect">
            <a:avLst/>
          </a:prstGeom>
          <a:noFill/>
          <a:ln>
            <a:noFill/>
          </a:ln>
        </p:spPr>
      </p:pic>
      <p:pic>
        <p:nvPicPr>
          <p:cNvPr descr="Camunda | Investment | Insight Partners" id="426" name="Google Shape;426;p8"/>
          <p:cNvPicPr preferRelativeResize="0"/>
          <p:nvPr/>
        </p:nvPicPr>
        <p:blipFill rotWithShape="1">
          <a:blip r:embed="rId10">
            <a:alphaModFix/>
          </a:blip>
          <a:srcRect b="0" l="0" r="0" t="0"/>
          <a:stretch/>
        </p:blipFill>
        <p:spPr>
          <a:xfrm>
            <a:off x="7211486" y="1626723"/>
            <a:ext cx="364654" cy="137043"/>
          </a:xfrm>
          <a:prstGeom prst="rect">
            <a:avLst/>
          </a:prstGeom>
          <a:noFill/>
          <a:ln>
            <a:noFill/>
          </a:ln>
        </p:spPr>
      </p:pic>
      <p:pic>
        <p:nvPicPr>
          <p:cNvPr descr="File:Collibra-Logo-RGB-FullColor.png - Wikimedia Commons" id="427" name="Google Shape;427;p8"/>
          <p:cNvPicPr preferRelativeResize="0"/>
          <p:nvPr/>
        </p:nvPicPr>
        <p:blipFill rotWithShape="1">
          <a:blip r:embed="rId11">
            <a:alphaModFix/>
          </a:blip>
          <a:srcRect b="0" l="0" r="0" t="0"/>
          <a:stretch/>
        </p:blipFill>
        <p:spPr>
          <a:xfrm>
            <a:off x="7990231" y="1619114"/>
            <a:ext cx="567378" cy="141060"/>
          </a:xfrm>
          <a:prstGeom prst="rect">
            <a:avLst/>
          </a:prstGeom>
          <a:noFill/>
          <a:ln>
            <a:noFill/>
          </a:ln>
        </p:spPr>
      </p:pic>
      <p:pic>
        <p:nvPicPr>
          <p:cNvPr descr="AI-Powered NextGen Cloud Governance and Security | CoreStack" id="428" name="Google Shape;428;p8"/>
          <p:cNvPicPr preferRelativeResize="0"/>
          <p:nvPr/>
        </p:nvPicPr>
        <p:blipFill rotWithShape="1">
          <a:blip r:embed="rId12">
            <a:alphaModFix/>
          </a:blip>
          <a:srcRect b="0" l="0" r="0" t="0"/>
          <a:stretch/>
        </p:blipFill>
        <p:spPr>
          <a:xfrm>
            <a:off x="6407987" y="2045925"/>
            <a:ext cx="617588" cy="138078"/>
          </a:xfrm>
          <a:prstGeom prst="rect">
            <a:avLst/>
          </a:prstGeom>
          <a:noFill/>
          <a:ln>
            <a:noFill/>
          </a:ln>
        </p:spPr>
      </p:pic>
      <p:pic>
        <p:nvPicPr>
          <p:cNvPr descr="CSG International - Wikipedia" id="429" name="Google Shape;429;p8"/>
          <p:cNvPicPr preferRelativeResize="0"/>
          <p:nvPr/>
        </p:nvPicPr>
        <p:blipFill rotWithShape="1">
          <a:blip r:embed="rId13">
            <a:alphaModFix/>
          </a:blip>
          <a:srcRect b="0" l="0" r="0" t="0"/>
          <a:stretch/>
        </p:blipFill>
        <p:spPr>
          <a:xfrm>
            <a:off x="7190901" y="1995714"/>
            <a:ext cx="351786" cy="238500"/>
          </a:xfrm>
          <a:prstGeom prst="rect">
            <a:avLst/>
          </a:prstGeom>
          <a:noFill/>
          <a:ln>
            <a:noFill/>
          </a:ln>
        </p:spPr>
      </p:pic>
      <p:pic>
        <p:nvPicPr>
          <p:cNvPr descr="Curiosity - Bronze 2023 | Conference Master" id="430" name="Google Shape;430;p8"/>
          <p:cNvPicPr preferRelativeResize="0"/>
          <p:nvPr/>
        </p:nvPicPr>
        <p:blipFill rotWithShape="1">
          <a:blip r:embed="rId14">
            <a:alphaModFix/>
          </a:blip>
          <a:srcRect b="0" l="0" r="0" t="0"/>
          <a:stretch/>
        </p:blipFill>
        <p:spPr>
          <a:xfrm>
            <a:off x="7998689" y="2031481"/>
            <a:ext cx="497584" cy="152522"/>
          </a:xfrm>
          <a:prstGeom prst="rect">
            <a:avLst/>
          </a:prstGeom>
          <a:noFill/>
          <a:ln>
            <a:noFill/>
          </a:ln>
        </p:spPr>
      </p:pic>
      <p:pic>
        <p:nvPicPr>
          <p:cNvPr descr="Datadog Logo &amp; Brand Assets (SVG, PNG and vector) - Brandfetch" id="431" name="Google Shape;431;p8"/>
          <p:cNvPicPr preferRelativeResize="0"/>
          <p:nvPr/>
        </p:nvPicPr>
        <p:blipFill rotWithShape="1">
          <a:blip r:embed="rId15">
            <a:alphaModFix/>
          </a:blip>
          <a:srcRect b="0" l="0" r="0" t="0"/>
          <a:stretch/>
        </p:blipFill>
        <p:spPr>
          <a:xfrm>
            <a:off x="6421319" y="2429084"/>
            <a:ext cx="502794" cy="132461"/>
          </a:xfrm>
          <a:prstGeom prst="rect">
            <a:avLst/>
          </a:prstGeom>
          <a:noFill/>
          <a:ln>
            <a:noFill/>
          </a:ln>
        </p:spPr>
      </p:pic>
      <p:pic>
        <p:nvPicPr>
          <p:cNvPr descr="AWS Marketplace: DataSwitch Inc" id="432" name="Google Shape;432;p8"/>
          <p:cNvPicPr preferRelativeResize="0"/>
          <p:nvPr/>
        </p:nvPicPr>
        <p:blipFill rotWithShape="1">
          <a:blip r:embed="rId16">
            <a:alphaModFix/>
          </a:blip>
          <a:srcRect b="0" l="0" r="0" t="0"/>
          <a:stretch/>
        </p:blipFill>
        <p:spPr>
          <a:xfrm>
            <a:off x="7191983" y="2400891"/>
            <a:ext cx="542774" cy="188848"/>
          </a:xfrm>
          <a:prstGeom prst="rect">
            <a:avLst/>
          </a:prstGeom>
          <a:noFill/>
          <a:ln>
            <a:noFill/>
          </a:ln>
        </p:spPr>
      </p:pic>
      <p:pic>
        <p:nvPicPr>
          <p:cNvPr descr="File:Glassbox Logo 2021.png - Wikimedia Commons" id="433" name="Google Shape;433;p8"/>
          <p:cNvPicPr preferRelativeResize="0"/>
          <p:nvPr/>
        </p:nvPicPr>
        <p:blipFill rotWithShape="1">
          <a:blip r:embed="rId17">
            <a:alphaModFix/>
          </a:blip>
          <a:srcRect b="0" l="0" r="0" t="0"/>
          <a:stretch/>
        </p:blipFill>
        <p:spPr>
          <a:xfrm>
            <a:off x="7997899" y="2451990"/>
            <a:ext cx="525319" cy="79006"/>
          </a:xfrm>
          <a:prstGeom prst="rect">
            <a:avLst/>
          </a:prstGeom>
          <a:noFill/>
          <a:ln>
            <a:noFill/>
          </a:ln>
        </p:spPr>
      </p:pic>
      <p:pic>
        <p:nvPicPr>
          <p:cNvPr descr="Madrona-backed Gradial Builds GTM Leadership Team to" id="434" name="Google Shape;434;p8"/>
          <p:cNvPicPr preferRelativeResize="0"/>
          <p:nvPr/>
        </p:nvPicPr>
        <p:blipFill rotWithShape="1">
          <a:blip r:embed="rId18">
            <a:alphaModFix/>
          </a:blip>
          <a:srcRect b="0" l="0" r="0" t="0"/>
          <a:stretch/>
        </p:blipFill>
        <p:spPr>
          <a:xfrm>
            <a:off x="7220585" y="2837441"/>
            <a:ext cx="378461" cy="127283"/>
          </a:xfrm>
          <a:prstGeom prst="rect">
            <a:avLst/>
          </a:prstGeom>
          <a:noFill/>
          <a:ln>
            <a:noFill/>
          </a:ln>
        </p:spPr>
      </p:pic>
      <p:pic>
        <p:nvPicPr>
          <p:cNvPr descr="Harness Releases its State of Software Delivery Report: Developers Excited  by Promise of AI to Combat Burnout, But Security and Governance Gaps Persist" id="435" name="Google Shape;435;p8"/>
          <p:cNvPicPr preferRelativeResize="0"/>
          <p:nvPr/>
        </p:nvPicPr>
        <p:blipFill rotWithShape="1">
          <a:blip r:embed="rId19">
            <a:alphaModFix/>
          </a:blip>
          <a:srcRect b="0" l="0" r="0" t="0"/>
          <a:stretch/>
        </p:blipFill>
        <p:spPr>
          <a:xfrm>
            <a:off x="7997899" y="2769616"/>
            <a:ext cx="455214" cy="248770"/>
          </a:xfrm>
          <a:prstGeom prst="rect">
            <a:avLst/>
          </a:prstGeom>
          <a:noFill/>
          <a:ln>
            <a:noFill/>
          </a:ln>
        </p:spPr>
      </p:pic>
      <p:pic>
        <p:nvPicPr>
          <p:cNvPr descr="AI Powered Cloud Data Management | Informatica" id="436" name="Google Shape;436;p8"/>
          <p:cNvPicPr preferRelativeResize="0"/>
          <p:nvPr/>
        </p:nvPicPr>
        <p:blipFill rotWithShape="1">
          <a:blip r:embed="rId20">
            <a:alphaModFix/>
          </a:blip>
          <a:srcRect b="0" l="0" r="0" t="0"/>
          <a:stretch/>
        </p:blipFill>
        <p:spPr>
          <a:xfrm>
            <a:off x="6403908" y="3137576"/>
            <a:ext cx="591748" cy="321902"/>
          </a:xfrm>
          <a:prstGeom prst="rect">
            <a:avLst/>
          </a:prstGeom>
          <a:noFill/>
          <a:ln>
            <a:noFill/>
          </a:ln>
        </p:spPr>
      </p:pic>
      <p:pic>
        <p:nvPicPr>
          <p:cNvPr descr="InsureMO - The Insurance Middle Office" id="437" name="Google Shape;437;p8"/>
          <p:cNvPicPr preferRelativeResize="0"/>
          <p:nvPr/>
        </p:nvPicPr>
        <p:blipFill rotWithShape="1">
          <a:blip r:embed="rId21">
            <a:alphaModFix/>
          </a:blip>
          <a:srcRect b="0" l="0" r="0" t="0"/>
          <a:stretch/>
        </p:blipFill>
        <p:spPr>
          <a:xfrm>
            <a:off x="7212341" y="3171776"/>
            <a:ext cx="542774" cy="145636"/>
          </a:xfrm>
          <a:prstGeom prst="rect">
            <a:avLst/>
          </a:prstGeom>
          <a:noFill/>
          <a:ln>
            <a:noFill/>
          </a:ln>
        </p:spPr>
      </p:pic>
      <p:pic>
        <p:nvPicPr>
          <p:cNvPr descr="AI Partnerships | CNXN Helix" id="438" name="Google Shape;438;p8"/>
          <p:cNvPicPr preferRelativeResize="0"/>
          <p:nvPr/>
        </p:nvPicPr>
        <p:blipFill rotWithShape="1">
          <a:blip r:embed="rId22">
            <a:alphaModFix/>
          </a:blip>
          <a:srcRect b="0" l="0" r="0" t="0"/>
          <a:stretch/>
        </p:blipFill>
        <p:spPr>
          <a:xfrm>
            <a:off x="7953498" y="3194735"/>
            <a:ext cx="525326" cy="186281"/>
          </a:xfrm>
          <a:prstGeom prst="rect">
            <a:avLst/>
          </a:prstGeom>
          <a:noFill/>
          <a:ln>
            <a:noFill/>
          </a:ln>
        </p:spPr>
      </p:pic>
      <p:pic>
        <p:nvPicPr>
          <p:cNvPr descr="File:MongoDB Logo.svg - Wikimedia Commons" id="439" name="Google Shape;439;p8"/>
          <p:cNvPicPr preferRelativeResize="0"/>
          <p:nvPr/>
        </p:nvPicPr>
        <p:blipFill rotWithShape="1">
          <a:blip r:embed="rId23">
            <a:alphaModFix/>
          </a:blip>
          <a:srcRect b="0" l="0" r="0" t="0"/>
          <a:stretch/>
        </p:blipFill>
        <p:spPr>
          <a:xfrm>
            <a:off x="6418640" y="3610901"/>
            <a:ext cx="509635" cy="140700"/>
          </a:xfrm>
          <a:prstGeom prst="rect">
            <a:avLst/>
          </a:prstGeom>
          <a:noFill/>
          <a:ln>
            <a:noFill/>
          </a:ln>
        </p:spPr>
      </p:pic>
      <p:pic>
        <p:nvPicPr>
          <p:cNvPr descr="Sap Logo PNG Vectors Free Download" id="440" name="Google Shape;440;p8"/>
          <p:cNvPicPr preferRelativeResize="0"/>
          <p:nvPr/>
        </p:nvPicPr>
        <p:blipFill rotWithShape="1">
          <a:blip r:embed="rId24">
            <a:alphaModFix/>
          </a:blip>
          <a:srcRect b="0" l="0" r="0" t="0"/>
          <a:stretch/>
        </p:blipFill>
        <p:spPr>
          <a:xfrm>
            <a:off x="7990231" y="3532432"/>
            <a:ext cx="335280" cy="335280"/>
          </a:xfrm>
          <a:prstGeom prst="rect">
            <a:avLst/>
          </a:prstGeom>
          <a:noFill/>
          <a:ln>
            <a:noFill/>
          </a:ln>
        </p:spPr>
      </p:pic>
      <p:pic>
        <p:nvPicPr>
          <p:cNvPr descr="Qlik - Wikipedia" id="441" name="Google Shape;441;p8"/>
          <p:cNvPicPr preferRelativeResize="0"/>
          <p:nvPr/>
        </p:nvPicPr>
        <p:blipFill rotWithShape="1">
          <a:blip r:embed="rId25">
            <a:alphaModFix/>
          </a:blip>
          <a:srcRect b="0" l="0" r="0" t="0"/>
          <a:stretch/>
        </p:blipFill>
        <p:spPr>
          <a:xfrm>
            <a:off x="7176470" y="3597839"/>
            <a:ext cx="348962" cy="203359"/>
          </a:xfrm>
          <a:prstGeom prst="rect">
            <a:avLst/>
          </a:prstGeom>
          <a:noFill/>
          <a:ln>
            <a:noFill/>
          </a:ln>
        </p:spPr>
      </p:pic>
      <p:pic>
        <p:nvPicPr>
          <p:cNvPr descr="Picturepark Connector for Sitecore" id="442" name="Google Shape;442;p8"/>
          <p:cNvPicPr preferRelativeResize="0"/>
          <p:nvPr/>
        </p:nvPicPr>
        <p:blipFill rotWithShape="1">
          <a:blip r:embed="rId26">
            <a:alphaModFix/>
          </a:blip>
          <a:srcRect b="0" l="0" r="0" t="0"/>
          <a:stretch/>
        </p:blipFill>
        <p:spPr>
          <a:xfrm>
            <a:off x="6401206" y="4008947"/>
            <a:ext cx="540262" cy="164153"/>
          </a:xfrm>
          <a:prstGeom prst="rect">
            <a:avLst/>
          </a:prstGeom>
          <a:noFill/>
          <a:ln>
            <a:noFill/>
          </a:ln>
        </p:spPr>
      </p:pic>
      <p:pic>
        <p:nvPicPr>
          <p:cNvPr descr="File:UiPath 2019 Corporate Logo.png - Wikipedia" id="443" name="Google Shape;443;p8"/>
          <p:cNvPicPr preferRelativeResize="0"/>
          <p:nvPr/>
        </p:nvPicPr>
        <p:blipFill rotWithShape="1">
          <a:blip r:embed="rId27">
            <a:alphaModFix/>
          </a:blip>
          <a:srcRect b="0" l="0" r="0" t="0"/>
          <a:stretch/>
        </p:blipFill>
        <p:spPr>
          <a:xfrm>
            <a:off x="7215092" y="4029578"/>
            <a:ext cx="389444" cy="122890"/>
          </a:xfrm>
          <a:prstGeom prst="rect">
            <a:avLst/>
          </a:prstGeom>
          <a:noFill/>
          <a:ln>
            <a:noFill/>
          </a:ln>
        </p:spPr>
      </p:pic>
      <p:sp>
        <p:nvSpPr>
          <p:cNvPr id="444" name="Google Shape;444;p8"/>
          <p:cNvSpPr/>
          <p:nvPr/>
        </p:nvSpPr>
        <p:spPr>
          <a:xfrm>
            <a:off x="6322317" y="4350666"/>
            <a:ext cx="2274300" cy="254100"/>
          </a:xfrm>
          <a:prstGeom prst="round1Rect">
            <a:avLst>
              <a:gd fmla="val 50000" name="adj"/>
            </a:avLst>
          </a:prstGeom>
          <a:solidFill>
            <a:srgbClr val="D8D8D8">
              <a:alpha val="60000"/>
            </a:srgbClr>
          </a:solid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Montserrat"/>
                <a:ea typeface="Montserrat"/>
                <a:cs typeface="Montserrat"/>
                <a:sym typeface="Montserrat"/>
              </a:rPr>
              <a:t>See </a:t>
            </a:r>
            <a:r>
              <a:rPr b="1" i="0" lang="en" sz="800" u="none" cap="none" strike="noStrike">
                <a:solidFill>
                  <a:schemeClr val="dk1"/>
                </a:solidFill>
                <a:latin typeface="Montserrat"/>
                <a:ea typeface="Montserrat"/>
                <a:cs typeface="Montserrat"/>
                <a:sym typeface="Montserrat"/>
              </a:rPr>
              <a:t>virtusa.com/partners </a:t>
            </a:r>
            <a:r>
              <a:rPr b="0" i="0" lang="en" sz="800" u="none" cap="none" strike="noStrike">
                <a:solidFill>
                  <a:schemeClr val="dk1"/>
                </a:solidFill>
                <a:latin typeface="Montserrat"/>
                <a:ea typeface="Montserrat"/>
                <a:cs typeface="Montserrat"/>
                <a:sym typeface="Montserrat"/>
              </a:rPr>
              <a:t>for all partners</a:t>
            </a:r>
            <a:endParaRPr b="0" i="0" sz="1100" u="none" cap="none" strike="noStrike">
              <a:solidFill>
                <a:srgbClr val="000000"/>
              </a:solidFill>
              <a:latin typeface="Arial"/>
              <a:ea typeface="Arial"/>
              <a:cs typeface="Arial"/>
              <a:sym typeface="Arial"/>
            </a:endParaRPr>
          </a:p>
        </p:txBody>
      </p:sp>
      <p:pic>
        <p:nvPicPr>
          <p:cNvPr id="445" name="Google Shape;445;p8"/>
          <p:cNvPicPr preferRelativeResize="0"/>
          <p:nvPr/>
        </p:nvPicPr>
        <p:blipFill rotWithShape="1">
          <a:blip r:embed="rId28">
            <a:alphaModFix/>
          </a:blip>
          <a:srcRect b="0" l="0" r="0" t="0"/>
          <a:stretch/>
        </p:blipFill>
        <p:spPr>
          <a:xfrm>
            <a:off x="6414652" y="2811964"/>
            <a:ext cx="564864" cy="1625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9"/>
          <p:cNvSpPr/>
          <p:nvPr/>
        </p:nvSpPr>
        <p:spPr>
          <a:xfrm>
            <a:off x="2815454" y="1542402"/>
            <a:ext cx="1937400" cy="1652400"/>
          </a:xfrm>
          <a:prstGeom prst="rect">
            <a:avLst/>
          </a:prstGeom>
          <a:noFill/>
          <a:ln>
            <a:noFill/>
          </a:ln>
        </p:spPr>
        <p:txBody>
          <a:bodyPr anchorCtr="0" anchor="t" bIns="34275" lIns="0" spcFirstLastPara="1" rIns="205725"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RECOGNITION</a:t>
            </a:r>
            <a:endParaRPr b="0" i="0" sz="800" u="none" cap="none" strike="noStrike">
              <a:solidFill>
                <a:schemeClr val="lt1"/>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Gartner Market Guide for Generative AI Consulting and Implementation Services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36312D"/>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AWARD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Gartner magic quadrant for public cloud IT transformation services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Montserrat"/>
              <a:ea typeface="Montserrat"/>
              <a:cs typeface="Montserrat"/>
              <a:sym typeface="Montserrat"/>
            </a:endParaRPr>
          </a:p>
        </p:txBody>
      </p:sp>
      <p:sp>
        <p:nvSpPr>
          <p:cNvPr id="452" name="Google Shape;452;p9"/>
          <p:cNvSpPr/>
          <p:nvPr/>
        </p:nvSpPr>
        <p:spPr>
          <a:xfrm>
            <a:off x="562387" y="4095333"/>
            <a:ext cx="1703400" cy="960000"/>
          </a:xfrm>
          <a:prstGeom prst="rect">
            <a:avLst/>
          </a:prstGeom>
          <a:noFill/>
          <a:ln>
            <a:noFill/>
          </a:ln>
        </p:spPr>
        <p:txBody>
          <a:bodyPr anchorCtr="0" anchor="t" bIns="34275" lIns="0" spcFirstLastPara="1" rIns="68575"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TOP EMPLOYER</a:t>
            </a:r>
            <a:endParaRPr b="1" i="0" sz="800" u="none" cap="none" strike="noStrike">
              <a:solidFill>
                <a:srgbClr val="5E2CFE"/>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Virtusa recognized with Blueprint Innovation Award at PegaWorld iNspire 2024</a:t>
            </a:r>
            <a:endParaRPr b="0" i="0" sz="1100" u="none" cap="none" strike="noStrike">
              <a:solidFill>
                <a:srgbClr val="000000"/>
              </a:solidFill>
              <a:latin typeface="Arial"/>
              <a:ea typeface="Arial"/>
              <a:cs typeface="Arial"/>
              <a:sym typeface="Arial"/>
            </a:endParaRPr>
          </a:p>
        </p:txBody>
      </p:sp>
      <p:sp>
        <p:nvSpPr>
          <p:cNvPr id="453" name="Google Shape;453;p9"/>
          <p:cNvSpPr txBox="1"/>
          <p:nvPr>
            <p:ph type="title"/>
          </p:nvPr>
        </p:nvSpPr>
        <p:spPr>
          <a:xfrm>
            <a:off x="480060" y="342900"/>
            <a:ext cx="8125800" cy="7053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dk1"/>
              </a:buClr>
              <a:buSzPts val="2400"/>
              <a:buFont typeface="Montserrat Light"/>
              <a:buNone/>
            </a:pPr>
            <a:r>
              <a:rPr b="0" lang="en">
                <a:latin typeface="Montserrat Light"/>
                <a:ea typeface="Montserrat Light"/>
                <a:cs typeface="Montserrat Light"/>
                <a:sym typeface="Montserrat Light"/>
              </a:rPr>
              <a:t>We are recognized for tech expertise in the AI era</a:t>
            </a:r>
            <a:endParaRPr/>
          </a:p>
        </p:txBody>
      </p:sp>
      <p:pic>
        <p:nvPicPr>
          <p:cNvPr descr="ISG (Information Services Group) | LinkedIn" id="454" name="Google Shape;454;p9"/>
          <p:cNvPicPr preferRelativeResize="0"/>
          <p:nvPr/>
        </p:nvPicPr>
        <p:blipFill rotWithShape="1">
          <a:blip r:embed="rId3">
            <a:alphaModFix/>
          </a:blip>
          <a:srcRect b="0" l="0" r="0" t="0"/>
          <a:stretch/>
        </p:blipFill>
        <p:spPr>
          <a:xfrm>
            <a:off x="538324" y="953332"/>
            <a:ext cx="581890" cy="581890"/>
          </a:xfrm>
          <a:prstGeom prst="rect">
            <a:avLst/>
          </a:prstGeom>
          <a:noFill/>
          <a:ln>
            <a:noFill/>
          </a:ln>
        </p:spPr>
      </p:pic>
      <p:pic>
        <p:nvPicPr>
          <p:cNvPr id="455" name="Google Shape;455;p9"/>
          <p:cNvPicPr preferRelativeResize="0"/>
          <p:nvPr/>
        </p:nvPicPr>
        <p:blipFill rotWithShape="1">
          <a:blip r:embed="rId4">
            <a:alphaModFix/>
          </a:blip>
          <a:srcRect b="0" l="0" r="0" t="0"/>
          <a:stretch/>
        </p:blipFill>
        <p:spPr>
          <a:xfrm>
            <a:off x="2850212" y="1173646"/>
            <a:ext cx="948622" cy="216423"/>
          </a:xfrm>
          <a:prstGeom prst="rect">
            <a:avLst/>
          </a:prstGeom>
          <a:noFill/>
          <a:ln>
            <a:noFill/>
          </a:ln>
        </p:spPr>
      </p:pic>
      <p:grpSp>
        <p:nvGrpSpPr>
          <p:cNvPr id="456" name="Google Shape;456;p9"/>
          <p:cNvGrpSpPr/>
          <p:nvPr/>
        </p:nvGrpSpPr>
        <p:grpSpPr>
          <a:xfrm>
            <a:off x="4901797" y="1045231"/>
            <a:ext cx="1569647" cy="382413"/>
            <a:chOff x="332902" y="1480526"/>
            <a:chExt cx="1548434" cy="377244"/>
          </a:xfrm>
        </p:grpSpPr>
        <p:sp>
          <p:nvSpPr>
            <p:cNvPr id="457" name="Google Shape;457;p9"/>
            <p:cNvSpPr txBox="1"/>
            <p:nvPr/>
          </p:nvSpPr>
          <p:spPr>
            <a:xfrm>
              <a:off x="1611636" y="1558177"/>
              <a:ext cx="269700" cy="174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36312D"/>
                </a:buClr>
                <a:buSzPts val="700"/>
                <a:buFont typeface="Arial"/>
                <a:buNone/>
              </a:pPr>
              <a:r>
                <a:rPr b="0" i="0" lang="en" sz="700" u="none" cap="none" strike="noStrike">
                  <a:solidFill>
                    <a:srgbClr val="36312D"/>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grpSp>
          <p:nvGrpSpPr>
            <p:cNvPr id="458" name="Google Shape;458;p9"/>
            <p:cNvGrpSpPr/>
            <p:nvPr/>
          </p:nvGrpSpPr>
          <p:grpSpPr>
            <a:xfrm>
              <a:off x="332902" y="1480526"/>
              <a:ext cx="1336167" cy="377244"/>
              <a:chOff x="332894" y="244193"/>
              <a:chExt cx="5714999" cy="1613535"/>
            </a:xfrm>
          </p:grpSpPr>
          <p:sp>
            <p:nvSpPr>
              <p:cNvPr id="459" name="Google Shape;459;p9"/>
              <p:cNvSpPr/>
              <p:nvPr/>
            </p:nvSpPr>
            <p:spPr>
              <a:xfrm>
                <a:off x="1514945" y="974760"/>
                <a:ext cx="4532948" cy="882968"/>
              </a:xfrm>
              <a:custGeom>
                <a:rect b="b" l="l" r="r" t="t"/>
                <a:pathLst>
                  <a:path extrusionOk="0" h="882968" w="4532948">
                    <a:moveTo>
                      <a:pt x="4367213" y="248603"/>
                    </a:moveTo>
                    <a:cubicBezTo>
                      <a:pt x="4333875" y="248603"/>
                      <a:pt x="4308158" y="262890"/>
                      <a:pt x="4289108" y="291465"/>
                    </a:cubicBezTo>
                    <a:cubicBezTo>
                      <a:pt x="4270058" y="319088"/>
                      <a:pt x="4260533" y="359093"/>
                      <a:pt x="4260533" y="408622"/>
                    </a:cubicBezTo>
                    <a:cubicBezTo>
                      <a:pt x="4260533" y="470535"/>
                      <a:pt x="4260533" y="470535"/>
                      <a:pt x="4260533" y="470535"/>
                    </a:cubicBezTo>
                    <a:cubicBezTo>
                      <a:pt x="4260533" y="515303"/>
                      <a:pt x="4268153" y="549593"/>
                      <a:pt x="4286250" y="577215"/>
                    </a:cubicBezTo>
                    <a:cubicBezTo>
                      <a:pt x="4303395" y="603885"/>
                      <a:pt x="4327208" y="618172"/>
                      <a:pt x="4359593" y="618172"/>
                    </a:cubicBezTo>
                    <a:cubicBezTo>
                      <a:pt x="4429125" y="618172"/>
                      <a:pt x="4464368" y="549593"/>
                      <a:pt x="4464368" y="415290"/>
                    </a:cubicBezTo>
                    <a:cubicBezTo>
                      <a:pt x="4464368" y="360997"/>
                      <a:pt x="4456748" y="320040"/>
                      <a:pt x="4440555" y="291465"/>
                    </a:cubicBezTo>
                    <a:cubicBezTo>
                      <a:pt x="4423410" y="262890"/>
                      <a:pt x="4399598" y="248603"/>
                      <a:pt x="4367213" y="248603"/>
                    </a:cubicBezTo>
                    <a:close/>
                    <a:moveTo>
                      <a:pt x="3492818" y="247650"/>
                    </a:moveTo>
                    <a:cubicBezTo>
                      <a:pt x="3457576" y="247650"/>
                      <a:pt x="3432811" y="263843"/>
                      <a:pt x="3411856" y="297180"/>
                    </a:cubicBezTo>
                    <a:cubicBezTo>
                      <a:pt x="3392806" y="328613"/>
                      <a:pt x="3383281" y="375285"/>
                      <a:pt x="3383281" y="433388"/>
                    </a:cubicBezTo>
                    <a:cubicBezTo>
                      <a:pt x="3383281" y="555307"/>
                      <a:pt x="3419476" y="617220"/>
                      <a:pt x="3492818" y="617220"/>
                    </a:cubicBezTo>
                    <a:cubicBezTo>
                      <a:pt x="3564256" y="617220"/>
                      <a:pt x="3599498" y="555307"/>
                      <a:pt x="3599498" y="429578"/>
                    </a:cubicBezTo>
                    <a:cubicBezTo>
                      <a:pt x="3599498" y="370522"/>
                      <a:pt x="3589973" y="326707"/>
                      <a:pt x="3570923" y="294322"/>
                    </a:cubicBezTo>
                    <a:cubicBezTo>
                      <a:pt x="3552826" y="263843"/>
                      <a:pt x="3526156" y="247650"/>
                      <a:pt x="3492818" y="247650"/>
                    </a:cubicBezTo>
                    <a:close/>
                    <a:moveTo>
                      <a:pt x="1539240" y="244792"/>
                    </a:moveTo>
                    <a:cubicBezTo>
                      <a:pt x="1508760" y="244792"/>
                      <a:pt x="1484948" y="257175"/>
                      <a:pt x="1465898" y="282892"/>
                    </a:cubicBezTo>
                    <a:cubicBezTo>
                      <a:pt x="1448753" y="308610"/>
                      <a:pt x="1437323" y="346710"/>
                      <a:pt x="1434465" y="395287"/>
                    </a:cubicBezTo>
                    <a:lnTo>
                      <a:pt x="1627823" y="395287"/>
                    </a:lnTo>
                    <a:cubicBezTo>
                      <a:pt x="1627823" y="295275"/>
                      <a:pt x="1597343" y="244792"/>
                      <a:pt x="1539240" y="244792"/>
                    </a:cubicBezTo>
                    <a:close/>
                    <a:moveTo>
                      <a:pt x="896303" y="244792"/>
                    </a:moveTo>
                    <a:cubicBezTo>
                      <a:pt x="867728" y="244792"/>
                      <a:pt x="843916" y="257175"/>
                      <a:pt x="824866" y="282892"/>
                    </a:cubicBezTo>
                    <a:cubicBezTo>
                      <a:pt x="805816" y="308610"/>
                      <a:pt x="796291" y="346710"/>
                      <a:pt x="793433" y="395287"/>
                    </a:cubicBezTo>
                    <a:lnTo>
                      <a:pt x="984886" y="395287"/>
                    </a:lnTo>
                    <a:cubicBezTo>
                      <a:pt x="984886" y="295275"/>
                      <a:pt x="956311" y="244792"/>
                      <a:pt x="896303" y="244792"/>
                    </a:cubicBezTo>
                    <a:close/>
                    <a:moveTo>
                      <a:pt x="3759518" y="199072"/>
                    </a:moveTo>
                    <a:cubicBezTo>
                      <a:pt x="3824288" y="199072"/>
                      <a:pt x="3824288" y="199072"/>
                      <a:pt x="3824288" y="199072"/>
                    </a:cubicBezTo>
                    <a:cubicBezTo>
                      <a:pt x="3824288" y="510540"/>
                      <a:pt x="3824288" y="510540"/>
                      <a:pt x="3824288" y="510540"/>
                    </a:cubicBezTo>
                    <a:cubicBezTo>
                      <a:pt x="3824288" y="581977"/>
                      <a:pt x="3852863" y="618172"/>
                      <a:pt x="3910013" y="618172"/>
                    </a:cubicBezTo>
                    <a:cubicBezTo>
                      <a:pt x="3938588" y="618172"/>
                      <a:pt x="3962400" y="606742"/>
                      <a:pt x="3981450" y="586740"/>
                    </a:cubicBezTo>
                    <a:cubicBezTo>
                      <a:pt x="3998595" y="564832"/>
                      <a:pt x="4008120" y="537210"/>
                      <a:pt x="4008120" y="501015"/>
                    </a:cubicBezTo>
                    <a:cubicBezTo>
                      <a:pt x="4008120" y="199072"/>
                      <a:pt x="4008120" y="199072"/>
                      <a:pt x="4008120" y="199072"/>
                    </a:cubicBezTo>
                    <a:cubicBezTo>
                      <a:pt x="4074795" y="199072"/>
                      <a:pt x="4074795" y="199072"/>
                      <a:pt x="4074795" y="199072"/>
                    </a:cubicBezTo>
                    <a:cubicBezTo>
                      <a:pt x="4074795" y="667702"/>
                      <a:pt x="4074795" y="667702"/>
                      <a:pt x="4074795" y="667702"/>
                    </a:cubicBezTo>
                    <a:lnTo>
                      <a:pt x="4009073" y="667702"/>
                    </a:lnTo>
                    <a:lnTo>
                      <a:pt x="4009073" y="666750"/>
                    </a:lnTo>
                    <a:cubicBezTo>
                      <a:pt x="4009073" y="597217"/>
                      <a:pt x="4009073" y="597217"/>
                      <a:pt x="4009073" y="597217"/>
                    </a:cubicBezTo>
                    <a:cubicBezTo>
                      <a:pt x="4007168" y="597217"/>
                      <a:pt x="4007168" y="597217"/>
                      <a:pt x="4007168" y="597217"/>
                    </a:cubicBezTo>
                    <a:cubicBezTo>
                      <a:pt x="3981450" y="649605"/>
                      <a:pt x="3942398" y="676275"/>
                      <a:pt x="3886200" y="676275"/>
                    </a:cubicBezTo>
                    <a:cubicBezTo>
                      <a:pt x="3800475" y="676275"/>
                      <a:pt x="3759518" y="625792"/>
                      <a:pt x="3759518" y="525780"/>
                    </a:cubicBezTo>
                    <a:cubicBezTo>
                      <a:pt x="3759518" y="199072"/>
                      <a:pt x="3759518" y="199072"/>
                      <a:pt x="3759518" y="199072"/>
                    </a:cubicBezTo>
                    <a:close/>
                    <a:moveTo>
                      <a:pt x="333375" y="198119"/>
                    </a:moveTo>
                    <a:cubicBezTo>
                      <a:pt x="402908" y="198119"/>
                      <a:pt x="402908" y="198119"/>
                      <a:pt x="402908" y="198119"/>
                    </a:cubicBezTo>
                    <a:cubicBezTo>
                      <a:pt x="490538" y="548639"/>
                      <a:pt x="490538" y="548639"/>
                      <a:pt x="490538" y="548639"/>
                    </a:cubicBezTo>
                    <a:cubicBezTo>
                      <a:pt x="497205" y="569594"/>
                      <a:pt x="500063" y="589597"/>
                      <a:pt x="501967" y="608647"/>
                    </a:cubicBezTo>
                    <a:cubicBezTo>
                      <a:pt x="503873" y="608647"/>
                      <a:pt x="503873" y="608647"/>
                      <a:pt x="503873" y="608647"/>
                    </a:cubicBezTo>
                    <a:cubicBezTo>
                      <a:pt x="508635" y="580072"/>
                      <a:pt x="511492" y="561022"/>
                      <a:pt x="516255" y="548639"/>
                    </a:cubicBezTo>
                    <a:cubicBezTo>
                      <a:pt x="618173" y="198119"/>
                      <a:pt x="618173" y="198119"/>
                      <a:pt x="618173" y="198119"/>
                    </a:cubicBezTo>
                    <a:cubicBezTo>
                      <a:pt x="686753" y="198119"/>
                      <a:pt x="686753" y="198119"/>
                      <a:pt x="686753" y="198119"/>
                    </a:cubicBezTo>
                    <a:lnTo>
                      <a:pt x="538163" y="666749"/>
                    </a:lnTo>
                    <a:cubicBezTo>
                      <a:pt x="461963" y="666749"/>
                      <a:pt x="461963" y="666749"/>
                      <a:pt x="461963" y="666749"/>
                    </a:cubicBezTo>
                    <a:cubicBezTo>
                      <a:pt x="333375" y="198119"/>
                      <a:pt x="333375" y="198119"/>
                      <a:pt x="333375" y="198119"/>
                    </a:cubicBezTo>
                    <a:close/>
                    <a:moveTo>
                      <a:pt x="1906905" y="191452"/>
                    </a:moveTo>
                    <a:cubicBezTo>
                      <a:pt x="1942148" y="191452"/>
                      <a:pt x="1971676" y="198119"/>
                      <a:pt x="1997393" y="208597"/>
                    </a:cubicBezTo>
                    <a:cubicBezTo>
                      <a:pt x="1997393" y="273367"/>
                      <a:pt x="1997393" y="273367"/>
                      <a:pt x="1997393" y="273367"/>
                    </a:cubicBezTo>
                    <a:cubicBezTo>
                      <a:pt x="1966913" y="254317"/>
                      <a:pt x="1937386" y="246697"/>
                      <a:pt x="1908811" y="246697"/>
                    </a:cubicBezTo>
                    <a:cubicBezTo>
                      <a:pt x="1884998" y="246697"/>
                      <a:pt x="1865948" y="253365"/>
                      <a:pt x="1851661" y="265747"/>
                    </a:cubicBezTo>
                    <a:cubicBezTo>
                      <a:pt x="1837373" y="280034"/>
                      <a:pt x="1830705" y="296227"/>
                      <a:pt x="1830705" y="318134"/>
                    </a:cubicBezTo>
                    <a:cubicBezTo>
                      <a:pt x="1830705" y="332422"/>
                      <a:pt x="1833563" y="346709"/>
                      <a:pt x="1843088" y="359092"/>
                    </a:cubicBezTo>
                    <a:cubicBezTo>
                      <a:pt x="1852613" y="371474"/>
                      <a:pt x="1874520" y="387667"/>
                      <a:pt x="1907858" y="408622"/>
                    </a:cubicBezTo>
                    <a:cubicBezTo>
                      <a:pt x="1952626" y="432434"/>
                      <a:pt x="1981201" y="456247"/>
                      <a:pt x="1993583" y="477202"/>
                    </a:cubicBezTo>
                    <a:cubicBezTo>
                      <a:pt x="2005965" y="498157"/>
                      <a:pt x="2012633" y="520065"/>
                      <a:pt x="2012633" y="546734"/>
                    </a:cubicBezTo>
                    <a:cubicBezTo>
                      <a:pt x="2012633" y="582930"/>
                      <a:pt x="2000251" y="615315"/>
                      <a:pt x="1972628" y="639127"/>
                    </a:cubicBezTo>
                    <a:cubicBezTo>
                      <a:pt x="1945958" y="664844"/>
                      <a:pt x="1908811" y="677227"/>
                      <a:pt x="1863090" y="677227"/>
                    </a:cubicBezTo>
                    <a:cubicBezTo>
                      <a:pt x="1824990" y="676274"/>
                      <a:pt x="1789748" y="666749"/>
                      <a:pt x="1761173" y="651509"/>
                    </a:cubicBezTo>
                    <a:cubicBezTo>
                      <a:pt x="1761173" y="584834"/>
                      <a:pt x="1761173" y="584834"/>
                      <a:pt x="1761173" y="584834"/>
                    </a:cubicBezTo>
                    <a:cubicBezTo>
                      <a:pt x="1794511" y="608647"/>
                      <a:pt x="1829753" y="620077"/>
                      <a:pt x="1863090" y="620077"/>
                    </a:cubicBezTo>
                    <a:cubicBezTo>
                      <a:pt x="1918336" y="620077"/>
                      <a:pt x="1945958" y="596265"/>
                      <a:pt x="1945958" y="546734"/>
                    </a:cubicBezTo>
                    <a:cubicBezTo>
                      <a:pt x="1945958" y="530542"/>
                      <a:pt x="1941195" y="516255"/>
                      <a:pt x="1929765" y="503872"/>
                    </a:cubicBezTo>
                    <a:cubicBezTo>
                      <a:pt x="1918336" y="491490"/>
                      <a:pt x="1899286" y="477202"/>
                      <a:pt x="1869758" y="459105"/>
                    </a:cubicBezTo>
                    <a:cubicBezTo>
                      <a:pt x="1824038" y="433387"/>
                      <a:pt x="1795463" y="409574"/>
                      <a:pt x="1782128" y="389572"/>
                    </a:cubicBezTo>
                    <a:cubicBezTo>
                      <a:pt x="1767840" y="368617"/>
                      <a:pt x="1761173" y="344805"/>
                      <a:pt x="1761173" y="320992"/>
                    </a:cubicBezTo>
                    <a:cubicBezTo>
                      <a:pt x="1761173" y="282892"/>
                      <a:pt x="1775461" y="251459"/>
                      <a:pt x="1802130" y="227647"/>
                    </a:cubicBezTo>
                    <a:cubicBezTo>
                      <a:pt x="1828801" y="201930"/>
                      <a:pt x="1864043" y="191452"/>
                      <a:pt x="1906905" y="191452"/>
                    </a:cubicBezTo>
                    <a:close/>
                    <a:moveTo>
                      <a:pt x="4385310" y="190500"/>
                    </a:moveTo>
                    <a:cubicBezTo>
                      <a:pt x="4432935" y="190500"/>
                      <a:pt x="4469130" y="209550"/>
                      <a:pt x="4494848" y="247650"/>
                    </a:cubicBezTo>
                    <a:cubicBezTo>
                      <a:pt x="4520565" y="285750"/>
                      <a:pt x="4532948" y="340995"/>
                      <a:pt x="4532948" y="409575"/>
                    </a:cubicBezTo>
                    <a:cubicBezTo>
                      <a:pt x="4532948" y="492443"/>
                      <a:pt x="4518660" y="557213"/>
                      <a:pt x="4491990" y="604838"/>
                    </a:cubicBezTo>
                    <a:cubicBezTo>
                      <a:pt x="4463415" y="652463"/>
                      <a:pt x="4423410" y="676275"/>
                      <a:pt x="4371023" y="676275"/>
                    </a:cubicBezTo>
                    <a:cubicBezTo>
                      <a:pt x="4320540" y="676275"/>
                      <a:pt x="4285298" y="652463"/>
                      <a:pt x="4263390" y="608647"/>
                    </a:cubicBezTo>
                    <a:cubicBezTo>
                      <a:pt x="4261485" y="608647"/>
                      <a:pt x="4261485" y="608647"/>
                      <a:pt x="4261485" y="608647"/>
                    </a:cubicBezTo>
                    <a:cubicBezTo>
                      <a:pt x="4261485" y="882968"/>
                      <a:pt x="4261485" y="882968"/>
                      <a:pt x="4261485" y="882968"/>
                    </a:cubicBezTo>
                    <a:cubicBezTo>
                      <a:pt x="4194810" y="882968"/>
                      <a:pt x="4194810" y="882968"/>
                      <a:pt x="4194810" y="882968"/>
                    </a:cubicBezTo>
                    <a:cubicBezTo>
                      <a:pt x="4194810" y="198120"/>
                      <a:pt x="4194810" y="198120"/>
                      <a:pt x="4194810" y="198120"/>
                    </a:cubicBezTo>
                    <a:cubicBezTo>
                      <a:pt x="4261485" y="198120"/>
                      <a:pt x="4261485" y="198120"/>
                      <a:pt x="4261485" y="198120"/>
                    </a:cubicBezTo>
                    <a:cubicBezTo>
                      <a:pt x="4261485" y="274320"/>
                      <a:pt x="4261485" y="274320"/>
                      <a:pt x="4261485" y="274320"/>
                    </a:cubicBezTo>
                    <a:cubicBezTo>
                      <a:pt x="4287203" y="219075"/>
                      <a:pt x="4328160" y="190500"/>
                      <a:pt x="4385310" y="190500"/>
                    </a:cubicBezTo>
                    <a:close/>
                    <a:moveTo>
                      <a:pt x="3494723" y="190500"/>
                    </a:moveTo>
                    <a:cubicBezTo>
                      <a:pt x="3549016" y="190500"/>
                      <a:pt x="3591878" y="211455"/>
                      <a:pt x="3623310" y="254318"/>
                    </a:cubicBezTo>
                    <a:cubicBezTo>
                      <a:pt x="3653791" y="295275"/>
                      <a:pt x="3669031" y="354330"/>
                      <a:pt x="3669031" y="427672"/>
                    </a:cubicBezTo>
                    <a:cubicBezTo>
                      <a:pt x="3669031" y="505778"/>
                      <a:pt x="3654743" y="567690"/>
                      <a:pt x="3623310" y="610553"/>
                    </a:cubicBezTo>
                    <a:cubicBezTo>
                      <a:pt x="3592831" y="654368"/>
                      <a:pt x="3548063" y="676275"/>
                      <a:pt x="3489961" y="676275"/>
                    </a:cubicBezTo>
                    <a:cubicBezTo>
                      <a:pt x="3434716" y="676275"/>
                      <a:pt x="3391853" y="654368"/>
                      <a:pt x="3361373" y="611505"/>
                    </a:cubicBezTo>
                    <a:cubicBezTo>
                      <a:pt x="3329941" y="570547"/>
                      <a:pt x="3315653" y="511493"/>
                      <a:pt x="3315653" y="437197"/>
                    </a:cubicBezTo>
                    <a:cubicBezTo>
                      <a:pt x="3315653" y="359093"/>
                      <a:pt x="3331846" y="299085"/>
                      <a:pt x="3363278" y="254318"/>
                    </a:cubicBezTo>
                    <a:cubicBezTo>
                      <a:pt x="3394711" y="211455"/>
                      <a:pt x="3439478" y="190500"/>
                      <a:pt x="3494723" y="190500"/>
                    </a:cubicBezTo>
                    <a:close/>
                    <a:moveTo>
                      <a:pt x="3261360" y="190500"/>
                    </a:moveTo>
                    <a:cubicBezTo>
                      <a:pt x="3277552" y="190500"/>
                      <a:pt x="3289935" y="192405"/>
                      <a:pt x="3299460" y="197168"/>
                    </a:cubicBezTo>
                    <a:lnTo>
                      <a:pt x="3299460" y="263843"/>
                    </a:lnTo>
                    <a:cubicBezTo>
                      <a:pt x="3283268" y="257175"/>
                      <a:pt x="3268980" y="254318"/>
                      <a:pt x="3256598" y="254318"/>
                    </a:cubicBezTo>
                    <a:cubicBezTo>
                      <a:pt x="3188018" y="254318"/>
                      <a:pt x="3154680" y="313372"/>
                      <a:pt x="3154680" y="428625"/>
                    </a:cubicBezTo>
                    <a:cubicBezTo>
                      <a:pt x="3154680" y="666750"/>
                      <a:pt x="3154680" y="666750"/>
                      <a:pt x="3154680" y="666750"/>
                    </a:cubicBezTo>
                    <a:cubicBezTo>
                      <a:pt x="3088005" y="666750"/>
                      <a:pt x="3088005" y="666750"/>
                      <a:pt x="3088005" y="666750"/>
                    </a:cubicBezTo>
                    <a:cubicBezTo>
                      <a:pt x="3088005" y="198120"/>
                      <a:pt x="3088005" y="198120"/>
                      <a:pt x="3088005" y="198120"/>
                    </a:cubicBezTo>
                    <a:cubicBezTo>
                      <a:pt x="3154680" y="198120"/>
                      <a:pt x="3154680" y="198120"/>
                      <a:pt x="3154680" y="198120"/>
                    </a:cubicBezTo>
                    <a:cubicBezTo>
                      <a:pt x="3154680" y="280988"/>
                      <a:pt x="3154680" y="280988"/>
                      <a:pt x="3154680" y="280988"/>
                    </a:cubicBezTo>
                    <a:cubicBezTo>
                      <a:pt x="3156585" y="280988"/>
                      <a:pt x="3156585" y="280988"/>
                      <a:pt x="3156585" y="280988"/>
                    </a:cubicBezTo>
                    <a:cubicBezTo>
                      <a:pt x="3172777" y="220980"/>
                      <a:pt x="3207068" y="190500"/>
                      <a:pt x="3261360" y="190500"/>
                    </a:cubicBezTo>
                    <a:close/>
                    <a:moveTo>
                      <a:pt x="1311593" y="190500"/>
                    </a:moveTo>
                    <a:cubicBezTo>
                      <a:pt x="1327785" y="190500"/>
                      <a:pt x="1340168" y="192405"/>
                      <a:pt x="1349693" y="197168"/>
                    </a:cubicBezTo>
                    <a:lnTo>
                      <a:pt x="1349693" y="263843"/>
                    </a:lnTo>
                    <a:cubicBezTo>
                      <a:pt x="1333501" y="257175"/>
                      <a:pt x="1319213" y="254318"/>
                      <a:pt x="1306830" y="254318"/>
                    </a:cubicBezTo>
                    <a:cubicBezTo>
                      <a:pt x="1238251" y="254318"/>
                      <a:pt x="1204913" y="313372"/>
                      <a:pt x="1204913" y="428625"/>
                    </a:cubicBezTo>
                    <a:cubicBezTo>
                      <a:pt x="1204913" y="666750"/>
                      <a:pt x="1204913" y="666750"/>
                      <a:pt x="1204913" y="666750"/>
                    </a:cubicBezTo>
                    <a:cubicBezTo>
                      <a:pt x="1138238" y="666750"/>
                      <a:pt x="1138238" y="666750"/>
                      <a:pt x="1138238" y="666750"/>
                    </a:cubicBezTo>
                    <a:cubicBezTo>
                      <a:pt x="1138238" y="198120"/>
                      <a:pt x="1138238" y="198120"/>
                      <a:pt x="1138238" y="198120"/>
                    </a:cubicBezTo>
                    <a:cubicBezTo>
                      <a:pt x="1204913" y="198120"/>
                      <a:pt x="1204913" y="198120"/>
                      <a:pt x="1204913" y="198120"/>
                    </a:cubicBezTo>
                    <a:cubicBezTo>
                      <a:pt x="1204913" y="280988"/>
                      <a:pt x="1204913" y="280988"/>
                      <a:pt x="1204913" y="280988"/>
                    </a:cubicBezTo>
                    <a:cubicBezTo>
                      <a:pt x="1206818" y="280988"/>
                      <a:pt x="1206818" y="280988"/>
                      <a:pt x="1206818" y="280988"/>
                    </a:cubicBezTo>
                    <a:cubicBezTo>
                      <a:pt x="1223010" y="220980"/>
                      <a:pt x="1257301" y="190500"/>
                      <a:pt x="1311593" y="190500"/>
                    </a:cubicBezTo>
                    <a:close/>
                    <a:moveTo>
                      <a:pt x="1541145" y="189547"/>
                    </a:moveTo>
                    <a:cubicBezTo>
                      <a:pt x="1643063" y="189547"/>
                      <a:pt x="1693545" y="260985"/>
                      <a:pt x="1693545" y="401955"/>
                    </a:cubicBezTo>
                    <a:cubicBezTo>
                      <a:pt x="1693545" y="447675"/>
                      <a:pt x="1693545" y="447675"/>
                      <a:pt x="1693545" y="447675"/>
                    </a:cubicBezTo>
                    <a:lnTo>
                      <a:pt x="1434465" y="447675"/>
                    </a:lnTo>
                    <a:lnTo>
                      <a:pt x="1434465" y="449580"/>
                    </a:lnTo>
                    <a:cubicBezTo>
                      <a:pt x="1434465" y="561975"/>
                      <a:pt x="1475423" y="619125"/>
                      <a:pt x="1558290" y="619125"/>
                    </a:cubicBezTo>
                    <a:cubicBezTo>
                      <a:pt x="1593533" y="619125"/>
                      <a:pt x="1629728" y="606742"/>
                      <a:pt x="1665923" y="581025"/>
                    </a:cubicBezTo>
                    <a:cubicBezTo>
                      <a:pt x="1665923" y="644842"/>
                      <a:pt x="1665923" y="644842"/>
                      <a:pt x="1665923" y="644842"/>
                    </a:cubicBezTo>
                    <a:cubicBezTo>
                      <a:pt x="1629728" y="665797"/>
                      <a:pt x="1589723" y="676275"/>
                      <a:pt x="1548765" y="676275"/>
                    </a:cubicBezTo>
                    <a:cubicBezTo>
                      <a:pt x="1489710" y="676275"/>
                      <a:pt x="1443990" y="654367"/>
                      <a:pt x="1412558" y="612457"/>
                    </a:cubicBezTo>
                    <a:cubicBezTo>
                      <a:pt x="1382078" y="571500"/>
                      <a:pt x="1366838" y="510540"/>
                      <a:pt x="1366838" y="429577"/>
                    </a:cubicBezTo>
                    <a:cubicBezTo>
                      <a:pt x="1366838" y="358140"/>
                      <a:pt x="1383030" y="300990"/>
                      <a:pt x="1414463" y="256222"/>
                    </a:cubicBezTo>
                    <a:cubicBezTo>
                      <a:pt x="1444943" y="211455"/>
                      <a:pt x="1487805" y="189547"/>
                      <a:pt x="1541145" y="189547"/>
                    </a:cubicBezTo>
                    <a:close/>
                    <a:moveTo>
                      <a:pt x="899161" y="189547"/>
                    </a:moveTo>
                    <a:cubicBezTo>
                      <a:pt x="1001078" y="189547"/>
                      <a:pt x="1051561" y="260985"/>
                      <a:pt x="1051561" y="401955"/>
                    </a:cubicBezTo>
                    <a:cubicBezTo>
                      <a:pt x="1051561" y="447675"/>
                      <a:pt x="1051561" y="447675"/>
                      <a:pt x="1051561" y="447675"/>
                    </a:cubicBezTo>
                    <a:lnTo>
                      <a:pt x="792480" y="447675"/>
                    </a:lnTo>
                    <a:lnTo>
                      <a:pt x="792480" y="449580"/>
                    </a:lnTo>
                    <a:cubicBezTo>
                      <a:pt x="792480" y="561975"/>
                      <a:pt x="832486" y="619125"/>
                      <a:pt x="914400" y="619125"/>
                    </a:cubicBezTo>
                    <a:cubicBezTo>
                      <a:pt x="950595" y="619125"/>
                      <a:pt x="985838" y="606742"/>
                      <a:pt x="1023938" y="581025"/>
                    </a:cubicBezTo>
                    <a:cubicBezTo>
                      <a:pt x="1023938" y="644842"/>
                      <a:pt x="1023938" y="644842"/>
                      <a:pt x="1023938" y="644842"/>
                    </a:cubicBezTo>
                    <a:cubicBezTo>
                      <a:pt x="987743" y="665797"/>
                      <a:pt x="947738" y="676275"/>
                      <a:pt x="906780" y="676275"/>
                    </a:cubicBezTo>
                    <a:cubicBezTo>
                      <a:pt x="846773" y="676275"/>
                      <a:pt x="802005" y="654367"/>
                      <a:pt x="770573" y="612457"/>
                    </a:cubicBezTo>
                    <a:cubicBezTo>
                      <a:pt x="739141" y="571500"/>
                      <a:pt x="724853" y="510540"/>
                      <a:pt x="724853" y="429577"/>
                    </a:cubicBezTo>
                    <a:cubicBezTo>
                      <a:pt x="724853" y="358140"/>
                      <a:pt x="739141" y="300990"/>
                      <a:pt x="770573" y="256222"/>
                    </a:cubicBezTo>
                    <a:cubicBezTo>
                      <a:pt x="802005" y="211455"/>
                      <a:pt x="844868" y="189547"/>
                      <a:pt x="899161" y="189547"/>
                    </a:cubicBezTo>
                    <a:close/>
                    <a:moveTo>
                      <a:pt x="2184083" y="60959"/>
                    </a:moveTo>
                    <a:cubicBezTo>
                      <a:pt x="2184083" y="199072"/>
                      <a:pt x="2184083" y="199072"/>
                      <a:pt x="2184083" y="199072"/>
                    </a:cubicBezTo>
                    <a:cubicBezTo>
                      <a:pt x="2281238" y="199072"/>
                      <a:pt x="2281238" y="199072"/>
                      <a:pt x="2281238" y="199072"/>
                    </a:cubicBezTo>
                    <a:cubicBezTo>
                      <a:pt x="2281238" y="254317"/>
                      <a:pt x="2281238" y="254317"/>
                      <a:pt x="2281238" y="254317"/>
                    </a:cubicBezTo>
                    <a:cubicBezTo>
                      <a:pt x="2184083" y="254317"/>
                      <a:pt x="2184083" y="254317"/>
                      <a:pt x="2184083" y="254317"/>
                    </a:cubicBezTo>
                    <a:cubicBezTo>
                      <a:pt x="2184083" y="547687"/>
                      <a:pt x="2184083" y="547687"/>
                      <a:pt x="2184083" y="547687"/>
                    </a:cubicBezTo>
                    <a:cubicBezTo>
                      <a:pt x="2184083" y="593406"/>
                      <a:pt x="2203133" y="617219"/>
                      <a:pt x="2238376" y="617219"/>
                    </a:cubicBezTo>
                    <a:cubicBezTo>
                      <a:pt x="2254568" y="617219"/>
                      <a:pt x="2268856" y="614362"/>
                      <a:pt x="2281238" y="607694"/>
                    </a:cubicBezTo>
                    <a:lnTo>
                      <a:pt x="2281238" y="663892"/>
                    </a:lnTo>
                    <a:cubicBezTo>
                      <a:pt x="2264093" y="671512"/>
                      <a:pt x="2243138" y="676274"/>
                      <a:pt x="2221231" y="676274"/>
                    </a:cubicBezTo>
                    <a:cubicBezTo>
                      <a:pt x="2152651" y="676274"/>
                      <a:pt x="2119313" y="635317"/>
                      <a:pt x="2119313" y="554354"/>
                    </a:cubicBezTo>
                    <a:cubicBezTo>
                      <a:pt x="2119313" y="254317"/>
                      <a:pt x="2119313" y="254317"/>
                      <a:pt x="2119313" y="254317"/>
                    </a:cubicBezTo>
                    <a:cubicBezTo>
                      <a:pt x="2054543" y="254317"/>
                      <a:pt x="2054543" y="254317"/>
                      <a:pt x="2054543" y="254317"/>
                    </a:cubicBezTo>
                    <a:cubicBezTo>
                      <a:pt x="2054543" y="199072"/>
                      <a:pt x="2054543" y="199072"/>
                      <a:pt x="2054543" y="199072"/>
                    </a:cubicBezTo>
                    <a:cubicBezTo>
                      <a:pt x="2119313" y="199072"/>
                      <a:pt x="2119313" y="199072"/>
                      <a:pt x="2119313" y="199072"/>
                    </a:cubicBezTo>
                    <a:cubicBezTo>
                      <a:pt x="2119313" y="82867"/>
                      <a:pt x="2119313" y="82867"/>
                      <a:pt x="2119313" y="82867"/>
                    </a:cubicBezTo>
                    <a:cubicBezTo>
                      <a:pt x="2121218" y="80962"/>
                      <a:pt x="2125981" y="80009"/>
                      <a:pt x="2131696" y="78104"/>
                    </a:cubicBezTo>
                    <a:cubicBezTo>
                      <a:pt x="2157413" y="68579"/>
                      <a:pt x="2174558" y="63817"/>
                      <a:pt x="2184083" y="60959"/>
                    </a:cubicBezTo>
                    <a:close/>
                    <a:moveTo>
                      <a:pt x="0" y="9525"/>
                    </a:moveTo>
                    <a:lnTo>
                      <a:pt x="268605" y="9525"/>
                    </a:lnTo>
                    <a:lnTo>
                      <a:pt x="268605" y="73343"/>
                    </a:lnTo>
                    <a:lnTo>
                      <a:pt x="71438" y="73343"/>
                    </a:lnTo>
                    <a:lnTo>
                      <a:pt x="71438" y="306705"/>
                    </a:lnTo>
                    <a:lnTo>
                      <a:pt x="254317" y="306705"/>
                    </a:lnTo>
                    <a:lnTo>
                      <a:pt x="254317" y="368618"/>
                    </a:lnTo>
                    <a:lnTo>
                      <a:pt x="71438" y="368618"/>
                    </a:lnTo>
                    <a:lnTo>
                      <a:pt x="71438" y="604838"/>
                    </a:lnTo>
                    <a:lnTo>
                      <a:pt x="280035" y="604838"/>
                    </a:lnTo>
                    <a:lnTo>
                      <a:pt x="280035" y="666750"/>
                    </a:lnTo>
                    <a:lnTo>
                      <a:pt x="0" y="666750"/>
                    </a:lnTo>
                    <a:close/>
                    <a:moveTo>
                      <a:pt x="2819401" y="0"/>
                    </a:moveTo>
                    <a:cubicBezTo>
                      <a:pt x="2867026" y="0"/>
                      <a:pt x="2912746" y="9525"/>
                      <a:pt x="2954656" y="30480"/>
                    </a:cubicBezTo>
                    <a:cubicBezTo>
                      <a:pt x="2954656" y="104775"/>
                      <a:pt x="2954656" y="104775"/>
                      <a:pt x="2954656" y="104775"/>
                    </a:cubicBezTo>
                    <a:cubicBezTo>
                      <a:pt x="2909888" y="76200"/>
                      <a:pt x="2866073" y="61913"/>
                      <a:pt x="2819401" y="61913"/>
                    </a:cubicBezTo>
                    <a:cubicBezTo>
                      <a:pt x="2760346" y="61913"/>
                      <a:pt x="2714626" y="88582"/>
                      <a:pt x="2678431" y="140970"/>
                    </a:cubicBezTo>
                    <a:cubicBezTo>
                      <a:pt x="2642236" y="193357"/>
                      <a:pt x="2623186" y="261938"/>
                      <a:pt x="2623186" y="342900"/>
                    </a:cubicBezTo>
                    <a:cubicBezTo>
                      <a:pt x="2623186" y="426720"/>
                      <a:pt x="2640331" y="492443"/>
                      <a:pt x="2673668" y="541020"/>
                    </a:cubicBezTo>
                    <a:cubicBezTo>
                      <a:pt x="2707006" y="590550"/>
                      <a:pt x="2751773" y="615315"/>
                      <a:pt x="2805113" y="615315"/>
                    </a:cubicBezTo>
                    <a:cubicBezTo>
                      <a:pt x="2840356" y="615315"/>
                      <a:pt x="2871788" y="605790"/>
                      <a:pt x="2898458" y="586740"/>
                    </a:cubicBezTo>
                    <a:cubicBezTo>
                      <a:pt x="2898458" y="388620"/>
                      <a:pt x="2898458" y="388620"/>
                      <a:pt x="2898458" y="388620"/>
                    </a:cubicBezTo>
                    <a:cubicBezTo>
                      <a:pt x="2788921" y="388620"/>
                      <a:pt x="2788921" y="388620"/>
                      <a:pt x="2788921" y="388620"/>
                    </a:cubicBezTo>
                    <a:cubicBezTo>
                      <a:pt x="2788921" y="328613"/>
                      <a:pt x="2788921" y="328613"/>
                      <a:pt x="2788921" y="328613"/>
                    </a:cubicBezTo>
                    <a:cubicBezTo>
                      <a:pt x="2967990" y="328613"/>
                      <a:pt x="2967990" y="328613"/>
                      <a:pt x="2967990" y="328613"/>
                    </a:cubicBezTo>
                    <a:lnTo>
                      <a:pt x="2967990" y="622935"/>
                    </a:lnTo>
                    <a:lnTo>
                      <a:pt x="2968943" y="622935"/>
                    </a:lnTo>
                    <a:cubicBezTo>
                      <a:pt x="2919413" y="661035"/>
                      <a:pt x="2864168" y="680085"/>
                      <a:pt x="2800351" y="680085"/>
                    </a:cubicBezTo>
                    <a:cubicBezTo>
                      <a:pt x="2726056" y="680085"/>
                      <a:pt x="2665096" y="649605"/>
                      <a:pt x="2619376" y="589597"/>
                    </a:cubicBezTo>
                    <a:cubicBezTo>
                      <a:pt x="2571751" y="529590"/>
                      <a:pt x="2549843" y="449580"/>
                      <a:pt x="2549843" y="349568"/>
                    </a:cubicBezTo>
                    <a:cubicBezTo>
                      <a:pt x="2549843" y="244793"/>
                      <a:pt x="2573656" y="160972"/>
                      <a:pt x="2624138" y="97155"/>
                    </a:cubicBezTo>
                    <a:cubicBezTo>
                      <a:pt x="2673668" y="32385"/>
                      <a:pt x="2738438" y="0"/>
                      <a:pt x="2819401" y="0"/>
                    </a:cubicBezTo>
                    <a:close/>
                  </a:path>
                </a:pathLst>
              </a:custGeom>
              <a:solidFill>
                <a:srgbClr val="005A8C"/>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0" name="Google Shape;460;p9"/>
              <p:cNvSpPr/>
              <p:nvPr/>
            </p:nvSpPr>
            <p:spPr>
              <a:xfrm>
                <a:off x="332894" y="244193"/>
                <a:ext cx="1979294" cy="1223010"/>
              </a:xfrm>
              <a:custGeom>
                <a:rect b="b" l="l" r="r" t="t"/>
                <a:pathLst>
                  <a:path extrusionOk="0" h="1223010" w="1979294">
                    <a:moveTo>
                      <a:pt x="1979295" y="671512"/>
                    </a:moveTo>
                    <a:lnTo>
                      <a:pt x="1220153" y="290513"/>
                    </a:lnTo>
                    <a:lnTo>
                      <a:pt x="0" y="1223010"/>
                    </a:lnTo>
                    <a:lnTo>
                      <a:pt x="0" y="1221105"/>
                    </a:lnTo>
                    <a:lnTo>
                      <a:pt x="1215390" y="0"/>
                    </a:lnTo>
                    <a:lnTo>
                      <a:pt x="1979295" y="670560"/>
                    </a:lnTo>
                    <a:close/>
                  </a:path>
                </a:pathLst>
              </a:custGeom>
              <a:solidFill>
                <a:srgbClr val="575A5D"/>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sp>
        <p:nvSpPr>
          <p:cNvPr id="461" name="Google Shape;461;p9"/>
          <p:cNvSpPr/>
          <p:nvPr/>
        </p:nvSpPr>
        <p:spPr>
          <a:xfrm>
            <a:off x="548640" y="2781578"/>
            <a:ext cx="1497600" cy="960000"/>
          </a:xfrm>
          <a:prstGeom prst="rect">
            <a:avLst/>
          </a:prstGeom>
          <a:noFill/>
          <a:ln>
            <a:noFill/>
          </a:ln>
        </p:spPr>
        <p:txBody>
          <a:bodyPr anchorCtr="0" anchor="t" bIns="34275" lIns="0" spcFirstLastPara="1" rIns="68575" wrap="square" tIns="0">
            <a:noAutofit/>
          </a:bodyPr>
          <a:lstStyle/>
          <a:p>
            <a:pPr indent="0" lvl="0" marL="0" marR="0" rtl="0" algn="l">
              <a:lnSpc>
                <a:spcPct val="10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AWARD</a:t>
            </a:r>
            <a:endParaRPr b="1" i="0" sz="800" u="none" cap="none" strike="noStrike">
              <a:solidFill>
                <a:srgbClr val="5E2CFE"/>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Virtusa secures SIIA CODiE Award for Best Healthcare Technology Solution</a:t>
            </a:r>
            <a:endParaRPr b="0" i="0" sz="800" u="none" cap="none" strike="noStrike">
              <a:solidFill>
                <a:schemeClr val="lt1"/>
              </a:solidFill>
              <a:latin typeface="Montserrat"/>
              <a:ea typeface="Montserrat"/>
              <a:cs typeface="Montserrat"/>
              <a:sym typeface="Montserrat"/>
            </a:endParaRPr>
          </a:p>
          <a:p>
            <a:pPr indent="0" lvl="0" marL="0" marR="0" rtl="0" algn="l">
              <a:lnSpc>
                <a:spcPct val="100000"/>
              </a:lnSpc>
              <a:spcBef>
                <a:spcPts val="0"/>
              </a:spcBef>
              <a:spcAft>
                <a:spcPts val="0"/>
              </a:spcAft>
              <a:buClr>
                <a:schemeClr val="lt1"/>
              </a:buClr>
              <a:buSzPts val="800"/>
              <a:buFont typeface="Arial"/>
              <a:buNone/>
            </a:pPr>
            <a:r>
              <a:t/>
            </a:r>
            <a:endParaRPr b="0" i="0" sz="800" u="none" cap="none" strike="noStrike">
              <a:solidFill>
                <a:srgbClr val="36312D"/>
              </a:solidFill>
              <a:latin typeface="Montserrat"/>
              <a:ea typeface="Montserrat"/>
              <a:cs typeface="Montserrat"/>
              <a:sym typeface="Montserrat"/>
            </a:endParaRPr>
          </a:p>
        </p:txBody>
      </p:sp>
      <p:sp>
        <p:nvSpPr>
          <p:cNvPr id="462" name="Google Shape;462;p9"/>
          <p:cNvSpPr/>
          <p:nvPr/>
        </p:nvSpPr>
        <p:spPr>
          <a:xfrm>
            <a:off x="4998020" y="1542400"/>
            <a:ext cx="1937400" cy="3310200"/>
          </a:xfrm>
          <a:prstGeom prst="rect">
            <a:avLst/>
          </a:prstGeom>
          <a:noFill/>
          <a:ln>
            <a:noFill/>
          </a:ln>
        </p:spPr>
        <p:txBody>
          <a:bodyPr anchorCtr="0" anchor="t" bIns="34275" lIns="0" spcFirstLastPara="1" rIns="68575" wrap="square" tIns="0">
            <a:noAutofit/>
          </a:bodyPr>
          <a:lstStyle/>
          <a:p>
            <a:pPr indent="0" lvl="0" marL="0" marR="0" rtl="0" algn="l">
              <a:lnSpc>
                <a:spcPct val="10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LEADER</a:t>
            </a:r>
            <a:endParaRPr b="0" i="0" sz="800" u="none" cap="none" strike="noStrike">
              <a:solidFill>
                <a:srgbClr val="FFFFFF"/>
              </a:solidFill>
              <a:latin typeface="Montserrat"/>
              <a:ea typeface="Montserrat"/>
              <a:cs typeface="Montserrat"/>
              <a:sym typeface="Montserrat"/>
            </a:endParaRPr>
          </a:p>
          <a:p>
            <a:pPr indent="0" lvl="0" marL="0" marR="0" rtl="0" algn="l">
              <a:lnSpc>
                <a:spcPct val="100000"/>
              </a:lnSpc>
              <a:spcBef>
                <a:spcPts val="500"/>
              </a:spcBef>
              <a:spcAft>
                <a:spcPts val="0"/>
              </a:spcAft>
              <a:buClr>
                <a:srgbClr val="36312D"/>
              </a:buClr>
              <a:buSzPts val="800"/>
              <a:buFont typeface="Montserrat"/>
              <a:buNone/>
            </a:pPr>
            <a:r>
              <a:rPr b="0" i="0" lang="en" sz="800" u="none" cap="none" strike="noStrike">
                <a:solidFill>
                  <a:srgbClr val="36312D"/>
                </a:solidFill>
                <a:latin typeface="Montserrat"/>
                <a:ea typeface="Montserrat"/>
                <a:cs typeface="Montserrat"/>
                <a:sym typeface="Montserrat"/>
              </a:rPr>
              <a:t>Leader in Everest Group BFS IT Services Specialists PEAK Matrix® Assessment 2025</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Arial"/>
              <a:buNone/>
            </a:pPr>
            <a:r>
              <a:t/>
            </a:r>
            <a:endParaRPr b="1" i="0" sz="800" u="none" cap="none" strike="noStrike">
              <a:solidFill>
                <a:srgbClr val="5E2CFE"/>
              </a:solidFill>
              <a:latin typeface="Montserrat"/>
              <a:ea typeface="Montserrat"/>
              <a:cs typeface="Montserrat"/>
              <a:sym typeface="Montserrat"/>
            </a:endParaRPr>
          </a:p>
          <a:p>
            <a:pPr indent="0" lvl="0" marL="0" marR="0" rtl="0" algn="l">
              <a:lnSpc>
                <a:spcPct val="100000"/>
              </a:lnSpc>
              <a:spcBef>
                <a:spcPts val="50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LEADER</a:t>
            </a:r>
            <a:r>
              <a:rPr b="1" i="0" lang="en" sz="800" u="none" cap="none" strike="noStrike">
                <a:solidFill>
                  <a:srgbClr val="36312D"/>
                </a:solidFill>
                <a:latin typeface="Montserrat"/>
                <a:ea typeface="Montserrat"/>
                <a:cs typeface="Montserrat"/>
                <a:sym typeface="Montserrat"/>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Everest Group's AMS Services </a:t>
            </a:r>
            <a:br>
              <a:rPr b="0" i="0" lang="en" sz="800" u="none" cap="none" strike="noStrike">
                <a:solidFill>
                  <a:srgbClr val="36312D"/>
                </a:solidFill>
                <a:latin typeface="Montserrat"/>
                <a:ea typeface="Montserrat"/>
                <a:cs typeface="Montserrat"/>
                <a:sym typeface="Montserrat"/>
              </a:rPr>
            </a:br>
            <a:r>
              <a:rPr b="0" i="0" lang="en" sz="800" u="none" cap="none" strike="noStrike">
                <a:solidFill>
                  <a:srgbClr val="36312D"/>
                </a:solidFill>
                <a:latin typeface="Montserrat"/>
                <a:ea typeface="Montserrat"/>
                <a:cs typeface="Montserrat"/>
                <a:sym typeface="Montserrat"/>
              </a:rPr>
              <a:t>for Mid-market Enterprises PEAK Matrix</a:t>
            </a:r>
            <a:r>
              <a:rPr b="0" baseline="30000" i="0" lang="en" sz="800" u="none" cap="none" strike="noStrike">
                <a:solidFill>
                  <a:srgbClr val="36312D"/>
                </a:solidFill>
                <a:latin typeface="Montserrat"/>
                <a:ea typeface="Montserrat"/>
                <a:cs typeface="Montserrat"/>
                <a:sym typeface="Montserrat"/>
              </a:rPr>
              <a:t>®</a:t>
            </a:r>
            <a:r>
              <a:rPr b="0" i="0" lang="en" sz="800" u="none" cap="none" strike="noStrike">
                <a:solidFill>
                  <a:srgbClr val="36312D"/>
                </a:solidFill>
                <a:latin typeface="Montserrat"/>
                <a:ea typeface="Montserrat"/>
                <a:cs typeface="Montserrat"/>
                <a:sym typeface="Montserrat"/>
              </a:rPr>
              <a:t> Assessment 2024</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36312D"/>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INDUSTRY LEADER</a:t>
            </a:r>
            <a:endParaRPr b="1" i="0" sz="800" u="none" cap="none" strike="noStrike">
              <a:solidFill>
                <a:srgbClr val="5E2CFE"/>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Everest Group’s Life </a:t>
            </a:r>
            <a:br>
              <a:rPr b="0" i="0" lang="en" sz="800" u="none" cap="none" strike="noStrike">
                <a:solidFill>
                  <a:srgbClr val="36312D"/>
                </a:solidFill>
                <a:latin typeface="Montserrat"/>
                <a:ea typeface="Montserrat"/>
                <a:cs typeface="Montserrat"/>
                <a:sym typeface="Montserrat"/>
              </a:rPr>
            </a:br>
            <a:r>
              <a:rPr b="0" i="0" lang="en" sz="800" u="none" cap="none" strike="noStrike">
                <a:solidFill>
                  <a:srgbClr val="36312D"/>
                </a:solidFill>
                <a:latin typeface="Montserrat"/>
                <a:ea typeface="Montserrat"/>
                <a:cs typeface="Montserrat"/>
                <a:sym typeface="Montserrat"/>
              </a:rPr>
              <a:t>&amp; Annuity Insurance IT Services PEAK Matrix® Assessment 2024</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36312D"/>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MAJOR CONTENDER</a:t>
            </a:r>
            <a:endParaRPr b="1" i="0" sz="800" u="none" cap="none" strike="noStrike">
              <a:solidFill>
                <a:srgbClr val="5E2CFE"/>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Everest: Consumer Packaged Goods (CPG) IT Services PEAK Matrix® Assessment 2024</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36312D"/>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MAJOR CONTENDER</a:t>
            </a:r>
            <a:endParaRPr b="1" i="0" sz="800" u="none" cap="none" strike="noStrike">
              <a:solidFill>
                <a:srgbClr val="5E2CFE"/>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Everest: Capital Markets IT Services PEAK Matrix® Assessment</a:t>
            </a:r>
            <a:endParaRPr b="0" i="0" sz="1100" u="none" cap="none" strike="noStrike">
              <a:solidFill>
                <a:srgbClr val="000000"/>
              </a:solidFill>
              <a:latin typeface="Arial"/>
              <a:ea typeface="Arial"/>
              <a:cs typeface="Arial"/>
              <a:sym typeface="Arial"/>
            </a:endParaRPr>
          </a:p>
        </p:txBody>
      </p:sp>
      <p:grpSp>
        <p:nvGrpSpPr>
          <p:cNvPr id="463" name="Google Shape;463;p9"/>
          <p:cNvGrpSpPr/>
          <p:nvPr/>
        </p:nvGrpSpPr>
        <p:grpSpPr>
          <a:xfrm>
            <a:off x="546791" y="3741698"/>
            <a:ext cx="1187768" cy="257535"/>
            <a:chOff x="3208784" y="4817658"/>
            <a:chExt cx="1583691" cy="343380"/>
          </a:xfrm>
        </p:grpSpPr>
        <p:grpSp>
          <p:nvGrpSpPr>
            <p:cNvPr id="464" name="Google Shape;464;p9"/>
            <p:cNvGrpSpPr/>
            <p:nvPr/>
          </p:nvGrpSpPr>
          <p:grpSpPr>
            <a:xfrm>
              <a:off x="3208784" y="4817658"/>
              <a:ext cx="778571" cy="343380"/>
              <a:chOff x="3208784" y="4817658"/>
              <a:chExt cx="778571" cy="343380"/>
            </a:xfrm>
          </p:grpSpPr>
          <p:sp>
            <p:nvSpPr>
              <p:cNvPr id="465" name="Google Shape;465;p9"/>
              <p:cNvSpPr/>
              <p:nvPr/>
            </p:nvSpPr>
            <p:spPr>
              <a:xfrm>
                <a:off x="3208784" y="4817658"/>
                <a:ext cx="778571" cy="343380"/>
              </a:xfrm>
              <a:custGeom>
                <a:rect b="b" l="l" r="r" t="t"/>
                <a:pathLst>
                  <a:path extrusionOk="0" h="343380" w="778571">
                    <a:moveTo>
                      <a:pt x="695037" y="87544"/>
                    </a:moveTo>
                    <a:lnTo>
                      <a:pt x="693934" y="86992"/>
                    </a:lnTo>
                    <a:cubicBezTo>
                      <a:pt x="693934" y="86992"/>
                      <a:pt x="682902" y="82019"/>
                      <a:pt x="674076" y="90860"/>
                    </a:cubicBezTo>
                    <a:lnTo>
                      <a:pt x="672973" y="91965"/>
                    </a:lnTo>
                    <a:lnTo>
                      <a:pt x="691176" y="100806"/>
                    </a:lnTo>
                    <a:lnTo>
                      <a:pt x="695037" y="87544"/>
                    </a:lnTo>
                    <a:close/>
                    <a:moveTo>
                      <a:pt x="777228" y="185900"/>
                    </a:moveTo>
                    <a:cubicBezTo>
                      <a:pt x="777228" y="185900"/>
                      <a:pt x="769506" y="199714"/>
                      <a:pt x="765644" y="205240"/>
                    </a:cubicBezTo>
                    <a:cubicBezTo>
                      <a:pt x="762335" y="210213"/>
                      <a:pt x="751302" y="213528"/>
                      <a:pt x="741373" y="209108"/>
                    </a:cubicBezTo>
                    <a:cubicBezTo>
                      <a:pt x="736960" y="206898"/>
                      <a:pt x="696141" y="183137"/>
                      <a:pt x="680695" y="184795"/>
                    </a:cubicBezTo>
                    <a:cubicBezTo>
                      <a:pt x="601814" y="191426"/>
                      <a:pt x="580301" y="159377"/>
                      <a:pt x="578095" y="156062"/>
                    </a:cubicBezTo>
                    <a:cubicBezTo>
                      <a:pt x="575336" y="153299"/>
                      <a:pt x="570924" y="154404"/>
                      <a:pt x="574233" y="160482"/>
                    </a:cubicBezTo>
                    <a:cubicBezTo>
                      <a:pt x="591333" y="190321"/>
                      <a:pt x="642634" y="204135"/>
                      <a:pt x="642634" y="204135"/>
                    </a:cubicBezTo>
                    <a:cubicBezTo>
                      <a:pt x="655873" y="236183"/>
                      <a:pt x="657527" y="258838"/>
                      <a:pt x="657527" y="258838"/>
                    </a:cubicBezTo>
                    <a:cubicBezTo>
                      <a:pt x="644289" y="248340"/>
                      <a:pt x="629947" y="239499"/>
                      <a:pt x="614501" y="232315"/>
                    </a:cubicBezTo>
                    <a:cubicBezTo>
                      <a:pt x="573682" y="205240"/>
                      <a:pt x="510246" y="171534"/>
                      <a:pt x="423090" y="149984"/>
                    </a:cubicBezTo>
                    <a:cubicBezTo>
                      <a:pt x="428055" y="80361"/>
                      <a:pt x="463358" y="-20205"/>
                      <a:pt x="626637" y="3555"/>
                    </a:cubicBezTo>
                    <a:cubicBezTo>
                      <a:pt x="626637" y="3555"/>
                      <a:pt x="659734" y="9081"/>
                      <a:pt x="681247" y="24000"/>
                    </a:cubicBezTo>
                    <a:cubicBezTo>
                      <a:pt x="681247" y="24000"/>
                      <a:pt x="675731" y="29525"/>
                      <a:pt x="669111" y="36709"/>
                    </a:cubicBezTo>
                    <a:cubicBezTo>
                      <a:pt x="661940" y="43339"/>
                      <a:pt x="669663" y="48312"/>
                      <a:pt x="669663" y="48312"/>
                    </a:cubicBezTo>
                    <a:lnTo>
                      <a:pt x="704415" y="75388"/>
                    </a:lnTo>
                    <a:cubicBezTo>
                      <a:pt x="704966" y="89755"/>
                      <a:pt x="705518" y="93622"/>
                      <a:pt x="715999" y="106884"/>
                    </a:cubicBezTo>
                    <a:cubicBezTo>
                      <a:pt x="727031" y="120145"/>
                      <a:pt x="768954" y="163798"/>
                      <a:pt x="774470" y="169876"/>
                    </a:cubicBezTo>
                    <a:cubicBezTo>
                      <a:pt x="781641" y="177059"/>
                      <a:pt x="777228" y="185900"/>
                      <a:pt x="777228" y="185900"/>
                    </a:cubicBezTo>
                    <a:close/>
                    <a:moveTo>
                      <a:pt x="400474" y="50523"/>
                    </a:moveTo>
                    <a:cubicBezTo>
                      <a:pt x="391648" y="86439"/>
                      <a:pt x="392751" y="117935"/>
                      <a:pt x="397164" y="143906"/>
                    </a:cubicBezTo>
                    <a:cubicBezTo>
                      <a:pt x="388890" y="142248"/>
                      <a:pt x="380616" y="140590"/>
                      <a:pt x="371790" y="139485"/>
                    </a:cubicBezTo>
                    <a:cubicBezTo>
                      <a:pt x="192514" y="110199"/>
                      <a:pt x="138456" y="198609"/>
                      <a:pt x="159417" y="270442"/>
                    </a:cubicBezTo>
                    <a:cubicBezTo>
                      <a:pt x="100394" y="292545"/>
                      <a:pt x="44681" y="318515"/>
                      <a:pt x="0" y="343380"/>
                    </a:cubicBezTo>
                    <a:cubicBezTo>
                      <a:pt x="70055" y="174296"/>
                      <a:pt x="222853" y="25657"/>
                      <a:pt x="351932" y="6318"/>
                    </a:cubicBezTo>
                    <a:cubicBezTo>
                      <a:pt x="393855" y="792"/>
                      <a:pt x="405990" y="28420"/>
                      <a:pt x="400474" y="50523"/>
                    </a:cubicBezTo>
                    <a:lnTo>
                      <a:pt x="400474" y="50523"/>
                    </a:lnTo>
                    <a:close/>
                  </a:path>
                </a:pathLst>
              </a:custGeom>
              <a:solidFill>
                <a:srgbClr val="1E265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6" name="Google Shape;466;p9"/>
              <p:cNvSpPr/>
              <p:nvPr/>
            </p:nvSpPr>
            <p:spPr>
              <a:xfrm>
                <a:off x="3363937" y="4951387"/>
                <a:ext cx="460451" cy="136713"/>
              </a:xfrm>
              <a:custGeom>
                <a:rect b="b" l="l" r="r" t="t"/>
                <a:pathLst>
                  <a:path extrusionOk="0" h="136713" w="460451">
                    <a:moveTo>
                      <a:pt x="270144" y="71511"/>
                    </a:moveTo>
                    <a:cubicBezTo>
                      <a:pt x="340199" y="65985"/>
                      <a:pt x="405842" y="73169"/>
                      <a:pt x="460452" y="99139"/>
                    </a:cubicBezTo>
                    <a:cubicBezTo>
                      <a:pt x="419632" y="72063"/>
                      <a:pt x="356196" y="38357"/>
                      <a:pt x="269041" y="16807"/>
                    </a:cubicBezTo>
                    <a:cubicBezTo>
                      <a:pt x="266834" y="40567"/>
                      <a:pt x="268489" y="61012"/>
                      <a:pt x="270144" y="71511"/>
                    </a:cubicBezTo>
                    <a:close/>
                    <a:moveTo>
                      <a:pt x="260215" y="72063"/>
                    </a:moveTo>
                    <a:cubicBezTo>
                      <a:pt x="181885" y="79799"/>
                      <a:pt x="89765" y="104665"/>
                      <a:pt x="4265" y="136713"/>
                    </a:cubicBezTo>
                    <a:cubicBezTo>
                      <a:pt x="-16697" y="64880"/>
                      <a:pt x="37362" y="-23530"/>
                      <a:pt x="216637" y="5756"/>
                    </a:cubicBezTo>
                    <a:cubicBezTo>
                      <a:pt x="225463" y="7414"/>
                      <a:pt x="233737" y="8519"/>
                      <a:pt x="242011" y="10177"/>
                    </a:cubicBezTo>
                    <a:cubicBezTo>
                      <a:pt x="245873" y="36147"/>
                      <a:pt x="253595" y="56592"/>
                      <a:pt x="260215" y="72063"/>
                    </a:cubicBezTo>
                    <a:lnTo>
                      <a:pt x="260215" y="72063"/>
                    </a:lnTo>
                    <a:close/>
                  </a:path>
                </a:pathLst>
              </a:custGeom>
              <a:solidFill>
                <a:srgbClr val="01A6A7"/>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467" name="Google Shape;467;p9"/>
            <p:cNvSpPr/>
            <p:nvPr/>
          </p:nvSpPr>
          <p:spPr>
            <a:xfrm>
              <a:off x="4066548" y="4880889"/>
              <a:ext cx="725927" cy="197817"/>
            </a:xfrm>
            <a:custGeom>
              <a:rect b="b" l="l" r="r" t="t"/>
              <a:pathLst>
                <a:path extrusionOk="0" h="197817" w="725927">
                  <a:moveTo>
                    <a:pt x="605124" y="116038"/>
                  </a:moveTo>
                  <a:lnTo>
                    <a:pt x="629395" y="56914"/>
                  </a:lnTo>
                  <a:lnTo>
                    <a:pt x="653666" y="116038"/>
                  </a:lnTo>
                  <a:lnTo>
                    <a:pt x="605124" y="116038"/>
                  </a:lnTo>
                  <a:close/>
                  <a:moveTo>
                    <a:pt x="611192" y="8288"/>
                  </a:moveTo>
                  <a:lnTo>
                    <a:pt x="532862" y="192291"/>
                  </a:lnTo>
                  <a:lnTo>
                    <a:pt x="573682" y="192291"/>
                  </a:lnTo>
                  <a:lnTo>
                    <a:pt x="590230" y="151402"/>
                  </a:lnTo>
                  <a:lnTo>
                    <a:pt x="667457" y="151402"/>
                  </a:lnTo>
                  <a:lnTo>
                    <a:pt x="684005" y="192291"/>
                  </a:lnTo>
                  <a:lnTo>
                    <a:pt x="725928" y="192291"/>
                  </a:lnTo>
                  <a:lnTo>
                    <a:pt x="647598" y="8288"/>
                  </a:lnTo>
                  <a:lnTo>
                    <a:pt x="611192" y="8288"/>
                  </a:lnTo>
                  <a:close/>
                  <a:moveTo>
                    <a:pt x="104256" y="73491"/>
                  </a:moveTo>
                  <a:cubicBezTo>
                    <a:pt x="104256" y="89515"/>
                    <a:pt x="92672" y="101119"/>
                    <a:pt x="72262" y="101119"/>
                  </a:cubicBezTo>
                  <a:lnTo>
                    <a:pt x="40268" y="101119"/>
                  </a:lnTo>
                  <a:lnTo>
                    <a:pt x="40268" y="44757"/>
                  </a:lnTo>
                  <a:lnTo>
                    <a:pt x="71710" y="44757"/>
                  </a:lnTo>
                  <a:cubicBezTo>
                    <a:pt x="92120" y="44757"/>
                    <a:pt x="104256" y="54704"/>
                    <a:pt x="104256" y="73491"/>
                  </a:cubicBezTo>
                  <a:lnTo>
                    <a:pt x="104256" y="73491"/>
                  </a:lnTo>
                  <a:close/>
                  <a:moveTo>
                    <a:pt x="75020" y="8288"/>
                  </a:moveTo>
                  <a:lnTo>
                    <a:pt x="0" y="8288"/>
                  </a:lnTo>
                  <a:lnTo>
                    <a:pt x="0" y="192291"/>
                  </a:lnTo>
                  <a:lnTo>
                    <a:pt x="40268" y="192291"/>
                  </a:lnTo>
                  <a:lnTo>
                    <a:pt x="40268" y="137035"/>
                  </a:lnTo>
                  <a:lnTo>
                    <a:pt x="71159" y="137035"/>
                  </a:lnTo>
                  <a:cubicBezTo>
                    <a:pt x="112530" y="137035"/>
                    <a:pt x="145627" y="114933"/>
                    <a:pt x="145627" y="72386"/>
                  </a:cubicBezTo>
                  <a:lnTo>
                    <a:pt x="145627" y="71833"/>
                  </a:lnTo>
                  <a:cubicBezTo>
                    <a:pt x="145627" y="34259"/>
                    <a:pt x="119149" y="8288"/>
                    <a:pt x="75020" y="8288"/>
                  </a:cubicBezTo>
                  <a:close/>
                  <a:moveTo>
                    <a:pt x="365722" y="28733"/>
                  </a:moveTo>
                  <a:cubicBezTo>
                    <a:pt x="346415" y="47520"/>
                    <a:pt x="336486" y="71280"/>
                    <a:pt x="336486" y="99461"/>
                  </a:cubicBezTo>
                  <a:cubicBezTo>
                    <a:pt x="336486" y="127642"/>
                    <a:pt x="345864" y="151402"/>
                    <a:pt x="365170" y="170189"/>
                  </a:cubicBezTo>
                  <a:cubicBezTo>
                    <a:pt x="383925" y="188423"/>
                    <a:pt x="407645" y="197817"/>
                    <a:pt x="435777" y="197817"/>
                  </a:cubicBezTo>
                  <a:cubicBezTo>
                    <a:pt x="468874" y="197817"/>
                    <a:pt x="494800" y="187871"/>
                    <a:pt x="513004" y="167979"/>
                  </a:cubicBezTo>
                  <a:lnTo>
                    <a:pt x="514107" y="166874"/>
                  </a:lnTo>
                  <a:lnTo>
                    <a:pt x="514107" y="82332"/>
                  </a:lnTo>
                  <a:lnTo>
                    <a:pt x="434122" y="82332"/>
                  </a:lnTo>
                  <a:lnTo>
                    <a:pt x="434122" y="116590"/>
                  </a:lnTo>
                  <a:lnTo>
                    <a:pt x="476045" y="116590"/>
                  </a:lnTo>
                  <a:lnTo>
                    <a:pt x="476045" y="150849"/>
                  </a:lnTo>
                  <a:cubicBezTo>
                    <a:pt x="465013" y="157480"/>
                    <a:pt x="451774" y="160795"/>
                    <a:pt x="435777" y="160795"/>
                  </a:cubicBezTo>
                  <a:cubicBezTo>
                    <a:pt x="419229" y="160795"/>
                    <a:pt x="405438" y="155270"/>
                    <a:pt x="393854" y="144219"/>
                  </a:cubicBezTo>
                  <a:cubicBezTo>
                    <a:pt x="382270" y="133167"/>
                    <a:pt x="376754" y="118248"/>
                    <a:pt x="376754" y="100014"/>
                  </a:cubicBezTo>
                  <a:cubicBezTo>
                    <a:pt x="376754" y="81779"/>
                    <a:pt x="382822" y="66307"/>
                    <a:pt x="394406" y="55256"/>
                  </a:cubicBezTo>
                  <a:cubicBezTo>
                    <a:pt x="405990" y="44205"/>
                    <a:pt x="420884" y="38127"/>
                    <a:pt x="438535" y="38127"/>
                  </a:cubicBezTo>
                  <a:cubicBezTo>
                    <a:pt x="447913" y="38127"/>
                    <a:pt x="455636" y="39232"/>
                    <a:pt x="462807" y="41442"/>
                  </a:cubicBezTo>
                  <a:cubicBezTo>
                    <a:pt x="469426" y="43652"/>
                    <a:pt x="476045" y="47520"/>
                    <a:pt x="482113" y="52493"/>
                  </a:cubicBezTo>
                  <a:lnTo>
                    <a:pt x="504730" y="24313"/>
                  </a:lnTo>
                  <a:cubicBezTo>
                    <a:pt x="493146" y="13814"/>
                    <a:pt x="471632" y="0"/>
                    <a:pt x="436329" y="0"/>
                  </a:cubicBezTo>
                  <a:cubicBezTo>
                    <a:pt x="408197" y="553"/>
                    <a:pt x="385029" y="9946"/>
                    <a:pt x="365722" y="28733"/>
                  </a:cubicBezTo>
                  <a:close/>
                  <a:moveTo>
                    <a:pt x="215131" y="118801"/>
                  </a:moveTo>
                  <a:lnTo>
                    <a:pt x="294563" y="118801"/>
                  </a:lnTo>
                  <a:lnTo>
                    <a:pt x="294563" y="82884"/>
                  </a:lnTo>
                  <a:lnTo>
                    <a:pt x="215131" y="82884"/>
                  </a:lnTo>
                  <a:lnTo>
                    <a:pt x="215131" y="44205"/>
                  </a:lnTo>
                  <a:lnTo>
                    <a:pt x="313870" y="44205"/>
                  </a:lnTo>
                  <a:lnTo>
                    <a:pt x="313870" y="8288"/>
                  </a:lnTo>
                  <a:lnTo>
                    <a:pt x="175414" y="8288"/>
                  </a:lnTo>
                  <a:lnTo>
                    <a:pt x="175414" y="192291"/>
                  </a:lnTo>
                  <a:lnTo>
                    <a:pt x="315525" y="192291"/>
                  </a:lnTo>
                  <a:lnTo>
                    <a:pt x="315525" y="156375"/>
                  </a:lnTo>
                  <a:lnTo>
                    <a:pt x="215682" y="156375"/>
                  </a:lnTo>
                  <a:lnTo>
                    <a:pt x="215131" y="118801"/>
                  </a:lnTo>
                  <a:lnTo>
                    <a:pt x="215131" y="118801"/>
                  </a:lnTo>
                  <a:close/>
                </a:path>
              </a:pathLst>
            </a:custGeom>
            <a:solidFill>
              <a:srgbClr val="1E265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pic>
        <p:nvPicPr>
          <p:cNvPr id="468" name="Google Shape;468;p9"/>
          <p:cNvPicPr preferRelativeResize="0"/>
          <p:nvPr/>
        </p:nvPicPr>
        <p:blipFill rotWithShape="1">
          <a:blip r:embed="rId5">
            <a:alphaModFix/>
          </a:blip>
          <a:srcRect b="0" l="0" r="0" t="0"/>
          <a:stretch/>
        </p:blipFill>
        <p:spPr>
          <a:xfrm>
            <a:off x="548640" y="2299526"/>
            <a:ext cx="1133483" cy="356898"/>
          </a:xfrm>
          <a:prstGeom prst="rect">
            <a:avLst/>
          </a:prstGeom>
          <a:noFill/>
          <a:ln>
            <a:noFill/>
          </a:ln>
        </p:spPr>
      </p:pic>
      <p:sp>
        <p:nvSpPr>
          <p:cNvPr id="469" name="Google Shape;469;p9"/>
          <p:cNvSpPr txBox="1"/>
          <p:nvPr/>
        </p:nvSpPr>
        <p:spPr>
          <a:xfrm>
            <a:off x="548639" y="1542401"/>
            <a:ext cx="1578000" cy="591300"/>
          </a:xfrm>
          <a:prstGeom prst="rect">
            <a:avLst/>
          </a:prstGeom>
          <a:noFill/>
          <a:ln>
            <a:noFill/>
          </a:ln>
        </p:spPr>
        <p:txBody>
          <a:bodyPr anchorCtr="0" anchor="t" bIns="34275" lIns="0" spcFirstLastPara="1" rIns="68575" wrap="square" tIns="0">
            <a:spAutoFit/>
          </a:bodyPr>
          <a:lstStyle/>
          <a:p>
            <a:pPr indent="0" lvl="0" marL="0" marR="0" rtl="0" algn="l">
              <a:lnSpc>
                <a:spcPct val="10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RECOGNITION</a:t>
            </a:r>
            <a:endParaRPr b="0" i="0" sz="800" u="none" cap="none" strike="noStrike">
              <a:solidFill>
                <a:srgbClr val="FFFFFF"/>
              </a:solidFill>
              <a:latin typeface="Montserrat"/>
              <a:ea typeface="Montserrat"/>
              <a:cs typeface="Montserrat"/>
              <a:sym typeface="Montserrat"/>
            </a:endParaRPr>
          </a:p>
          <a:p>
            <a:pPr indent="0" lvl="0" marL="0" marR="0" rtl="0" algn="l">
              <a:lnSpc>
                <a:spcPct val="100000"/>
              </a:lnSpc>
              <a:spcBef>
                <a:spcPts val="500"/>
              </a:spcBef>
              <a:spcAft>
                <a:spcPts val="0"/>
              </a:spcAft>
              <a:buClr>
                <a:srgbClr val="36312D"/>
              </a:buClr>
              <a:buSzPts val="800"/>
              <a:buFont typeface="Montserrat"/>
              <a:buNone/>
            </a:pPr>
            <a:r>
              <a:rPr b="0" i="0" lang="en" sz="800" u="none" cap="none" strike="noStrike">
                <a:solidFill>
                  <a:srgbClr val="36312D"/>
                </a:solidFill>
                <a:latin typeface="Montserrat"/>
                <a:ea typeface="Montserrat"/>
                <a:cs typeface="Montserrat"/>
                <a:sym typeface="Montserrat"/>
              </a:rPr>
              <a:t>ISG Provider Lens™ Study Generative AI Services 2024</a:t>
            </a:r>
            <a:endParaRPr b="0" i="0" sz="800"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Montserrat"/>
              <a:ea typeface="Montserrat"/>
              <a:cs typeface="Montserrat"/>
              <a:sym typeface="Montserrat"/>
            </a:endParaRPr>
          </a:p>
        </p:txBody>
      </p:sp>
      <p:cxnSp>
        <p:nvCxnSpPr>
          <p:cNvPr id="470" name="Google Shape;470;p9"/>
          <p:cNvCxnSpPr/>
          <p:nvPr/>
        </p:nvCxnSpPr>
        <p:spPr>
          <a:xfrm rot="10800000">
            <a:off x="2839925" y="2818854"/>
            <a:ext cx="1620300" cy="0"/>
          </a:xfrm>
          <a:prstGeom prst="straightConnector1">
            <a:avLst/>
          </a:prstGeom>
          <a:noFill/>
          <a:ln cap="flat" cmpd="sng" w="9525">
            <a:solidFill>
              <a:srgbClr val="DED4FF"/>
            </a:solidFill>
            <a:prstDash val="solid"/>
            <a:miter lim="80"/>
            <a:headEnd len="sm" w="sm" type="none"/>
            <a:tailEnd len="sm" w="sm" type="none"/>
          </a:ln>
        </p:spPr>
      </p:cxnSp>
      <p:pic>
        <p:nvPicPr>
          <p:cNvPr descr="The premier global market intelligence ..." id="471" name="Google Shape;471;p9"/>
          <p:cNvPicPr preferRelativeResize="0"/>
          <p:nvPr/>
        </p:nvPicPr>
        <p:blipFill rotWithShape="1">
          <a:blip r:embed="rId6">
            <a:alphaModFix/>
          </a:blip>
          <a:srcRect b="0" l="0" r="0" t="0"/>
          <a:stretch/>
        </p:blipFill>
        <p:spPr>
          <a:xfrm>
            <a:off x="2815454" y="3056242"/>
            <a:ext cx="772618" cy="234127"/>
          </a:xfrm>
          <a:prstGeom prst="rect">
            <a:avLst/>
          </a:prstGeom>
          <a:noFill/>
          <a:ln>
            <a:noFill/>
          </a:ln>
        </p:spPr>
      </p:pic>
      <p:sp>
        <p:nvSpPr>
          <p:cNvPr id="472" name="Google Shape;472;p9"/>
          <p:cNvSpPr/>
          <p:nvPr/>
        </p:nvSpPr>
        <p:spPr>
          <a:xfrm>
            <a:off x="7331651" y="1542401"/>
            <a:ext cx="1673100" cy="960000"/>
          </a:xfrm>
          <a:prstGeom prst="rect">
            <a:avLst/>
          </a:prstGeom>
          <a:noFill/>
          <a:ln>
            <a:noFill/>
          </a:ln>
        </p:spPr>
        <p:txBody>
          <a:bodyPr anchorCtr="0" anchor="t" bIns="34275" lIns="0" spcFirstLastPara="1" rIns="68575"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RANKING</a:t>
            </a:r>
            <a:r>
              <a:rPr b="1" i="0" lang="en" sz="800" u="none" cap="none" strike="noStrike">
                <a:solidFill>
                  <a:srgbClr val="36312D"/>
                </a:solidFill>
                <a:latin typeface="Montserrat"/>
                <a:ea typeface="Montserrat"/>
                <a:cs typeface="Montserrat"/>
                <a:sym typeface="Montserrat"/>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HFS High-Tech Services Horizon Report: Virtusa Positioned </a:t>
            </a:r>
            <a:br>
              <a:rPr b="0" i="0" lang="en" sz="800" u="none" cap="none" strike="noStrike">
                <a:solidFill>
                  <a:srgbClr val="36312D"/>
                </a:solidFill>
                <a:latin typeface="Montserrat"/>
                <a:ea typeface="Montserrat"/>
                <a:cs typeface="Montserrat"/>
                <a:sym typeface="Montserrat"/>
              </a:rPr>
            </a:br>
            <a:r>
              <a:rPr b="0" i="0" lang="en" sz="800" u="none" cap="none" strike="noStrike">
                <a:solidFill>
                  <a:srgbClr val="36312D"/>
                </a:solidFill>
                <a:latin typeface="Montserrat"/>
                <a:ea typeface="Montserrat"/>
                <a:cs typeface="Montserrat"/>
                <a:sym typeface="Montserrat"/>
              </a:rPr>
              <a:t>in Horizon 2</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36312D"/>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RANKING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HFS Horizons: HC Provider Service Providers, 2024 - Enterprise Innovation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36312D"/>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RANKING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36312D"/>
                </a:solidFill>
                <a:latin typeface="Montserrat"/>
                <a:ea typeface="Montserrat"/>
                <a:cs typeface="Montserrat"/>
                <a:sym typeface="Montserrat"/>
              </a:rPr>
              <a:t>Market Leader in HFS Horizons: Generative Enterprise Services 2025 Report</a:t>
            </a:r>
            <a:endParaRPr b="0" i="0" sz="800" u="none" cap="none" strike="noStrike">
              <a:solidFill>
                <a:schemeClr val="lt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36312D"/>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36312D"/>
              </a:solidFill>
              <a:latin typeface="Montserrat"/>
              <a:ea typeface="Montserrat"/>
              <a:cs typeface="Montserrat"/>
              <a:sym typeface="Montserrat"/>
            </a:endParaRPr>
          </a:p>
        </p:txBody>
      </p:sp>
      <p:cxnSp>
        <p:nvCxnSpPr>
          <p:cNvPr id="473" name="Google Shape;473;p9"/>
          <p:cNvCxnSpPr/>
          <p:nvPr/>
        </p:nvCxnSpPr>
        <p:spPr>
          <a:xfrm rot="10800000">
            <a:off x="2539985" y="953588"/>
            <a:ext cx="0" cy="3755100"/>
          </a:xfrm>
          <a:prstGeom prst="straightConnector1">
            <a:avLst/>
          </a:prstGeom>
          <a:noFill/>
          <a:ln cap="flat" cmpd="sng" w="9525">
            <a:solidFill>
              <a:schemeClr val="lt2"/>
            </a:solidFill>
            <a:prstDash val="solid"/>
            <a:miter lim="80"/>
            <a:headEnd len="sm" w="sm" type="none"/>
            <a:tailEnd len="sm" w="sm" type="none"/>
          </a:ln>
        </p:spPr>
      </p:cxnSp>
      <p:cxnSp>
        <p:nvCxnSpPr>
          <p:cNvPr id="474" name="Google Shape;474;p9"/>
          <p:cNvCxnSpPr/>
          <p:nvPr/>
        </p:nvCxnSpPr>
        <p:spPr>
          <a:xfrm rot="10800000">
            <a:off x="4707113" y="953588"/>
            <a:ext cx="0" cy="3755100"/>
          </a:xfrm>
          <a:prstGeom prst="straightConnector1">
            <a:avLst/>
          </a:prstGeom>
          <a:noFill/>
          <a:ln cap="flat" cmpd="sng" w="9525">
            <a:solidFill>
              <a:schemeClr val="lt2"/>
            </a:solidFill>
            <a:prstDash val="solid"/>
            <a:miter lim="80"/>
            <a:headEnd len="sm" w="sm" type="none"/>
            <a:tailEnd len="sm" w="sm" type="none"/>
          </a:ln>
        </p:spPr>
      </p:cxnSp>
      <p:cxnSp>
        <p:nvCxnSpPr>
          <p:cNvPr id="475" name="Google Shape;475;p9"/>
          <p:cNvCxnSpPr/>
          <p:nvPr/>
        </p:nvCxnSpPr>
        <p:spPr>
          <a:xfrm rot="10800000">
            <a:off x="7097865" y="953588"/>
            <a:ext cx="0" cy="3755100"/>
          </a:xfrm>
          <a:prstGeom prst="straightConnector1">
            <a:avLst/>
          </a:prstGeom>
          <a:noFill/>
          <a:ln cap="flat" cmpd="sng" w="9525">
            <a:solidFill>
              <a:schemeClr val="lt2"/>
            </a:solidFill>
            <a:prstDash val="solid"/>
            <a:miter lim="80"/>
            <a:headEnd len="sm" w="sm" type="none"/>
            <a:tailEnd len="sm" w="sm" type="none"/>
          </a:ln>
        </p:spPr>
      </p:cxnSp>
      <p:grpSp>
        <p:nvGrpSpPr>
          <p:cNvPr id="476" name="Google Shape;476;p9"/>
          <p:cNvGrpSpPr/>
          <p:nvPr/>
        </p:nvGrpSpPr>
        <p:grpSpPr>
          <a:xfrm>
            <a:off x="546876" y="2134661"/>
            <a:ext cx="1717073" cy="1376969"/>
            <a:chOff x="729144" y="2799079"/>
            <a:chExt cx="1794600" cy="1835959"/>
          </a:xfrm>
        </p:grpSpPr>
        <p:cxnSp>
          <p:nvCxnSpPr>
            <p:cNvPr id="477" name="Google Shape;477;p9"/>
            <p:cNvCxnSpPr/>
            <p:nvPr/>
          </p:nvCxnSpPr>
          <p:spPr>
            <a:xfrm rot="10800000">
              <a:off x="729144" y="2799079"/>
              <a:ext cx="1794600" cy="0"/>
            </a:xfrm>
            <a:prstGeom prst="straightConnector1">
              <a:avLst/>
            </a:prstGeom>
            <a:noFill/>
            <a:ln cap="flat" cmpd="sng" w="9525">
              <a:solidFill>
                <a:srgbClr val="DED4FF"/>
              </a:solidFill>
              <a:prstDash val="solid"/>
              <a:miter lim="80"/>
              <a:headEnd len="sm" w="sm" type="none"/>
              <a:tailEnd len="sm" w="sm" type="none"/>
            </a:ln>
          </p:spPr>
        </p:cxnSp>
        <p:cxnSp>
          <p:nvCxnSpPr>
            <p:cNvPr id="478" name="Google Shape;478;p9"/>
            <p:cNvCxnSpPr/>
            <p:nvPr/>
          </p:nvCxnSpPr>
          <p:spPr>
            <a:xfrm rot="10800000">
              <a:off x="729144" y="4635038"/>
              <a:ext cx="1794600" cy="0"/>
            </a:xfrm>
            <a:prstGeom prst="straightConnector1">
              <a:avLst/>
            </a:prstGeom>
            <a:noFill/>
            <a:ln cap="flat" cmpd="sng" w="9525">
              <a:solidFill>
                <a:srgbClr val="DED4FF"/>
              </a:solidFill>
              <a:prstDash val="solid"/>
              <a:miter lim="80"/>
              <a:headEnd len="sm" w="sm" type="none"/>
              <a:tailEnd len="sm" w="sm" type="none"/>
            </a:ln>
          </p:spPr>
        </p:cxnSp>
      </p:grpSp>
      <p:sp>
        <p:nvSpPr>
          <p:cNvPr id="479" name="Google Shape;479;p9"/>
          <p:cNvSpPr/>
          <p:nvPr/>
        </p:nvSpPr>
        <p:spPr>
          <a:xfrm>
            <a:off x="2817302" y="3418949"/>
            <a:ext cx="1711200" cy="960000"/>
          </a:xfrm>
          <a:prstGeom prst="rect">
            <a:avLst/>
          </a:prstGeom>
          <a:noFill/>
          <a:ln>
            <a:noFill/>
          </a:ln>
        </p:spPr>
        <p:txBody>
          <a:bodyPr anchorCtr="0" anchor="t" bIns="34275" lIns="0" spcFirstLastPara="1" rIns="68575" wrap="square" tIns="0">
            <a:noAutofit/>
          </a:bodyPr>
          <a:lstStyle/>
          <a:p>
            <a:pPr indent="0" lvl="0" marL="0" marR="0" rtl="0" algn="l">
              <a:lnSpc>
                <a:spcPct val="10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MAJOR PLAYER</a:t>
            </a:r>
            <a:endParaRPr b="1" i="0" sz="800" u="none" cap="none" strike="noStrike">
              <a:solidFill>
                <a:srgbClr val="5E2CFE"/>
              </a:solidFill>
              <a:latin typeface="Montserrat"/>
              <a:ea typeface="Montserrat"/>
              <a:cs typeface="Montserrat"/>
              <a:sym typeface="Montserrat"/>
            </a:endParaRPr>
          </a:p>
          <a:p>
            <a:pPr indent="0" lvl="0" marL="0" marR="0" rtl="0" algn="l">
              <a:lnSpc>
                <a:spcPct val="100000"/>
              </a:lnSpc>
              <a:spcBef>
                <a:spcPts val="500"/>
              </a:spcBef>
              <a:spcAft>
                <a:spcPts val="0"/>
              </a:spcAft>
              <a:buClr>
                <a:srgbClr val="36312D"/>
              </a:buClr>
              <a:buSzPts val="800"/>
              <a:buFont typeface="Montserrat"/>
              <a:buNone/>
            </a:pPr>
            <a:r>
              <a:rPr b="0" i="0" lang="en" sz="800" u="none" cap="none" strike="noStrike">
                <a:solidFill>
                  <a:srgbClr val="36312D"/>
                </a:solidFill>
                <a:latin typeface="Montserrat"/>
                <a:ea typeface="Montserrat"/>
                <a:cs typeface="Montserrat"/>
                <a:sym typeface="Montserrat"/>
              </a:rPr>
              <a:t>Life Sciences R&amp;D RWE, RWD, Platforms, Technologies and Consulting Services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Arial"/>
              <a:buNone/>
            </a:pPr>
            <a:r>
              <a:t/>
            </a:r>
            <a:endParaRPr b="0" i="0" sz="800" u="none" cap="none" strike="noStrike">
              <a:solidFill>
                <a:srgbClr val="36312D"/>
              </a:solidFill>
              <a:latin typeface="Montserrat"/>
              <a:ea typeface="Montserrat"/>
              <a:cs typeface="Montserrat"/>
              <a:sym typeface="Montserrat"/>
            </a:endParaRPr>
          </a:p>
        </p:txBody>
      </p:sp>
      <p:grpSp>
        <p:nvGrpSpPr>
          <p:cNvPr id="480" name="Google Shape;480;p9"/>
          <p:cNvGrpSpPr/>
          <p:nvPr/>
        </p:nvGrpSpPr>
        <p:grpSpPr>
          <a:xfrm>
            <a:off x="7365697" y="946407"/>
            <a:ext cx="469163" cy="469163"/>
            <a:chOff x="4432300" y="1765300"/>
            <a:chExt cx="3327400" cy="3327400"/>
          </a:xfrm>
        </p:grpSpPr>
        <p:sp>
          <p:nvSpPr>
            <p:cNvPr id="481" name="Google Shape;481;p9"/>
            <p:cNvSpPr/>
            <p:nvPr/>
          </p:nvSpPr>
          <p:spPr>
            <a:xfrm>
              <a:off x="4432300" y="1765300"/>
              <a:ext cx="3327400" cy="3327400"/>
            </a:xfrm>
            <a:custGeom>
              <a:rect b="b" l="l" r="r" t="t"/>
              <a:pathLst>
                <a:path extrusionOk="0" h="3327400" w="3327400">
                  <a:moveTo>
                    <a:pt x="0" y="0"/>
                  </a:moveTo>
                  <a:lnTo>
                    <a:pt x="3327400" y="0"/>
                  </a:lnTo>
                  <a:lnTo>
                    <a:pt x="3327400" y="3327400"/>
                  </a:lnTo>
                  <a:lnTo>
                    <a:pt x="0" y="3327400"/>
                  </a:lnTo>
                  <a:close/>
                </a:path>
              </a:pathLst>
            </a:custGeom>
            <a:solidFill>
              <a:srgbClr val="7438F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2" name="Google Shape;482;p9"/>
            <p:cNvSpPr/>
            <p:nvPr/>
          </p:nvSpPr>
          <p:spPr>
            <a:xfrm>
              <a:off x="6141756" y="4262732"/>
              <a:ext cx="601070" cy="576163"/>
            </a:xfrm>
            <a:custGeom>
              <a:rect b="b" l="l" r="r" t="t"/>
              <a:pathLst>
                <a:path extrusionOk="0" h="576163" w="601070">
                  <a:moveTo>
                    <a:pt x="0" y="0"/>
                  </a:moveTo>
                  <a:lnTo>
                    <a:pt x="601071" y="0"/>
                  </a:lnTo>
                  <a:lnTo>
                    <a:pt x="601071" y="142023"/>
                  </a:lnTo>
                  <a:lnTo>
                    <a:pt x="168138" y="142023"/>
                  </a:lnTo>
                  <a:lnTo>
                    <a:pt x="168138" y="220930"/>
                  </a:lnTo>
                  <a:lnTo>
                    <a:pt x="601071" y="220930"/>
                  </a:lnTo>
                  <a:lnTo>
                    <a:pt x="601071" y="362145"/>
                  </a:lnTo>
                  <a:lnTo>
                    <a:pt x="124103" y="362145"/>
                  </a:lnTo>
                  <a:lnTo>
                    <a:pt x="168138" y="392890"/>
                  </a:lnTo>
                  <a:lnTo>
                    <a:pt x="168138" y="491029"/>
                  </a:lnTo>
                  <a:lnTo>
                    <a:pt x="168138" y="576163"/>
                  </a:lnTo>
                  <a:lnTo>
                    <a:pt x="0" y="576163"/>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3" name="Google Shape;483;p9"/>
            <p:cNvSpPr/>
            <p:nvPr/>
          </p:nvSpPr>
          <p:spPr>
            <a:xfrm>
              <a:off x="5373478" y="4262732"/>
              <a:ext cx="724536" cy="576163"/>
            </a:xfrm>
            <a:custGeom>
              <a:rect b="b" l="l" r="r" t="t"/>
              <a:pathLst>
                <a:path extrusionOk="0" h="576163" w="724536">
                  <a:moveTo>
                    <a:pt x="168138" y="217070"/>
                  </a:moveTo>
                  <a:lnTo>
                    <a:pt x="556398" y="217070"/>
                  </a:lnTo>
                  <a:lnTo>
                    <a:pt x="556398" y="0"/>
                  </a:lnTo>
                  <a:lnTo>
                    <a:pt x="724537" y="0"/>
                  </a:lnTo>
                  <a:lnTo>
                    <a:pt x="724537" y="576163"/>
                  </a:lnTo>
                  <a:lnTo>
                    <a:pt x="556398" y="576163"/>
                  </a:lnTo>
                  <a:lnTo>
                    <a:pt x="556398" y="359093"/>
                  </a:lnTo>
                  <a:lnTo>
                    <a:pt x="124103" y="359093"/>
                  </a:lnTo>
                  <a:lnTo>
                    <a:pt x="168138" y="390703"/>
                  </a:lnTo>
                  <a:lnTo>
                    <a:pt x="168138" y="576163"/>
                  </a:lnTo>
                  <a:lnTo>
                    <a:pt x="0" y="576163"/>
                  </a:lnTo>
                  <a:lnTo>
                    <a:pt x="0" y="0"/>
                  </a:lnTo>
                  <a:lnTo>
                    <a:pt x="168138" y="0"/>
                  </a:lnTo>
                  <a:lnTo>
                    <a:pt x="168138" y="21707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4" name="Google Shape;484;p9"/>
            <p:cNvSpPr/>
            <p:nvPr/>
          </p:nvSpPr>
          <p:spPr>
            <a:xfrm>
              <a:off x="6776852" y="4246589"/>
              <a:ext cx="726162" cy="608438"/>
            </a:xfrm>
            <a:custGeom>
              <a:rect b="b" l="l" r="r" t="t"/>
              <a:pathLst>
                <a:path extrusionOk="0" h="608438" w="726162">
                  <a:moveTo>
                    <a:pt x="176257" y="403471"/>
                  </a:moveTo>
                  <a:cubicBezTo>
                    <a:pt x="176257" y="429292"/>
                    <a:pt x="191421" y="449199"/>
                    <a:pt x="221747" y="463184"/>
                  </a:cubicBezTo>
                  <a:cubicBezTo>
                    <a:pt x="252616" y="476636"/>
                    <a:pt x="304324" y="483367"/>
                    <a:pt x="376890" y="483367"/>
                  </a:cubicBezTo>
                  <a:cubicBezTo>
                    <a:pt x="442953" y="483367"/>
                    <a:pt x="488443" y="478518"/>
                    <a:pt x="513351" y="468840"/>
                  </a:cubicBezTo>
                  <a:cubicBezTo>
                    <a:pt x="538259" y="459153"/>
                    <a:pt x="550713" y="444626"/>
                    <a:pt x="550713" y="425261"/>
                  </a:cubicBezTo>
                  <a:cubicBezTo>
                    <a:pt x="550713" y="410734"/>
                    <a:pt x="546112" y="399982"/>
                    <a:pt x="536909" y="392985"/>
                  </a:cubicBezTo>
                  <a:cubicBezTo>
                    <a:pt x="527697" y="385988"/>
                    <a:pt x="509834" y="380607"/>
                    <a:pt x="483300" y="376842"/>
                  </a:cubicBezTo>
                  <a:cubicBezTo>
                    <a:pt x="456766" y="372545"/>
                    <a:pt x="413168" y="368505"/>
                    <a:pt x="352524" y="364740"/>
                  </a:cubicBezTo>
                  <a:cubicBezTo>
                    <a:pt x="271839" y="359359"/>
                    <a:pt x="206860" y="349947"/>
                    <a:pt x="157576" y="336495"/>
                  </a:cubicBezTo>
                  <a:cubicBezTo>
                    <a:pt x="108844" y="322511"/>
                    <a:pt x="72566" y="302603"/>
                    <a:pt x="48732" y="276783"/>
                  </a:cubicBezTo>
                  <a:cubicBezTo>
                    <a:pt x="25450" y="250962"/>
                    <a:pt x="13813" y="216804"/>
                    <a:pt x="13813" y="174299"/>
                  </a:cubicBezTo>
                  <a:cubicBezTo>
                    <a:pt x="13813" y="116202"/>
                    <a:pt x="43047" y="72623"/>
                    <a:pt x="101533" y="43580"/>
                  </a:cubicBezTo>
                  <a:cubicBezTo>
                    <a:pt x="160019" y="14527"/>
                    <a:pt x="241246" y="0"/>
                    <a:pt x="345213" y="0"/>
                  </a:cubicBezTo>
                  <a:cubicBezTo>
                    <a:pt x="457841" y="0"/>
                    <a:pt x="544762" y="16675"/>
                    <a:pt x="605948" y="50035"/>
                  </a:cubicBezTo>
                  <a:cubicBezTo>
                    <a:pt x="667676" y="83385"/>
                    <a:pt x="699629" y="131803"/>
                    <a:pt x="701796" y="195280"/>
                  </a:cubicBezTo>
                  <a:lnTo>
                    <a:pt x="526347" y="195280"/>
                  </a:lnTo>
                  <a:cubicBezTo>
                    <a:pt x="526347" y="170002"/>
                    <a:pt x="511726" y="151977"/>
                    <a:pt x="482483" y="141215"/>
                  </a:cubicBezTo>
                  <a:cubicBezTo>
                    <a:pt x="453239" y="130453"/>
                    <a:pt x="405857" y="125072"/>
                    <a:pt x="340336" y="125072"/>
                  </a:cubicBezTo>
                  <a:cubicBezTo>
                    <a:pt x="282401" y="125072"/>
                    <a:pt x="242596" y="129379"/>
                    <a:pt x="220939" y="137992"/>
                  </a:cubicBezTo>
                  <a:cubicBezTo>
                    <a:pt x="199815" y="146596"/>
                    <a:pt x="189253" y="159506"/>
                    <a:pt x="189253" y="176723"/>
                  </a:cubicBezTo>
                  <a:cubicBezTo>
                    <a:pt x="189253" y="189092"/>
                    <a:pt x="193864" y="198779"/>
                    <a:pt x="203066" y="205776"/>
                  </a:cubicBezTo>
                  <a:cubicBezTo>
                    <a:pt x="212269" y="212764"/>
                    <a:pt x="229600" y="218686"/>
                    <a:pt x="255050" y="223525"/>
                  </a:cubicBezTo>
                  <a:cubicBezTo>
                    <a:pt x="281042" y="227832"/>
                    <a:pt x="320847" y="232129"/>
                    <a:pt x="374456" y="236435"/>
                  </a:cubicBezTo>
                  <a:cubicBezTo>
                    <a:pt x="461092" y="242891"/>
                    <a:pt x="527431" y="250696"/>
                    <a:pt x="573454" y="259841"/>
                  </a:cubicBezTo>
                  <a:cubicBezTo>
                    <a:pt x="620028" y="268987"/>
                    <a:pt x="657124" y="285662"/>
                    <a:pt x="684741" y="309866"/>
                  </a:cubicBezTo>
                  <a:cubicBezTo>
                    <a:pt x="712358" y="334080"/>
                    <a:pt x="726162" y="370121"/>
                    <a:pt x="726162" y="417997"/>
                  </a:cubicBezTo>
                  <a:cubicBezTo>
                    <a:pt x="726162" y="487930"/>
                    <a:pt x="696653" y="537157"/>
                    <a:pt x="637625" y="565668"/>
                  </a:cubicBezTo>
                  <a:cubicBezTo>
                    <a:pt x="579139" y="594179"/>
                    <a:pt x="494128" y="608439"/>
                    <a:pt x="382575" y="608439"/>
                  </a:cubicBezTo>
                  <a:cubicBezTo>
                    <a:pt x="259651" y="608439"/>
                    <a:pt x="165971" y="592572"/>
                    <a:pt x="101533" y="560829"/>
                  </a:cubicBezTo>
                  <a:cubicBezTo>
                    <a:pt x="45728" y="533106"/>
                    <a:pt x="12844" y="489584"/>
                    <a:pt x="2890" y="430271"/>
                  </a:cubicBezTo>
                  <a:cubicBezTo>
                    <a:pt x="1445" y="421667"/>
                    <a:pt x="485" y="412740"/>
                    <a:pt x="0" y="403471"/>
                  </a:cubicBezTo>
                  <a:lnTo>
                    <a:pt x="176257" y="403471"/>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10"/>
          <p:cNvPicPr preferRelativeResize="0"/>
          <p:nvPr>
            <p:ph idx="2" type="pic"/>
          </p:nvPr>
        </p:nvPicPr>
        <p:blipFill rotWithShape="1">
          <a:blip r:embed="rId3">
            <a:alphaModFix/>
          </a:blip>
          <a:srcRect b="0" l="0" r="0" t="0"/>
          <a:stretch/>
        </p:blipFill>
        <p:spPr>
          <a:xfrm flipH="1">
            <a:off x="5804324" y="1162082"/>
            <a:ext cx="3540900" cy="3541200"/>
          </a:xfrm>
          <a:prstGeom prst="ellipse">
            <a:avLst/>
          </a:prstGeom>
          <a:solidFill>
            <a:srgbClr val="F2F2F2"/>
          </a:solidFill>
          <a:ln>
            <a:noFill/>
          </a:ln>
        </p:spPr>
      </p:pic>
      <p:sp>
        <p:nvSpPr>
          <p:cNvPr id="491" name="Google Shape;491;p10"/>
          <p:cNvSpPr/>
          <p:nvPr/>
        </p:nvSpPr>
        <p:spPr>
          <a:xfrm>
            <a:off x="7170571" y="130748"/>
            <a:ext cx="1263560" cy="1263560"/>
          </a:xfrm>
          <a:custGeom>
            <a:rect b="b" l="l" r="r" t="t"/>
            <a:pathLst>
              <a:path extrusionOk="0" h="1319645" w="1319645">
                <a:moveTo>
                  <a:pt x="1319646" y="659823"/>
                </a:moveTo>
                <a:cubicBezTo>
                  <a:pt x="1319646" y="1024233"/>
                  <a:pt x="1024233" y="1319646"/>
                  <a:pt x="659823" y="1319646"/>
                </a:cubicBezTo>
                <a:cubicBezTo>
                  <a:pt x="295413" y="1319646"/>
                  <a:pt x="0" y="1024233"/>
                  <a:pt x="0" y="659823"/>
                </a:cubicBezTo>
                <a:cubicBezTo>
                  <a:pt x="0" y="295413"/>
                  <a:pt x="295413" y="0"/>
                  <a:pt x="659823" y="0"/>
                </a:cubicBezTo>
                <a:cubicBezTo>
                  <a:pt x="1024233" y="0"/>
                  <a:pt x="1319646" y="295413"/>
                  <a:pt x="1319646" y="659823"/>
                </a:cubicBezTo>
                <a:close/>
              </a:path>
            </a:pathLst>
          </a:custGeom>
          <a:gradFill>
            <a:gsLst>
              <a:gs pos="0">
                <a:schemeClr val="dk2"/>
              </a:gs>
              <a:gs pos="99000">
                <a:schemeClr val="accent1"/>
              </a:gs>
              <a:gs pos="100000">
                <a:schemeClr val="accent1"/>
              </a:gs>
            </a:gsLst>
            <a:lin ang="5400012" scaled="0"/>
          </a:gradFill>
          <a:ln>
            <a:noFill/>
          </a:ln>
          <a:effectLst>
            <a:outerShdw blurRad="190500" sx="102000" rotWithShape="0" algn="ctr" sy="102000">
              <a:srgbClr val="000000">
                <a:alpha val="4706"/>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92" name="Google Shape;492;p10"/>
          <p:cNvSpPr/>
          <p:nvPr/>
        </p:nvSpPr>
        <p:spPr>
          <a:xfrm rot="287308">
            <a:off x="5911736" y="390374"/>
            <a:ext cx="1264675" cy="1264404"/>
          </a:xfrm>
          <a:custGeom>
            <a:rect b="b" l="l" r="r" t="t"/>
            <a:pathLst>
              <a:path extrusionOk="0" h="1319645" w="1319645">
                <a:moveTo>
                  <a:pt x="1319646" y="659823"/>
                </a:moveTo>
                <a:cubicBezTo>
                  <a:pt x="1319646" y="1024233"/>
                  <a:pt x="1024233" y="1319646"/>
                  <a:pt x="659823" y="1319646"/>
                </a:cubicBezTo>
                <a:cubicBezTo>
                  <a:pt x="295413" y="1319646"/>
                  <a:pt x="0" y="1024233"/>
                  <a:pt x="0" y="659823"/>
                </a:cubicBezTo>
                <a:cubicBezTo>
                  <a:pt x="0" y="295413"/>
                  <a:pt x="295413" y="0"/>
                  <a:pt x="659823" y="0"/>
                </a:cubicBezTo>
                <a:cubicBezTo>
                  <a:pt x="1024233" y="0"/>
                  <a:pt x="1319646" y="295413"/>
                  <a:pt x="1319646" y="659823"/>
                </a:cubicBezTo>
                <a:close/>
              </a:path>
            </a:pathLst>
          </a:custGeom>
          <a:solidFill>
            <a:schemeClr val="lt1"/>
          </a:solidFill>
          <a:ln>
            <a:noFill/>
          </a:ln>
          <a:effectLst>
            <a:outerShdw blurRad="190500" sx="102000" rotWithShape="0" algn="ctr" sy="102000">
              <a:srgbClr val="000000">
                <a:alpha val="4706"/>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93" name="Google Shape;493;p10"/>
          <p:cNvSpPr/>
          <p:nvPr/>
        </p:nvSpPr>
        <p:spPr>
          <a:xfrm rot="287308">
            <a:off x="4993370" y="1290654"/>
            <a:ext cx="1264675" cy="1264404"/>
          </a:xfrm>
          <a:custGeom>
            <a:rect b="b" l="l" r="r" t="t"/>
            <a:pathLst>
              <a:path extrusionOk="0" h="1319645" w="1319645">
                <a:moveTo>
                  <a:pt x="1319646" y="659823"/>
                </a:moveTo>
                <a:cubicBezTo>
                  <a:pt x="1319646" y="1024233"/>
                  <a:pt x="1024233" y="1319646"/>
                  <a:pt x="659823" y="1319646"/>
                </a:cubicBezTo>
                <a:cubicBezTo>
                  <a:pt x="295413" y="1319646"/>
                  <a:pt x="0" y="1024233"/>
                  <a:pt x="0" y="659823"/>
                </a:cubicBezTo>
                <a:cubicBezTo>
                  <a:pt x="0" y="295413"/>
                  <a:pt x="295413" y="0"/>
                  <a:pt x="659823" y="0"/>
                </a:cubicBezTo>
                <a:cubicBezTo>
                  <a:pt x="1024233" y="0"/>
                  <a:pt x="1319646" y="295413"/>
                  <a:pt x="1319646" y="659823"/>
                </a:cubicBezTo>
                <a:close/>
              </a:path>
            </a:pathLst>
          </a:custGeom>
          <a:solidFill>
            <a:schemeClr val="lt1"/>
          </a:solidFill>
          <a:ln>
            <a:noFill/>
          </a:ln>
          <a:effectLst>
            <a:outerShdw blurRad="190500" sx="102000" rotWithShape="0" algn="ctr" sy="102000">
              <a:srgbClr val="000000">
                <a:alpha val="4706"/>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94" name="Google Shape;494;p10"/>
          <p:cNvSpPr/>
          <p:nvPr/>
        </p:nvSpPr>
        <p:spPr>
          <a:xfrm rot="287308">
            <a:off x="4706708" y="2541727"/>
            <a:ext cx="1264675" cy="1264404"/>
          </a:xfrm>
          <a:custGeom>
            <a:rect b="b" l="l" r="r" t="t"/>
            <a:pathLst>
              <a:path extrusionOk="0" h="1319645" w="1319645">
                <a:moveTo>
                  <a:pt x="1319646" y="659823"/>
                </a:moveTo>
                <a:cubicBezTo>
                  <a:pt x="1319646" y="1024233"/>
                  <a:pt x="1024233" y="1319646"/>
                  <a:pt x="659823" y="1319646"/>
                </a:cubicBezTo>
                <a:cubicBezTo>
                  <a:pt x="295413" y="1319646"/>
                  <a:pt x="0" y="1024233"/>
                  <a:pt x="0" y="659823"/>
                </a:cubicBezTo>
                <a:cubicBezTo>
                  <a:pt x="0" y="295413"/>
                  <a:pt x="295413" y="0"/>
                  <a:pt x="659823" y="0"/>
                </a:cubicBezTo>
                <a:cubicBezTo>
                  <a:pt x="1024233" y="0"/>
                  <a:pt x="1319646" y="295413"/>
                  <a:pt x="1319646" y="659823"/>
                </a:cubicBezTo>
                <a:close/>
              </a:path>
            </a:pathLst>
          </a:custGeom>
          <a:solidFill>
            <a:schemeClr val="lt1"/>
          </a:solidFill>
          <a:ln>
            <a:noFill/>
          </a:ln>
          <a:effectLst>
            <a:outerShdw blurRad="190500" sx="102000" rotWithShape="0" algn="ctr" sy="102000">
              <a:srgbClr val="000000">
                <a:alpha val="4706"/>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95" name="Google Shape;495;p10"/>
          <p:cNvSpPr/>
          <p:nvPr/>
        </p:nvSpPr>
        <p:spPr>
          <a:xfrm rot="287308">
            <a:off x="5140089" y="3752262"/>
            <a:ext cx="1264675" cy="1264404"/>
          </a:xfrm>
          <a:custGeom>
            <a:rect b="b" l="l" r="r" t="t"/>
            <a:pathLst>
              <a:path extrusionOk="0" h="1319645" w="1319645">
                <a:moveTo>
                  <a:pt x="1319646" y="659823"/>
                </a:moveTo>
                <a:cubicBezTo>
                  <a:pt x="1319646" y="1024233"/>
                  <a:pt x="1024233" y="1319646"/>
                  <a:pt x="659823" y="1319646"/>
                </a:cubicBezTo>
                <a:cubicBezTo>
                  <a:pt x="295413" y="1319646"/>
                  <a:pt x="0" y="1024233"/>
                  <a:pt x="0" y="659823"/>
                </a:cubicBezTo>
                <a:cubicBezTo>
                  <a:pt x="0" y="295413"/>
                  <a:pt x="295413" y="0"/>
                  <a:pt x="659823" y="0"/>
                </a:cubicBezTo>
                <a:cubicBezTo>
                  <a:pt x="1024233" y="0"/>
                  <a:pt x="1319646" y="295413"/>
                  <a:pt x="1319646" y="659823"/>
                </a:cubicBezTo>
                <a:close/>
              </a:path>
            </a:pathLst>
          </a:custGeom>
          <a:solidFill>
            <a:schemeClr val="lt1"/>
          </a:solidFill>
          <a:ln>
            <a:noFill/>
          </a:ln>
          <a:effectLst>
            <a:outerShdw blurRad="190500" sx="102000" rotWithShape="0" algn="ctr" sy="102000">
              <a:srgbClr val="000000">
                <a:alpha val="4706"/>
              </a:srgbClr>
            </a:outerShdw>
          </a:effectLst>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sp>
        <p:nvSpPr>
          <p:cNvPr id="496" name="Google Shape;496;p10"/>
          <p:cNvSpPr txBox="1"/>
          <p:nvPr>
            <p:ph type="title"/>
          </p:nvPr>
        </p:nvSpPr>
        <p:spPr>
          <a:xfrm>
            <a:off x="480060" y="342900"/>
            <a:ext cx="7198500" cy="7053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dk1"/>
              </a:buClr>
              <a:buSzPts val="2400"/>
              <a:buFont typeface="Montserrat Light"/>
              <a:buNone/>
            </a:pPr>
            <a:r>
              <a:rPr lang="en" sz="2400"/>
              <a:t>Our people are world class</a:t>
            </a:r>
            <a:endParaRPr/>
          </a:p>
        </p:txBody>
      </p:sp>
      <p:sp>
        <p:nvSpPr>
          <p:cNvPr id="497" name="Google Shape;497;p10"/>
          <p:cNvSpPr txBox="1"/>
          <p:nvPr/>
        </p:nvSpPr>
        <p:spPr>
          <a:xfrm>
            <a:off x="480060" y="1752836"/>
            <a:ext cx="4092000" cy="2937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200"/>
              <a:buFont typeface="Montserrat"/>
              <a:buNone/>
            </a:pPr>
            <a:r>
              <a:rPr b="1" i="0" lang="en" sz="1200" u="none" cap="none" strike="noStrike">
                <a:solidFill>
                  <a:srgbClr val="000000"/>
                </a:solidFill>
                <a:latin typeface="Montserrat"/>
                <a:ea typeface="Montserrat"/>
                <a:cs typeface="Montserrat"/>
                <a:sym typeface="Montserrat"/>
              </a:rPr>
              <a:t>Empowered experts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900"/>
              <a:buFont typeface="Montserrat"/>
              <a:buNone/>
            </a:pPr>
            <a:r>
              <a:rPr b="0" i="0" lang="en" sz="900" u="none" cap="none" strike="noStrike">
                <a:solidFill>
                  <a:srgbClr val="000000"/>
                </a:solidFill>
                <a:latin typeface="Montserrat"/>
                <a:ea typeface="Montserrat"/>
                <a:cs typeface="Montserrat"/>
                <a:sym typeface="Montserrat"/>
              </a:rPr>
              <a:t>With an average tenure of </a:t>
            </a:r>
            <a:r>
              <a:rPr b="1" i="0" lang="en" sz="900" u="none" cap="none" strike="noStrike">
                <a:solidFill>
                  <a:srgbClr val="000000"/>
                </a:solidFill>
                <a:latin typeface="Montserrat"/>
                <a:ea typeface="Montserrat"/>
                <a:cs typeface="Montserrat"/>
                <a:sym typeface="Montserrat"/>
              </a:rPr>
              <a:t>7+ years, our 21,000+ digital engineers </a:t>
            </a:r>
            <a:r>
              <a:rPr b="0" i="0" lang="en" sz="900" u="none" cap="none" strike="noStrike">
                <a:solidFill>
                  <a:srgbClr val="000000"/>
                </a:solidFill>
                <a:latin typeface="Montserrat"/>
                <a:ea typeface="Montserrat"/>
                <a:cs typeface="Montserrat"/>
                <a:sym typeface="Montserrat"/>
              </a:rPr>
              <a:t>are empowered with cutting edge knowledge, skill and opportunity. Our teams have the deep industry and technical expertise required to create measurably better experiences with technology.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200"/>
              <a:buFont typeface="Montserrat"/>
              <a:buNone/>
            </a:pPr>
            <a:r>
              <a:rPr b="1" i="0" lang="en" sz="1200" u="none" cap="none" strike="noStrike">
                <a:solidFill>
                  <a:srgbClr val="000000"/>
                </a:solidFill>
                <a:latin typeface="Montserrat"/>
                <a:ea typeface="Montserrat"/>
                <a:cs typeface="Montserrat"/>
                <a:sym typeface="Montserrat"/>
              </a:rPr>
              <a:t>Customer centricity is our mission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900"/>
              <a:buFont typeface="Montserrat"/>
              <a:buNone/>
            </a:pPr>
            <a:r>
              <a:rPr b="0" i="0" lang="en" sz="900" u="none" cap="none" strike="noStrike">
                <a:solidFill>
                  <a:srgbClr val="000000"/>
                </a:solidFill>
                <a:latin typeface="Montserrat"/>
                <a:ea typeface="Montserrat"/>
                <a:cs typeface="Montserrat"/>
                <a:sym typeface="Montserrat"/>
              </a:rPr>
              <a:t>Everything we create, we do so with a mind for our client's customers and their evolving experiences. We are big enough for global scale and small enough for leading agility.  All this helps us deliver client </a:t>
            </a:r>
            <a:r>
              <a:rPr b="1" i="0" lang="en" sz="900" u="none" cap="none" strike="noStrike">
                <a:solidFill>
                  <a:srgbClr val="000000"/>
                </a:solidFill>
                <a:latin typeface="Montserrat"/>
                <a:ea typeface="Montserrat"/>
                <a:cs typeface="Montserrat"/>
                <a:sym typeface="Montserrat"/>
              </a:rPr>
              <a:t>NPS scores in the 90</a:t>
            </a:r>
            <a:r>
              <a:rPr b="1" baseline="30000" i="0" lang="en" sz="900" u="none" cap="none" strike="noStrike">
                <a:solidFill>
                  <a:srgbClr val="000000"/>
                </a:solidFill>
                <a:latin typeface="Montserrat"/>
                <a:ea typeface="Montserrat"/>
                <a:cs typeface="Montserrat"/>
                <a:sym typeface="Montserrat"/>
              </a:rPr>
              <a:t>th</a:t>
            </a:r>
            <a:r>
              <a:rPr b="1" i="0" lang="en" sz="900" u="none" cap="none" strike="noStrike">
                <a:solidFill>
                  <a:srgbClr val="000000"/>
                </a:solidFill>
                <a:latin typeface="Montserrat"/>
                <a:ea typeface="Montserrat"/>
                <a:cs typeface="Montserrat"/>
                <a:sym typeface="Montserrat"/>
              </a:rPr>
              <a:t> percentile of the industry.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1200"/>
              <a:buFont typeface="Montserrat"/>
              <a:buNone/>
            </a:pPr>
            <a:r>
              <a:rPr b="1" i="0" lang="en" sz="1200" u="none" cap="none" strike="noStrike">
                <a:solidFill>
                  <a:srgbClr val="000000"/>
                </a:solidFill>
                <a:latin typeface="Montserrat"/>
                <a:ea typeface="Montserrat"/>
                <a:cs typeface="Montserrat"/>
                <a:sym typeface="Montserrat"/>
              </a:rPr>
              <a:t>Driven by our core values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900"/>
              <a:buFont typeface="Montserrat"/>
              <a:buNone/>
            </a:pPr>
            <a:r>
              <a:rPr b="0" i="0" lang="en" sz="900" u="none" cap="none" strike="noStrike">
                <a:solidFill>
                  <a:srgbClr val="000000"/>
                </a:solidFill>
                <a:latin typeface="Montserrat"/>
                <a:ea typeface="Montserrat"/>
                <a:cs typeface="Montserrat"/>
                <a:sym typeface="Montserrat"/>
              </a:rPr>
              <a:t>Our organization is innately driven to find a better way through passion, innovation, respect, and leadership.</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500"/>
              </a:spcBef>
              <a:spcAft>
                <a:spcPts val="0"/>
              </a:spcAft>
              <a:buClr>
                <a:schemeClr val="dk1"/>
              </a:buClr>
              <a:buSzPts val="900"/>
              <a:buFont typeface="Arial"/>
              <a:buNone/>
            </a:pPr>
            <a:r>
              <a:t/>
            </a:r>
            <a:endParaRPr b="0" i="1" sz="900" u="none" cap="none" strike="noStrike">
              <a:solidFill>
                <a:srgbClr val="36312D"/>
              </a:solidFill>
              <a:latin typeface="Montserrat"/>
              <a:ea typeface="Montserrat"/>
              <a:cs typeface="Montserrat"/>
              <a:sym typeface="Montserrat"/>
            </a:endParaRPr>
          </a:p>
        </p:txBody>
      </p:sp>
      <p:sp>
        <p:nvSpPr>
          <p:cNvPr id="498" name="Google Shape;498;p10"/>
          <p:cNvSpPr/>
          <p:nvPr/>
        </p:nvSpPr>
        <p:spPr>
          <a:xfrm>
            <a:off x="480060" y="917665"/>
            <a:ext cx="6532200" cy="5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E2CFE"/>
              </a:buClr>
              <a:buSzPts val="1400"/>
              <a:buFont typeface="Montserrat"/>
              <a:buNone/>
            </a:pPr>
            <a:r>
              <a:rPr b="0" i="0" lang="en" sz="1400" u="none" cap="none" strike="noStrike">
                <a:solidFill>
                  <a:srgbClr val="5E2CFE"/>
                </a:solidFill>
                <a:latin typeface="Montserrat"/>
                <a:ea typeface="Montserrat"/>
                <a:cs typeface="Montserrat"/>
                <a:sym typeface="Montserrat"/>
              </a:rPr>
              <a:t>We deliver measurably better experiences</a:t>
            </a:r>
            <a:br>
              <a:rPr b="0" i="0" lang="en" sz="1400" u="none" cap="none" strike="noStrike">
                <a:solidFill>
                  <a:srgbClr val="5E2CFE"/>
                </a:solidFill>
                <a:latin typeface="Montserrat"/>
                <a:ea typeface="Montserrat"/>
                <a:cs typeface="Montserrat"/>
                <a:sym typeface="Montserrat"/>
              </a:rPr>
            </a:br>
            <a:r>
              <a:rPr b="0" i="0" lang="en" sz="1400" u="none" cap="none" strike="noStrike">
                <a:solidFill>
                  <a:srgbClr val="5E2CFE"/>
                </a:solidFill>
                <a:latin typeface="Montserrat"/>
                <a:ea typeface="Montserrat"/>
                <a:cs typeface="Montserrat"/>
                <a:sym typeface="Montserrat"/>
              </a:rPr>
              <a:t>enabled by a culture of collaboration. </a:t>
            </a:r>
            <a:endParaRPr b="0" i="0" sz="1100" u="none" cap="none" strike="noStrike">
              <a:solidFill>
                <a:srgbClr val="000000"/>
              </a:solidFill>
              <a:latin typeface="Arial"/>
              <a:ea typeface="Arial"/>
              <a:cs typeface="Arial"/>
              <a:sym typeface="Arial"/>
            </a:endParaRPr>
          </a:p>
        </p:txBody>
      </p:sp>
      <p:sp>
        <p:nvSpPr>
          <p:cNvPr descr="data:image/jpeg;base64,/9j/4AAQSkZJRgABAQEAYABgAAD/2wBDAAgGBgcGBQgHBwcJCQgKDBQNDAsLDBkSEw8UHRofHh0aHBwgJC4nICIsIxwcKDcpLDAxNDQ0Hyc5PTgyPC4zNDL/2wBDAQkJCQwLDBgNDRgyIRwhMjIyMjIyMjIyMjIyMjIyMjIyMjIyMjIyMjIyMjIyMjIyMjIyMjIyMjIyMjIyMjIyMjL/wAARCAMgAx8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kooAWikooAWikooAWikooAWikooAWikooAWikooAWikooAWikooAWikooAWikooAWikooAWikooAWikooAWikooAWikooAWikooAWikooAWikooAWikooAWikooAWikooAWikooAWikooAWikooAWikooAWikooAWikooAWikooAWikooAWikooAWikooAWikooAWikooAWikooAWikooAWikooAWikooAWikooAWikooAWikooAWikooAWikooAWikooAWikooAWikooAWikooAWikooAWikooAWikooAKKKKACiiigAooooAKKKKACignAyegrl9Y+IfhrRWaObUFnmXrFajzG/HHA/E01FydkJtLc6iivI7/wCNfJGm6Nx2e5lx/wCOr/jWBcfF7xRM2YvsMA9EgLfzJrZYao+hPtInvdFfPX/C0/F+c/2hD/4DJ/hU8Hxb8VRNmSSzmHo9vj+RFV9UqC9pE9+orx2x+NdwpA1HRo3HdraUqfybP867LSPib4Y1ZljN4bOZuAl2uzn/AHvu/rWcqNSO6KU4s7Cimo6yIHRgyMMhlOQadWRQUUUUAFFFFABRRRQAUUUUAFFFFABRRRQAUUUUAFFFFABRRRQAUUUUAFFFFABRRRQAUUUUAFFFFABRRRQAUUUUAFFFFABRRRQAUUUUAFFFFABRRRQAUUUUAFFFFABRRRQAUUUUAFFFFABRRRQAUUUUAFFFFABRRRQAUUUUAFFFFABRRRQAUUUUAFFFFABRRRQAUUUUAFFFFABRRRQAUUUUAFFFFABRRRQAUUUUAFFFIzBVJJAA5JNAC1DDd29xNNDDMkkkBCyhTnYTzg+/tXmPjL4itI0mnaHLtjGVlvF6t6hPb/a/L1rsPAmmHTPCVmrgia4BuJCepL8jP4YrSVNxjzMlSu7I4L4y6vcpqFhpcN1LHCYGlmjRyA5LYG7HXoa8pHAwOK6f4h6l/anjnUpFOY4XFun0QYP65rmK9KjHlgjCbvIKKKK1ICiiigAooooA2dC8Va14clDabeukWctA/wA0Tf8AAT0/DFeweFPijpmuNHaaiq6ffNwAzfupD/st2PsfzNeDUdRg1jUoQn6lxm0fW9FeF+B/iZc6K0enay73Gm8Kkx+Z4P8A4pfbqO3pXuEE8V1bxzwSLLDIoZHQ5DA9wa86pSlTdmbxkpbElFFFZlBRRRQAUUUUAFFFFABRRRQAUUUUAFFFFABRRRQAUUUUAFFFFABRRRQAUUUUAFFFFABRRRQAUUUUAFFFFABRRRQAUUUUAFFFFABRRRQAUUUUAFFFFABRRRQAUUUUAFFFFABRRRQAUUUUAFFFFABRRRQAUUUUAFFFFABRRRQAUUUUAFFFFABRRRQAUUUUAFFFFABRRRQAUUUUAFFFFABRRRQAUUUUAFeUfELxm1zLLommy4gU7bmZT9890B9B39eldL8QfE50PShaWr7b67BCkdY07t9ew/8ArV4rXXh6V/eZjUnbRFzSbE6lq9nYr/y3mWM/Qnn9M19CahdR6Vo9zdkAR2sDSAdsKuQP0rx/4Z2f2rxjHKRlbaF5PxPyj+deg/Eic2/w/wBWK9XRY/8AvpgD+hoxHvVFEKekWz51eR5pHlkOXkYuxPck5NNopVBdwiAs56KoyT+Fd5kJRXRad4D8UaoFaDR50Rujz4iH/j3P6VF4k8KXvhZraLUZ7Y3E6lxDCxYqo4yTgDk/yNSqkW7Jj5XuYVFFFWSFFdD4X8I3Hi03UVle20N1bgP5MwYb1PGQRnoePxFWdR+HHirTQWbTGuEH8Vq4k/Tr+lQ6kE+VvUrldrnK0U6WOSCVopo3jkXqjqVYfgabViCu7+Hfjt/Dl2um6hITpMzYBPP2dj/EP9k9x+PrXCUVE4KcbME2ndH1srK6hlIZSMgg8Glry34S+Lmu7f8A4R29kzNAu60Zjy0Y6p9V7e30r1KvKnBwlys6k7q6CiiioGFFFFABRXIal8S/DelancafdTXAnt32SbICwz9aq/8AC2/Cn/Pe6/8AAZqtUpvVInmXc7miuG/4W34U/wCe91/4DNR/wtvwp/z3uv8AwGan7Kp2Dmj3O5orhv8AhbfhT/nvdf8AgM1H/C2/Cn/Pe6/8Bmo9lU7BzR7nc0Vw3/C2/Cn/AD3uv/AZqP8AhbfhT/nvdf8AgM1HsqnYOaPc7mis/RdZtNf0uPUbEyG3kJCl0Kk4ODwfcVoVm1bRlBRRRQAUUVj694o0nwykD6rcNEJ2Kx7Y2fJHXoPemk27IDYori/+Fq+Ef+f+X/wGk/wra0DxVpPiYXB0qd5Rb7RIWiZMZzjqPY1TpySu0K6NqiiioGFFFFABRRRQAUUUUAFFFFABRRRQAUUUUAFFFFABRRRQAUUUUAFFFFABRXIP8TvCUcjxtqbbkYqcQOeQcelN/wCFo+Ef+gm3/gPJ/hV+zn2FzI7GiuQ/4Wf4Q/6Cv/kCT/4mlHxO8IE4/tYD6wyf/E0ezn2DmR11Fc9a+OvC94wWHXLPcegd9n/oWK3opop4xJDIkkZ6MjAg/iKlxa3HdD6KKKQBRRRQAUUUUAFFFFABRRRQAUUUUAFFFFABRRRQAUUUUAFFFFABRRRQAUUUUAFFFFABRWFq3jLw/od79j1LUo4LjYH2FGJweh4HtWhpWrWOt2K3unTie2YlVkCkAkHB60+VpXsK6LtFFFIYUUUUAFMmlSCF5pWCxxqWZj2A5Jp9cX8TNWOn+GDaxtiW9fyv+ADlv6D8aqMeaSQm7K55V4g1iTXtcudQkztkbESn+FB90fl+pNZlFFeqkkrI5G7npXwit8z6rc4+6scYP1yf6Cu08Z6PPr3hK/061Cm4lQGIM2AWDAjJ/CuZ+EiY0nUn9bhR+Sj/ABr0SvOrSaqto6YL3DyrQ/gzbxhZddvmmbqYLb5VH1Y8n8MV6FpXh7SNEjCabp1vb/7SJ8x+rHk1p0VE6k57spRS2Cvn74sPI3j64D52rBEEz6Yz/MmvoGvMviv4QuNUhi1vT4mluLZNlxEgyzx9QwHcjn8D7Vph5KNTUmorxPFaKOtHSvUOc7b4TvIvj+2CE7XglD49MZ/mBX0DXmXwo8IXGlwS63qERiuLlPLgicYZY+pYjsTx+A969Nry8RJSqaHRTVomdquhaVrcPlalYQXK9i6/MPo3UfhXmXiL4OFQ9x4euSe/2W5b/wBBf/H869eoqIVZQ2Y3FPc+UL6xu9Mu3tL62kt7hPvRyLg//XHuKr19Q694b0vxJZfZtStlkA+5IvDxn1Vu38q8J8YeA9R8KSmY5udNZsJcqv3fZx2Pv0P6V3UsRGej0ZjKDWxzun39xpeo29/attnt5BIh9x2Psen419QaPqcGs6Paajbn91cRhwPT1H4HI/CvlavZPgxrJm0++0aRstbsJ4R/stww/A/+hVOKhePN2HSetj1OiiivPNwpCQoJJwByTS1DeQNdWU9uknltLGyB8Z2kjGce1AHyzqt4dQ1m+vWOTPcSSZ+rHFVK9eHwQiAA/t+Xj/p1H/xVL/wpGL/oPy/+Aw/+Kr01iKSVrnP7OR5BRXpXiP4VweHvD15qra1JL9nTcIzbhd5JAAzu9TXmtawqRmrxJaa3CinwxNPPHCgy0jhF+pOBXrf/AApGL/oPyf8AgMP/AIqlOrGHxMFFvY8hpCcAn0r2D/hSMX/Qfk/8Bh/8VQPgjDkZ16QjPI+zDn/x6s/rNLuV7OR3ng6xOneDdItSMMtsjMPdhuP6mtymoixxqijCqAAPYU6vNbu7nQgooopAFeJfGi983xFp9kDxBbFyPQu3+C17bXzh8Rb37d491RwcrE6wD/gKgH9c104VXqX7GdR+6cvXuXwbsvI8KXN2Rhrm6bB9QoA/nmvDe1fSngKyOn+BtIhK4ZoBK31f5v610Yt2hYiktTo6KKK843CiiigAooooAKKKKACiiigAooooAKKKKACvOvix4j1DQ7LTYtMvJLaeeVmZo8ZKqOnPuR+Vei14Z8Y73z/FltaA8W1qMj3Yk/yArbDx5qiuRN2ic7/wnviv/oO3X/jv+Fek/CfV9a1xtUuNT1Ga6ih8uONZMYDHJJ4HpivFK95+EFn9m8FfaCMNdXLyZ9QMKP8A0E11YmMY09EZ022zvqKKK883CqOtXg07Q7+8Jx5Fu8gPuFOKvVx3xQvfsfgK/AOGuCkA/wCBMM/oDVQV5JCbsj5+tIJLy7gtk5lnkWMZ/vMcf1r0b/hSusf9Baw/74euZ+H1l9v8d6THjIjlMzfRAT/PFfSVduIrShJKJlCKauzxP/hSusf9Baw/74emv8F9cAymp6ex9CHH9K9uorD6zU7l+zifPOofC7xVYRs4so7tB1+zShj/AN8nBrn9O1bVvD16Wsbq4sp42w8fIGfRkPB/EV9TV5h8YfD9tJpEWuxRql1DIsUrAY8xG4GfUg4x9TWtPEOb5ZrciVOyujd8A+N08WWUkVwiw6lbgGVF+66no6+3qO1dlXzp8NLt7Tx9poQnE++Fx6gqT/MCvousMRTUJ2RcJXQUUUViWFFFFABRRRQAUUUUAFFFFABRRRQAUUUUAFFFFABRRRQAUUUUAFFFFABRRTZHWKNpHOFQFifYUAfOPxEvvtvjzVpM5WKQQj6IoB/XNe3+BbI6f4I0iAjDG3WRvq3zf1r50laTV9ZduTJe3RP4u/8A9evqiCJbeCOFBhY1CD6AYrsxPuwjEyp6tskooorjNQooooAK8c+Kl8bjxLDZg/LawDI/2mOT+gFex18/+M5zc+MtVcnO2coPooA/pXRhVedzOq/dMOiiivQOc9Y+Ejg6RqSelyp/NR/hXoleW/CO4xc6ra5+8sco/AkH+Yr1KvMr/wARnTT+EKKKKyLCiiigDmtW8A+GtZna4utMRZ2OWkhYxlvrtxmjSfAPhrRp1uLXTEadTlZJmMhX6buldLRVc8rWuKyCiiipGFFFFAGdqWt2GkSwJfTeV5+djbSRxjrjp1qyfsupWZX91c20y4I4ZHB7ehrz74jT79XtIAf9XAWI9yf/AK1YGja7e6HceZbPmIn95Cx+V/8AA+9dEaHNDmW5k6tpWZR8f/DqTQDJqmko0mlk5ki6tb/4p79u9Zfw01E6f47sPmwlzut299w4/UCvd9J1ey1/TzNBggjbLE/JQnqCPT+deS+MPBT+E9fs9e0pD/Zguo3dB/y7NuH/AI6e3p09K1p1XKLpz3E4680T22iiiuI2CiiigAooooA89+MV79n8HxWwbDXV0i49QoLH+QrwqvU/jXe79R0mwB4jieZh7sQB/wCgmvLK9PDK1NHPUfvG/wCB7L7f430iAjKi4EjD2TLf0r6Yrwn4O2X2jxhNdEcWtqxB92IA/TNe4XV1BZWslzcypFBEpaSRzgKB3NcuKd6ljSlsTVmar4i0fRFzqWo29seyO/zH6KOf0ryLxZ8V77UZJLTQWezsxwbjH72T3H90fr9K85d3kkaSR2eRjlnYkk/Umqp4VvWWgpVUtj3q4+L3heFiqNez47xwYB/76IpIvi94XkYBzexZ7vb5A/ImvBNyg4LD86XOelb/AFSmT7SR9P6R4p0PXTt03U4J5MZ8vdtf/vk4NbFfJKO8ciyRuySIcq6nBU+oPave/hl4vn8R6VNaX777+ywGkPWVD0Y+/BB/Cuath+Rcy2LhUvozuXdY42djhVBJPsK+Ur+6a+1G6u2OWnmeQn6sTX0p4xvv7O8HatdA4ZbVwv1YbR+pr5iAwAPStcGt2TVfQkhha5uIrdBlpXWMD3Jx/WvrC3hW2tooE+5EgRfoBivm3wLZfb/HGkQ4yqziVvogLf0r6WqcY/eSHSWlwqpqGqWGlQefqF5BbR/3pXC5+nrXCeO/iWmhyvpej7JtRXiWVuUgPpj+JvboO/pXi19f3mp3bXV/cy3M7dXlbJ/D0HsKilhpTV3ohyqJaI94uvix4Utn2pc3FxjvDAxH5nFRQ/F7wtK4V3vYQf4pLc4H5E14GWA6kD6mgEEZBzXR9UgR7WR9UaVrml63AZtMvobpB18tuV+o6j8a0K+UbDULzSr2O8sLiS3uIzlXQ4/A+o9jX0N4G8Wx+LNF85wsd9AQlzGvQHsw9j/iK5q1B09VsaQnzaHUVzb+P/CkcjRvrlqGVirDJ4I4PatjVrwafo17eE48iB5PyUmvlTJb5m5Y8n60UKKqXuE58p9L2vjjwze3UVrbazbyzzOEjRc5Zj0HSt/IAya+X/DOq2+h+IbXU7mF50tizrGhALNtIXk9Bk1f8R+O9c8SsyXFybe0PS1tyVXH+0erfj+VaSwj5rR2JVXTU9t1Xx/4Z0h2juNUieZescAMrD/vngVjr8X/AAuX2k3yj+8bfj+deC4A6CitFhIW1ZPtWfUOi+J9G8QIx0y/inZRlo/uuv1U81qlgASTgAZJr5PtLu5sLyK7tJnhuIm3JIhwQf8APavf4/Fa6l8L7nXsBJhZyCRR0WUAqcfj/OsK2H5GrbMuM7l7/hP/AAn0/t2z/wC+j/hXhXjTVI9Z8Y6lfQSCSB5AsTr0ZFAAI/KsADCgegpa66VCNN3RlKbkg7V714T8WeF9H8KaZYS63aJLDbqJF3Hhjyw6epNeC0VVWkqiswjLlPp/TfFeg6xefZNO1S3ubjaW8uMknA6mtivGPgrZb9Y1S+I4igWIH3Y5P/oNez15tWChPlRvF3Vwryz413uzTNKsQ3+tnaVh7KuB+rV6nXhXxivftHi+C1B4tbVQR7sSf5Yq8Mr1EKo/dJfgzZed4nvLwji3tdoPoXYf0U17hXmPwWsvL0LUb0j/AF9yIwfZF/xY16dSxDvUYU1aIUUUViWFcB8X7tYPBXkFvnubmNFHqB8x/lXeu6Rxs7sqooyzMcAD1NfPnxI8Wx+JtcWO0fdp1mCkTdpGP3n+nAA9h71vh4OU15ETdkHwtsmu/Htm4BK2ySTMfT5do/VhX0LXnHwl8My6XpEur3cZS4vwBGrDBWIcj/vo8/TFej0YifNU0CmrIKp6hq2n6TB52oXsFrH2Mrhc/T1rhfHvxJXQ5H0rRykuojiWUjKQe2O7e3Qd/SvNtH8L+JPHV495ueVC2Hvbtztz6DufoKIULrmm7IHPWyPWrn4reE7d9q3s0/vFAxH6gUkHxX8JzuFa7nhz/FLbsB+ma561+Cdv5YN3rczP3EMIUfrmq+o/BR0hZ9M1jfIOkdzFgH/gS9Pyq+XD7XYrz7Hqenatp+r2/n6deQXUXdonBx9fT8auV8vf8TrwdrzAGWw1CA84PDD+TKfyr3/wX4pi8V6Et4FEdzGfLuYgfuv6j2PUf/WqKtHkXMndDjO+jOioorE8T+KdP8K6Ybu9Ys7ZWGBD88reg9vU9qxSbdkWbLOqKWdgqqMlicACuZ1D4h+FdNdo5dXikkXgrADL+qjFeNap4g8S+P8AUxaRrNKrHMdjbZEaD1b1+rV02lfBe+mjV9U1OK1JGfKgTzCPqTgflmuj2MIL94zPnb+FHWf8Lc8Kbsebdj3+zNWxpnjzwzq0ixW2rQiVukc2Yyf++sZrj5PgnYlf3Wt3St6vCpH9K4bxb8P9U8KxC5laO7sWbb58YI2k9Aynpn15FUqdGTtF6i5prdH0ZRXkfwk8W3U90/h6+maVRGZLR3OSuOqZ7jHI9MGvXK56kHCXKzSLurmXqPiPRtIuFt9R1O2tZmXeElkAJHTP6VZ0/U7HVrX7Tp91FcwbivmRNkZHUV4F8T70Xnj6+AOVt1SAfguT+pNdhYeK7bwJ8NtJhSNZtUu4mnjgJ4AZid7e2MfWtXQ9xNbsjn1Z6df6lZaXbG4v7uG2hH8crhR/9euTuPiv4TgkKLeTTAfxRW7EfqBXjyW3ibx5qrzKlxqE+fmc/LHF7ZPyqPaumi+DGvSwgy6hp8TEcrl2x+OKv2NOPxy1FzyeyPaNPvYtS063voN/k3EYkTeuDtIyMirBIAyTgDvWTe6jp/hXw8s17KI7a1iWMY6sQMBVHcnFeHeJfHGt+MLz7HAJYbSRtsVlb5LSem7HLH26VjTouo9Ni5SUT2PUvH/hfSpGjn1aF5V6pADKR/3zkVmx/FjwnI4U3dwgP8TWzY/SuF0X4O6vexLLqV1Dp6sM+UF8yQfXBAH5mtqb4JQeSfI1ybzcceZACp/I5rXkoLRsm8+x6NpWvaVrcRk0y/gulX7wjb5l+o6iqfjO+/s7wbq9yDhltnVfqw2j9TXhWs+GvEPgbUIrty8W1v3N7bMdpPpnt9D1966DX/iEPEfw8axucR6p9ojSZVGFkQZbePTkAEUfV/eTi7oOfSzOd8A2P27xzpEOMqk3mt9EBb+gr6Urw34N2Xn+K7q7I4trUgH3ZgP5A17lSxTvO3YKS90KKKK5jQKKKKACvnTxASfEmqE/8/cv/oRr6Lr548TxeT4q1aP0upD+Zz/WurC/EzKrsZVFFFdxgdX8Ob8WXjK2RmwlyjQH6kZH6ivca+Z7e4ktLqG5hOJYXEiH3ByK9I8Z+PnaytrPR5jG1zAs00yH5kDDhAex9TXJXpOU1Y1pySjqeg3mt6Vp77LzUbWB/wC7JKAfyqe0v7O/j8yzuobhR1MUgbH5V81n5mLMSWJySeSansr26066S6sp3gnQ5Docfn6j2NJ4TTRj9r5H0rRXO+DvEo8S6N58gC3cLeXOi9M9iPY/410Vckk4uzNU7q4UUUUhhRUF3dQ2VpLc3DhIY13Mx7V5pq3jnU72Vlsn+x2+fl2gFz7k9vwq4U5T2JlNR3PUqK8bg8U65byB11KZ/aQ7wfwNd1ofjODUbC4a6VYbq2iMrqD8rqB1X/CqnRlFXJjUizivF919r8UXjA5WMiIf8BHP65rDp8srzzSTSHLyMXb6k5pld0VZJHM3d3Lul6pdaPfLd2j4YcMp+649DXq+manYeJNLYhVdHXZPbvyVz1BHp7143VzS7+707UIp7OUpKWCn0YE9CO4rOrSU1fqXCbi7HtwAUADoBgUtAorgOoKKKKACiiigD55+KN79s8e3qg5W3SOAfguT+rGuOq/rl4dR1/Ub0nPn3Mjj6bjj9KoV7FNWikcsndnsfwUstum6rflf9ZMkKn2UZP8A6FXo+raTZ63pk2n38Xm28wwy5wfUEHsQea5r4XWX2PwDYsRhrhnnP4scfoBXZV5laV6jZ0RXunzp4s8Ban4av0SKOS8sp32W80aZJY9EYDo36Gu38J/CS2ihS78R/vp2GRZo2ET/AHiPvH26fWvVCB3pkkscEZeWRI0HVmIAH41UsTOUeUSpq9yjBoOj20Qig0uyjQDACwL/AIVwPxP8G6TH4en1qxtYrS6tmUv5S7VlUkAggcZ5zmuuvfHXhewYrPrdpuH8MbeYf/Hc1598QviDo+u+G30vSpZ5JJJkZ2aIquwHPf3xRRjU50wk42PKq9B+D0rJ4zmjB+WSzfd+DKRXn1ek/Bi2MniW/ucfLDabc+7MP/iTXdX/AIbMYfEdh8Xr37N4K+zg4a6uY48eoGWP/oIrwavV/jZe5udIsAfurJO344UfyNeUVOGVqY6j949D+Dll5/i64uiOLa1OD7sQP5A16B8R/Fx8NaIIbR8ajeZSEjrGv8T/AIdB7msH4K2WzStUviP9bOsSn2Vcn9Wrz3x1rh1/xfe3IbdBE3kQemxTjP4nJ/GsnD2ld32RV+WBzpJLFmJLE5JJySa7jwD4AbxS7X18zxaXE235OGmYdQD2A7n8BXDYycZAzxk9q+gdG8ZeC9G0az06DW7YJbxBOFbk9z07nJrXETlGNoEwSb1N+x8LaDp0AhtdIs0UesQYn6k5JrD8VfDrR9dsJmtLSGz1FVJilhUIGbsGA4IP51b/AOFi+Ef+g5B/3y3+FH/CxfCP/Qct/wDvlv8ACuFe0TvqbPlPnFlaN2R1KupKsp7EdRXZ/C3VG07xvbw7sRXqNA49Tjcp/MfrXMavNFc63qE8BBhluZHQjupYkGr3g3d/wm2ibev2yP8AnzXpTXNTd+xzrSR7b8Tb37F4B1HBw0+2Bf8AgTDP6Zr53r2f41XuzR9MsQf9dcNKw9lXH82rxiscIrU7lVHqWbCwu9UvY7Oxt3nuJDhY0HJ9/Ye5r1jQPg3bpEk2v3byykZNvbNtRfYt1P4Yqp8E7Ldd6vfkfdSOBT9SWP8AIV7DWWIryUuWJcIK12csPhx4REPl/wBiQkYxuLtu/POa8V8c+HIvDHieWwt2ZrZ0WaHeckKc8E98EGvpOvAPizdC48dzRg5Fvbxxn64Lf+zUsNOTnZsKiVjh69h+G2kQ+IPhxqGl3jypay3pBMTYbACHGceorx6voT4WWf2TwFZsRg3DyTn8WwP0ArfFO0CKauzlvFnw18PeH/C9/qcMt8ZoUHlh5gQWJAGfl968kr3L4yXvkeE7e1Bw1zdKPwUFj+uK8Np4ZylC8mFSydkbvg3Q4vEfim00y4LrBIHaUxnDBVUng/XFesf8Kb8Nf899R/7/AC//ABNcp8GLLzfEV/eFciC2CA+hdv8ABa9trnxFWSnaLLpxTWpheGfCeneE7aeDTmnZZ3Du0zhjkDA7Dit2iiuVtt3ZqlYK+aPHN7/aHjjV585UXBiU+yAL/SvpK5nW1tZrh/uxIzt9AM18oySPd3Lyn5pJ5C31LHP9a68GtWzKq9LHp/gz4j6H4a8MW2mz2t886F3laNFKlmYnjLemK3v+FzeH/wDny1H/AL9p/wDFVnp8E7UopfW7gMQMgQLwfzpf+FJWn/Qduf8Avwv+ND+rt3bBc6L5+M3h/HFlqOf+uaf/ABVULv412ioRZaNO7djPKqj9M0h+CNtjjXp8+9uv+NZl98FtTiVmsdVtrgjoksZjJ/EZFCWH7g/aHPav4v8AEvja5TTlOI5mwllbfKrn3JOW/E4rtfB/wmW0mjv/ABEY5ZEIZLNDlFP+2f4voOPrXl+s6Bqvh+6EGqWclu5PyMeVfH91hwa774e/Ee4gu4NG1ucy28hEcFzIfmjbsrHup6Z7fy1qxfJ+62Ji1f3j2cAAYFcn8QPFP/CMeHWkgYfbrkmK2B7HHL/gP1xXWV89/FHWjqvjKeFWzb2A+zoO27q5/Pj8K5KFPnnZmk3ZFbwN4Vk8Xa+y3DSGzh/e3cueXyeFz6sc8+ma+iLa2htLaO3t4kihjUKkaDAUDsBXLfDbRBovg21LJtuLwfaZTjn5vuj8FxXXUV6jnLyQQjZBRRRWJZ5z8X9Eju/DcerIg+0WMgBYDkxscEH6Eg/nXH/B/UntfFstjn93eW7ZGf4k5B/LdXqHxDAPgDWd3/PD9dwxXjXw0z/wsHS9vrJn6eW1dlL3qEk+hlLSaPouvGvFngfxX4g8bh7hkls522xXKf6u3iH8JXqD/M9/T2WiuanUcHdGjSaMfw74a07wxpy2enxY7ySt9+VvVj/ToK2KKZLNFBGZJpEjQdWdgB+ZqW23djH1geN0ifwPrQmAKfZXPPqBkfriob/x/wCFtOLLNrFu7j+CAmU/+O5rgvGvxP0zWvD93pOm291uuAFM0qhVADAnjOecYrSnSm5LQmUlY5b4Zhz8QdL2dvMJ+nltmvovoMngV4V8HbL7R4vnuiOLW1Yg+7EAfpmvYfEl6NN8M6neZwYbaRgffacfrWmJ1qWJp6RPmnWrz+0td1G8Jz59zI4+hY4/Sut8G+D7vxxqLahqTyJpsO2NnHBk2gARp6AADJ7fWuQ0nTZtW1Sz02D/AFtzIsYPpnqfwGT+FfUGl6bbaPplvp9mgSCBAij19z7k8mujEVPZxUY7kQjzO7JLGwtNMs47Syt44LeMYWOMYA/z61M7rGjO7BVUZJJ4Ap1cJ8V9dbSvChs4X23GoP5IIPIQcufywPxrgjFzlbubN2Vzy3xz4rm8Wa8fILmwgby7SIfxdt+PVv5Yr1j4f+B4fDOnrd3cavq065kc8+SD/Av9T3rzn4UaAureKDfTJut9OUSAEcGQ8J+XJ/AV73XTiJqK9nEzgr+8wooorkNSC8s7e/tJbW6hSaCVdrxuMhhXzj428Mnwr4ikskcvayL5tuxOTsJIwfcEEe9fStfPfxUvftfj26QHK20UcI+uNx/Vq6sI3z2M6qVjtPgrZeXo2p3xH+uuFiU+yLn+bV6hXI/DKy+xeAdOyMNOGnb/AIExx+mK66sazvUbKirRQUUUVmUFFFFABXhvxFtDa+NLpsYWdElHvkYP6g17lXmnxa00tDp+qKPuMYJD7Hlf1B/Ot8PK0zOorxPLqKKK9E5wooooAKKKVVZ3VEVmdjhVUZJPoBQB6F8JHk/tbUkGfLMCE/Xccf1r1muR8AeGpNA0Z5Ltdt7dkPIv9xR91fr1J+tddXmVpKU20dMFaIUUUVkWcT8R7p47CztVOFmkLP77QMfqa86r0/x9psl7o0dzEpZ7Ri7Af3Dwfy4NeYV3YdrkOWrfmClBI6EjIwcUlFbGYUUUUAFaXh+2+1+IbCHGQZlY/Qcn+VZtdh8PLEzavPesPlt49oP+03/1gfzqKkuWLZUFeSR6XRRRXnHYFFFFABWZ4ivRp3hvUrzODDbSMPrtOP1rTrifite/ZPAd1GDhrmSOEficn9FNVBc0khN2R8+jhRnrQckYHU9KWtPw7Zf2j4m0uzxkS3UYb6bgT+gNew3ZXOVbn0rolmNO0KwsgMeRbpGR7hRmodd8RaZ4csvtWpXIiU8Ig5eQ+ir3o8Sa9beG9DuNTufmWMYSMHBkc/dUfU182azrN9r+pyahqEpkmfoP4UXsqjsK8yjRdV3ex0Sny6Hb698X9WvWaLR4UsIOgkcB5T/Qfr9a4O+1O/1SUyX97cXTnvNIW/Q8U7S9LvdZ1GKw0+BpriU/Ko6AdyT2A9a9c0L4OafBGsut3Ul3N1MMJKRj2z94/pXY3SomVpTPFsqOOBTmR0xuRlyMjcMZFfUGn+F9C0pQLLSbOEj+IRAt+Z5rxD4o3n2vx7dopyltHHAPbAyf1alSr+0lZIJQ5Vc42vafgtZeXoepXxH+vuBGD7Iv+LGvFq+ivhrZfYvAWmgrhpladv8AgTEj9MUsU7QsOktTyr4q3v2vx5cxg5W2hjhH1xuP/oVcVWn4ivf7R8TapeZyJrqRl+mcD9AKzME8L948D61vTXLBIiWrPcvCz/8ACPfBqS/+7I1vNcD/AHmJC/8AsteGDOOTk9zXvXjmH+yvhI1ko2+XDbwED/eXP8q8GrDDa80u7KqdEBIAyTik3r/eH5123wrs7e98bIlzDHNGttI2yRQwJ4HQ/Wvc/wCw9I/6BVj/AOA6f4U6uIVOXLYI0+ZXPlbev94fnRvX+8Pzr6p/sPSP+gVY/wDgOn+FH9h6R/0CrH/wHT/Cs/ri7Fey8z5W3r/eH5113wxtFvfH1h0K24ec49lwP1Ir3v8AsPSP+gVY/wDgOn+FS2+mWFpJ5ltY20MhGN0USqcemQKmeKUotJDVKzueLfGS98/xXa2gPFtagkf7TEn+QFed10Xjy9+3+OtXlzlUn8pT7IAv9DXOE4BPpXXRVoJGUndnvPwgsvs/gs3BGGurl3z6gYUfyNd/WH4Nsf7O8G6RakYZbZGb6sNx/U1uV5dR802zpirKwV8v+Kb3+0fFmrXYOVkun2/QHaP0FfSuqXYsNIvLwnAggeT8lJr5T3F/mb7zcn611YNatmdV9BDnacde1fU+g2Q07w9p1kBjybaNCPcKM/rXzVoFl/aPiPTLLGRNdRqfpuGf0zX1NRjHshUluzxn41Xu/VtLsQeIoHlI92OB/wCgmvLq674m3v23x9fgHK24SAe2Fyf1Jrka6aCtTRE3eTPbPgvZeV4dvr0jm4uto+iKP6k16XXLfDqy+w+AtKQjDSRmZvq5LfyIrqa82q7zbN4qyQUUUVmUc34+vfsHgbVpg2GaAxL9XIX+teCeE7Iah4u0i0Iyr3SFh7Kdx/QV6z8Zb3yPCtraA4a5uhn3Cgn+eK4n4SWX2nxws5GVtbd5PxOFH8zXbR92jKRjPWaR75RRRXEbBRRRQBQ1jR7LXdMm0+/iEkEox7qezA9iPWvmLVdPl0rVbzTpjmS2laIsO+DwfxGDX1ZXzP44nS58c6zJGQV+0lcjvtAU/qK7MI3doyqrS57p4V1xr3wDZatctl0tSZT6lMgn8dtfPNpFJreuwRMSZL66UMfd25/ma9f03fp3wHlfkM9lKw+jscfoa84+HsAuPHujoRwspf8A75Un+lVRSipyQpa2R9IJGsUaxoMKoCqB2Ap1FFcJsFFFFAHF/FS7+zeAb1M83Dxwj8WBP6A15r8JLVrjx1HMBlbe3kc+2cKP510fxq1MbNL0pG5Ja5kHsPlX+bflUnwV0wrbanqrr/rHW3jPqF5b9SPyrsj7mHb7mT1mer1xviX4laH4eke3R2vr1eDDbkYU/wC03QfTk+1cx8T/AB3PbTSeH9JmMbgf6ZOh+YZ/5Zqe3HU++PWuS8GfD698VYupXNppgbBm25aQjqEH9Tx9ainRio89TYcpu9oljVviv4k1JzHaPFp8bcKsC7nP/Aj3+gFUrfwj4z8UuJ5ra8lVufOvpSq/hu5/IV7doXg/Q/DqL9gsYxMOs8g3yN/wI9PwxW7TdeMf4cQ5G/iZ47p3wUuGAOpavHH6pbRFv1bH8q5/4h+FtK8Jz6dZ2D3Ek00byTPM4ORkAYAAA719BV8/fFe9+1+O54g2VtYY4h7HG4/+hVVCpOpU1YpxUYnXfBSy2aZqt8V/1syxKfZVyf1at34r3v2TwHcRg4NzLHD+Gdx/Ral+F9l9j8A2BxhrgvOfxY4/QCuX+Nd7iDSLANyzyTsPoAo/mahe/X+Y9oHO/CKy+1eNvPIytrbPJ9CcKP5mve68m+CdliHV78j7zxwKfoCx/mK9ZqcS71GOmvdCvCfjDqBufF8VmD8lpbKMf7Tncf0217tXzX4/nM/jzWXP8M+wf8BUD+lVhFepcVV+6er/AAj00WfgtboriS9neUn1UfKP5H8672sLwZALbwVo0SjAFpG34kZP863axqO82y4qyCiiioGFfLPiC7bU/Eep3S8me6kKfTdgfpivpbXb0ad4f1G9Jx5FtI4PuFOP1r5t8LWR1HxVpNowyJLqPf8AQHcf0BrswqspSMqmtkfS2lWg0/SLKzAwIIEj/JQKuUUVxmoUUUUAFFFFABWX4i0ldb0G80843Sp+7J/hccqfzArUopp2dwPmV0eKR45FKyIxVlPUEcEU2u9+Jnh02OpDWLdP9HuzibA+5L6/8CH6g+tcFXqQmpxujkkrOwUUUVYi9pMunRajEdVt3nsidsgjcqyj+8Mdcele4aD4d8PafFHeaTaQnzF3JcZLsQfQnpXgNdd4M8aS+HZhaXZaTTJGyQOTCT/Evt6iuevTlJXizSnJJ6nt1FRW1zDeW0dxbyrLDIu5HQ5DCpa886AooooACAQQRkGuM1b4f2t1M02nz/ZWY5MTLuTPt3FdnWB4n8SRaFabUKveyD91H6f7R9v51cHJP3SZqNtTzXWtHbRLtbWW6hnm27mWIH5PTOe9ZtPmlknmeaZ2eWRizs3Uk0yvQje2pyO19AooopiCvXvCOlHStAhSRcTTfvZM9QT0H4DFcF4P0Q6vq6ySrm1tiHkz0Y9l/r9BXrVcuIn9lG9GPUKKKK5TcKKKKACvJ/jZe4ttIsAfvSPMw+gCj/0I16xXgvxevftPjVbcH5bW2RPxbLH+YrfDK9REVH7pwVdr8KrL7X48tpCMrbQyTH642j/0KuKr1f4J2WbnV78j7qxwKfrlj/IV3V3amzGCvIj+NOpu9/pulK37uOM3Dj1Ynav5AH868sr0b4y2kkXim0uyD5U9qFU+6scj/wAeFec0Ye3s1YJ/Eez/AAX0+BNHv9SwpuJZ/Jz3VFAOPxJz+Ar1Cvmvwp401LwjNL9kWOa3mIMkEucEjuCOhrpNQ+Mut3ERSysbSzY/8tCTKw+mcD9DXNVoVJTbRpGcUj2HV9a07QrJrzUrqO3hHTceWPoo6k/SvmXWr/8AtXXb/UOQLm4eRQeoBPH6YqPUdTvtWuzdajdy3Mx/jlbOPYdgPYVVrejQ9nq9yJz5g2s5CL95jgfU19PXBXw/4MkI+UWNgQPqqf4ivnjwrZjUPFuk2pGVe6Qt9Adx/QV7d8Ub37H4BvlBw1wyQD8WGf0BrLE+9OMSqeibPnkZIyep61reGbL+0fFOlWhGVluow30Byf0FZVdv8J7L7V46hlIytrBJKfrjaP8A0Kumo+WDZnHVo9U+Jds114A1QKMmNVl/75YE/pmvnSvrG7tor2zntZl3RTRtG49QRg18va5o1zoGs3OmXSkPA2FbHDp/Cw9iK5sJJWcTSqupq+AdYi0PxnY3VwwS3ctBIxPChhgE+wOK+kgcjNfJFdXo3xF8SaHapaw3aT26DCR3Kb9o9Acg4/Grr0HN80RQmloz6MrlfGHjnT/ClqUJW41F1/dWqtz9W/ur/PtXkt/8UvFV9E0a3kNqrdTbRBW/M5IrjpJJJpXllkeSRzlndiWY+pJ61lTwjveZUqvY+iPCXj/S/FKLDuFrqIHzW0jfe90P8Q/WupnmW3t5J3+7GhdvoBmvmLw7oGpeItWjtNMRhIpDNPkhYR/eJHT27mvdvFTy6H8Nr9ZLuW5mjtPIM8uN8jN8uT+dZ1qUYzSi9xxk2rs+d552urma4c5aaRpD9WOf60+xtWvdQtbRRlp5kiH/AAIgf1qAcDFdP8O7L7d490pCMrE5nP8AwBSR+uK9CT5YtmK1Z9HRoscaxoMKoCgewp1FFeOdRyXxMvfsXgLUsHDThYF/4EwB/TNfOte0fGq98vRdNsQf9dcGRh7Iv+LV4vXo4RWp3Oeo9Ts/hZZfbPHto5GVto5Jj9cbR+rV9CZAGTwB1rx34J2W691a/I+5HHCp+pLH+Qr1bVS40e9Med4t5NuPXacVzYl3qWNKekT5h1i8Ooa3f3pOfPuJJM+xY4/SqaoZXWNfvOQo+p4pqfcX6U5WKsGUkMpyCOxr0krKyMOp9XWNstlp9tar92GJYx+AAqxXgkXxd8Tx24iIsZHAx5rQncfc4OP0r0L4Za5rHiLTL/UNWuRKPtAihVYwqqAoJxj6/pXlzoTguaR0Rmm7I7miiisSzxf41XvmazpliDkQwNKR7s2P/ZavfBOy/d6vfkdWjgU/QFj/ADFcf8S737b4+1HBysGyAf8AAVGf1Jr0f4WT6fpvgqLz761imuJpJWV5lDAZ2jIJ9FruneOHSMVrM9Doqj/bWlf9BOy/8CE/xo/trSv+gnZf+BCf41xWZtcvUVlT+JdCtlLTazYIB63C/wCNczrHxY8OafGws5JNRn7LCpCZ92PH5ZqowlLZCukdH4o1+Dw3oFzqMxG5F2woeryH7o/z2Br5rs7S61rVobSPMl1eTbc+rMeT/M1o+JPFGqeLdRSa8PyqdtvbRAlUz6DqSfXrXqfw08ByaIv9s6rHt1CRMQwnrAh6k/7R/QfjXZFKhC73Zk/femxv+LNNW3+G2o6fbA7ILHYg9kA/wrxb4fXK2vj3R5GOFaUx5/3lIH6mvo64gjubaW3lGY5UKOPUEYNfLuq6dd+GvEE1k5aO4s5sxv6gHKMPqMGowz5oyh3HU0aZ9TUVzXg/xjY+KtNjdJEjv0UC4tifmVu5A7qfWulrkacXZmqdwpksscETyyuEjRSzsxwFA6k0y5ureyt2nupo4YUGWkkYKo/E14v8QviMmtRPpGjOwsCf39weDN/sj0X+f063Tpym7ImUlFHJ+J9Ym8V+LLi8gRnE0ghtYwOSo4QfU9fxr3rRtPi8H+C44GwfsVs0szD+J8FmP55rg/hZ4IkWWPxFqcRTAzZROOef+WhH8vz9K9G8T20l54V1W3iBMklpIqgdztPFbV5ptU1siYJ/Ez5usoZ/EPiKCGVyZ9QugHfvl25P6mvqG0tILGzhtLaMRwQoERB0AHSvl7w/qK6Tr+nak6lo7edJHA67c8/pmvqC0u7e/tY7q0mSa3lXckiHIYVWLvdLoKl1J6KK53XvG+g+HUYXd6j3AHFvAd8h/AdPxxXIk27I0btudCzKqlmICgZJJ4Ar5c8SXv8AanibVLxG3Ce5coR3GcL+gFdF4n8fa14vd7G0ikt7EgsbaHLO6jklyO2O3T61znh20F/4l0q0PKy3Uan6bgT+grvoUnTTlIxnLm0R9L6LZjT9DsLMDHkW6R/iFGa8S+Lt79p8bfZwcra2yJ+Jyx/mK97r5h8YXv8AaHi/WLoHcGuXVfovyj+VY4VXqNl1NrHtHwosvsngO3kI+a5lkm/DO0fotdtWX4bshp3hnTLPGDFbRqfrtGf1rUrnm7ybLirKwV80+O4TF471pGGM3Jb8CAf619LV4j8YtDktddg1lEJgu0EUjAcLIvT81/ka3wskp27kVFdHp3ge7W98EaPMpzi2VD9V+U/qK6CvFfhX40t9K36FqcyxW8sm+2mc4VHPVSewPUH1zXtIIKhgcgjIIrOtBwm0VF3QtFFcd4r+ImkeHInhikW91DGFt4myFP8Att/CPbrWcYuTshtpbkHxV1WGx8F3NoZVFxelYo0z8zDcCxx6YH615x8JrL7V46imIytrBJKfYnCj/wBCrm9Y1LVPENzPrF+XlG8RlwMRx5yQi+nAPH4mvRvgnZfNrF+R/wA84FP5sf6V3OHsqLXUyvzTPXaKKK4DYKKKKACiiigAooooAq6jp9tqunz2V2m+CZdrD+o9x1rwHxBoV14d1aSxuQSv3opccSJ2I/r719EVj+I/Dtn4j0xrS6G11+aGZR80beo9vUd62o1fZvXYicOZHz3RWjrWiX2gag1nfR7W6o4+7Ivqp/zis6vRTTV0czVgooqxZ2N5qEojsrWa4c9okLU20twNrwv4vvvDM+1Mz2LnMlux/VT2P6GvadG1uw16xF3YTCRM4ZTwyH0YdjXmOifC/Ubt1l1aVbODqY0IaRv6D9a9S0zSrPR7FLOxgWKFOw6sfUnufeuDESpt+7ub01Jbl2iqWo6tY6VD5l7cpEOyk5ZvoOprgNc8d3V8Gg01WtYDwZD/AKxh/wCy/wA6xhTlPYuU1Hc6bxJ4vttHVra22z3xGNuflj92/wAK8vubme8uZLi5laWaQ5Zm71F1OSSSepNFdtOmoI5pzcgooorQgKs2Fjcalex2lqm6WQ4HoB3J9hTbOyuNQu0tbSJpZnPCjt7n0FeseG/DkGg2nUSXUg/ey4/Qe1ZVaqgvMuEHJlzRtJg0XTY7ODnby7nq7dzWhRRXC3d3Z1rQKKKKQBRRRQAV4j4q8AeLNa8ValqMVhG0M0xMRNwgJQABeM+gr26itKdR03dClFS3Pnn/AIVZ4w/6B0P/AIEp/jXqvw38OXnhrw5Jb6jCsV3NcNI6q4bjAC8j6V2NFVUrzmrMlQSd0YXizwvaeK9HNlcExyId8E4GTG/r7g9xXh2q/DrxPpUzKdNku4weJbT94GH06j8RX0dRRTryp6IJQUj5fj8KeIpW2x6FqJPvbsP510OlfCjxLqDqbmKHT4T1adwzf98rn9SK9/orR4ub2EqSPP7X4XaVpOh3whiOoao9tIkUs+AA5UgbV6Lz36+9ebj4X+L8D/iWJ/4ER/419EUVEcROPmN00zxbwX4B8SaP4w0+/vtPVLaFmLsJ0bGVIBwD6muu+J2haz4h0uxs9JthOFnMs2ZFTGFwvU89TXd0VLrSc1N7oagkrHzv/wAKv8X/APQMT/wIj/xrv/hf4O1Tw7daldatbLBJKiRxASK+Rklun4V6TRVTxE5x5WJU0ncK5vxd4M0/xbaKtxmG7iB8m5QfMvsR3X2rpKKxTcXdFtXPnfVvhn4o0uRtll9uhHSS1bdn/gJ5FYh8Na8G2nRNRz/17P8A4V9R0V0rFzW6M3SR802ngXxTesBFod0uf4pgIx/48RXZaH8GrqR1l1y+SGPqYLU7mPsWPA/AGvZKKUsVN7aAqaRQ0nRtP0OxWz021S3hXkhRyx9SepPua574k6Vqut+GF0/Sbbz5ZLhGkG8LhFye59cV2FFYRk1LmLaurHzr/wAKy8X/APQKH/f+P/Gu0+GfgnWNC8QXN/q1mIFFuY4j5itliwz0PoP1r1aitZYmco8rJVNJ3CiiisCzyv4n+GPEHiLW7NtNsDPa29uV3eYq/OWyeCfQCuI/4Vp4v/6BB/7/AMf+NfRdFbwxE4R5UQ6abucX8M/Dt74d8OTRajB5N3NctIybg2FwAOR9K7MgEYIyD2paKylJyfMykrKx4b4t+FuqWN/NdaJbm8sZGLrEhHmRZ/hwfvD0xXGP4d1yNtr6NqAYdvsz/wCFfUtFbxxU0rPUh00z5hh8I+I7g4i0LUD7mAr/ADr3X4eaNcaH4NtLW7hMN0zPLLG2MqSxwDj2xXU0VNWvKorMcYKIUUUVgWfP2q+AvGGo6xfXp0h/9IuHk5mToWJH8XpVI/DTxaTk6KT/ANtY/wDGvo6iulYqaVrGfs0fOP8AwrPxZ/0BT/39j/xo/wCFZ+LP+gKf+/sf/wAVX0dRR9bmHskfPMHwr8WSHnToIh6vcIP5Zre074L6lKytqWqW8Cd1gUyN+ZwK9oopPFVGNU4nNeHPAmheGiJbS2Mt2B/x8znc/wCHZfwFdLRRWDk5O7LStsFcp4z8DWXi63Vy/wBm1CJcRXAXPH91h3H8q6uiiMnF3Qmr7nzlqHw/8V6Lc710+abYcrPZNv8AxGPmH5Uiat48iAiS514Y4ClJCf1FfR1FdP1pv4kmR7Psz51Twp438STK1zaahLk/6y+kKqPf5j/IV6D4V+E1lpksd5rUqX1yp3LCo/coffPLH68e1ek0VE8ROSstBqCQAYGBRRRWBZ4340+Fd4L6bUfD0azQSsXe03BWQnrszwR7dq4u1j8XaBI0dpDrFixPzJHHIAT9MYr6YorojiZJcslczdNXuj50K+P9cXymGu3CHs29F/HoK3ND+DurXbrJrFxHYwnkxxkSSn+g/Wvb6KHiZbRVgVNdTlH8JWOh+EdUsdCsB9pntZIwxOZJWKkDLH/9Veb+C/A3iLT/ABfpd3faVJDbQSFnkLoQvynHQ+uK9zoqI1pRTXcpxTZHcNIltK8SF5FQlFH8RxwK+fLL4d+KZ9Utjd6RLHFJOrTOZEIClssev1r6Hoop1XTvbqEoqW4AYGAMAUUUVkUFUtW0mz1vTJtPv4RLbyjBHQg9iD2I9au0UJ22A8D8QfCnXdLmd9OT+0rT+Ex4EoHoy9/wrGtrvxloa/Z7dtatFH/LPy5No/AgivpWiulYqVrSVzP2a6HzoT4+19fJb+3LhG6qQ6L+PQV0Hh74PahcyJLrk62kGcmCFg0jfU9F/Wva6KTxMrWirDVNdTzjx/4Smfwlp+keHNL3Rw3O8xxEDA2sNxJPJJPXrWt8NNCu9B8KeRf25gupbh5XRiCQOAOnsK7Gis3Uk4cg+VXuFFFFZlBRRRQAUUUUAFFFFABRRRQBn6vo1jrli1pfwCSM8qejIfVT2NcBD8JP9Nk8/VT9kB+QJH+8I988D8K9Poq41JxVkyXFPc5nT/AHhzT8EWAuJB/HcMXP5dP0rbkuNP0yHa8ttaxjopKoPyqvrGj/ANrQbBe3VqwHBgkIB+o715/qXgXWLZ2ki23q/wB5Ww/5H/GqilN+9ImTcdkdXfePNHtQRA0l247RLgfma5bUvHuqXgKWqpZxnuvzP+Z6fgK5u4tLm0cpc28sLDtIhX+dQZB6GumNGC8zGVSTJJZZJ5WlmkeSRuru2SfxplFGR3NbGYUVJDBNcuEghklY9o0LfyresPBOtXpBkgW1jP8AFOcH/vkc0nKMd2NRb2Odra0TwxqGtuGiTybbPM8g4/AdzXcaT4F0ywKy3ObyYc/vBhB9F/xzXUKoUAKAABgADpXNPEdIm0aP8xm6NoVlodt5Vqnzt/rJW+859/b2rToormbbd2bJWCiiikMKKKKACiiigAooooAKKKKACiiigAooooAKKKKACiiigAooooAKKKKACiiigAooooAKKKKACiiigAooooAKKKKACiiigAooooAKKKKACiiigAooooAKKKKACiiigAooooAKKKKACiiigAooooAKKKKACiiigAooooAKKKKACiiigAooooAKKKKACiiigAooooAKKKKACiiigAooooAKKKKACiiigAooooAKKKKACiiigBrIrrtdQynsRkVRm0PSbjmXTrVj6+UK0KKLtBYyP+EW0LP/ACC7b/vmpotA0iA5j021B9fKBrRop8zfUVkNjjSJdsaKi+ijAp1FFIYUUUUAFFFFABRRRQAUUUUAFFFFABRRRQAUUUUAFFFFABRRRQAUUUUAFFFFABRRRQAUUUUAFFFFABRRRQAUUUUAFFFFABRRRQAUUUUAFFFFABRRRQAUUUUAFFFFABRRRQAUUUUAFFFFABRRRQAUUUUAFFFFABRRRQAUUUUAFFFFABRRRQAUUUUAFFFFABRRRQAUUUUAFFFFABRRRQAUUUUAFFFFABRRRQAUYpaKAExRilooASisBvHXhRWKt4j0sMpwQbpOD+dJ/wAJ34T/AOhk0v8A8Ck/xp8suwro6Ciuf/4Tvwn/ANDJpf8A4FJ/jR/wnfhP/oZNL/8AApP8aOWXYLo6Ciuf/wCE78J/9DJpf/gUn+NH/Cd+E/8AoZNL/wDApP8AGnyy7BdHQUVz/wDwnfhP/oZNL/8AApP8aP8AhO/Cf/QyaX/4FJ/jRyy7BdHQUVz/APwnfhP/AKGTS/8AwKT/ABo/4Tvwn/0Mml/+BSf40csuwXR0FFc//wAJ34T/AOhk0v8A8Ck/xo/4Tvwn/wBDJpf/AIFJ/jRyy7BdHQUVz/8AwnfhP/oZNL/8Ck/xo/4Tvwn/ANDJpf8A4FJ/jRyy7BdHQUVz/wDwnfhP/oZNL/8AApP8aP8AhO/Cf/QyaX/4FJ/jRyy7BdHQUVz/APwnfhP/AKGTS/8AwKT/ABo/4Tvwn/0Mml/+BSf40csuwXR0GKMVz/8AwnfhP/oZNL/8Ck/xo/4Tvwn/ANDJpf8A4FJ/jRyy7BdHQYoxXP8A/Cd+E/8AoZNL/wDApP8AGj/hO/Cf/QyaX/4FJ/jRyy7BdHQYoxXP/wDCd+E/+hk0v/wKT/Gj/hO/Cf8A0Mml/wDgUn+NHLLsF0dBRXP/APCd+E/+hk0v/wACk/xo/wCE78J/9DJpf/gUn+NHLLsF0dBRXP8A/Cd+E/8AoZNL/wDApP8AGj/hO/Cf/QyaX/4FJ/jRyy7BdHQUVz//AAnfhP8A6GTS/wDwKT/Gj/hO/Cf/AEMml/8AgUn+NHLLsF0dBRXP/wDCd+E/+hk0v/wKT/Gj/hO/Cf8A0Mml/wDgUn+NHLLsF0dBRXP/APCd+E/+hk0v/wACk/xo/wCE78J/9DJpf/gUn+NHLLsF0dBRXP8A/Cd+E/8AoZNL/wDApP8AGj/hO/Cf/QyaX/4FJ/jRyy7BdHQUVz//AAnfhP8A6GTS/wDwKT/Gj/hO/Cf/AEMml/8AgUn+NHLLsF0dBRXP/wDCd+E/+hk0v/wKT/Gj/hO/Cf8A0Mml/wDgUn+NLll2C6Ogorn/APhO/Cf/AEMml/8AgUn+NH/Cd+E/+hk0v/wKT/Gjll2C6Ogorn/+E78J/wDQyaX/AOBSf40f8J34T/6GTS//AAKT/Gjll2C6Ogorn/8AhO/Cf/QyaX/4FJ/jR/wnfhP/AKGTS/8AwKT/ABo5ZdgujoKK5/8A4Tvwn/0Mml/+BSf40f8ACd+E/wDoZNL/APApP8aOWXYLo6Ciuf8A+E78J/8AQyaX/wCBSf40f8J34T/6GTS//ApP8aOWXYLo6Ciuf/4Tvwn/ANDJpf8A4FJ/jR/wnfhP/oZNL/8AApP8aOWXYLo6Ciuf/wCE78J/9DJpf/gUn+NH/Cd+E/8AoZNL/wDApP8AGjll2C6Ogorn/wDhO/Cf/QyaX/4FJ/jR/wAJ34T/AOhk0v8A8Ck/xo5ZdgujoKK5/wD4Tvwn/wBDJpf/AIFJ/jR/wnfhP/oZNL/8Ck/xo5ZdgujoKK5//hO/Cf8A0Mml/wDgUn+NH/Cd+E/+hk0v/wACk/xo5ZdgujoKK5//AITvwn/0Mml/+BSf40f8J34T/wChk0v/AMCk/wAaOWXYLo6Ciuf/AOE78J/9DJpf/gUn+NH/AAnfhP8A6GTS/wDwKT/Gjll2C6Ogorn/APhO/Cf/AEMml/8AgUn+NH/Cd+E/+hk0v/wKT/Gjll2C6Ogorn/+E78J/wDQyaX/AOBSf40f8J34T/6GTS//AAKT/Gjll2C6OgxRiuf/AOE78J/9DJpf/gUn+NH/AAnfhP8A6GTS/wDwKT/Gnyy7BdHQYoxXP/8ACd+E/wDoZNL/APApP8aP+E78J/8AQyaX/wCBSf40csuwXR0GKMVz/wDwnfhP/oZNL/8AApP8aP8AhO/Cf/QyaX/4FJ/jRyy7BdHQUVz/APwnfhP/AKGTS/8AwKT/ABo/4Tvwn/0Mml/+BSf40uWXYLo6Ciuf/wCE78J/9DJpf/gUn+NH/Cd+E/8AoZNL/wDApP8AGjll2C6Ogorn/wDhO/Cf/QyaX/4FJ/jR/wAJ34T/AOhk0v8A8Ck/xo5ZdgujoKK5/wD4Tvwn/wBDJpf/AIFJ/jR/wnfhP/oZNL/8Ck/xo5ZdgujoKK5//hO/Cf8A0Mml/wDgUn+NH/Cd+E/+hk0v/wACk/xo5ZdgujoKK5//AITvwn/0Mml/+BSf40f8J34T/wChk0v/AMCk/wAaOWXYLo6Ciuf/AOE78J/9DJpf/gUn+NH/AAnfhP8A6GTS/wDwKT/Gjll2C6Ogorn/APhO/Cf/AEMml/8AgUn+NH/Cd+E/+hk0v/wKT/Gjll2C6Ogorn/+E78J/wDQyaX/AOBSf40f8J34T/6GTS//AAKT/Gjll2C6OgxRio7e4hu7aO4t5VlhlUPHIhyrKehB9KlpDExRS0UAFFFFABRRRQBzDfDvwc7szeG9OLMSSTCOTSf8K58G/wDQtab/AN+RXUUVXPLuKyOX/wCFc+Df+ha03/vwKP8AhXPg3/oWtN/78Cuooo55dwsjl/8AhXPg3/oWtN/78ij/AIVz4N/6FrTf+/IrqKKOeXcLI5f/AIVz4N/6FrTf+/Io/wCFc+Df+ha03/vyK6iijnl3CyOX/wCFc+Df+ha03/vyKP8AhXPg3/oWtN/78iuooo55dwsjl/8AhXPg3/oWtN/78ij/AIVz4N/6FrTf+/IrqKKOeXcLI5f/AIVz4N/6FrTf+/Ao/wCFc+Df+ha03/vwK6iijnl3CyOX/wCFc+Df+ha03/vwKP8AhXPg3/oWtN/78Cuooo55dwsjl/8AhXPg3/oWtN/78Cj/AIVz4N/6FrTf+/ArqKKOeXcLI5f/AIVz4N/6FrTf+/Ao/wCFc+Df+ha03/vwK6iijnl3CyOX/wCFc+Df+ha03/vwKP8AhXPg3/oWtN/78Cuooo55dwsjl/8AhXPg3/oWtN/78Cj/AIVz4N/6FrTf+/ArqKKOeXcLI5f/AIVz4N/6FrTf+/Ao/wCFc+Df+ha03/vwK6iijnl3CyOX/wCFc+Df+ha03/vwKP8AhXPg3/oWtN/78Cuooo55dwsjl/8AhXPg3/oWtN/78Cj/AIVz4N/6FrTf+/ArqKKOeXcLI5f/AIVz4N/6FrTf+/Io/wCFc+Df+ha03/vyK6iijnl3CyOX/wCFc+Df+ha03/vyKP8AhXPg3/oWtN/78iuooo55dwsjl/8AhXPg3/oWtN/78ij/AIVz4N/6FrTf+/IrqKKOeXcLI5f/AIVz4N/6FrTf+/Io/wCFc+Df+ha03/vyK6iijnl3CyOX/wCFc+Df+ha03/vwKP8AhXPg3/oWtN/78Cuooo55dwsjl/8AhXPg3/oWtN/78ij/AIVz4N/6FrTf+/IrqKKOeXcLI5f/AIVz4N/6FrTf+/Io/wCFc+Df+ha03/vyK6iijnl3CyOX/wCFc+Df+ha03/vyKP8AhXPg3/oWtN/78iuooo55dwsjl/8AhXPg3/oWtN/78ij/AIVz4N/6FrTf+/IrqKKOeXcLI5f/AIVz4N/6FrTf+/Io/wCFc+Df+ha03/vyK6iijnl3CyOX/wCFc+Df+ha03/vyKP8AhXPg3/oWtN/78iuooo55dwsjl/8AhXPg3/oWtN/78Cj/AIVz4N/6FrTf+/ArqKKOeXcLI5f/AIVz4N/6FrTf+/Io/wCFc+Df+ha03/vyK6iijnl3CyOX/wCFc+Df+ha03/vyKP8AhXPg3/oWtN/78iuooo55dwsjl/8AhXPg3/oWtN/78ij/AIVz4N/6FrTf+/IrqKKOeXcLI5f/AIVz4N/6FrTf+/Io/wCFc+Df+ha03/vyK6iijnl3CyOX/wCFc+Df+ha03/vwKP8AhXPg3/oWtN/78Cuooo55dwsjl/8AhXPg3/oWtN/78Cj/AIVz4N/6FrTf+/ArqKKOeXcLI5f/AIVz4N/6FrTf+/Ao/wCFc+Df+ha03/vwK6iijnl3CyOX/wCFc+Df+ha03/vwKP8AhXPg3/oWtN/78Cuooo55dwsjl/8AhXPg3/oWtN/78Cj/AIVz4N/6FrTf+/ArqKKOeXcLI5f/AIVz4N/6FrTf+/Ao/wCFc+Df+ha03/vwK6iijnl3CyOX/wCFc+Df+ha03/vwKP8AhXPg3/oWtN/78Cuooo55dwsjl/8AhXPg3/oWtN/78Cj/AIVz4N/6FrTf+/ArqKKOeXcLI5f/AIVz4N/6FrTf+/Ao/wCFc+Df+ha03/vwK6iijnl3CyOX/wCFc+Df+ha03/vyKP8AhXPg3/oWtN/78iuooo55dwsjl/8AhXPg3/oWtN/78ij/AIVz4N/6FrTf+/IrqKKOeXcLI5f/AIVz4N/6FrTf+/Io/wCFc+Df+ha03/vyK6iijnl3CyOX/wCFc+Df+ha03/vyKP8AhXPg3/oWtN/78iuooo55dwsjl/8AhXPg3/oWtN/78Cj/AIVz4N/6FrTf+/ArqKKOeXcLI5f/AIVz4N/6FrTf+/Io/wCFc+Df+ha03/vwK6iijnl3CyIbW1hsrWK1tolighQJHGgwFUDAAqaiipGFFFFABRRRQAUUUUAFFFFABRRRQAUUUUAFFFFABRRRQAUUUUAFFFFABRRRQAUUUUAFFFFABRRRQAUU1pET7zBfqaha9t16yA/QUWAsUVU/tK3/ANr8qUahbt/ER9RTsxXRaoqFbmF/uyr+dSg5pDFooooAKKKKACiiigAooooAKKKKACiiigAooooAKKKKACiiigAooooAKKKKACiijNABRRRQAUUUUAFFFFABRRRQAUUUUAFFFFABRRRQAUUUUAFFFFABRRRQAUUUUAFFFFABRRRQAUUUUAFFFFABRRRQAUUUUAFFFFABRRRQAUUUUAFFFFABRRRQAUUUUAFFFFABRRRQAUUUUAFFFFABRRRQAUUUUAFFFFABRRRQAUUUUAFFFFABSEgdaqajqdrpVqbi7lCIOAO7H0A9a891bxXdas5jjJgte0anlv8AeNXGDkTKSR2l94lsrVjHE3nyjghDwPqayJNfu7k43iNT2T/GuHvNas9KhEl3MEyPlQcs30FcnqPxAv5sx6dGtqn99vmf/AVvGkkZOoexfbEiTzJ5VRR1aRsD8zVCfxv4btmKSatAzj+GIGQ/+OivDUF/rl0TcXEs2OWklYsFrXSyhtY9sS49W7mr9mieds9QPxF8Prn57rA7+QahT4oeGGbBuLpB6tbnFeWzL8rfSsCn7NCc2fQdp438M3pCxaxbqx6LLlD+oroLe63oJbadXQ9GjYMD+VfLlWbLUL3TZRLY3c9s47xOVpOkgVRn1RFqTDiVd3uKvxTxzDKNn1FeA6J8VtRtSsWsQLexdPNjwko/of0r0/Q/EWm67B9o0u7EhX7yfddPqv8AkVhKlY1jUudnRVC2vw+ElOG7N2NX6yasaJ3CiiikMKKKKACuP8dePLXwfaKioLjUZhmGDOAB/eb0H8662R1iieRzhFUsx9AK+d9Igk+I/wATWlu9xtZJGmkXP3YU+6o+vA/E1pCKer2RE5NaIuWsHxD+IeblbmaKyY/Kxk8iH/gIHLfrVmX4XeN9OT7RZ6ok0q8hYbt1b8M4Fe5xRRwxJFEipGgCqijAUDoBTqftX0QvZrqzxDw38T9a0HVv7K8WJLJErbJJJUxNAfU/3lr22KRJolkjYOjqGVgeCD0NcD8TfA1x4pt7S50uKH+0YW2MXbbvjPYn2PT6mt3wLp+q6T4UtdP1gILm3LIux9wKZ+Xn6cfhSnytcyHHmTszpK8J+IHjXW5vGV1Y6FqF1Db2SbGW3bG5lGXY/Tp+Few+JNYj0Hw7fanJj/R4iyg926KPzxXlHwd0L+1LzVtavl8xHRrYFh95n5c/lx+NOmkk5MU7t8qOx+FfiebxD4ZaO9naa+s5Ckjucs6nlWP6j8K7uvAPA1zJ4M+KM+j3LbYZpGs2J6dcxt/L869+pVElLQcHdHlXxi13VtGn0kaZqNxaCUSbxC+3djbjNSfCnx1Pq6yaLq1y01+mZIJpDlpU7qfcfy+lZfx1/wBdov8Auy/+y1yut6Bd+F7Tw94o0stHFPBFIWH/ACyn25OfZv8AEVqoxcEjNtqbZ9IVk+J55rXwrqs8EjRzRWkjo6nBUhTgiovCniK38UaBb6lBhWcbZo/+ecg+8v8AntS+Lv8AkTda/wCvKX/0E1glZ2Zte60OC+Dmu6trM2rDU9RuLsRLFs85923O7OPyqH4w6/q+janpaabqVzaJJC7OIX2hiCOtVfgV/r9a/wByH/2aoPjp/wAhbSP+veT/ANCFbWXtbGV37MqWem/FS/soby21C9eCZBJG32xRlTyO9TNYfFyxXzRPfSgc7VnjkP5GvWPCH/InaN/15x/+gitqodR32RSp6bni2g/F/U9Pv/sHiqzyqtteVIvLliPqydx9MV7JbXMN5bRXNvKssMqh0dDkMD0Irg/ix4Xt9V8NTarHEBf2C+YHA5eP+JT6+o+lZfwT1qS50q+0eVy32RxLDk9EbOR9AR+tEkpR5ogm1LlZjfEjxLrmmfEAWdjq13b22yA+VHJheTzx717Lfu0el3LoxV1hdlYdQdprwX4rf8lNH/XO3/nXvGpf8gi7/wCvd/8A0E0TS5YhF6s+d9D1rx54jvTZ6XrN/NcKhkKm4C/KOOp+orov7D+LY5+23v8A4Gp/jVH4Lf8AI6zf9eT/APoS17/V1J8srJEwjzK7Z4PP4m+JfhEibVUmkts4JuY1kjPtuXp+dej+CfiDY+L4mhKfZdRiXc9uTkMP7yHuP1FddNDFcQPDNGskTja6OMhgexFfOniOxk+HnxGSawJWGJ1uYBn/AJZt95Pp94VK5amlrMbvDXofR9Vr+9h06wuL2dtsMEbSOfYDNSwSpPbxzRnKSKHU+xGRXnPxm137B4Yi0uNsS38nzYPSNcE/mcD86zjHmdjSTsrnl8vjvxbLcSanHqt6lubjIQP+7Uk7gn0x2r6L0fU4tY0az1GEjy7mJZBjtkcj8DxXmFv4JLfBN4fL/wBOkX+0unOQMgf98cfjVj4Ka99o0i70SVvntW86EHujHkfgf51rUSkrx6GUG07PqY02h/Fg3Epjvbzyy7Ff9NTpnjv6Vm6xF8TdB019Q1HU76K2QgMwu1bBJwOAa+gK4f4uf8k9vP8ArrF/6EKUajbSsOULK9zzLQ5PiR4ks3u9K1W+mhR/LZjdBcNgHv8AWtM6F8XMHF7e5/6/U/xrpvgj/wAine/9frf+gLXptOdS0mkgjC6vc8e+Keua5oiaBHa6lc2sr2zfaPKkxvcbck+vesax0/4p6lYQXtrqF69vOgkjb7Yoyp6cZrQ+On/H/ov/AFyl/mteleCP+RH0T/rzj/lRflgnYVrzaPLf7C+Lf/P7e/8Agan+NPh0P4sC4iMl7e7A6lv9NTpnnv6V7dRUe1fZF+zXcB0paKKzLCiiigAooooAKKKKACiiigAooooAKKKKACiiigAooooAKKKKACiiigAooooAKKKKACiiigAooooAKKKKACiiigAooooAKKKKACiiigAooooAKzNc1u00HTmu7pvaOMfekb0H+NW728g0+ymu7mQRwwoXdj2ArwfxB4kuPEerPdykrCvywRZ4Rf8AE960pw52ROXKi7qWuXetXxubuTJ6Ig+6g9BXPar4lFqGgsyHn6M/VU/xNZmqasyKba3bDHh3Hb2FYVdiSRzOVx8s0k8rSzSNJI3VmOSadbW0l3cx28Qy7nA9veoq7Lwnpnl2j6hIvzS/LHnso6n8TTegkrssw2UdjbLBEOFHJ7sfWoJVrVmSqEq0izJnX5G+lc3XXNbSTZ2Ru47lVJxTU8OW8jFY5oWI4IEgyKdyWrnJ0V2n/CHPjPlnHrik/wCEPf8A55n8qLoOVnGVPaXlzYXSXVpPJBOhyskbYIrrP+EPf/nmfyo/4Q9/+eZ/Ki6DlZ2Xg34iQ6wY9P1cpBfnhJRwk3t/st+hr0yzvCh8qU/L0BPavC7DwDNf3Swquxc5eQjhB616/aW/2SzhthLJL5SBPMlbLNjuT61hUjE1g31OoorPsLncPJc8j7prQrmaszZO4UUUUhmP4qkaHwlq8iHDLZy4P/ATXk3wMjQ65qjn7y2qKPoW5/kK9n1K0F/pd3ZnpPC8f5givBPhNqH9i+O2sbr92bqNrUhuMSKcgfoR+NbQ1hJGU/iTPoWiiisTUSlri/iX4ouvC3hyOfT5o472adY4t6BuOrcH2/nT/h1rmq634TOq61NGzPK+xljCARrxnj3zVcr5eYnmV7HI/G7XSsFjoULZaQ/aZgPQcIPzyfwrvPA2if8ACP8Ag/T7FlxN5fmzf77cn8un4V4XepqfxE8eXz6aoeWRmaLc+0JEnCnPbt+Jrov+ED+Jf/QTl/8ABi1bSiuVRbsZKT5m7Enxo0d7HXrHXbcFPtChHcdpU5U/l/KvWfC+sp4g8NWGpqRmeIFx6OOGH5g14tqnw98eyWEj6hcG6ghUymN70ydB2B74re+COvf8f2gytx/x8wZP0DAfofzpSinDR3sOLan6kfx1/wBdov8Auy/+y13ejaRa678M9O028TdDPYRqfVTtGGHuDzXCfHX/AF2i/wC7L/7LXpXg3/kStF/684v/AEEUpP8AdxKXxs8b8KatefDbxzPpGqMRZSyCOc9sfwSj2559vpXs3ixg3gzWGBBBspSCO/ymuX+Kvg7+3tG/tOzizqFkhOAOZY+pX6jqPx9a5vwj4w/tb4da1od7Lm8s7CUwsx5ki2n9V6fTFN+/aSEvdvFh8Cv9frX+5D/7NUHx0/5C2kf9e8n/AKEKn+BX+v1r/ch/9mqD46f8hbSP+veT/wBCFUv4xP8Ay7PU/CH/ACJ2jf8AXnH/AOgitusTwh/yJ2jf9ecf/oIrbrne5stjO15Fk8Pakj42m0lBz/umvGfgcW/4Sa/A+6bIZ/77Fem/EXWI9G8EajIXAlnjNvCM8szcfyyfwrhfgZprg6tqZUiMhLdD6kZY/wBK1jpTbM5azRgfFb/kpg/652/86931L/kEXn/Xu/8A6Ca8I+K3/JTR/wBc7f8AnXu+pf8AIIu/+vd//QTRU+GIQ+JnhfwW/wCR2m/68n/9CWvoCvn/AOC3/I6zf9eT/wDoS19AUq3xjpfCFeGfHNV/t7TH/iNowP03f/Xr3I9K+e/ilqH/AAkPj9LCzPm/Z1SzXbzmQnkfmcfhRR+K4VfhPcPDRZvCukls7jZxZz/uivE/EEr+Pfi3HYRHfaxzC3XHQRocu34/N+leteKNUXwl4EnmRh5kFutvB7uQFX/H8K8N8KeEPE+twyanob+V5bmIzef5TE4yQD+PNVSS1kTN7RPpYRosQiCARhdoXHGOmK+e7Rm8AfFto3ylqLgxt6GCTofwyPyrT/4QP4l/9BSX/wAGLVzfivwd4n0e1XU9ecTIzCHzftHmsDzgHPbrTpxSur7inJvWx9LggjiuH+Ln/JPbz/rrF/6GKv8Aw713+3/BllcSPuuIR9nm9dy8Z/EYP41Q+Ln/ACT28/66xf8AoQrKKtNI1bvG5l/BH/kU73/r9P8A6Atem15l8Ef+RTvf+v0/+gLXptFT42KHwo8V+On/ACENF/65S/zWsjSfGnj2y0i0tbDTneziiVIWFgzZUDg571r/AB1/4/8ARf8ArlL/ADWvS/BH/IjaJ/15x/yrXmSpq6uRZub1PKf+E++JP/QLf/wXNW34R8YeONT8UWVnq1g0VjIW81zZMmMKSPmPTnFes0Vm5pr4S1F9wpaKKzLCiiigAooooAKKKKACiiigAooooAKKKKACiiigAooooAKKKKACiiigAooooAKKKKACiiigAooooAKKKKACiiigAooooAKKKKACiiigAoorO13VYtE0O81KY/JbxF8ep7D8TgUAeY/FbxOZbxNAtn/dw4kuSD95v4V/Dr+NeZ3N4YIfkPztwPb3qKe+mvbua7uHLzTOZJGPck5NU5VaWQsfoK74R5Y2OSUru5X69aKn8mjyOOlWQJa20l5dw20Yy8rhB+Neri2S2t47eMYSNQqj2FYPhLQ/LuYbqROY4y4z6np/OuqnTms5PU1irIxpkotNPSd/Mm/1Y6L/AHqnnAHWnxSYxzQBs2zLEgSNQijoFGBVLWPDWna7CWZFt7wD5LmMYYH/AGv7wpYpfersUvvSGeXi91nw9qUlk9zLBcwnoGyjjscHgg12vh/4nWiulv4h05NpOPtduvT/AHk/w/Kl8X6JHq+nrdoo+12oyCOrJ3H4da83uoWicqw5607KS1Ju4s+nbO30jUbSO6s/Jnt5BlJIzkGlubLT7dMm3Usfuj1r518K+MtT8IXxktW820kP761dvlf3H90+4r1nwV4lufFGiSXt4V+1JO8bhBgAdVA/A4/CsHTknvoaqomdCqIgIRQuTk4FOoooAVWKsGU4IPFblvMJoVcde/1rCq7p0u2Uxno3T61MldDi9TVooorI0ENeK/FLwRd2mpv4n0iN2idhJcrF96KQf8tBjse/oa9rpCARg1UZuLuiZRUlY8j8MfGe1NpHb+IYZEmQY+1QLuWT3K9Qfpmt+7+MHhS3gZ4Z7i5kxxHHAQSfqcAVqap8OvC2rzNNcaVHHK33ngYxk/gvFULf4R+EIJA7WU82DnbLcMR+lXem9SbTR5dc3GufFnxVGkUPlW0XyqByltHnkse7H9a9K8eXkHg34bDTLE7GkjFlAO+CPmb64z+JrtbDTbLS7VbawtYbaFeiRIFFVtX8O6Rr3lf2rYRXfk58sSZ+XPX+VJzTa00QKDSfc89+Ceh/Z9JvNakTDXT+TCf9hev5t/KvVqrWNja6ZZRWdlAkFtENscaDAUVZqZS5ncuKsrCEAjBGRXzfd7/AHxTZ0BEFvc71H96B+o/In8q+kaxdV8J6Drl0tzqel291Oq7A8gOdvpThPl3JnHm2PMPjk6yNociMGRklZSO4O2vTPBn/ACJWi/8AXnF/6CKffeE9B1O3tbe90yCeK0TZAr5Plr6Dn2FalrawWVpFa20axwRKEjReiqOgock4qIKLUmyY9K+e/iZ4Wl8LeIP7S04NFYX5bbs4EbkfOn0IJIH1HavoSqepaVY6xZNZ6jax3NuxBMcgyMjoaIT5Xcc48yPJPgX/AMfGt/7sP/s1QfHTnVtH/wCveT/0IV6zpHhvR9BaVtK0+G0M2BJ5YPzY6fzpNX8M6Lr0sUmq6dDdPECqGQH5QetV7Rc/MTyPk5TzrQvi9oWl6BYWE1pftLbwJG5VFwSBg45qxd/HDR0iJtNLvJpOwkKoPz5rrP8AhXXhD/oA2n5H/GpIfAXhS3kDx6DZbh/ej3fzo5qfYLT7nis8/ij4ra5GEhxbxnCBQRBbqepJ7n9TXu3hvQLXw1oVvpdrykQy7kcyOfvMfqa0oLeG2iEUEUcUY6JGoUD8BUtTOfNothxhbU+e/it/yU0f9c7f+de8al/yCLv/AK93/wDQTVDUfCOgatf/AG6/0uC4usKPNcHPHSth40liaN13IylWB7g0SndJdgUbNs+aPh74ms/CniCTUL6OaSJrdogIQCckg9z7V6d/wu3w9j/jy1H/AL9r/wDFV0v/AArrwh/0AbT8j/jR/wAK78If9AG0/I/41cpwk7tExjNKyZ5t4g+M95qFu1noVi9o8ny+fI2+T/gKjoffmr3wx+Ht3b38fiHXImidMtawSff3H+NvT2B5716dp3hzRdJYNYaXaW7Do6RDd+fWtPFS6iStFDUHe8jxT42a4Z9RsdChJIhHnygd3bhR+Wfzr07wbog8P+E9P0/aBKkQabHeRuW/U4/ClufB3h681I6jc6Vby3jOHMz5J3DoevsK3aUpJxUUNR95thWH4v0Zdf8ACuoadtBkkiJi9nHK/qK3KKhOzuW9Twf4M64bDxHcaNO22O9TcqntKnb8Rn8q7/4t/wDJPbz/AK6xf+hCtqLwV4bg1FdQi0e3S8WXzRKoIIfOc9a09S0ux1iyay1G2S4tmILRv0JByK0lNOfMQotR5Tz74I/8ine/9fp/9AWvTaz9J0TTdDt3t9Ls47WF33skfQtjGf0rQqZS5pXHFWVjxX46f8f+i/8AXKX+a1c8O/FvQtI8Oadp09rfNLbW6xOURcEgdua9J1fw1o2vPE+q6fDdNECIzID8oPX+VZv/AArvwh/0AbT8j/jVqceVRkiXGXNdHN/8Lt8O/wDPnqH/AH7X/wCKpV+Nfh5nVRZ6hliB/q1/+Kro/wDhXXhD/oAWn5H/ABoHw88IggjQbQEHI4P+NK9PsFp9zpkO5A3qM0tIAAAB0HSlrM0CiiigAooooAKKKKACiiigAooooAKKKKACiiigAooooAKKKKACiiigAooooAKKKKACiiigAooooAKKKKACiiigAooooAKKKKACiiigAry342asbbQbLS0bBu5t8gH91P8A65H5V6lXz98Zb43PjdbbOVtbZFx6FiWP9K1oq8zOo7ROGtVMj47AZNXRB7UukW+6CST1bH5VpeRXacxm+RU9pYNd3kFsgy00ioPxOKuC39q2/CFqJPGGkqRnFwG/IE/0qZOyuUlqd7PpQ0w+SFwdo/KsydK6nXfn1CQ+gA/SufnSsIu6NmrHLahNi68sfwjn602KWoLi2vJLuaQ28mGckcdqEinT70bD61v0MupqRy1cilrGSTb944+pqwl7Cv3pUH1NKwzejkBGDyDwRXH+MNB+z6fHfxL+7V9jEDsen61tJq1kv3rqIfVq0rvWNCv/AANqmnTaharclGMIL8kjkY/EVDbWo7XPFpVr0X4QXhW71SwJ4aNJlHuDtP8AMVwEi10nw2ufs3jONe00Eifpn+laSV0Zx3PcaKarBhTq5jcKcjFHVh1BzTaKAOhVtyBh3GaWq9k260T24qxWDNQryHWfjJe6Xrl/p6aNBILad4Q5mILbTjOMV69Xz1paq3xzZWAIOqTZBGf71a0kne5nUbVrG1/wvLUP+gDB/wB/2/wo/wCF46h/0AYP+/7f4V7L9ktv+feL/vgUfZLb/n3i/wC+BRzw/lDll3PPvBnxH1HxdfXtmmlW8EsNqZoiZWIZsgAHjgc9ao6P8XZpvE0eka1pUengymCRxKSY5M4AII6Z716ikEMZzHEik8ZVQK8l+MHgzzov+ElsIv3kYC3iKPvL2f8ADofb6UR5JSs0EuZK566KjuLiG1t5LieRY4YlLu7HAUDkmuF+F3jD/hIdD+wXcmdRsVCuSeZI+iv/AEP/ANeub+L/AIwLt/wi+nuWYkG8KHJP92MfoT+AqVTblyjc1y3NPQ/ilqPiXxQul6VosTW7OT58kpBWIHl2AHH09xWn4++IFx4MvbKCHT4roXEbOS8hXbg47CrPw58HL4V0IPcIP7SuwHuD/cHZB9O/vXC/HP8A5C2kf9e8n/oQq4qLqWWxLclC73H/APC8tQ/6AMH/AH/b/Ck/4XnfDltCtwP+u7f4V6Z4QtoG8HaMWgiJNnFklB/dFbElhZyoUktIHU9Q0YIP6UnKF7co1GVtzhPC/wAW9J127isbyB9PupTtjLsGjc+gbsfqK7bVbxtP0e9vlQO1vA8oUnAbaCcfpXh/xb8J2Ph/UbO/02IW8N7uDxJwqOuDlfTOentXpVlqUur/AAja+mOZZNLkDk92CEE/pRKK0ktmEZPVM4YfHO/IyNCt/wAJ2/wpf+F5ah/0AYP+/wC3+FQ/A6OOXVtWEiK4FvHjcM/xGva/slt/z7xf98Cqm4RdrEx5pK9zxr/heOof9AGD/v8At/hXoXgTxXN4v0Wa/ntEtWjnMQRHLAgAHPI966P7Jbf8+8X/AHwKekaRjEaKgznCjFZylFrRGiUk9WeOXXxsvre9uLddDt28qVkB89ucEj0qL/heWof9AGD/AL/t/hWH8PlV/i0quoZTLc8MMjo1fQP2S2/594v++BWk+SLtYzjzS1ueNr8dLtXHm6FDt77bgg/qK77wl8QNI8XFobcvb3qLua2mxuI9VP8AEK6C60rT72BoLmxt5YnGGV4wQa+etXsf+EJ+KSRac7COC5ikiGeQj4yvvwSKSUZ6JWY25R1Z7R478Vy+ENEi1CG1S5Z51i2O5UAEE54+lTeCfEsvizw6uqS2yW7GV4/LRiw+XvmuZ+Nf/Im23/X6n/oLVa+Dn/Igx/8AX1L/ADFTyr2dyrvnsYOtfGO90nXb/Tk0aCVbWdog5mILYOM4xVH/AIXlqH/QBg/7/N/hWDbqG+OG1gCp1dsgj3NfQf2S2/594v8AvgVcuSNtCI80r6njX/C8tQ/6AMH/AH/b/Cul8D/Eq68Xa7Jp02mRWqrA0u9ZCxyCBjke9egfZLb/AJ94v++BTkghjO5IkU+qqBUOUWtEWoyvqzzjxr8ULvwp4ifS4tMhuFWJJPMeUqee2MV2nhrX7XxLoVvqdqcLIMOmeY3H3lP0NeJ/FiLz/iSId23zIoEz6Z4zUngzWbr4e+NrnRNWJSzmkEUxP3Vb+CUexH6H2q3TTgmtyFNqVnse/wBc5428SS+FPDrapFbJcMsqR+W7FR83fNdECCMjpXA/GL/kQZP+vmL+ZrKKvJJmsnZG14H8TS+LfD/9py2yWzec8Xlo5YcY5z+Nb15eW1haS3d3MkFvEu6SRzgKK4T4Nf8AIh/9vcv9K4z4r+IrrWvEsfhmwLNDBIqNGv8Ay1nboD7DI/HNXyXm4ojntFNmrrXxsxcmDQNM89c4Wa5yN30Qc/mazD8T/HcA+0TaOgh6nfZSBcfWvSPBvgbTvCmnRgRRzaiygz3LLkk+i+iiuqPIxRzwWiQcsnq2eYeGPjJYancJaazbDT5XO1ZlbdET755WvR7y5+zafPcqA/lRNIBng4Ga8v8Aiv4GtZNMk1/TbZY7mEj7THEvEqHjdgfxD9RVz4d61dal8O9Ssr0SedYRSRK0gILRlCV6+nI/CiUYtc0QTafKzAHxzvyONCt/+/7f4Uv/AAvLUP8AoAwf9/2/wrN+CkaSeLLpXRXH2I8MM/xLXu/2S2/594v++BVT5Iu1iY80le541/wvLUP+gDB/3/b/AArvPAPjGfxlp93cz2SWpgmEYVHLbuM55FdT9ktv+feL/vgU9Io4gRGioD12jFZylFrRGiUk9WPoooqCgooooAKKKKACiiigAooooAKKKKACiiigAooooAKKKKACiiigAooooAKKKKACiiigAooooAKKKKACiiigAooooAKKKKACvmL4iXBufiBrDH+CYRj/AICoFfTtfLfjpSvj3XAe92x/lW9D4jKtsXdFt/8AiVQnH3iT+tOn1CxtZDHJOCw6qgzip7VZE8GiaEHzBAxGPxzXPeHrW0vdVWC75VlOxScBm9K6jA3LbUbC6kEcc4DngKwxmuo8FR48f6ZGR0imk/Jcf1rzrxBbWtlqrw2hwqqCyg52t6V6N4F8wePtFM4PmPpshP1wKifwsqPxHoOqLuu5j/tViTp1rpNQj/fyfU1iXEfWsIvQ2e5hzpWdMvWtqdKzJkrVEMx5lrPlWteZOtZ8y1aJZlTLVGVetakq9aoyrVEszJV61o+EH8nxjprf9NCPzU1UlWrHh4bfE+nH0mH8jR0Ej3OGb3q6jBhWFDNWhDNXO0bF+imq4YU6pGa2mn/RiPRquVS0z/j3b/eq7WMtzRbBXzZJq0GhfFu71S5R3httSmd1jALEZYcZ+tfSdfOltZW2o/GiazvIUmt5dTmV43HDD5jzWtHrczqdDv8A/hdvh7/nx1H/AL4T/wCKpP8Ahdvh7/nx1H/vhP8A4quo/wCFe+Ev+gDZ/wDfJ/xo/wCFe+Ef+gDZ/wDfJ/xpXp9h2n3H+E/F9j4wtLi5sYZ4kgkEbCYAEkjPGCa35Yo5onilQPG6lWVhkEHqDVHStC0vQ4pItLsorWORtzrGMBj0zU2p6jbaTptxf3kgjt4ELux9B/Ws3a+ha21PAPEOnX/wy8bpd6ZIBDIGktS3IKHgow9v8K2/hR4Vk1nVZPFOp/vY4pWMO85Mk3Uufpn8/pWFa2up/FbxvPK7mGAKSWIytvEPuqPcn+pq14E8Q3XgTxbcaNqxMVpLL5VwpPET/wAMg9j/ACPtXU78tupzq3NfofQNeJfHP/kLaT/17yf+hCvbAQRkHOa8T+Of/IX0j/r3f/0IVhR+NGtX4TvPC3irQLbwnpME+s2McsdpGro06gqQoyCM1py+NvDEKFn16wwPSYE/kK850T4N6bquh2OoSardo9zAkrKqLgEjOBV8fAzSs/8AIYvf++E/wqmqd9wTnbY474l+L4PF+r2dppSPLa22VjbaQZpGIHA644AFesxaU+ifCqTTpP8AWQaXIH9mKEn9SaTw38ONA8M3C3UEL3N4v3Z7htxT/dHQVs+Jv+RU1f8A68pf/QDSlJO0Y7BGLV2zwX4b+MLDwfe3099DcSrcRKiiEAkEHPOSK9E/4Xb4e/58dR/74T/4quM+EOhaXrmpalHqljFdJFAjIJBnaSTXrX/CvfCX/QBs/wDvk/41dRw5tUTT5uXQ5j/hdvh7/nx1H/vhP/iq73RdVh1zR7XU7dXSG5jEiLIPmA98Vk/8K98Jf9AGz/75P+NbtnZW2nWcVpaQrDbxLtjjQcKPQVlJw+yaR5up87eENUstF+JpvtRnWC1jmuA0jAkDO4Dp717J/wALN8Hf9ByH/vh/8K8V8NaJaeIviI+l3xkFvLNOW8ttrcbiOa9T/wCFMeFv7+of9/x/hW1Tkv7xlDmtoXL/AOLPhK0gZ4r97twPljgibJ/EgCvOfD+m6l8RPiEdduLVorBJ1mkcj5QqY2xg9zwP1rsb/wCCmhSWjiwu72C4wdjSOHXPbIx0rlvht4l1bRPF6+GNRmd7V5Ht/Kc58mRc42+gOP1pR5VFuG43e65jrfjX/wAiZbf9fqf+gtVn4Of8iDH/ANfMv8xVX42f8iZbf9fqf+gtVv4Of8iDH/18y/zFT/y6+ZX/AC8PKb3UodG+LV1qVwrtDa6m8jqg+YgE9K9J/wCF2+Hv+fHUf++F/wDiq89Npb33xnktLqJZbebVXWSNujDJ4Ne0/wDCvvCX/QBs/wDvk/41U3DTmJgpa2OY/wCF2+Hv+fHUf++E/wDiq6nwn4xsfGFvdTWMNxEtu4RhMACSRnjBNN/4V94S/wCgDZ/98n/GtTSdB0vQo5Y9LsYbVJSGcRjG4ispOFtEWlK+p4j8UP8AkqUP0tv5123xZ8Hf21pH9sWcWb6yQ+YqjmWLqR9R1H41xPxQ/wCSpQ/S2/nXvxGRzWkpOKi0SldyR5v8J/GX9s6T/Y95Lm/sk+RmPMsXQH6jgH8KtfGL/kQZP+vmL+Zrz/xpot38PfGtvrmkKUs5ZDLDj7qt/HEfY8/gfauu+ImtWviD4TxanaNmKaeI47q2TlT7g0cq5lJbMOb3WmXvg3x4Cye13L/SvOfAg/tj4tx3Nx8zG4nuDn1G7H8xXo/wb58BYPe7l/pXm3gd/wCxfi1Db3HyEXM1sc+p3Afrimt5kvaJ9F0UUVzm4mAetUtXAGiX+B/y7Sf+gmjWdUh0XR7vU7hWaK2jMjKvU47D3rltG8c2njLRta+yWVzAttbNuabbgllbAGD7VST3E2tjx74d+KbPwlrc19fRTyRyWxiAhAJzkHuR6V6X/wALt8Pf8+Oo/wDfCf8AxVcH8JtH07W/Elxb6nZxXUK2hdUkGQG3KM17J/wr3wl/0AbP/vk/41tUcObVGUFK2hzH/C7fD/8Az46j/wB8J/8AFV3OgazB4h0W21W1SRIbgEqsgAYYJHOPpWb/AMK+8Jf9AGz/AO+T/jW5YWFrpdlHZ2MCQW0QwkaDhec1lLlt7ppHm6lmiiioKCiiigAooooAKKKKACiiigAooooAKKKKACiiigAooooAKKKKACiiigAooooAKKKKACiiigAooooAKKKKACiiigAooooAK+bfinam1+IWocYEyxyj3yoH8xX0lXiPxw00xavpmpqPlniaFj7qcj9GP5VtQdpmdVe6ZmgX1tZ+C0u7psRxM8ZHdjnhR9c1wk7rNdyz2tuYYwd4RST5Y+tK15I2mR2JP7pJmlA9yAP6frXpHw3s7O68P3QCRyTtKVuFYZJXHyg+3Wup6anOve0OP8I2Wm6hq2y/kJmB3QxN92Q+57n2713Og3TJ8ZLC3ZhsS3dFGOhZCT/IVyXjPwi3hy4jvLWT/Q5n+QbsPE3XHqR6GjwNdXd/8StJuppQ87TZkdyBkBSPzxUy1i2OOjsfQN9H+8c+9YdzHjNdLdpkk+tYtymDXNFnSzAnjNZk6e1ec679o0/xDf2vnzBUmbaN56HkfoarJdzf89pP++zXSodTBzO+mTrxWdMnWubS5l/56v8A99GrMc7nq7fnVWFzFuVevFUZVq6kpP8AEfzqzHJn3oA5uVal0QbfENifSUf1rq42U9VX8qtxFAQdiZ9doouKxuRS+9X4ZvesOKWrsUtZtGiN+GarqOGFYUM1aEE1Q0M6bTlxag+pJq3UVsuy2jXvt5qWud7myCvnjTpY4Pje8s0iRxrqkxZ3bAH3upNfQ9eU6v8ABkarrN9qB1sx/ap3m2fZs7dxzjO7mtKUkr3M5pu1j0b+3dI/6Ctj/wCBCf40f27pH/QVsf8AwIT/ABryv/hRC/8AQe/8lR/8VR/wohf+g9/5Kj/4qjlh3C8+x6zb6nY3chjtr22ncDJWKVWOPXANeLfFPxXL4g1mLwzpJMsMMoWQJz502cBfoP5/Suo8P/Cq48NzXs9lruLi4tmt0k+zYMeSPmHzdeKt+D/hba+GNYOpz3xv51UiHdFtCE9W6nJ/+vRFwi77g+aSsbngjwpD4T8Px2gAa7kxJdSj+J/T6DoK5L4veDhqGn/8JBZRZurVcXKqP9ZF6/Vf5fSvUqa6q6lWUMrDBBGQRUKbUuYpxTVjzL4S+M/7V0/+wr6XN7aJmB2PMsQ7fVf5Yrn/AI5/8hbSP+veT/0IVvL8IPsXiH+1dI1x7Ly5vNgj8jd5f+znIyOo+lbHjf4fHxnc2c7al9la3iKECHcGyc56jFaKUVPmRFpONmb3g/8A5E3Rf+vOL/0EVt1R0fT/AOytGstP8zzfs0Kxb8Y3YGM4q9WT3NFsFZPif/kVNX/68pf/AEA1rVU1Sy/tHSrux3+X9oheLfjO3cCM4/Ghbjex4r8FL21s9V1Vrq5hgVreMKZZAufmPTNey/27pH/QVsf/AAIT/GvLP+FEjAB18nH/AE6//ZUn/CiF/wCg9/5Kj/4qtp8kne5lHnirWPVP7d0j/oK2P/gQn+NWba8trxC9rcQzoDgtE4YA+nFeRf8ACiE/6D3/AJKj/wCKrvPA/hAeDNKnsRefavNmMu/y9mOAMYyfSs5KKWjKTlfVHkXw8/5K6v8A11uf5NX0LXnnh74Yf2D4uGvf2qZ8PI3k+Rt+/nvntmvQ6dSSk9AgmlqIa8A18Jp/xzRwdq/2hBIf+BBc/wA6+gK878V/C4eI/Era1Dq7WcrKny+Tvwy9CDkegopySbuE4trQi+Nf/Im23/X6n/oLVa+Dn/Igx/8AX1L/ADFa3i7wlJ4t8PW+mz34glikWV5liyHIBB4zxnPrVjwd4a/4RPQF0v7V9pxK0nmbNv3u2MmjmXs+ULPnueKxSxw/G0yyyLHGuruWdzgAZPU173/bmkf9BWx/8CE/xrzrWfg0NX1q+1E62Y/tUzS+X9mztyc4zu5qh/wohP8AoPf+So/+Kq5OErakxUo9D1T+3dI/6Ctj/wCBCf41Lb6nYXcvlW19bTSYzsjlVjj6A15P/wAKIT/oPf8AkqP/AIqug8G/C9fCOvf2mNU+0nyWi8vyNnXHOcn0qHGFtGUnK+qOD+KH/JU4fpbfzr3+vPvFHw0/4STxSmt/2qbfaIx5Xk7s7DnrnvXoNE5JpJBFNNmR4l0C28S6Dc6ZdDAkGY3xzG4+6w+hr5uu7nU9Cs9U8LXikIbhWdG/gdT95fZh/SvqiuG8bfDe08X3sF6l2bK7RdkjiPcJF7ZGRyPWnSmouz2FUg3qit8Gv+RD/wC3uX+lcV8WvDdxpHiJfEVkrrb3LKzyL/yynHf2zgH65r1bwZ4Y/wCES0H+zPtZuv3zS+Zs29ccYyfStq7s7e+tZbW7hSa3lXa8brkMPejntNyQcl42ZyPgr4hab4lsIo7m4ittUUYlgdtu8/3kz1B9OorsmljRC7yIqAZLEgCvJ9a+CNrPMZdG1JrZSc+TcLvVfow5x9c1lD4LeIJP3c2uWnlemZG/Q0OMHqmF5rdFj4rePLTULT/hH9InWdGcG6mjOVODwgPfnriul8D+G5fD3w5vDdRlLy8hknlU9VGw7VPuB/OpPCvwp0fw9cR3l07ahex8o0igRofVV9fc13F5b/arGe33bfNjaPdjOMjGaJSSXLEIxd+Zngvwau7az8VXUlzcRQIbIgNK4UE7l4ya9x/t3SP+grY/+BCf415X/wAKJGADr5P/AG6//ZUf8KIX/oPf+So/+Kqp8kne4o88Vax6p/bukf8AQVsf/AhP8as217aXqs1rdQzhThjFIGx9cV5F/wAKIX/oPf8AkqP/AIqu28CeCR4Ktb2AXv2r7TIr58rZtwMeprOUYpaMpOV9UddRRRUFhRRRQAUUUUAFFFFABRRRQAUUUUAFFFFABRRRQAUUUUAFFFFABRRRQAUUUUAFFFFABRRRQAUUUUAFFFFABRRRQAUUUUAFcV8UtEOs+Cbpok3XFmRcx4HOF+8P++c/lXa010WRGR1DKwwwPQimnZ3E1dWPk3Q7e0vtXt7O9kaKC4PleavWNj91vcZxn611b/Drxdo94ZNMmRyOBNb3Hlkj3Bx/WsTxp4dk8L+KLqwAYQE+bbP6xnp+I6fhXsHgrxCviLw7DO7D7XBiK4XvuA4b8Rz+ddspO10c0Yq9mcBbfDbxLq94s2t3iwr/ABSSTedJj2HT9au3/wALr6y1m3utBuY2giZJALiTa6upB6gcg4r1Sis+dl8iNuQeZCrHqRmsm6j61qWb+baKD1Hymq11H14rBaM23R4l8T9LNtqdtqiD5LhfKkP+0vT8x/KuIjkr3nxPokeuaNcWEhCs4zG5/hcdDXgM0M9ldS2tzGY5omKOh7EV105XRzTVncvxyVajkrLjkq1HJWhBr22+eaOGNS0kjBVUdyeAK6TxDoB8N3MFvJeLPNIm9lVMbPTv9fyqx8O9Ij82XxJqA2WNiCYyw+/J7fT+ZrO1u/l1bVLi+m4aVuF/uqOAPyrK7crI0StHUrxyVcikpdB0WXUphJLmO1U8t3f2H+NbWteG2tEa8sFZrccvGOTH7j1H8qbkr2CztcoRS1dilrGil96uRS9OadhJm1FL71s6Qhu7+KLtnLfQVzMUvvXdeFLIx2bXkgw0vCZ7KP8AGsqjsjSOrOiFLRRXKbBRRRQAlFYPiq+a105Yo3KyTNjIOCAOtcZ9ruv+fmb/AL+GuqjhZVI81zkrYuNKXLa56lRXPeFL9rmxeCVy0kLdWOSVPSt6Rd8bIeNwxxWE4OEnFnRTmpwUkOozXmU813BcSQtczZRyv3z2rrvCV08+nSpI7O0cnVjk4NbVcM4Q5rnPSxSqT5LWN+jNZPiS5a20WUoxV3IQEHB61wn2u5/5+Zv+/hoo4Z1Y8yYV8UqUuW1z1Gis7Qrg3Oi2zsxZgu1iTzkVl+L7qSG3too5GRncsSpwcD/9dZRpuU+Q2lVUaftDpc0tea2Ml3d38EAuZvncA/vD0716SOBgVVaj7JpNk0K/tk2lYKK5PxbqDpLDaQyMhA3uVOD7Cua+13X/AD8zf9/DWtLCSnHmuZVcZGnPltc9RpazNCvft2kwyMcyKNj/AFFadcsouLaZ1RkpRUkFJmuO8WzzRajCI5pEBi5CsR3rn/tl1/z8zf8Afw11U8I5xUr7nJUxqhNxa2PUqSvLvtl1/wA/M3/fw1JFqd9C26O7mBHq5NW8DLuQswj2PTaK5rQfEb3kwtbzHmt9xxxu9j71e8Su8ehzMjsjBl5U4PWuZ0pRnySOpV4ypucTXzRXl32u6/5+Zv8Av4aPtd1/z8zf9/DXT9Rl3OX+0I/ynqNFeZxanfwtmO8mH/Aya39K8VuZFh1ADB4EyjGPqKzng5xV1qaU8bCTs9DrqKaGDAEHIPQ1h69r39m4gtwGuGGST0QVzwhKcuWJ0zqRhHmkbpYAZJwKaJY2OA6k+gYV5lcX91dMWnuJHz2LcflUAYg5DEH2NdqwLtqzhePV9Inq2aWvPNP1++sHXMhmizzG5z+R7V3dndRXtrHcQnKOMj29q5q1CVLfY6qOIjV23LFJVDW76bTdGu723t2uJYYy6xDPzH8Ocd/wrL0jVNQuLeedr3TtRtBAZEubT5djj+BlyfzyDxyKxsb3OkoriLXxjfS+BpNSlhgGrBxCkQB2M7YKHHXG1gfwNdXpN099o9ldyBRJPbpKwXpllBOPzptNCTuXKKKKQwooooAKKKKACiiigAooooAKKKKACiiigAooooAKKKKACiiigAooooAKKKKACiiigAooooAKKKKACiiigAooooAKKKKACiiigAooooAKKKKAOI+JfhA+J9A821TOo2WZIP8AbH8Sfjjj3FeJ+EPEkvhfXFncMbWT93dRd9ueuPVf8a+o68Z+KngBkkl8R6RDlT815Ag6H/noB/P8/Wt6U/ssyqR+0j0GGaK5t454JFkhkUOjqchgehp9eLeAvHH9hSDTdRcnTJGyj9fIY9/909/TrXs6OkkayRsro43KynIYeoNVKPKyYyuaGmy7ZWjJ+9yPrVy4TK5rGVijhl6g5Fbius8KuvcVjJWdzWL0MO6j61wHjLwbFrv+l2zLDqCDG4/dlHo3v716VdR9eKxrmPk1pCTRMlc+fbnSdT0+48i5sZ0kzgYQkN9COtdRoHgqe5KXeuTLpunjkiRgJpR6KnUZ9TXod2pEUmDj5T/KvM4Gzgk5Pqa35nJGXKkztdX1eK8t4dN0+NbfTLYBYoVPXHdveqFrp8LOHl+f/Z7VnW7VrWz9KVrKyHe50NowAUDAA6AVu2UnSuatX6Vt2knIrOSLRk+I/CJVX1HSo8r96a3UdPdf8K5KKXgc17HbXCRRNJI6oijLMxwAPevMNUa38QeKWj0K1OJDgkcBz3fHYU6c3sxTit0W/D2myaxqKwrkQr80reg/xNeqRxrFGqIoVVGAB2FZ2haNDomnJbx/NIfmlkx99v8ACtSsKk+ZmkY2QUUUVBQUhpaqaldiy0+e4P8AAvH17U0ruyE2krs4rxLefa9XkVTlIRsH17/rWb9mk+x/asfut/l598ZqIksxZjkk5JrtBpX/ABSH2fb+8Keb/wAC6/8A1q9aU1QjGJ4sYOvKUjA8OXn2PWI9xwkv7tvx6frXoNeUAkEMpwRyK9M0u7F9p0FwDyy/N7Eda5sbDVTR1YCpo4M4zxRbeRrLuBhZlDj69DVzwdNtvbiDPDoGH4H/AOvVzxjbbrSC5A5jbafof/1VheHZvI1y3PZyUP41rF+0w39dDKS9nija8Zz/ALq1gB6sXP4cf1rk9jeWHwdpOAfetrxXP5uslO0SBf60ktkV8IQXGOfPLn6Hj+lVQfs6cV3Irp1Ksn2NnwfPu0+aEnmOTOPYisrxdN5mrJF2jjH5mn+D59mpSwk8SR5H1BrL1mbz9ZunzkeYVH0HFTCnbEtlzqXwyRpeEbbzdUec/dhT9Tx/jXbMwVSScADJNYPhK28rS2mI+aZyfwHFWPEl79k0iQKcPN+7X8ev6Vy126lay9DroJUqHM/U4nUro3uoz3B/ib5foOlRy20kMEErjCzKWX8Dio442lkWNBlnIUfjXYeI9OVNCg8tf+PXA/Doa9CdRU3GHc86FN1VKfYo+ELzy7yW0Y/LKNy/Uf8A1q7PtXl1pcNaXcVwn3o2DV6fFIssSSIcq6hgfauLGQ5Z83c7sDU5ocvY4zxj/wAhKD/rl/U1maJDHcaxbxTIHjYnKnoeDWn4x/5CUP8A1y/qaxLO6ksbuO5iCl0OQG6V10k3QSXY46zSxF33O/8A7B0v/nyi/KuZ8TaVbaeYZbYbBISCmePqKT/hL9Q/55wf98n/ABrLv9SudSlWS5cHaMKqjAFZUaNaM7yehrXrUZQtFa+hHYll1C2KfeEq4/Ou38T/APIBm/3l/nWJ4a0Z5riO/mAEKHKDPLH1rc8Uf8gGb/eX+dRWmpV4pdC8PBxoSb6nAdq7m08OaZLZwyPASzICTvPpXCn7p+leoaf/AMg62/65L/KtMbKUUrMzwMIyk+ZXOf1HwlD5LPYuyyKM7GOQ341yJBBIIwQcEV6sa821lAmtXiqMDzDSwlaUm4yKxtGMEpROq8K3zXOnNA5y0B2g/wCyelcxrrM2uXZfOd+Pw7VqeDCftl0vbywf1q94i0CS8k+2WgBlxh0/ve496mMo0sQ77Mcozq4ZW6GH4dksY9QJvtuNv7suPlB967OWysb+3KGOGRGHBUDj6EV5xLFJA5SVGjYdQwwaIppYW3RSuh9VbFa1cO6kueMjGliFTjySjc2m8J6luO3ysZ4y/auj8PafdadZyQ3O3l9y7Wz2rmrLxRf2zATMLiPuG4P512Wn38Go2wngPyngg9VPoa58Q6yjaex1YVUXLmhuOv0u3splsZY4ror+6eRdyhvcelczb6PqF1rTajJpltpbfZZIZhDMH+1O2MZwAMLyQTzzXX0Vxp2O5o4W38IahHcWDO8XkxacqTRbutysZjRh7bWPPsK63R7aSy0SwtZsebBbxxvtORlVAOPyq7RQ22CVgooopDCiiigAooooAKKKKACiiigAooooAKKKKACiiigAooooAKKKKACiiigAooooAKKKKACiiigAooooAKKKKACiiigAooooAKKKKACiiigAooooAKRlDKQRkHqKWigDxj4g/Cx42l1fw7BuQ5eeyTqPVkHp/s/lXH+EfHV74ZcWlwr3OnbvmhJ+aI9ymf5V9LYriPGHwz0rxOXuoMWOpHnzo1+WQ/7a9/qOa3hV0tIylT6xLGk6zp+uWYutOuUmj/iA+8h9GHUGtmyufJfYx+Rv0NfPGp+H/E/gW/Fw6T2204S7tzmNh9f6Gun0T4tSoFi1uz80dPtFtw31K9Pyq3TutNSVOz1Pa7mPIzWNdR9aqaL440DVFWGHU4Hz0SRtjr+BrYuIN8fmRkSRnoy81jZxdmaXTWhzF6mIZf8Acb+VeS27cCvY7+P9xN/uN/KvFrduldNPYznubdu/Sta3fpWHA1WDrFjZj99coGH8KncfyFUyTrLV+lX5dVtNLg867nWNf4R1ZvYDvXnU3jGaRxBptud7cKzDcxPsorpPD/w41nXJxfa/NLaxNztc5mcfToo/ziokktWUm3sNm1XWPG98NO02FktAclM8Af3pD/SvTfDXhm18O2WyP95cuB50xHLH0HoKv6VpFjotktpYW6wxDqB1Y+pPc1ernnO+i2NIxtqwooorMsKKKKACuU8Y3mEhs1P3j5j/AE7V1ROBk15rq159u1OefOVLbU+g6V1YSnzVL9jjxtTlp8vcpqdrK2AcHOD0Nb//AAl99jHk2+PTB/xqLQdETVRM8zukaEAFccmtn/hDbP8A5+J/0/wrrrVaHNafQ46NKvy80NmcYx3OzYAyc4HQV1Xg+8/19mx/6aJ/X+lZ+vaImlLC8Lu6OSCW7Gs/S7s2OpQT5+VWw30PBqp8tak+Uim5UKy5jvtZtvtekXMWMtsJX6jmvO7aUw3UMo6o4b9a9RGGXsQRXmWoW5tNRuIP7jnH07Vz4KV04M6cdGzjNC6lcfatSuJxyHc7fp2rtLqyx4Ua2A5SAEfUc1xNjD9o1C3h/vyAfrXproHjZD0IxTxcuRxiugsHHnU5Pqeb6Rdiz1OGcnCrkH6EVUJaWQnqztn8TSzRmGeSJuqMVP4Ve0O2+1azbIRlVbe30HNdjtFOfkcUU5NU/M76xgFpYQQAfcQA/WuP8WXnn6ktup+WBcH/AHj1/pXZ3M621tLO5+VFLGvMJpWnnkmc/M7Fj+NcGDhzTc2ehjZ8sFBD7S4a0uo7hFVmjOQG6ZrWn8U3lzbyQSQwFJFKng/41PovhuLUbAXM8kibmIULjoK0f+EOs/8An4n/AE/wrepWoc3vbowpUcRy+7szi67rwrefaNK8ljl4G2/h1FcvremDS70RIzNGyhlLdfep/DF59l1dUY4ScbD9e1VXSq0eZepOHbo1uWXoWfGP/ISh/wCuX9TWRplot9qMNs7FVkJBI6jitfxj/wAhKD/rl/U1Q8Pf8h61/wB4/wAjRSbWHuuwVUnibPub/wDwhtt/z9TfkK57V9Jk0m5WNn3xuMo+MZr0euY8ZJmyt5P7shH5iuXD4io6iUnozqxOGpqm5RVmjH8NXz2uqxw7j5Ux2lc8Z7Gul8Uf8gGb/eX+dcTYOI9RtnJxiVT+tdt4o/5AM3+8v860xEUq8X3M8PJuhJdjgD0Neoaf/wAg62/65L/KvMKuLq2oIgRbyYKBgAN0roxFF1UkmYYauqTba3PRbq6hs4GmncIijv3rzS6nN1dzXBGDI5bHpTZZ5rht00ryH1Zs1LY2FxqNwIYEJz95uyj1NTRoqgnKTHXruu1GKOj8GwMEurgjg4Qe+OTUzeMbdWZTaS5U4PIrcsLOOws47aL7qDk+p7muJ8Q6Y9jqDyhT5Ezblb0J6iuan7OtVfN8jqqe0oUY8nzOp0+/tNegkLWwwh2lZADUV14X06cExo0D9ih4/I1xllf3OnTebbSbWIwQRkH61qv4t1FkKhYVP94Kc1csNVjL929DOOJpTh+9WpkXtq9leS2zkM0bYyO9b3g2RheXMWTsMYbHuD/9euckkeWVpJGLOxyzHqTXZ+FdNe1tpLmZSrzY2g9QtbYl8tG0tzHCx5q147HRClooryT2QooooAKKKKACiiigAooooAKKKKACiiigAooooAKKKKACiiigAooooAKKKKACiiigAooooAKKKKACiiigAooooAKKKKACiiigAooooAKKKKACiiigAooooAKKKKACiiigBkkaSo0ciK6MMFWGQR9K4nW/hT4Z1ctJDbvp87c77U4BPup4/LFdzRTTa2E0nueF6l8ENWiLHT9StbpB0WZTG39RWOvgv4g6I+bS3v49ve0uQR+Qb+lfRlFaqtLqR7KPQ+c5JviWwKSRa2/GDm3z+uKzIPCnjG4bbFo2oj/ei2D9cV9P0U/bvsL2S7nzxa/CvxlqGPtEUdsp73FwP5Lmuq0n4H26EPq+rPL6x2qbQf8AgRyf0r12ipdaTGqUUYuieFdE8PJjTdPihfGDKRuc/VjzW1RRWTdzQKKKKACiiigAooooAjmiE0LxElQ6lSVPIzWIPCOm4+9P/wB9/wD1q36KuNSUfhdiJ04T+JXKmn6fBp1t5EG7ZktljkkmrdFFS227spJJWRUv7CHUbb7PPu2Eg5U4IIrK/wCER03+9P8A99//AFq6CiqjUnFWiyJUoSd5IigiEECQqWKoAoLHms2+8PWV/dNcTGUOwAO1sDiteilGUou6Y5QjJWaMaz8N2NldR3ERlLocjc2RWxS0USlKTvJ3HCEYK0VYxLjwxYXNzJO5mDSNuIVuM1Pp+hWemTtNB5hdl2/O2cCtSim6s2rX0JVGmnzJala9s47+1a3lZwjYzsODWT/wiOm/3p/++/8A61b9FEak4q0WEqUJu8lcitreO1t44IhhEXaKlooqNzRKysjP1LSLXVfL+0b8x5wUODVFfCeno6urzhlOQd//ANat6irVWcVZMzlRpyd2tTL1HQ7TU5kluDJuVdo2tiorTw3Y2V3HcxGbehyNzcVs0Ue0nblvoDpQcua2oVU1DT4NStvIn3bdwbKnBBFW6KlNp3RbSaszA/4RHThjDT8f7f8A9atS8sIr6yNrMX8s4yQcHirdFVKpOTu2RGlCKaS3MD/hEdN/vT/99/8A1qP+ER03+9P/AN9//Wrfoqvb1P5ifq9L+UxIvC2lxtkxvJ7O/Fa0FvDbRiOCNY0HZRipaKiU5S+Jlxpwj8KsFRywxzRtHKiujDBVhkGpKKkvc5+48JafKxaJpIc9lOR+tQDwbbZ5u5SP90V09FbLEVUrXMHhqTd+UyLPw7p1k4dYjJIOjSHOK1sUtFZylKTvJmsYRgrRVgoooqSg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P/2Q==" id="499" name="Google Shape;499;p10"/>
          <p:cNvSpPr/>
          <p:nvPr/>
        </p:nvSpPr>
        <p:spPr>
          <a:xfrm>
            <a:off x="4658924" y="2133779"/>
            <a:ext cx="228600" cy="228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DHRA Receives Prestigious SHRM Award | High Desert Human ..." id="500" name="Google Shape;500;p10"/>
          <p:cNvPicPr preferRelativeResize="0"/>
          <p:nvPr/>
        </p:nvPicPr>
        <p:blipFill rotWithShape="1">
          <a:blip r:embed="rId4">
            <a:alphaModFix/>
          </a:blip>
          <a:srcRect b="0" l="0" r="0" t="0"/>
          <a:stretch/>
        </p:blipFill>
        <p:spPr>
          <a:xfrm>
            <a:off x="5384141" y="4152165"/>
            <a:ext cx="840095" cy="490356"/>
          </a:xfrm>
          <a:prstGeom prst="rect">
            <a:avLst/>
          </a:prstGeom>
          <a:noFill/>
          <a:ln>
            <a:noFill/>
          </a:ln>
        </p:spPr>
      </p:pic>
      <p:pic>
        <p:nvPicPr>
          <p:cNvPr id="501" name="Google Shape;501;p10"/>
          <p:cNvPicPr preferRelativeResize="0"/>
          <p:nvPr/>
        </p:nvPicPr>
        <p:blipFill rotWithShape="1">
          <a:blip r:embed="rId5">
            <a:alphaModFix/>
          </a:blip>
          <a:srcRect b="0" l="0" r="0" t="0"/>
          <a:stretch/>
        </p:blipFill>
        <p:spPr>
          <a:xfrm>
            <a:off x="5143502" y="1709740"/>
            <a:ext cx="953751" cy="483623"/>
          </a:xfrm>
          <a:prstGeom prst="rect">
            <a:avLst/>
          </a:prstGeom>
          <a:noFill/>
          <a:ln>
            <a:noFill/>
          </a:ln>
        </p:spPr>
      </p:pic>
      <p:sp>
        <p:nvSpPr>
          <p:cNvPr id="502" name="Google Shape;502;p10"/>
          <p:cNvSpPr txBox="1"/>
          <p:nvPr/>
        </p:nvSpPr>
        <p:spPr>
          <a:xfrm>
            <a:off x="7224438" y="341462"/>
            <a:ext cx="1157400" cy="808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2100"/>
              <a:buFont typeface="Montserrat"/>
              <a:buNone/>
            </a:pPr>
            <a:r>
              <a:rPr b="1" i="0" lang="en" sz="2100" u="none" cap="none" strike="noStrike">
                <a:solidFill>
                  <a:schemeClr val="lt1"/>
                </a:solidFill>
                <a:latin typeface="Montserrat"/>
                <a:ea typeface="Montserrat"/>
                <a:cs typeface="Montserrat"/>
                <a:sym typeface="Montserrat"/>
              </a:rPr>
              <a:t>75%</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Montserrat"/>
                <a:ea typeface="Montserrat"/>
                <a:cs typeface="Montserrat"/>
                <a:sym typeface="Montserrat"/>
              </a:rPr>
              <a:t>Employees say this is a great place to work</a:t>
            </a:r>
            <a:endParaRPr b="0" i="0" sz="1100" u="none" cap="none" strike="noStrike">
              <a:solidFill>
                <a:srgbClr val="000000"/>
              </a:solidFill>
              <a:latin typeface="Arial"/>
              <a:ea typeface="Arial"/>
              <a:cs typeface="Arial"/>
              <a:sym typeface="Arial"/>
            </a:endParaRPr>
          </a:p>
        </p:txBody>
      </p:sp>
      <p:pic>
        <p:nvPicPr>
          <p:cNvPr descr="A blue and white rectangular sign with black text&#10;&#10;AI-generated content may be incorrect." id="503" name="Google Shape;503;p10"/>
          <p:cNvPicPr preferRelativeResize="0"/>
          <p:nvPr/>
        </p:nvPicPr>
        <p:blipFill rotWithShape="1">
          <a:blip r:embed="rId6">
            <a:alphaModFix/>
          </a:blip>
          <a:srcRect b="0" l="0" r="0" t="0"/>
          <a:stretch/>
        </p:blipFill>
        <p:spPr>
          <a:xfrm>
            <a:off x="4930756" y="2784293"/>
            <a:ext cx="586770" cy="583436"/>
          </a:xfrm>
          <a:prstGeom prst="rect">
            <a:avLst/>
          </a:prstGeom>
          <a:noFill/>
          <a:ln>
            <a:noFill/>
          </a:ln>
        </p:spPr>
      </p:pic>
      <p:pic>
        <p:nvPicPr>
          <p:cNvPr descr="A close up of a card&#10;&#10;AI-generated content may be incorrect." id="504" name="Google Shape;504;p10"/>
          <p:cNvPicPr preferRelativeResize="0"/>
          <p:nvPr/>
        </p:nvPicPr>
        <p:blipFill rotWithShape="1">
          <a:blip r:embed="rId7">
            <a:alphaModFix/>
          </a:blip>
          <a:srcRect b="0" l="0" r="0" t="0"/>
          <a:stretch/>
        </p:blipFill>
        <p:spPr>
          <a:xfrm>
            <a:off x="6160958" y="656970"/>
            <a:ext cx="763456" cy="741327"/>
          </a:xfrm>
          <a:prstGeom prst="rect">
            <a:avLst/>
          </a:prstGeom>
          <a:noFill/>
          <a:ln>
            <a:noFill/>
          </a:ln>
        </p:spPr>
      </p:pic>
      <p:pic>
        <p:nvPicPr>
          <p:cNvPr descr="A green and white rectangular sign with black text&#10;&#10;AI-generated content may be incorrect." id="505" name="Google Shape;505;p10"/>
          <p:cNvPicPr preferRelativeResize="0"/>
          <p:nvPr/>
        </p:nvPicPr>
        <p:blipFill rotWithShape="1">
          <a:blip r:embed="rId8">
            <a:alphaModFix/>
          </a:blip>
          <a:srcRect b="0" l="0" r="0" t="0"/>
          <a:stretch/>
        </p:blipFill>
        <p:spPr>
          <a:xfrm>
            <a:off x="5194238" y="3022528"/>
            <a:ext cx="588595" cy="588595"/>
          </a:xfrm>
          <a:prstGeom prst="rect">
            <a:avLst/>
          </a:prstGeom>
          <a:noFill/>
          <a:ln>
            <a:noFill/>
          </a:ln>
        </p:spPr>
      </p:pic>
      <p:sp>
        <p:nvSpPr>
          <p:cNvPr id="506" name="Google Shape;506;p10"/>
          <p:cNvSpPr/>
          <p:nvPr/>
        </p:nvSpPr>
        <p:spPr>
          <a:xfrm>
            <a:off x="7949809"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11"/>
          <p:cNvSpPr/>
          <p:nvPr/>
        </p:nvSpPr>
        <p:spPr>
          <a:xfrm>
            <a:off x="0" y="0"/>
            <a:ext cx="9144000" cy="51435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3" name="Google Shape;513;p11"/>
          <p:cNvSpPr/>
          <p:nvPr/>
        </p:nvSpPr>
        <p:spPr>
          <a:xfrm>
            <a:off x="229253" y="865532"/>
            <a:ext cx="5697600" cy="3739500"/>
          </a:xfrm>
          <a:prstGeom prst="round1Rect">
            <a:avLst>
              <a:gd fmla="val 14589" name="adj"/>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900"/>
              <a:buFont typeface="Arial"/>
              <a:buNone/>
            </a:pPr>
            <a:r>
              <a:t/>
            </a:r>
            <a:endParaRPr b="0" i="0" sz="900" u="none" cap="none" strike="noStrike">
              <a:solidFill>
                <a:schemeClr val="lt1"/>
              </a:solidFill>
              <a:latin typeface="Montserrat"/>
              <a:ea typeface="Montserrat"/>
              <a:cs typeface="Montserrat"/>
              <a:sym typeface="Montserrat"/>
            </a:endParaRPr>
          </a:p>
        </p:txBody>
      </p:sp>
      <p:sp>
        <p:nvSpPr>
          <p:cNvPr id="514" name="Google Shape;514;p11"/>
          <p:cNvSpPr/>
          <p:nvPr/>
        </p:nvSpPr>
        <p:spPr>
          <a:xfrm>
            <a:off x="5985164" y="865532"/>
            <a:ext cx="2927100" cy="3739500"/>
          </a:xfrm>
          <a:prstGeom prst="round1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900"/>
              <a:buFont typeface="Arial"/>
              <a:buNone/>
            </a:pPr>
            <a:r>
              <a:t/>
            </a:r>
            <a:endParaRPr b="0" i="0" sz="900" u="none" cap="none" strike="noStrike">
              <a:solidFill>
                <a:schemeClr val="lt1"/>
              </a:solidFill>
              <a:latin typeface="Montserrat"/>
              <a:ea typeface="Montserrat"/>
              <a:cs typeface="Montserrat"/>
              <a:sym typeface="Montserrat"/>
            </a:endParaRPr>
          </a:p>
        </p:txBody>
      </p:sp>
      <p:sp>
        <p:nvSpPr>
          <p:cNvPr id="515" name="Google Shape;515;p11"/>
          <p:cNvSpPr txBox="1"/>
          <p:nvPr/>
        </p:nvSpPr>
        <p:spPr>
          <a:xfrm>
            <a:off x="549478" y="4797353"/>
            <a:ext cx="317700" cy="1419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en" sz="800" u="none" cap="none" strike="noStrike">
                <a:solidFill>
                  <a:schemeClr val="lt2"/>
                </a:solidFill>
                <a:latin typeface="Montserrat"/>
                <a:ea typeface="Montserrat"/>
                <a:cs typeface="Montserrat"/>
                <a:sym typeface="Montserrat"/>
              </a:rPr>
              <a:t>‹#›</a:t>
            </a:fld>
            <a:endParaRPr b="1" i="0" sz="800" u="none" cap="none" strike="noStrike">
              <a:solidFill>
                <a:schemeClr val="lt2"/>
              </a:solidFill>
              <a:latin typeface="Montserrat"/>
              <a:ea typeface="Montserrat"/>
              <a:cs typeface="Montserrat"/>
              <a:sym typeface="Montserrat"/>
            </a:endParaRPr>
          </a:p>
        </p:txBody>
      </p:sp>
      <p:sp>
        <p:nvSpPr>
          <p:cNvPr id="516" name="Google Shape;516;p11"/>
          <p:cNvSpPr txBox="1"/>
          <p:nvPr/>
        </p:nvSpPr>
        <p:spPr>
          <a:xfrm>
            <a:off x="822960" y="4809163"/>
            <a:ext cx="1686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DED4FF"/>
                </a:solidFill>
                <a:latin typeface="Montserrat"/>
                <a:ea typeface="Montserrat"/>
                <a:cs typeface="Montserrat"/>
                <a:sym typeface="Montserrat"/>
              </a:rPr>
              <a:t>© Virtusa Corporation. All Rights Reserved.</a:t>
            </a:r>
            <a:endParaRPr b="0" i="0" sz="1100" u="none" cap="none" strike="noStrike">
              <a:solidFill>
                <a:srgbClr val="000000"/>
              </a:solidFill>
              <a:latin typeface="Arial"/>
              <a:ea typeface="Arial"/>
              <a:cs typeface="Arial"/>
              <a:sym typeface="Arial"/>
            </a:endParaRPr>
          </a:p>
        </p:txBody>
      </p:sp>
      <p:sp>
        <p:nvSpPr>
          <p:cNvPr id="517" name="Google Shape;517;p11"/>
          <p:cNvSpPr/>
          <p:nvPr/>
        </p:nvSpPr>
        <p:spPr>
          <a:xfrm>
            <a:off x="7941017" y="4777548"/>
            <a:ext cx="650332" cy="151280"/>
          </a:xfrm>
          <a:custGeom>
            <a:rect b="b" l="l" r="r" t="t"/>
            <a:pathLst>
              <a:path extrusionOk="0" h="290924" w="1250639">
                <a:moveTo>
                  <a:pt x="1063442" y="223153"/>
                </a:moveTo>
                <a:cubicBezTo>
                  <a:pt x="1063442" y="173057"/>
                  <a:pt x="1104409" y="149717"/>
                  <a:pt x="1155049" y="149717"/>
                </a:cubicBezTo>
                <a:cubicBezTo>
                  <a:pt x="1166429" y="149717"/>
                  <a:pt x="1177240" y="151425"/>
                  <a:pt x="1188051" y="154272"/>
                </a:cubicBezTo>
                <a:lnTo>
                  <a:pt x="1188620" y="154272"/>
                </a:lnTo>
                <a:cubicBezTo>
                  <a:pt x="1189188" y="154272"/>
                  <a:pt x="1189758" y="154272"/>
                  <a:pt x="1190327" y="154841"/>
                </a:cubicBezTo>
                <a:cubicBezTo>
                  <a:pt x="1190896" y="155410"/>
                  <a:pt x="1191465" y="154841"/>
                  <a:pt x="1192033" y="155410"/>
                </a:cubicBezTo>
                <a:cubicBezTo>
                  <a:pt x="1192603" y="155410"/>
                  <a:pt x="1192603" y="155410"/>
                  <a:pt x="1193171" y="155410"/>
                </a:cubicBezTo>
                <a:cubicBezTo>
                  <a:pt x="1193741" y="155410"/>
                  <a:pt x="1194310" y="155410"/>
                  <a:pt x="1194310" y="155979"/>
                </a:cubicBezTo>
                <a:cubicBezTo>
                  <a:pt x="1196016" y="156549"/>
                  <a:pt x="1198293" y="157118"/>
                  <a:pt x="1199431" y="157687"/>
                </a:cubicBezTo>
                <a:lnTo>
                  <a:pt x="1199431" y="157687"/>
                </a:lnTo>
                <a:cubicBezTo>
                  <a:pt x="1200568" y="158256"/>
                  <a:pt x="1201706" y="158256"/>
                  <a:pt x="1202276" y="158826"/>
                </a:cubicBezTo>
                <a:lnTo>
                  <a:pt x="1202276" y="146871"/>
                </a:lnTo>
                <a:cubicBezTo>
                  <a:pt x="1202276" y="124100"/>
                  <a:pt x="1183499" y="105884"/>
                  <a:pt x="1156187" y="106453"/>
                </a:cubicBezTo>
                <a:cubicBezTo>
                  <a:pt x="1133997" y="106453"/>
                  <a:pt x="1114082" y="118977"/>
                  <a:pt x="1103840" y="138332"/>
                </a:cubicBezTo>
                <a:lnTo>
                  <a:pt x="1069701" y="105884"/>
                </a:lnTo>
                <a:cubicBezTo>
                  <a:pt x="1087340" y="75143"/>
                  <a:pt x="1123186" y="60342"/>
                  <a:pt x="1156756" y="60342"/>
                </a:cubicBezTo>
                <a:cubicBezTo>
                  <a:pt x="1211379" y="60342"/>
                  <a:pt x="1250640" y="87098"/>
                  <a:pt x="1250640" y="143455"/>
                </a:cubicBezTo>
                <a:lnTo>
                  <a:pt x="1250640" y="285772"/>
                </a:lnTo>
                <a:lnTo>
                  <a:pt x="1202276" y="285772"/>
                </a:lnTo>
                <a:lnTo>
                  <a:pt x="1202276" y="266986"/>
                </a:lnTo>
                <a:cubicBezTo>
                  <a:pt x="1201706" y="267556"/>
                  <a:pt x="1201137" y="268125"/>
                  <a:pt x="1199999" y="268694"/>
                </a:cubicBezTo>
                <a:cubicBezTo>
                  <a:pt x="1182361" y="283495"/>
                  <a:pt x="1160170" y="291465"/>
                  <a:pt x="1137411" y="290896"/>
                </a:cubicBezTo>
                <a:cubicBezTo>
                  <a:pt x="1097012" y="290326"/>
                  <a:pt x="1063442" y="265848"/>
                  <a:pt x="1063442" y="223153"/>
                </a:cubicBezTo>
                <a:close/>
                <a:moveTo>
                  <a:pt x="1111237" y="219737"/>
                </a:moveTo>
                <a:cubicBezTo>
                  <a:pt x="1111237" y="234538"/>
                  <a:pt x="1122617" y="247062"/>
                  <a:pt x="1146514" y="247062"/>
                </a:cubicBezTo>
                <a:cubicBezTo>
                  <a:pt x="1166429" y="247062"/>
                  <a:pt x="1186344" y="240231"/>
                  <a:pt x="1201706" y="227138"/>
                </a:cubicBezTo>
                <a:lnTo>
                  <a:pt x="1201706" y="200382"/>
                </a:lnTo>
                <a:cubicBezTo>
                  <a:pt x="1186344" y="194120"/>
                  <a:pt x="1169843" y="190705"/>
                  <a:pt x="1152773" y="190705"/>
                </a:cubicBezTo>
                <a:cubicBezTo>
                  <a:pt x="1128307" y="190705"/>
                  <a:pt x="1111237" y="200951"/>
                  <a:pt x="1111237" y="219737"/>
                </a:cubicBezTo>
                <a:lnTo>
                  <a:pt x="1111237" y="219737"/>
                </a:lnTo>
                <a:close/>
                <a:moveTo>
                  <a:pt x="862589" y="247631"/>
                </a:moveTo>
                <a:lnTo>
                  <a:pt x="894452" y="214614"/>
                </a:lnTo>
                <a:cubicBezTo>
                  <a:pt x="909246" y="235107"/>
                  <a:pt x="932574" y="247062"/>
                  <a:pt x="958179" y="246493"/>
                </a:cubicBezTo>
                <a:cubicBezTo>
                  <a:pt x="984921" y="246493"/>
                  <a:pt x="992318" y="234538"/>
                  <a:pt x="992318" y="223722"/>
                </a:cubicBezTo>
                <a:cubicBezTo>
                  <a:pt x="992318" y="215752"/>
                  <a:pt x="988335" y="209490"/>
                  <a:pt x="976386" y="204936"/>
                </a:cubicBezTo>
                <a:cubicBezTo>
                  <a:pt x="973542" y="203798"/>
                  <a:pt x="970127" y="202659"/>
                  <a:pt x="966714" y="202090"/>
                </a:cubicBezTo>
                <a:lnTo>
                  <a:pt x="937695" y="194689"/>
                </a:lnTo>
                <a:cubicBezTo>
                  <a:pt x="896728" y="184443"/>
                  <a:pt x="871123" y="163380"/>
                  <a:pt x="871123" y="125239"/>
                </a:cubicBezTo>
                <a:cubicBezTo>
                  <a:pt x="871123" y="84252"/>
                  <a:pt x="905263" y="59773"/>
                  <a:pt x="951351" y="59773"/>
                </a:cubicBezTo>
                <a:cubicBezTo>
                  <a:pt x="988335" y="59773"/>
                  <a:pt x="1013371" y="75713"/>
                  <a:pt x="1033285" y="96775"/>
                </a:cubicBezTo>
                <a:lnTo>
                  <a:pt x="1001422" y="131501"/>
                </a:lnTo>
                <a:cubicBezTo>
                  <a:pt x="989473" y="114423"/>
                  <a:pt x="970127" y="104176"/>
                  <a:pt x="949644" y="103607"/>
                </a:cubicBezTo>
                <a:cubicBezTo>
                  <a:pt x="930867" y="103607"/>
                  <a:pt x="919488" y="113284"/>
                  <a:pt x="919488" y="124100"/>
                </a:cubicBezTo>
                <a:cubicBezTo>
                  <a:pt x="919488" y="133778"/>
                  <a:pt x="926884" y="140040"/>
                  <a:pt x="936557" y="143455"/>
                </a:cubicBezTo>
                <a:cubicBezTo>
                  <a:pt x="938264" y="144025"/>
                  <a:pt x="939402" y="144594"/>
                  <a:pt x="941109" y="144594"/>
                </a:cubicBezTo>
                <a:lnTo>
                  <a:pt x="975817" y="152564"/>
                </a:lnTo>
                <a:cubicBezTo>
                  <a:pt x="1013371" y="161672"/>
                  <a:pt x="1041251" y="182735"/>
                  <a:pt x="1041251" y="221445"/>
                </a:cubicBezTo>
                <a:cubicBezTo>
                  <a:pt x="1041251" y="259586"/>
                  <a:pt x="1011664" y="289757"/>
                  <a:pt x="953627" y="289757"/>
                </a:cubicBezTo>
                <a:cubicBezTo>
                  <a:pt x="908108" y="290326"/>
                  <a:pt x="879658" y="269264"/>
                  <a:pt x="862589" y="247631"/>
                </a:cubicBezTo>
                <a:lnTo>
                  <a:pt x="862589" y="247631"/>
                </a:lnTo>
                <a:close/>
                <a:moveTo>
                  <a:pt x="649786" y="193551"/>
                </a:moveTo>
                <a:lnTo>
                  <a:pt x="649786" y="66035"/>
                </a:lnTo>
                <a:lnTo>
                  <a:pt x="700995" y="66035"/>
                </a:lnTo>
                <a:lnTo>
                  <a:pt x="700995" y="197536"/>
                </a:lnTo>
                <a:cubicBezTo>
                  <a:pt x="700995" y="225999"/>
                  <a:pt x="715789" y="245354"/>
                  <a:pt x="741963" y="245354"/>
                </a:cubicBezTo>
                <a:cubicBezTo>
                  <a:pt x="768136" y="245354"/>
                  <a:pt x="782930" y="226568"/>
                  <a:pt x="782930" y="197536"/>
                </a:cubicBezTo>
                <a:lnTo>
                  <a:pt x="782930" y="66035"/>
                </a:lnTo>
                <a:lnTo>
                  <a:pt x="834139" y="66035"/>
                </a:lnTo>
                <a:lnTo>
                  <a:pt x="834139" y="193551"/>
                </a:lnTo>
                <a:cubicBezTo>
                  <a:pt x="834139" y="255601"/>
                  <a:pt x="790327" y="290326"/>
                  <a:pt x="741394" y="290326"/>
                </a:cubicBezTo>
                <a:cubicBezTo>
                  <a:pt x="692460" y="290326"/>
                  <a:pt x="650355" y="255601"/>
                  <a:pt x="649786" y="193551"/>
                </a:cubicBezTo>
                <a:lnTo>
                  <a:pt x="649786" y="193551"/>
                </a:lnTo>
                <a:close/>
                <a:moveTo>
                  <a:pt x="514367" y="207783"/>
                </a:moveTo>
                <a:lnTo>
                  <a:pt x="514367" y="111576"/>
                </a:lnTo>
                <a:lnTo>
                  <a:pt x="481934" y="111576"/>
                </a:lnTo>
                <a:lnTo>
                  <a:pt x="481934" y="66035"/>
                </a:lnTo>
                <a:lnTo>
                  <a:pt x="514367" y="66035"/>
                </a:lnTo>
                <a:lnTo>
                  <a:pt x="514367" y="569"/>
                </a:lnTo>
                <a:lnTo>
                  <a:pt x="565007" y="569"/>
                </a:lnTo>
                <a:lnTo>
                  <a:pt x="565007" y="66035"/>
                </a:lnTo>
                <a:lnTo>
                  <a:pt x="617354" y="66035"/>
                </a:lnTo>
                <a:lnTo>
                  <a:pt x="617354" y="111576"/>
                </a:lnTo>
                <a:lnTo>
                  <a:pt x="565007" y="111576"/>
                </a:lnTo>
                <a:lnTo>
                  <a:pt x="565007" y="200382"/>
                </a:lnTo>
                <a:cubicBezTo>
                  <a:pt x="565007" y="232261"/>
                  <a:pt x="572404" y="240231"/>
                  <a:pt x="600853" y="240231"/>
                </a:cubicBezTo>
                <a:lnTo>
                  <a:pt x="600853" y="240231"/>
                </a:lnTo>
                <a:cubicBezTo>
                  <a:pt x="605405" y="240231"/>
                  <a:pt x="615647" y="239662"/>
                  <a:pt x="617354" y="239092"/>
                </a:cubicBezTo>
                <a:lnTo>
                  <a:pt x="617354" y="284634"/>
                </a:lnTo>
                <a:cubicBezTo>
                  <a:pt x="616216" y="284634"/>
                  <a:pt x="606543" y="285772"/>
                  <a:pt x="590042" y="285772"/>
                </a:cubicBezTo>
                <a:cubicBezTo>
                  <a:pt x="532574" y="285772"/>
                  <a:pt x="514367" y="263571"/>
                  <a:pt x="514367" y="207783"/>
                </a:cubicBezTo>
                <a:lnTo>
                  <a:pt x="514367" y="207783"/>
                </a:lnTo>
                <a:close/>
                <a:moveTo>
                  <a:pt x="344808" y="285203"/>
                </a:moveTo>
                <a:lnTo>
                  <a:pt x="344808" y="144025"/>
                </a:lnTo>
                <a:cubicBezTo>
                  <a:pt x="344808" y="100760"/>
                  <a:pt x="380085" y="65466"/>
                  <a:pt x="423328" y="65466"/>
                </a:cubicBezTo>
                <a:lnTo>
                  <a:pt x="452347" y="65466"/>
                </a:lnTo>
                <a:lnTo>
                  <a:pt x="452347" y="111576"/>
                </a:lnTo>
                <a:lnTo>
                  <a:pt x="434139" y="111576"/>
                </a:lnTo>
                <a:cubicBezTo>
                  <a:pt x="412518" y="111576"/>
                  <a:pt x="394879" y="129224"/>
                  <a:pt x="394879" y="150856"/>
                </a:cubicBezTo>
                <a:lnTo>
                  <a:pt x="394879" y="150856"/>
                </a:lnTo>
                <a:lnTo>
                  <a:pt x="394879" y="285203"/>
                </a:lnTo>
                <a:lnTo>
                  <a:pt x="344808" y="285203"/>
                </a:lnTo>
                <a:close/>
                <a:moveTo>
                  <a:pt x="246942" y="285203"/>
                </a:moveTo>
                <a:lnTo>
                  <a:pt x="246942" y="70589"/>
                </a:lnTo>
                <a:cubicBezTo>
                  <a:pt x="276529" y="81405"/>
                  <a:pt x="296444" y="109299"/>
                  <a:pt x="298151" y="140609"/>
                </a:cubicBezTo>
                <a:lnTo>
                  <a:pt x="298151" y="285203"/>
                </a:lnTo>
                <a:lnTo>
                  <a:pt x="246942" y="285203"/>
                </a:lnTo>
                <a:close/>
                <a:moveTo>
                  <a:pt x="77951" y="285203"/>
                </a:moveTo>
                <a:lnTo>
                  <a:pt x="0" y="65466"/>
                </a:lnTo>
                <a:lnTo>
                  <a:pt x="52347" y="65466"/>
                </a:lnTo>
                <a:lnTo>
                  <a:pt x="105832" y="226568"/>
                </a:lnTo>
                <a:lnTo>
                  <a:pt x="159317" y="65466"/>
                </a:lnTo>
                <a:lnTo>
                  <a:pt x="211664" y="65466"/>
                </a:lnTo>
                <a:lnTo>
                  <a:pt x="133713" y="285203"/>
                </a:lnTo>
                <a:lnTo>
                  <a:pt x="77951" y="285203"/>
                </a:lnTo>
                <a:close/>
                <a:moveTo>
                  <a:pt x="246942" y="0"/>
                </a:moveTo>
                <a:lnTo>
                  <a:pt x="297013" y="0"/>
                </a:lnTo>
                <a:cubicBezTo>
                  <a:pt x="292461" y="27325"/>
                  <a:pt x="273115" y="50665"/>
                  <a:pt x="246942" y="60342"/>
                </a:cubicBezTo>
                <a:lnTo>
                  <a:pt x="246942"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18" name="Google Shape;518;p11"/>
          <p:cNvSpPr txBox="1"/>
          <p:nvPr>
            <p:ph type="title"/>
          </p:nvPr>
        </p:nvSpPr>
        <p:spPr>
          <a:xfrm>
            <a:off x="548639" y="342900"/>
            <a:ext cx="8051700" cy="3759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lt1"/>
              </a:buClr>
              <a:buSzPts val="2400"/>
              <a:buFont typeface="Montserrat Light"/>
              <a:buNone/>
            </a:pPr>
            <a:r>
              <a:rPr lang="en">
                <a:solidFill>
                  <a:schemeClr val="lt1"/>
                </a:solidFill>
              </a:rPr>
              <a:t>Our commitments and brand reputation</a:t>
            </a:r>
            <a:endParaRPr/>
          </a:p>
        </p:txBody>
      </p:sp>
      <p:sp>
        <p:nvSpPr>
          <p:cNvPr id="519" name="Google Shape;519;p11"/>
          <p:cNvSpPr/>
          <p:nvPr/>
        </p:nvSpPr>
        <p:spPr>
          <a:xfrm>
            <a:off x="2269547" y="3292877"/>
            <a:ext cx="1414800" cy="87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RANKING</a:t>
            </a:r>
            <a:endParaRPr b="1" i="0" sz="800" u="none" cap="none" strike="noStrike">
              <a:solidFill>
                <a:srgbClr val="36312D"/>
              </a:solidFill>
              <a:latin typeface="Montserrat"/>
              <a:ea typeface="Montserrat"/>
              <a:cs typeface="Montserrat"/>
              <a:sym typeface="Montserrat"/>
            </a:endParaRPr>
          </a:p>
          <a:p>
            <a:pPr indent="0" lvl="0" marL="0" marR="0" rtl="0" algn="l">
              <a:lnSpc>
                <a:spcPct val="100000"/>
              </a:lnSpc>
              <a:spcBef>
                <a:spcPts val="500"/>
              </a:spcBef>
              <a:spcAft>
                <a:spcPts val="0"/>
              </a:spcAft>
              <a:buClr>
                <a:srgbClr val="141C27"/>
              </a:buClr>
              <a:buSzPts val="800"/>
              <a:buFont typeface="Montserrat"/>
              <a:buNone/>
            </a:pPr>
            <a:r>
              <a:rPr b="0" i="0" lang="en" sz="800" u="none" cap="none" strike="noStrike">
                <a:solidFill>
                  <a:srgbClr val="141C27"/>
                </a:solidFill>
                <a:latin typeface="Montserrat"/>
                <a:ea typeface="Montserrat"/>
                <a:cs typeface="Montserrat"/>
                <a:sym typeface="Montserrat"/>
              </a:rPr>
              <a:t>Achieved EcoVadis GOLD Ranking for sustainability</a:t>
            </a:r>
            <a:endParaRPr b="0" i="0" sz="1100" u="none" cap="none" strike="noStrike">
              <a:solidFill>
                <a:srgbClr val="000000"/>
              </a:solidFill>
              <a:latin typeface="Arial"/>
              <a:ea typeface="Arial"/>
              <a:cs typeface="Arial"/>
              <a:sym typeface="Arial"/>
            </a:endParaRPr>
          </a:p>
        </p:txBody>
      </p:sp>
      <p:sp>
        <p:nvSpPr>
          <p:cNvPr id="520" name="Google Shape;520;p11"/>
          <p:cNvSpPr/>
          <p:nvPr/>
        </p:nvSpPr>
        <p:spPr>
          <a:xfrm>
            <a:off x="4074980" y="3161777"/>
            <a:ext cx="1662600" cy="69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TOP EMPLOYER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Top Employer 2025.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15</a:t>
            </a:r>
            <a:r>
              <a:rPr b="0" baseline="30000" i="0" lang="en" sz="800" u="none" cap="none" strike="noStrike">
                <a:solidFill>
                  <a:srgbClr val="141C27"/>
                </a:solidFill>
                <a:latin typeface="Montserrat"/>
                <a:ea typeface="Montserrat"/>
                <a:cs typeface="Montserrat"/>
                <a:sym typeface="Montserrat"/>
              </a:rPr>
              <a:t>th</a:t>
            </a:r>
            <a:r>
              <a:rPr b="0" i="0" lang="en" sz="800" u="none" cap="none" strike="noStrike">
                <a:solidFill>
                  <a:srgbClr val="141C27"/>
                </a:solidFill>
                <a:latin typeface="Montserrat"/>
                <a:ea typeface="Montserrat"/>
                <a:cs typeface="Montserrat"/>
                <a:sym typeface="Montserrat"/>
              </a:rPr>
              <a:t> consecutive year in the UK and 5</a:t>
            </a:r>
            <a:r>
              <a:rPr b="0" baseline="30000" i="0" lang="en" sz="800" u="none" cap="none" strike="noStrike">
                <a:solidFill>
                  <a:srgbClr val="141C27"/>
                </a:solidFill>
                <a:latin typeface="Montserrat"/>
                <a:ea typeface="Montserrat"/>
                <a:cs typeface="Montserrat"/>
                <a:sym typeface="Montserrat"/>
              </a:rPr>
              <a:t>th</a:t>
            </a:r>
            <a:r>
              <a:rPr b="0" i="0" lang="en" sz="800" u="none" cap="none" strike="noStrike">
                <a:solidFill>
                  <a:srgbClr val="141C27"/>
                </a:solidFill>
                <a:latin typeface="Montserrat"/>
                <a:ea typeface="Montserrat"/>
                <a:cs typeface="Montserrat"/>
                <a:sym typeface="Montserrat"/>
              </a:rPr>
              <a:t> year in the UAE </a:t>
            </a:r>
            <a:endParaRPr b="0" i="0" sz="800" u="none" cap="none" strike="noStrike">
              <a:solidFill>
                <a:srgbClr val="141C27"/>
              </a:solidFill>
              <a:latin typeface="Montserrat"/>
              <a:ea typeface="Montserrat"/>
              <a:cs typeface="Montserrat"/>
              <a:sym typeface="Montserrat"/>
            </a:endParaRPr>
          </a:p>
          <a:p>
            <a:pPr indent="0" lvl="0" marL="0" marR="0" rtl="0" algn="l">
              <a:lnSpc>
                <a:spcPct val="100000"/>
              </a:lnSpc>
              <a:spcBef>
                <a:spcPts val="300"/>
              </a:spcBef>
              <a:spcAft>
                <a:spcPts val="0"/>
              </a:spcAft>
              <a:buClr>
                <a:schemeClr val="lt1"/>
              </a:buClr>
              <a:buSzPts val="800"/>
              <a:buFont typeface="Arial"/>
              <a:buNone/>
            </a:pPr>
            <a:r>
              <a:t/>
            </a:r>
            <a:endParaRPr b="0" i="0" sz="800" u="none" cap="none" strike="noStrike">
              <a:solidFill>
                <a:srgbClr val="141C27"/>
              </a:solidFill>
              <a:latin typeface="Montserrat"/>
              <a:ea typeface="Montserrat"/>
              <a:cs typeface="Montserrat"/>
              <a:sym typeface="Montserrat"/>
            </a:endParaRPr>
          </a:p>
        </p:txBody>
      </p:sp>
      <p:sp>
        <p:nvSpPr>
          <p:cNvPr id="521" name="Google Shape;521;p11"/>
          <p:cNvSpPr/>
          <p:nvPr/>
        </p:nvSpPr>
        <p:spPr>
          <a:xfrm>
            <a:off x="475915" y="1145336"/>
            <a:ext cx="1589100" cy="74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CERTIFICATION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141C27"/>
              </a:buClr>
              <a:buSzPts val="800"/>
              <a:buFont typeface="Montserrat"/>
              <a:buNone/>
            </a:pPr>
            <a:r>
              <a:rPr b="0" i="0" lang="en" sz="800" u="none" cap="none" strike="noStrike">
                <a:solidFill>
                  <a:srgbClr val="141C27"/>
                </a:solidFill>
                <a:latin typeface="Montserrat"/>
                <a:ea typeface="Montserrat"/>
                <a:cs typeface="Montserrat"/>
                <a:sym typeface="Montserrat"/>
              </a:rPr>
              <a:t>Top 1% globally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00"/>
              <a:buFont typeface="Arial"/>
              <a:buNone/>
            </a:pPr>
            <a:r>
              <a:t/>
            </a:r>
            <a:endParaRPr b="0" i="0" sz="800" u="none" cap="none" strike="noStrike">
              <a:solidFill>
                <a:srgbClr val="141C27"/>
              </a:solidFill>
              <a:latin typeface="Montserrat"/>
              <a:ea typeface="Montserrat"/>
              <a:cs typeface="Montserrat"/>
              <a:sym typeface="Montserrat"/>
            </a:endParaRPr>
          </a:p>
          <a:p>
            <a:pPr indent="0" lvl="0" marL="0" marR="0" rtl="0" algn="l">
              <a:lnSpc>
                <a:spcPct val="100000"/>
              </a:lnSpc>
              <a:spcBef>
                <a:spcPts val="0"/>
              </a:spcBef>
              <a:spcAft>
                <a:spcPts val="0"/>
              </a:spcAft>
              <a:buClr>
                <a:srgbClr val="141C27"/>
              </a:buClr>
              <a:buSzPts val="800"/>
              <a:buFont typeface="Montserrat"/>
              <a:buNone/>
            </a:pPr>
            <a:r>
              <a:rPr b="0" i="0" lang="en" sz="800" u="none" cap="none" strike="noStrike">
                <a:solidFill>
                  <a:srgbClr val="141C27"/>
                </a:solidFill>
                <a:latin typeface="Montserrat"/>
                <a:ea typeface="Montserrat"/>
                <a:cs typeface="Montserrat"/>
                <a:sym typeface="Montserrat"/>
              </a:rPr>
              <a:t>3</a:t>
            </a:r>
            <a:r>
              <a:rPr b="0" baseline="30000" i="0" lang="en" sz="800" u="none" cap="none" strike="noStrike">
                <a:solidFill>
                  <a:srgbClr val="141C27"/>
                </a:solidFill>
                <a:latin typeface="Montserrat"/>
                <a:ea typeface="Montserrat"/>
                <a:cs typeface="Montserrat"/>
                <a:sym typeface="Montserrat"/>
              </a:rPr>
              <a:t>rd</a:t>
            </a:r>
            <a:r>
              <a:rPr b="0" i="0" lang="en" sz="800" u="none" cap="none" strike="noStrike">
                <a:solidFill>
                  <a:srgbClr val="141C27"/>
                </a:solidFill>
                <a:latin typeface="Montserrat"/>
                <a:ea typeface="Montserrat"/>
                <a:cs typeface="Montserrat"/>
                <a:sym typeface="Montserrat"/>
              </a:rPr>
              <a:t> ranked cyber secure</a:t>
            </a:r>
            <a:endParaRPr b="0" i="0" sz="800" u="none" cap="none" strike="noStrike">
              <a:solidFill>
                <a:srgbClr val="141C27"/>
              </a:solidFill>
              <a:latin typeface="Montserrat"/>
              <a:ea typeface="Montserrat"/>
              <a:cs typeface="Montserrat"/>
              <a:sym typeface="Montserrat"/>
            </a:endParaRPr>
          </a:p>
        </p:txBody>
      </p:sp>
      <p:sp>
        <p:nvSpPr>
          <p:cNvPr id="522" name="Google Shape;522;p11"/>
          <p:cNvSpPr/>
          <p:nvPr/>
        </p:nvSpPr>
        <p:spPr>
          <a:xfrm>
            <a:off x="2269547" y="1145336"/>
            <a:ext cx="1504800" cy="144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SUSTAINABILITY COMMITMENTS</a:t>
            </a:r>
            <a:endParaRPr b="0" i="0" sz="800" u="none" cap="none" strike="noStrike">
              <a:solidFill>
                <a:schemeClr val="lt1"/>
              </a:solidFill>
              <a:latin typeface="Arial"/>
              <a:ea typeface="Arial"/>
              <a:cs typeface="Arial"/>
              <a:sym typeface="Arial"/>
            </a:endParaRPr>
          </a:p>
          <a:p>
            <a:pPr indent="0" lvl="0" marL="0" marR="0" rtl="0" algn="l">
              <a:lnSpc>
                <a:spcPct val="100000"/>
              </a:lnSpc>
              <a:spcBef>
                <a:spcPts val="500"/>
              </a:spcBef>
              <a:spcAft>
                <a:spcPts val="0"/>
              </a:spcAft>
              <a:buClr>
                <a:srgbClr val="141C27"/>
              </a:buClr>
              <a:buSzPts val="800"/>
              <a:buFont typeface="Montserrat"/>
              <a:buNone/>
            </a:pPr>
            <a:r>
              <a:rPr b="0" i="0" lang="en" sz="800" u="none" cap="none" strike="noStrike">
                <a:solidFill>
                  <a:srgbClr val="141C27"/>
                </a:solidFill>
                <a:latin typeface="Montserrat"/>
                <a:ea typeface="Montserrat"/>
                <a:cs typeface="Montserrat"/>
                <a:sym typeface="Montserrat"/>
              </a:rPr>
              <a:t>Virtusa’s Net-Zero </a:t>
            </a:r>
            <a:br>
              <a:rPr b="0" i="0" lang="en" sz="800" u="none" cap="none" strike="noStrike">
                <a:solidFill>
                  <a:srgbClr val="141C27"/>
                </a:solidFill>
                <a:latin typeface="Montserrat"/>
                <a:ea typeface="Montserrat"/>
                <a:cs typeface="Montserrat"/>
                <a:sym typeface="Montserrat"/>
              </a:rPr>
            </a:br>
            <a:r>
              <a:rPr b="0" i="0" lang="en" sz="800" u="none" cap="none" strike="noStrike">
                <a:solidFill>
                  <a:srgbClr val="141C27"/>
                </a:solidFill>
                <a:latin typeface="Montserrat"/>
                <a:ea typeface="Montserrat"/>
                <a:cs typeface="Montserrat"/>
                <a:sym typeface="Montserrat"/>
              </a:rPr>
              <a:t>targets validated by SBTi</a:t>
            </a:r>
            <a:endParaRPr b="0" i="0" sz="800" u="none" cap="none" strike="noStrike">
              <a:solidFill>
                <a:srgbClr val="141C27"/>
              </a:solidFill>
              <a:latin typeface="Montserrat"/>
              <a:ea typeface="Montserrat"/>
              <a:cs typeface="Montserrat"/>
              <a:sym typeface="Montserrat"/>
            </a:endParaRPr>
          </a:p>
          <a:p>
            <a:pPr indent="0" lvl="0" marL="0" marR="0" rtl="0" algn="l">
              <a:lnSpc>
                <a:spcPct val="100000"/>
              </a:lnSpc>
              <a:spcBef>
                <a:spcPts val="50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Near-term (FY2030) and net-zero (FY2040) targets for scopes 1,2 and 3</a:t>
            </a:r>
            <a:endParaRPr b="0" i="0" sz="800" u="none" cap="none" strike="noStrike">
              <a:solidFill>
                <a:schemeClr val="lt1"/>
              </a:solidFill>
              <a:latin typeface="Arial"/>
              <a:ea typeface="Arial"/>
              <a:cs typeface="Arial"/>
              <a:sym typeface="Arial"/>
            </a:endParaRPr>
          </a:p>
        </p:txBody>
      </p:sp>
      <p:sp>
        <p:nvSpPr>
          <p:cNvPr id="523" name="Google Shape;523;p11"/>
          <p:cNvSpPr/>
          <p:nvPr/>
        </p:nvSpPr>
        <p:spPr>
          <a:xfrm>
            <a:off x="4052972" y="1149751"/>
            <a:ext cx="1589100" cy="142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5E2CFE"/>
                </a:solidFill>
                <a:latin typeface="Montserrat"/>
                <a:ea typeface="Montserrat"/>
                <a:cs typeface="Montserrat"/>
                <a:sym typeface="Montserrat"/>
              </a:rPr>
              <a:t>A GREAT PLACE </a:t>
            </a:r>
            <a:br>
              <a:rPr b="1" i="0" lang="en" sz="800" u="none" cap="none" strike="noStrike">
                <a:solidFill>
                  <a:schemeClr val="lt1"/>
                </a:solidFill>
                <a:latin typeface="Montserrat"/>
                <a:ea typeface="Montserrat"/>
                <a:cs typeface="Montserrat"/>
                <a:sym typeface="Montserrat"/>
              </a:rPr>
            </a:br>
            <a:r>
              <a:rPr b="1" i="0" lang="en" sz="800" u="none" cap="none" strike="noStrike">
                <a:solidFill>
                  <a:srgbClr val="5E2CFE"/>
                </a:solidFill>
                <a:latin typeface="Montserrat"/>
                <a:ea typeface="Montserrat"/>
                <a:cs typeface="Montserrat"/>
                <a:sym typeface="Montserrat"/>
              </a:rPr>
              <a:t>TO WORK</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141C27"/>
              </a:buClr>
              <a:buSzPts val="800"/>
              <a:buFont typeface="Montserrat"/>
              <a:buNone/>
            </a:pPr>
            <a:r>
              <a:rPr b="0" i="0" lang="en" sz="800" u="none" cap="none" strike="noStrike">
                <a:solidFill>
                  <a:srgbClr val="141C27"/>
                </a:solidFill>
                <a:latin typeface="Montserrat"/>
                <a:ea typeface="Montserrat"/>
                <a:cs typeface="Montserrat"/>
                <a:sym typeface="Montserrat"/>
              </a:rPr>
              <a:t>Virtusa Earns 2023 Great Place To Work Certification </a:t>
            </a:r>
            <a:br>
              <a:rPr b="0" i="0" lang="en" sz="800" u="none" cap="none" strike="noStrike">
                <a:solidFill>
                  <a:srgbClr val="141C27"/>
                </a:solidFill>
                <a:latin typeface="Montserrat"/>
                <a:ea typeface="Montserrat"/>
                <a:cs typeface="Montserrat"/>
                <a:sym typeface="Montserrat"/>
              </a:rPr>
            </a:br>
            <a:r>
              <a:rPr b="0" i="0" lang="en" sz="800" u="none" cap="none" strike="noStrike">
                <a:solidFill>
                  <a:srgbClr val="141C27"/>
                </a:solidFill>
                <a:latin typeface="Montserrat"/>
                <a:ea typeface="Montserrat"/>
                <a:cs typeface="Montserrat"/>
                <a:sym typeface="Montserrat"/>
              </a:rPr>
              <a:t>in 8 countries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800"/>
              <a:buFont typeface="Arial"/>
              <a:buNone/>
            </a:pPr>
            <a:r>
              <a:rPr b="0" i="0" lang="en" sz="800" u="none" cap="none" strike="noStrike">
                <a:solidFill>
                  <a:srgbClr val="141C27"/>
                </a:solidFill>
                <a:latin typeface="Montserrat"/>
                <a:ea typeface="Montserrat"/>
                <a:cs typeface="Montserrat"/>
                <a:sym typeface="Montserrat"/>
              </a:rPr>
              <a:t>India's Best Companies </a:t>
            </a:r>
            <a:br>
              <a:rPr b="0" i="0" lang="en" sz="800" u="none" cap="none" strike="noStrike">
                <a:solidFill>
                  <a:srgbClr val="141C27"/>
                </a:solidFill>
                <a:latin typeface="Montserrat"/>
                <a:ea typeface="Montserrat"/>
                <a:cs typeface="Montserrat"/>
                <a:sym typeface="Montserrat"/>
              </a:rPr>
            </a:br>
            <a:r>
              <a:rPr b="0" i="0" lang="en" sz="800" u="none" cap="none" strike="noStrike">
                <a:solidFill>
                  <a:srgbClr val="141C27"/>
                </a:solidFill>
                <a:latin typeface="Montserrat"/>
                <a:ea typeface="Montserrat"/>
                <a:cs typeface="Montserrat"/>
                <a:sym typeface="Montserrat"/>
              </a:rPr>
              <a:t>To Work in 2025</a:t>
            </a:r>
            <a:endParaRPr b="0" i="0" sz="800" u="none" cap="none" strike="noStrike">
              <a:solidFill>
                <a:srgbClr val="141C27"/>
              </a:solidFill>
              <a:latin typeface="Montserrat"/>
              <a:ea typeface="Montserrat"/>
              <a:cs typeface="Montserrat"/>
              <a:sym typeface="Montserrat"/>
            </a:endParaRPr>
          </a:p>
        </p:txBody>
      </p:sp>
      <p:pic>
        <p:nvPicPr>
          <p:cNvPr id="524" name="Google Shape;524;p11"/>
          <p:cNvPicPr preferRelativeResize="0"/>
          <p:nvPr/>
        </p:nvPicPr>
        <p:blipFill rotWithShape="1">
          <a:blip r:embed="rId3">
            <a:alphaModFix/>
          </a:blip>
          <a:srcRect b="0" l="0" r="0" t="0"/>
          <a:stretch/>
        </p:blipFill>
        <p:spPr>
          <a:xfrm>
            <a:off x="2269547" y="2423660"/>
            <a:ext cx="871475" cy="523188"/>
          </a:xfrm>
          <a:prstGeom prst="rect">
            <a:avLst/>
          </a:prstGeom>
          <a:noFill/>
          <a:ln>
            <a:noFill/>
          </a:ln>
        </p:spPr>
      </p:pic>
      <p:pic>
        <p:nvPicPr>
          <p:cNvPr descr="ecfirst Achieves HITRUST® Certification - ecfirst" id="525" name="Google Shape;525;p11"/>
          <p:cNvPicPr preferRelativeResize="0"/>
          <p:nvPr/>
        </p:nvPicPr>
        <p:blipFill rotWithShape="1">
          <a:blip r:embed="rId4">
            <a:alphaModFix/>
          </a:blip>
          <a:srcRect b="0" l="0" r="0" t="0"/>
          <a:stretch/>
        </p:blipFill>
        <p:spPr>
          <a:xfrm>
            <a:off x="463942" y="1801569"/>
            <a:ext cx="547624" cy="427195"/>
          </a:xfrm>
          <a:prstGeom prst="rect">
            <a:avLst/>
          </a:prstGeom>
          <a:noFill/>
          <a:ln>
            <a:noFill/>
          </a:ln>
        </p:spPr>
      </p:pic>
      <p:pic>
        <p:nvPicPr>
          <p:cNvPr descr="image" id="526" name="Google Shape;526;p11"/>
          <p:cNvPicPr preferRelativeResize="0"/>
          <p:nvPr/>
        </p:nvPicPr>
        <p:blipFill rotWithShape="1">
          <a:blip r:embed="rId5">
            <a:alphaModFix/>
          </a:blip>
          <a:srcRect b="0" l="0" r="0" t="0"/>
          <a:stretch/>
        </p:blipFill>
        <p:spPr>
          <a:xfrm>
            <a:off x="437780" y="2352318"/>
            <a:ext cx="661391" cy="225841"/>
          </a:xfrm>
          <a:prstGeom prst="rect">
            <a:avLst/>
          </a:prstGeom>
          <a:noFill/>
          <a:ln>
            <a:noFill/>
          </a:ln>
        </p:spPr>
      </p:pic>
      <p:pic>
        <p:nvPicPr>
          <p:cNvPr descr="A circular white and blue logo with white text&#10;&#10;Description automatically generated" id="527" name="Google Shape;527;p11"/>
          <p:cNvPicPr preferRelativeResize="0"/>
          <p:nvPr/>
        </p:nvPicPr>
        <p:blipFill rotWithShape="1">
          <a:blip r:embed="rId6">
            <a:alphaModFix/>
          </a:blip>
          <a:srcRect b="0" l="0" r="0" t="0"/>
          <a:stretch/>
        </p:blipFill>
        <p:spPr>
          <a:xfrm>
            <a:off x="1197146" y="1778422"/>
            <a:ext cx="528773" cy="525662"/>
          </a:xfrm>
          <a:prstGeom prst="rect">
            <a:avLst/>
          </a:prstGeom>
          <a:noFill/>
          <a:ln>
            <a:noFill/>
          </a:ln>
        </p:spPr>
      </p:pic>
      <p:sp>
        <p:nvSpPr>
          <p:cNvPr id="528" name="Google Shape;528;p11"/>
          <p:cNvSpPr/>
          <p:nvPr/>
        </p:nvSpPr>
        <p:spPr>
          <a:xfrm>
            <a:off x="1205619" y="2359816"/>
            <a:ext cx="583010" cy="152546"/>
          </a:xfrm>
          <a:custGeom>
            <a:rect b="b" l="l" r="r" t="t"/>
            <a:pathLst>
              <a:path extrusionOk="0" h="2033941" w="7773462">
                <a:moveTo>
                  <a:pt x="1931087" y="2028240"/>
                </a:moveTo>
                <a:cubicBezTo>
                  <a:pt x="1795866" y="2008679"/>
                  <a:pt x="1676849" y="1951113"/>
                  <a:pt x="1586330" y="1861689"/>
                </a:cubicBezTo>
                <a:cubicBezTo>
                  <a:pt x="1510896" y="1786797"/>
                  <a:pt x="1461725" y="1704639"/>
                  <a:pt x="1425964" y="1591742"/>
                </a:cubicBezTo>
                <a:cubicBezTo>
                  <a:pt x="1369529" y="1415689"/>
                  <a:pt x="1369529" y="1189336"/>
                  <a:pt x="1425964" y="1017195"/>
                </a:cubicBezTo>
                <a:cubicBezTo>
                  <a:pt x="1480723" y="850085"/>
                  <a:pt x="1603092" y="704772"/>
                  <a:pt x="1753959" y="629320"/>
                </a:cubicBezTo>
                <a:cubicBezTo>
                  <a:pt x="1962377" y="524807"/>
                  <a:pt x="2255170" y="531513"/>
                  <a:pt x="2447943" y="644970"/>
                </a:cubicBezTo>
                <a:cubicBezTo>
                  <a:pt x="2621718" y="747248"/>
                  <a:pt x="2726766" y="928889"/>
                  <a:pt x="2755822" y="1176481"/>
                </a:cubicBezTo>
                <a:cubicBezTo>
                  <a:pt x="2764762" y="1252491"/>
                  <a:pt x="2759174" y="1412336"/>
                  <a:pt x="2744646" y="1478285"/>
                </a:cubicBezTo>
                <a:cubicBezTo>
                  <a:pt x="2687094" y="1748792"/>
                  <a:pt x="2519465" y="1937140"/>
                  <a:pt x="2273609" y="2008679"/>
                </a:cubicBezTo>
                <a:cubicBezTo>
                  <a:pt x="2247347" y="2016503"/>
                  <a:pt x="2205998" y="2025446"/>
                  <a:pt x="2182530" y="2028799"/>
                </a:cubicBezTo>
                <a:cubicBezTo>
                  <a:pt x="2132800" y="2035506"/>
                  <a:pt x="1979699" y="2035506"/>
                  <a:pt x="1931087" y="2028240"/>
                </a:cubicBezTo>
                <a:lnTo>
                  <a:pt x="1931087" y="2028240"/>
                </a:lnTo>
                <a:close/>
                <a:moveTo>
                  <a:pt x="2133918" y="1919814"/>
                </a:moveTo>
                <a:cubicBezTo>
                  <a:pt x="2173590" y="1908077"/>
                  <a:pt x="2222203" y="1862248"/>
                  <a:pt x="2248464" y="1812506"/>
                </a:cubicBezTo>
                <a:cubicBezTo>
                  <a:pt x="2302106" y="1709669"/>
                  <a:pt x="2326132" y="1557649"/>
                  <a:pt x="2326691" y="1316205"/>
                </a:cubicBezTo>
                <a:cubicBezTo>
                  <a:pt x="2327250" y="1013842"/>
                  <a:pt x="2279755" y="821022"/>
                  <a:pt x="2179736" y="720421"/>
                </a:cubicBezTo>
                <a:cubicBezTo>
                  <a:pt x="2137829" y="677945"/>
                  <a:pt x="2107656" y="665090"/>
                  <a:pt x="2054015" y="665090"/>
                </a:cubicBezTo>
                <a:cubicBezTo>
                  <a:pt x="1934998" y="665090"/>
                  <a:pt x="1859006" y="789724"/>
                  <a:pt x="1829392" y="1035080"/>
                </a:cubicBezTo>
                <a:cubicBezTo>
                  <a:pt x="1815423" y="1147977"/>
                  <a:pt x="1815423" y="1416248"/>
                  <a:pt x="1829392" y="1514614"/>
                </a:cubicBezTo>
                <a:cubicBezTo>
                  <a:pt x="1871858" y="1819772"/>
                  <a:pt x="1980817" y="1965085"/>
                  <a:pt x="2133918" y="1919814"/>
                </a:cubicBezTo>
                <a:lnTo>
                  <a:pt x="2133918" y="1919814"/>
                </a:lnTo>
                <a:close/>
                <a:moveTo>
                  <a:pt x="4330976" y="2028240"/>
                </a:moveTo>
                <a:cubicBezTo>
                  <a:pt x="4275658" y="2022651"/>
                  <a:pt x="4106353" y="1994148"/>
                  <a:pt x="4047124" y="1980734"/>
                </a:cubicBezTo>
                <a:lnTo>
                  <a:pt x="4006334" y="1971233"/>
                </a:lnTo>
                <a:lnTo>
                  <a:pt x="4009687" y="1752704"/>
                </a:lnTo>
                <a:cubicBezTo>
                  <a:pt x="4017510" y="1226223"/>
                  <a:pt x="4018068" y="938950"/>
                  <a:pt x="4013598" y="659501"/>
                </a:cubicBezTo>
                <a:cubicBezTo>
                  <a:pt x="4008569" y="385641"/>
                  <a:pt x="4007452" y="356579"/>
                  <a:pt x="3996835" y="316338"/>
                </a:cubicBezTo>
                <a:cubicBezTo>
                  <a:pt x="3983425" y="264919"/>
                  <a:pt x="3964427" y="229150"/>
                  <a:pt x="3940959" y="212942"/>
                </a:cubicBezTo>
                <a:cubicBezTo>
                  <a:pt x="3932019" y="206794"/>
                  <a:pt x="3907433" y="197293"/>
                  <a:pt x="3886759" y="192822"/>
                </a:cubicBezTo>
                <a:cubicBezTo>
                  <a:pt x="3816913" y="177173"/>
                  <a:pt x="3820825" y="179967"/>
                  <a:pt x="3819149" y="148110"/>
                </a:cubicBezTo>
                <a:cubicBezTo>
                  <a:pt x="3818031" y="129666"/>
                  <a:pt x="3820266" y="117929"/>
                  <a:pt x="3824736" y="114017"/>
                </a:cubicBezTo>
                <a:cubicBezTo>
                  <a:pt x="3829765" y="108428"/>
                  <a:pt x="4400263" y="-557"/>
                  <a:pt x="4418702" y="2"/>
                </a:cubicBezTo>
                <a:cubicBezTo>
                  <a:pt x="4423731" y="2"/>
                  <a:pt x="4424848" y="73218"/>
                  <a:pt x="4422055" y="324163"/>
                </a:cubicBezTo>
                <a:cubicBezTo>
                  <a:pt x="4420378" y="502451"/>
                  <a:pt x="4419819" y="648323"/>
                  <a:pt x="4421496" y="648323"/>
                </a:cubicBezTo>
                <a:cubicBezTo>
                  <a:pt x="4423172" y="648323"/>
                  <a:pt x="4443846" y="639381"/>
                  <a:pt x="4467873" y="628203"/>
                </a:cubicBezTo>
                <a:cubicBezTo>
                  <a:pt x="4539954" y="594669"/>
                  <a:pt x="4606447" y="580696"/>
                  <a:pt x="4702554" y="577343"/>
                </a:cubicBezTo>
                <a:cubicBezTo>
                  <a:pt x="4766811" y="575107"/>
                  <a:pt x="4796426" y="576784"/>
                  <a:pt x="4829393" y="583491"/>
                </a:cubicBezTo>
                <a:cubicBezTo>
                  <a:pt x="5044517" y="628203"/>
                  <a:pt x="5203764" y="804255"/>
                  <a:pt x="5259641" y="1059671"/>
                </a:cubicBezTo>
                <a:cubicBezTo>
                  <a:pt x="5274169" y="1126180"/>
                  <a:pt x="5279757" y="1291614"/>
                  <a:pt x="5269698" y="1374331"/>
                </a:cubicBezTo>
                <a:cubicBezTo>
                  <a:pt x="5261317" y="1444752"/>
                  <a:pt x="5237849" y="1540323"/>
                  <a:pt x="5213822" y="1601802"/>
                </a:cubicBezTo>
                <a:cubicBezTo>
                  <a:pt x="5121626" y="1834862"/>
                  <a:pt x="4924383" y="1986882"/>
                  <a:pt x="4662323" y="2026564"/>
                </a:cubicBezTo>
                <a:cubicBezTo>
                  <a:pt x="4601976" y="2035506"/>
                  <a:pt x="4411997" y="2036624"/>
                  <a:pt x="4330976" y="2028240"/>
                </a:cubicBezTo>
                <a:lnTo>
                  <a:pt x="4330976" y="2028240"/>
                </a:lnTo>
                <a:close/>
                <a:moveTo>
                  <a:pt x="4555040" y="1917020"/>
                </a:moveTo>
                <a:cubicBezTo>
                  <a:pt x="4595830" y="1909195"/>
                  <a:pt x="4627120" y="1892987"/>
                  <a:pt x="4661205" y="1862807"/>
                </a:cubicBezTo>
                <a:cubicBezTo>
                  <a:pt x="4746137" y="1786238"/>
                  <a:pt x="4809836" y="1629188"/>
                  <a:pt x="4834981" y="1433574"/>
                </a:cubicBezTo>
                <a:cubicBezTo>
                  <a:pt x="4845038" y="1354210"/>
                  <a:pt x="4843921" y="1173128"/>
                  <a:pt x="4832746" y="1106619"/>
                </a:cubicBezTo>
                <a:cubicBezTo>
                  <a:pt x="4802014" y="927213"/>
                  <a:pt x="4736079" y="809285"/>
                  <a:pt x="4639972" y="761779"/>
                </a:cubicBezTo>
                <a:cubicBezTo>
                  <a:pt x="4600300" y="742218"/>
                  <a:pt x="4594154" y="740541"/>
                  <a:pt x="4546659" y="740541"/>
                </a:cubicBezTo>
                <a:cubicBezTo>
                  <a:pt x="4513133" y="740541"/>
                  <a:pt x="4483519" y="743894"/>
                  <a:pt x="4458933" y="751719"/>
                </a:cubicBezTo>
                <a:lnTo>
                  <a:pt x="4422055" y="762897"/>
                </a:lnTo>
                <a:lnTo>
                  <a:pt x="4419261" y="966894"/>
                </a:lnTo>
                <a:cubicBezTo>
                  <a:pt x="4415908" y="1228458"/>
                  <a:pt x="4424289" y="1883486"/>
                  <a:pt x="4431553" y="1902488"/>
                </a:cubicBezTo>
                <a:cubicBezTo>
                  <a:pt x="4436024" y="1914225"/>
                  <a:pt x="4441052" y="1917020"/>
                  <a:pt x="4463962" y="1918696"/>
                </a:cubicBezTo>
                <a:cubicBezTo>
                  <a:pt x="4516485" y="1922609"/>
                  <a:pt x="4525426" y="1922609"/>
                  <a:pt x="4555040" y="1917020"/>
                </a:cubicBezTo>
                <a:lnTo>
                  <a:pt x="4555040" y="1917020"/>
                </a:lnTo>
                <a:close/>
                <a:moveTo>
                  <a:pt x="5937421" y="2025446"/>
                </a:moveTo>
                <a:cubicBezTo>
                  <a:pt x="5660274" y="1975704"/>
                  <a:pt x="5461913" y="1778972"/>
                  <a:pt x="5397097" y="1489463"/>
                </a:cubicBezTo>
                <a:cubicBezTo>
                  <a:pt x="5388715" y="1452017"/>
                  <a:pt x="5384804" y="1410659"/>
                  <a:pt x="5383128" y="1330178"/>
                </a:cubicBezTo>
                <a:cubicBezTo>
                  <a:pt x="5379775" y="1202749"/>
                  <a:pt x="5390392" y="1123945"/>
                  <a:pt x="5422800" y="1025579"/>
                </a:cubicBezTo>
                <a:cubicBezTo>
                  <a:pt x="5485940" y="836671"/>
                  <a:pt x="5598810" y="703095"/>
                  <a:pt x="5763087" y="623173"/>
                </a:cubicBezTo>
                <a:cubicBezTo>
                  <a:pt x="5936304" y="538779"/>
                  <a:pt x="6173778" y="533190"/>
                  <a:pt x="6326879" y="609759"/>
                </a:cubicBezTo>
                <a:cubicBezTo>
                  <a:pt x="6499537" y="696388"/>
                  <a:pt x="6601232" y="869087"/>
                  <a:pt x="6626935" y="1120591"/>
                </a:cubicBezTo>
                <a:cubicBezTo>
                  <a:pt x="6630288" y="1154684"/>
                  <a:pt x="6632523" y="1194366"/>
                  <a:pt x="6631405" y="1210015"/>
                </a:cubicBezTo>
                <a:lnTo>
                  <a:pt x="6629729" y="1237960"/>
                </a:lnTo>
                <a:lnTo>
                  <a:pt x="6216244" y="1239636"/>
                </a:lnTo>
                <a:lnTo>
                  <a:pt x="5802759" y="1241313"/>
                </a:lnTo>
                <a:lnTo>
                  <a:pt x="5804436" y="1289937"/>
                </a:lnTo>
                <a:cubicBezTo>
                  <a:pt x="5808347" y="1403393"/>
                  <a:pt x="5832374" y="1503436"/>
                  <a:pt x="5877633" y="1590065"/>
                </a:cubicBezTo>
                <a:cubicBezTo>
                  <a:pt x="5898307" y="1629747"/>
                  <a:pt x="5914512" y="1650985"/>
                  <a:pt x="5954184" y="1691225"/>
                </a:cubicBezTo>
                <a:cubicBezTo>
                  <a:pt x="6043586" y="1781208"/>
                  <a:pt x="6132429" y="1816418"/>
                  <a:pt x="6272679" y="1816418"/>
                </a:cubicBezTo>
                <a:cubicBezTo>
                  <a:pt x="6374374" y="1816418"/>
                  <a:pt x="6447572" y="1796298"/>
                  <a:pt x="6524123" y="1746556"/>
                </a:cubicBezTo>
                <a:cubicBezTo>
                  <a:pt x="6545356" y="1732584"/>
                  <a:pt x="6567148" y="1721406"/>
                  <a:pt x="6572176" y="1721406"/>
                </a:cubicBezTo>
                <a:cubicBezTo>
                  <a:pt x="6583911" y="1721406"/>
                  <a:pt x="6610731" y="1756057"/>
                  <a:pt x="6610731" y="1771148"/>
                </a:cubicBezTo>
                <a:cubicBezTo>
                  <a:pt x="6610731" y="1795739"/>
                  <a:pt x="6530828" y="1875102"/>
                  <a:pt x="6452601" y="1928198"/>
                </a:cubicBezTo>
                <a:cubicBezTo>
                  <a:pt x="6388343" y="1971233"/>
                  <a:pt x="6287207" y="2010914"/>
                  <a:pt x="6198922" y="2026005"/>
                </a:cubicBezTo>
                <a:cubicBezTo>
                  <a:pt x="6136900" y="2036624"/>
                  <a:pt x="5998326" y="2036624"/>
                  <a:pt x="5937421" y="2025446"/>
                </a:cubicBezTo>
                <a:lnTo>
                  <a:pt x="5937421" y="2025446"/>
                </a:lnTo>
                <a:close/>
                <a:moveTo>
                  <a:pt x="6112873" y="1114443"/>
                </a:moveTo>
                <a:lnTo>
                  <a:pt x="6210098" y="1111090"/>
                </a:lnTo>
                <a:lnTo>
                  <a:pt x="6206745" y="1041787"/>
                </a:lnTo>
                <a:cubicBezTo>
                  <a:pt x="6194452" y="798107"/>
                  <a:pt x="6134665" y="665090"/>
                  <a:pt x="6037998" y="665090"/>
                </a:cubicBezTo>
                <a:cubicBezTo>
                  <a:pt x="5932951" y="665090"/>
                  <a:pt x="5849137" y="800343"/>
                  <a:pt x="5813934" y="1025579"/>
                </a:cubicBezTo>
                <a:cubicBezTo>
                  <a:pt x="5809464" y="1052965"/>
                  <a:pt x="5806111" y="1085940"/>
                  <a:pt x="5806111" y="1098235"/>
                </a:cubicBezTo>
                <a:lnTo>
                  <a:pt x="5806111" y="1120591"/>
                </a:lnTo>
                <a:lnTo>
                  <a:pt x="5911159" y="1118914"/>
                </a:lnTo>
                <a:cubicBezTo>
                  <a:pt x="5968153" y="1118356"/>
                  <a:pt x="6059232" y="1116120"/>
                  <a:pt x="6112873" y="1114443"/>
                </a:cubicBezTo>
                <a:lnTo>
                  <a:pt x="6112873" y="1114443"/>
                </a:lnTo>
                <a:close/>
                <a:moveTo>
                  <a:pt x="7054948" y="2031035"/>
                </a:moveTo>
                <a:cubicBezTo>
                  <a:pt x="6955488" y="2020416"/>
                  <a:pt x="6796799" y="1985764"/>
                  <a:pt x="6744275" y="1962849"/>
                </a:cubicBezTo>
                <a:lnTo>
                  <a:pt x="6718572" y="1951671"/>
                </a:lnTo>
                <a:lnTo>
                  <a:pt x="6715220" y="1824243"/>
                </a:lnTo>
                <a:cubicBezTo>
                  <a:pt x="6713543" y="1753822"/>
                  <a:pt x="6711308" y="1659927"/>
                  <a:pt x="6710191" y="1615774"/>
                </a:cubicBezTo>
                <a:lnTo>
                  <a:pt x="6708514" y="1534734"/>
                </a:lnTo>
                <a:lnTo>
                  <a:pt x="6724160" y="1527468"/>
                </a:lnTo>
                <a:cubicBezTo>
                  <a:pt x="6732542" y="1523556"/>
                  <a:pt x="6749863" y="1519644"/>
                  <a:pt x="6762156" y="1519085"/>
                </a:cubicBezTo>
                <a:lnTo>
                  <a:pt x="6785065" y="1517967"/>
                </a:lnTo>
                <a:lnTo>
                  <a:pt x="6804622" y="1565473"/>
                </a:lnTo>
                <a:cubicBezTo>
                  <a:pt x="6880055" y="1751027"/>
                  <a:pt x="6968339" y="1850511"/>
                  <a:pt x="7083445" y="1881250"/>
                </a:cubicBezTo>
                <a:cubicBezTo>
                  <a:pt x="7127587" y="1892987"/>
                  <a:pt x="7209726" y="1892987"/>
                  <a:pt x="7242692" y="1881250"/>
                </a:cubicBezTo>
                <a:cubicBezTo>
                  <a:pt x="7333771" y="1848834"/>
                  <a:pt x="7384060" y="1780090"/>
                  <a:pt x="7384618" y="1685636"/>
                </a:cubicBezTo>
                <a:cubicBezTo>
                  <a:pt x="7385177" y="1573857"/>
                  <a:pt x="7323713" y="1520203"/>
                  <a:pt x="7091826" y="1429661"/>
                </a:cubicBezTo>
                <a:cubicBezTo>
                  <a:pt x="6948224" y="1373213"/>
                  <a:pt x="6897935" y="1344709"/>
                  <a:pt x="6838148" y="1283230"/>
                </a:cubicBezTo>
                <a:cubicBezTo>
                  <a:pt x="6773890" y="1217280"/>
                  <a:pt x="6742599" y="1142388"/>
                  <a:pt x="6737011" y="1037874"/>
                </a:cubicBezTo>
                <a:cubicBezTo>
                  <a:pt x="6729748" y="911564"/>
                  <a:pt x="6769420" y="804814"/>
                  <a:pt x="6857145" y="714273"/>
                </a:cubicBezTo>
                <a:cubicBezTo>
                  <a:pt x="6945430" y="623173"/>
                  <a:pt x="7059977" y="573431"/>
                  <a:pt x="7215872" y="559458"/>
                </a:cubicBezTo>
                <a:cubicBezTo>
                  <a:pt x="7353328" y="547163"/>
                  <a:pt x="7563981" y="576225"/>
                  <a:pt x="7674058" y="622614"/>
                </a:cubicBezTo>
                <a:lnTo>
                  <a:pt x="7694173" y="630997"/>
                </a:lnTo>
                <a:lnTo>
                  <a:pt x="7697526" y="745012"/>
                </a:lnTo>
                <a:cubicBezTo>
                  <a:pt x="7699761" y="807609"/>
                  <a:pt x="7701438" y="891443"/>
                  <a:pt x="7701996" y="931684"/>
                </a:cubicBezTo>
                <a:lnTo>
                  <a:pt x="7703113" y="1004341"/>
                </a:lnTo>
                <a:lnTo>
                  <a:pt x="7676293" y="1014401"/>
                </a:lnTo>
                <a:cubicBezTo>
                  <a:pt x="7633268" y="1030050"/>
                  <a:pt x="7630474" y="1028373"/>
                  <a:pt x="7607006" y="965218"/>
                </a:cubicBezTo>
                <a:cubicBezTo>
                  <a:pt x="7540513" y="788606"/>
                  <a:pt x="7462845" y="704772"/>
                  <a:pt x="7342152" y="679062"/>
                </a:cubicBezTo>
                <a:cubicBezTo>
                  <a:pt x="7268396" y="663413"/>
                  <a:pt x="7206932" y="680180"/>
                  <a:pt x="7162231" y="728245"/>
                </a:cubicBezTo>
                <a:cubicBezTo>
                  <a:pt x="7127587" y="765691"/>
                  <a:pt x="7113618" y="798666"/>
                  <a:pt x="7110266" y="853997"/>
                </a:cubicBezTo>
                <a:cubicBezTo>
                  <a:pt x="7106913" y="914358"/>
                  <a:pt x="7117530" y="946774"/>
                  <a:pt x="7154408" y="987015"/>
                </a:cubicBezTo>
                <a:cubicBezTo>
                  <a:pt x="7199668" y="1036757"/>
                  <a:pt x="7273983" y="1079233"/>
                  <a:pt x="7422056" y="1141270"/>
                </a:cubicBezTo>
                <a:cubicBezTo>
                  <a:pt x="7603095" y="1217280"/>
                  <a:pt x="7689703" y="1281554"/>
                  <a:pt x="7736639" y="1375448"/>
                </a:cubicBezTo>
                <a:cubicBezTo>
                  <a:pt x="7767371" y="1436368"/>
                  <a:pt x="7775753" y="1484992"/>
                  <a:pt x="7772959" y="1578887"/>
                </a:cubicBezTo>
                <a:cubicBezTo>
                  <a:pt x="7770724" y="1649308"/>
                  <a:pt x="7768489" y="1663839"/>
                  <a:pt x="7752285" y="1710787"/>
                </a:cubicBezTo>
                <a:cubicBezTo>
                  <a:pt x="7700320" y="1865042"/>
                  <a:pt x="7582421" y="1966203"/>
                  <a:pt x="7400264" y="2014268"/>
                </a:cubicBezTo>
                <a:cubicBezTo>
                  <a:pt x="7338800" y="2030476"/>
                  <a:pt x="7329860" y="2031035"/>
                  <a:pt x="7206932" y="2032712"/>
                </a:cubicBezTo>
                <a:cubicBezTo>
                  <a:pt x="7134851" y="2032712"/>
                  <a:pt x="7067241" y="2032153"/>
                  <a:pt x="7054948" y="2031035"/>
                </a:cubicBezTo>
                <a:close/>
                <a:moveTo>
                  <a:pt x="7264" y="1997501"/>
                </a:moveTo>
                <a:cubicBezTo>
                  <a:pt x="2794" y="1995824"/>
                  <a:pt x="559" y="1981852"/>
                  <a:pt x="559" y="1956143"/>
                </a:cubicBezTo>
                <a:cubicBezTo>
                  <a:pt x="559" y="1909754"/>
                  <a:pt x="-2235" y="1911990"/>
                  <a:pt x="87167" y="1895223"/>
                </a:cubicBezTo>
                <a:cubicBezTo>
                  <a:pt x="155895" y="1882368"/>
                  <a:pt x="180481" y="1869514"/>
                  <a:pt x="210654" y="1829832"/>
                </a:cubicBezTo>
                <a:cubicBezTo>
                  <a:pt x="269324" y="1752704"/>
                  <a:pt x="282176" y="1604037"/>
                  <a:pt x="282176" y="992604"/>
                </a:cubicBezTo>
                <a:cubicBezTo>
                  <a:pt x="282176" y="418616"/>
                  <a:pt x="271000" y="297336"/>
                  <a:pt x="210654" y="209030"/>
                </a:cubicBezTo>
                <a:cubicBezTo>
                  <a:pt x="183833" y="169907"/>
                  <a:pt x="138015" y="148110"/>
                  <a:pt x="62023" y="139168"/>
                </a:cubicBezTo>
                <a:lnTo>
                  <a:pt x="3353" y="131343"/>
                </a:lnTo>
                <a:lnTo>
                  <a:pt x="1676" y="85513"/>
                </a:lnTo>
                <a:lnTo>
                  <a:pt x="0" y="39684"/>
                </a:lnTo>
                <a:lnTo>
                  <a:pt x="18439" y="36330"/>
                </a:lnTo>
                <a:cubicBezTo>
                  <a:pt x="28497" y="34654"/>
                  <a:pt x="383871" y="33536"/>
                  <a:pt x="807972" y="34654"/>
                </a:cubicBezTo>
                <a:lnTo>
                  <a:pt x="1579066" y="36330"/>
                </a:lnTo>
                <a:lnTo>
                  <a:pt x="1582418" y="58686"/>
                </a:lnTo>
                <a:cubicBezTo>
                  <a:pt x="1584653" y="70982"/>
                  <a:pt x="1587447" y="197293"/>
                  <a:pt x="1589682" y="338694"/>
                </a:cubicBezTo>
                <a:lnTo>
                  <a:pt x="1593594" y="596346"/>
                </a:lnTo>
                <a:lnTo>
                  <a:pt x="1553363" y="609200"/>
                </a:lnTo>
                <a:cubicBezTo>
                  <a:pt x="1493575" y="627644"/>
                  <a:pt x="1494134" y="627644"/>
                  <a:pt x="1466754" y="556105"/>
                </a:cubicBezTo>
                <a:cubicBezTo>
                  <a:pt x="1400820" y="381170"/>
                  <a:pt x="1324828" y="280569"/>
                  <a:pt x="1220898" y="229150"/>
                </a:cubicBezTo>
                <a:cubicBezTo>
                  <a:pt x="1149377" y="193940"/>
                  <a:pt x="1116410" y="190027"/>
                  <a:pt x="914137" y="190027"/>
                </a:cubicBezTo>
                <a:lnTo>
                  <a:pt x="738127" y="190027"/>
                </a:lnTo>
                <a:lnTo>
                  <a:pt x="735333" y="219090"/>
                </a:lnTo>
                <a:cubicBezTo>
                  <a:pt x="729745" y="273862"/>
                  <a:pt x="720805" y="628203"/>
                  <a:pt x="720805" y="794754"/>
                </a:cubicBezTo>
                <a:lnTo>
                  <a:pt x="720805" y="961305"/>
                </a:lnTo>
                <a:lnTo>
                  <a:pt x="772211" y="960747"/>
                </a:lnTo>
                <a:cubicBezTo>
                  <a:pt x="800708" y="960747"/>
                  <a:pt x="856584" y="958511"/>
                  <a:pt x="896815" y="956275"/>
                </a:cubicBezTo>
                <a:cubicBezTo>
                  <a:pt x="957162" y="952922"/>
                  <a:pt x="975042" y="949569"/>
                  <a:pt x="1000187" y="937832"/>
                </a:cubicBezTo>
                <a:cubicBezTo>
                  <a:pt x="1062209" y="909328"/>
                  <a:pt x="1104117" y="846173"/>
                  <a:pt x="1129820" y="743336"/>
                </a:cubicBezTo>
                <a:lnTo>
                  <a:pt x="1143230" y="690240"/>
                </a:lnTo>
                <a:lnTo>
                  <a:pt x="1189049" y="688564"/>
                </a:lnTo>
                <a:lnTo>
                  <a:pt x="1234867" y="686887"/>
                </a:lnTo>
                <a:lnTo>
                  <a:pt x="1234867" y="1022784"/>
                </a:lnTo>
                <a:lnTo>
                  <a:pt x="1234867" y="1358681"/>
                </a:lnTo>
                <a:lnTo>
                  <a:pt x="1189049" y="1357005"/>
                </a:lnTo>
                <a:lnTo>
                  <a:pt x="1143230" y="1355328"/>
                </a:lnTo>
                <a:lnTo>
                  <a:pt x="1130379" y="1302233"/>
                </a:lnTo>
                <a:cubicBezTo>
                  <a:pt x="1105793" y="1202749"/>
                  <a:pt x="1059416" y="1131210"/>
                  <a:pt x="1001304" y="1105501"/>
                </a:cubicBezTo>
                <a:cubicBezTo>
                  <a:pt x="974484" y="1093764"/>
                  <a:pt x="908549" y="1087057"/>
                  <a:pt x="780593" y="1083145"/>
                </a:cubicBezTo>
                <a:lnTo>
                  <a:pt x="720246" y="1081468"/>
                </a:lnTo>
                <a:lnTo>
                  <a:pt x="720246" y="1207220"/>
                </a:lnTo>
                <a:cubicBezTo>
                  <a:pt x="720246" y="1344709"/>
                  <a:pt x="728069" y="1530822"/>
                  <a:pt x="737568" y="1631423"/>
                </a:cubicBezTo>
                <a:cubicBezTo>
                  <a:pt x="750978" y="1772265"/>
                  <a:pt x="786739" y="1849952"/>
                  <a:pt x="851556" y="1877897"/>
                </a:cubicBezTo>
                <a:cubicBezTo>
                  <a:pt x="863848" y="1883486"/>
                  <a:pt x="902962" y="1891869"/>
                  <a:pt x="938164" y="1897458"/>
                </a:cubicBezTo>
                <a:cubicBezTo>
                  <a:pt x="973366" y="1902488"/>
                  <a:pt x="1006892" y="1909195"/>
                  <a:pt x="1011921" y="1911990"/>
                </a:cubicBezTo>
                <a:cubicBezTo>
                  <a:pt x="1025331" y="1919255"/>
                  <a:pt x="1026449" y="1991912"/>
                  <a:pt x="1013038" y="1996942"/>
                </a:cubicBezTo>
                <a:cubicBezTo>
                  <a:pt x="1003539" y="2001413"/>
                  <a:pt x="17322" y="2001413"/>
                  <a:pt x="7264" y="1997501"/>
                </a:cubicBezTo>
                <a:lnTo>
                  <a:pt x="7264" y="1997501"/>
                </a:lnTo>
                <a:close/>
                <a:moveTo>
                  <a:pt x="2761968" y="1996383"/>
                </a:moveTo>
                <a:cubicBezTo>
                  <a:pt x="2756939" y="1993030"/>
                  <a:pt x="2755263" y="1980175"/>
                  <a:pt x="2756380" y="1953348"/>
                </a:cubicBezTo>
                <a:lnTo>
                  <a:pt x="2758057" y="1914784"/>
                </a:lnTo>
                <a:lnTo>
                  <a:pt x="2777613" y="1910872"/>
                </a:lnTo>
                <a:cubicBezTo>
                  <a:pt x="2788230" y="1908636"/>
                  <a:pt x="2811698" y="1904165"/>
                  <a:pt x="2829020" y="1900812"/>
                </a:cubicBezTo>
                <a:cubicBezTo>
                  <a:pt x="2883220" y="1890752"/>
                  <a:pt x="2913952" y="1861130"/>
                  <a:pt x="2931832" y="1803564"/>
                </a:cubicBezTo>
                <a:cubicBezTo>
                  <a:pt x="2946360" y="1756616"/>
                  <a:pt x="2952506" y="1606832"/>
                  <a:pt x="2952506" y="1305586"/>
                </a:cubicBezTo>
                <a:cubicBezTo>
                  <a:pt x="2953065" y="937273"/>
                  <a:pt x="2945242" y="850644"/>
                  <a:pt x="2907805" y="800902"/>
                </a:cubicBezTo>
                <a:cubicBezTo>
                  <a:pt x="2887690" y="774075"/>
                  <a:pt x="2873162" y="766809"/>
                  <a:pt x="2823991" y="757308"/>
                </a:cubicBezTo>
                <a:cubicBezTo>
                  <a:pt x="2799964" y="752837"/>
                  <a:pt x="2774261" y="747807"/>
                  <a:pt x="2767556" y="746130"/>
                </a:cubicBezTo>
                <a:cubicBezTo>
                  <a:pt x="2756380" y="743894"/>
                  <a:pt x="2755263" y="739982"/>
                  <a:pt x="2755263" y="712596"/>
                </a:cubicBezTo>
                <a:cubicBezTo>
                  <a:pt x="2755263" y="685769"/>
                  <a:pt x="2756939" y="681298"/>
                  <a:pt x="2767556" y="676827"/>
                </a:cubicBezTo>
                <a:cubicBezTo>
                  <a:pt x="2784318" y="670120"/>
                  <a:pt x="3338053" y="559458"/>
                  <a:pt x="3355375" y="559458"/>
                </a:cubicBezTo>
                <a:lnTo>
                  <a:pt x="3369344" y="559458"/>
                </a:lnTo>
                <a:lnTo>
                  <a:pt x="3366550" y="642175"/>
                </a:lnTo>
                <a:cubicBezTo>
                  <a:pt x="3364874" y="687446"/>
                  <a:pt x="3362639" y="753396"/>
                  <a:pt x="3361521" y="788606"/>
                </a:cubicBezTo>
                <a:lnTo>
                  <a:pt x="3358727" y="852879"/>
                </a:lnTo>
                <a:lnTo>
                  <a:pt x="3378843" y="816551"/>
                </a:lnTo>
                <a:cubicBezTo>
                  <a:pt x="3443101" y="700859"/>
                  <a:pt x="3515181" y="628762"/>
                  <a:pt x="3610730" y="585168"/>
                </a:cubicBezTo>
                <a:cubicBezTo>
                  <a:pt x="3663253" y="561135"/>
                  <a:pt x="3698456" y="553869"/>
                  <a:pt x="3763272" y="553869"/>
                </a:cubicBezTo>
                <a:cubicBezTo>
                  <a:pt x="3840381" y="553869"/>
                  <a:pt x="3917491" y="579020"/>
                  <a:pt x="3917491" y="604170"/>
                </a:cubicBezTo>
                <a:cubicBezTo>
                  <a:pt x="3917491" y="620937"/>
                  <a:pt x="3781711" y="979749"/>
                  <a:pt x="3774447" y="982544"/>
                </a:cubicBezTo>
                <a:cubicBezTo>
                  <a:pt x="3770536" y="984220"/>
                  <a:pt x="3744274" y="973601"/>
                  <a:pt x="3715777" y="960188"/>
                </a:cubicBezTo>
                <a:cubicBezTo>
                  <a:pt x="3655990" y="931684"/>
                  <a:pt x="3599555" y="917153"/>
                  <a:pt x="3545354" y="917711"/>
                </a:cubicBezTo>
                <a:cubicBezTo>
                  <a:pt x="3477185" y="917711"/>
                  <a:pt x="3401752" y="942862"/>
                  <a:pt x="3371579" y="975278"/>
                </a:cubicBezTo>
                <a:cubicBezTo>
                  <a:pt x="3358727" y="989250"/>
                  <a:pt x="3358727" y="989809"/>
                  <a:pt x="3355375" y="1194925"/>
                </a:cubicBezTo>
                <a:cubicBezTo>
                  <a:pt x="3352022" y="1398363"/>
                  <a:pt x="3358727" y="1646514"/>
                  <a:pt x="3370462" y="1745997"/>
                </a:cubicBezTo>
                <a:cubicBezTo>
                  <a:pt x="3379961" y="1830950"/>
                  <a:pt x="3402870" y="1872867"/>
                  <a:pt x="3449247" y="1892428"/>
                </a:cubicBezTo>
                <a:cubicBezTo>
                  <a:pt x="3464892" y="1899135"/>
                  <a:pt x="3563235" y="1912549"/>
                  <a:pt x="3595084" y="1912549"/>
                </a:cubicBezTo>
                <a:cubicBezTo>
                  <a:pt x="3597319" y="1912549"/>
                  <a:pt x="3598996" y="1932110"/>
                  <a:pt x="3597878" y="1956143"/>
                </a:cubicBezTo>
                <a:lnTo>
                  <a:pt x="3596202" y="1999737"/>
                </a:lnTo>
                <a:lnTo>
                  <a:pt x="3182717" y="2000854"/>
                </a:lnTo>
                <a:cubicBezTo>
                  <a:pt x="2955300" y="2000295"/>
                  <a:pt x="2765879" y="1998619"/>
                  <a:pt x="2761968" y="1996383"/>
                </a:cubicBezTo>
                <a:lnTo>
                  <a:pt x="2761968" y="1996383"/>
                </a:lnTo>
                <a:close/>
              </a:path>
            </a:pathLst>
          </a:custGeom>
          <a:solidFill>
            <a:srgbClr val="000000"/>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pic>
        <p:nvPicPr>
          <p:cNvPr descr="A close up of a card&#10;&#10;AI-generated content may be incorrect." id="529" name="Google Shape;529;p11"/>
          <p:cNvPicPr preferRelativeResize="0"/>
          <p:nvPr/>
        </p:nvPicPr>
        <p:blipFill rotWithShape="1">
          <a:blip r:embed="rId7">
            <a:alphaModFix/>
          </a:blip>
          <a:srcRect b="0" l="0" r="0" t="0"/>
          <a:stretch/>
        </p:blipFill>
        <p:spPr>
          <a:xfrm>
            <a:off x="4069833" y="3938485"/>
            <a:ext cx="815791" cy="380352"/>
          </a:xfrm>
          <a:prstGeom prst="rect">
            <a:avLst/>
          </a:prstGeom>
          <a:noFill/>
          <a:ln>
            <a:noFill/>
          </a:ln>
        </p:spPr>
      </p:pic>
      <p:pic>
        <p:nvPicPr>
          <p:cNvPr descr="A gold circle with black text&#10;&#10;AI-generated content may be incorrect." id="530" name="Google Shape;530;p11"/>
          <p:cNvPicPr preferRelativeResize="0"/>
          <p:nvPr/>
        </p:nvPicPr>
        <p:blipFill rotWithShape="1">
          <a:blip r:embed="rId8">
            <a:alphaModFix/>
          </a:blip>
          <a:srcRect b="0" l="0" r="0" t="0"/>
          <a:stretch/>
        </p:blipFill>
        <p:spPr>
          <a:xfrm>
            <a:off x="2269547" y="3834450"/>
            <a:ext cx="559100" cy="568489"/>
          </a:xfrm>
          <a:prstGeom prst="rect">
            <a:avLst/>
          </a:prstGeom>
          <a:noFill/>
          <a:ln>
            <a:noFill/>
          </a:ln>
        </p:spPr>
      </p:pic>
      <p:grpSp>
        <p:nvGrpSpPr>
          <p:cNvPr id="531" name="Google Shape;531;p11"/>
          <p:cNvGrpSpPr/>
          <p:nvPr/>
        </p:nvGrpSpPr>
        <p:grpSpPr>
          <a:xfrm>
            <a:off x="4053375" y="2301110"/>
            <a:ext cx="1056629" cy="504386"/>
            <a:chOff x="5458181" y="3067844"/>
            <a:chExt cx="1760461" cy="840363"/>
          </a:xfrm>
        </p:grpSpPr>
        <p:pic>
          <p:nvPicPr>
            <p:cNvPr descr="Text&#10;&#10;Description automatically generated" id="532" name="Google Shape;532;p11"/>
            <p:cNvPicPr preferRelativeResize="0"/>
            <p:nvPr/>
          </p:nvPicPr>
          <p:blipFill rotWithShape="1">
            <a:blip r:embed="rId9">
              <a:alphaModFix/>
            </a:blip>
            <a:srcRect b="0" l="0" r="0" t="0"/>
            <a:stretch/>
          </p:blipFill>
          <p:spPr>
            <a:xfrm>
              <a:off x="5458181" y="3091894"/>
              <a:ext cx="794468" cy="792528"/>
            </a:xfrm>
            <a:prstGeom prst="rect">
              <a:avLst/>
            </a:prstGeom>
            <a:noFill/>
            <a:ln>
              <a:noFill/>
            </a:ln>
          </p:spPr>
        </p:pic>
        <p:pic>
          <p:nvPicPr>
            <p:cNvPr descr="A blue and white rectangular sign with black text&#10;&#10;AI-generated content may be incorrect." id="533" name="Google Shape;533;p11"/>
            <p:cNvPicPr preferRelativeResize="0"/>
            <p:nvPr/>
          </p:nvPicPr>
          <p:blipFill rotWithShape="1">
            <a:blip r:embed="rId10">
              <a:alphaModFix/>
            </a:blip>
            <a:srcRect b="0" l="0" r="0" t="0"/>
            <a:stretch/>
          </p:blipFill>
          <p:spPr>
            <a:xfrm>
              <a:off x="6334468" y="3067844"/>
              <a:ext cx="884174" cy="840363"/>
            </a:xfrm>
            <a:prstGeom prst="rect">
              <a:avLst/>
            </a:prstGeom>
            <a:noFill/>
            <a:ln>
              <a:noFill/>
            </a:ln>
          </p:spPr>
        </p:pic>
      </p:grpSp>
      <p:sp>
        <p:nvSpPr>
          <p:cNvPr id="534" name="Google Shape;534;p11"/>
          <p:cNvSpPr/>
          <p:nvPr/>
        </p:nvSpPr>
        <p:spPr>
          <a:xfrm>
            <a:off x="463942" y="3161777"/>
            <a:ext cx="1262100" cy="87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RANKING</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141C27"/>
              </a:buClr>
              <a:buSzPts val="800"/>
              <a:buFont typeface="Montserrat"/>
              <a:buNone/>
            </a:pPr>
            <a:r>
              <a:rPr b="0" i="0" lang="en" sz="800" u="none" cap="none" strike="noStrike">
                <a:solidFill>
                  <a:srgbClr val="141C27"/>
                </a:solidFill>
                <a:latin typeface="Montserrat"/>
                <a:ea typeface="Montserrat"/>
                <a:cs typeface="Montserrat"/>
                <a:sym typeface="Montserrat"/>
              </a:rPr>
              <a:t>Virtusa recognized as a  CDP Climate A list organization in 2025</a:t>
            </a:r>
            <a:endParaRPr b="0" i="0" sz="800" u="none" cap="none" strike="noStrike">
              <a:solidFill>
                <a:srgbClr val="141C27"/>
              </a:solidFill>
              <a:latin typeface="Montserrat"/>
              <a:ea typeface="Montserrat"/>
              <a:cs typeface="Montserrat"/>
              <a:sym typeface="Montserrat"/>
            </a:endParaRPr>
          </a:p>
        </p:txBody>
      </p:sp>
      <p:cxnSp>
        <p:nvCxnSpPr>
          <p:cNvPr id="535" name="Google Shape;535;p11"/>
          <p:cNvCxnSpPr/>
          <p:nvPr/>
        </p:nvCxnSpPr>
        <p:spPr>
          <a:xfrm rot="10800000">
            <a:off x="464058" y="3023282"/>
            <a:ext cx="1323600" cy="0"/>
          </a:xfrm>
          <a:prstGeom prst="straightConnector1">
            <a:avLst/>
          </a:prstGeom>
          <a:noFill/>
          <a:ln cap="flat" cmpd="sng" w="9525">
            <a:solidFill>
              <a:srgbClr val="DED4FF"/>
            </a:solidFill>
            <a:prstDash val="solid"/>
            <a:miter lim="80"/>
            <a:headEnd len="sm" w="sm" type="none"/>
            <a:tailEnd len="sm" w="sm" type="none"/>
          </a:ln>
        </p:spPr>
      </p:cxnSp>
      <p:cxnSp>
        <p:nvCxnSpPr>
          <p:cNvPr id="536" name="Google Shape;536;p11"/>
          <p:cNvCxnSpPr/>
          <p:nvPr/>
        </p:nvCxnSpPr>
        <p:spPr>
          <a:xfrm rot="10800000">
            <a:off x="2016797" y="1079254"/>
            <a:ext cx="0" cy="3353700"/>
          </a:xfrm>
          <a:prstGeom prst="straightConnector1">
            <a:avLst/>
          </a:prstGeom>
          <a:noFill/>
          <a:ln cap="flat" cmpd="sng" w="9525">
            <a:solidFill>
              <a:schemeClr val="lt2"/>
            </a:solidFill>
            <a:prstDash val="solid"/>
            <a:miter lim="80"/>
            <a:headEnd len="sm" w="sm" type="none"/>
            <a:tailEnd len="sm" w="sm" type="none"/>
          </a:ln>
        </p:spPr>
      </p:cxnSp>
      <p:cxnSp>
        <p:nvCxnSpPr>
          <p:cNvPr id="537" name="Google Shape;537;p11"/>
          <p:cNvCxnSpPr/>
          <p:nvPr/>
        </p:nvCxnSpPr>
        <p:spPr>
          <a:xfrm rot="10800000">
            <a:off x="3856781" y="1079254"/>
            <a:ext cx="0" cy="3353700"/>
          </a:xfrm>
          <a:prstGeom prst="straightConnector1">
            <a:avLst/>
          </a:prstGeom>
          <a:noFill/>
          <a:ln cap="flat" cmpd="sng" w="9525">
            <a:solidFill>
              <a:schemeClr val="lt2"/>
            </a:solidFill>
            <a:prstDash val="solid"/>
            <a:miter lim="80"/>
            <a:headEnd len="sm" w="sm" type="none"/>
            <a:tailEnd len="sm" w="sm" type="none"/>
          </a:ln>
        </p:spPr>
      </p:cxnSp>
      <p:cxnSp>
        <p:nvCxnSpPr>
          <p:cNvPr id="538" name="Google Shape;538;p11"/>
          <p:cNvCxnSpPr/>
          <p:nvPr/>
        </p:nvCxnSpPr>
        <p:spPr>
          <a:xfrm rot="10800000">
            <a:off x="2269594" y="3114173"/>
            <a:ext cx="1414800" cy="0"/>
          </a:xfrm>
          <a:prstGeom prst="straightConnector1">
            <a:avLst/>
          </a:prstGeom>
          <a:noFill/>
          <a:ln cap="flat" cmpd="sng" w="9525">
            <a:solidFill>
              <a:srgbClr val="DED4FF"/>
            </a:solidFill>
            <a:prstDash val="solid"/>
            <a:miter lim="80"/>
            <a:headEnd len="sm" w="sm" type="none"/>
            <a:tailEnd len="sm" w="sm" type="none"/>
          </a:ln>
        </p:spPr>
      </p:cxnSp>
      <p:cxnSp>
        <p:nvCxnSpPr>
          <p:cNvPr id="539" name="Google Shape;539;p11"/>
          <p:cNvCxnSpPr/>
          <p:nvPr/>
        </p:nvCxnSpPr>
        <p:spPr>
          <a:xfrm rot="10800000">
            <a:off x="4053019" y="2969235"/>
            <a:ext cx="1414800" cy="0"/>
          </a:xfrm>
          <a:prstGeom prst="straightConnector1">
            <a:avLst/>
          </a:prstGeom>
          <a:noFill/>
          <a:ln cap="flat" cmpd="sng" w="9525">
            <a:solidFill>
              <a:srgbClr val="DED4FF"/>
            </a:solidFill>
            <a:prstDash val="solid"/>
            <a:miter lim="80"/>
            <a:headEnd len="sm" w="sm" type="none"/>
            <a:tailEnd len="sm" w="sm" type="none"/>
          </a:ln>
        </p:spPr>
      </p:cxnSp>
      <p:pic>
        <p:nvPicPr>
          <p:cNvPr descr="A close up of a card&#10;&#10;AI-generated content may be incorrect." id="540" name="Google Shape;540;p11"/>
          <p:cNvPicPr preferRelativeResize="0"/>
          <p:nvPr/>
        </p:nvPicPr>
        <p:blipFill rotWithShape="1">
          <a:blip r:embed="rId11">
            <a:alphaModFix/>
          </a:blip>
          <a:srcRect b="0" l="0" r="0" t="0"/>
          <a:stretch/>
        </p:blipFill>
        <p:spPr>
          <a:xfrm>
            <a:off x="4925315" y="3938485"/>
            <a:ext cx="815791" cy="382339"/>
          </a:xfrm>
          <a:prstGeom prst="rect">
            <a:avLst/>
          </a:prstGeom>
          <a:noFill/>
          <a:ln>
            <a:noFill/>
          </a:ln>
        </p:spPr>
      </p:pic>
      <p:sp>
        <p:nvSpPr>
          <p:cNvPr id="541" name="Google Shape;541;p11"/>
          <p:cNvSpPr txBox="1"/>
          <p:nvPr/>
        </p:nvSpPr>
        <p:spPr>
          <a:xfrm>
            <a:off x="7124568" y="1610711"/>
            <a:ext cx="1701600" cy="9657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900"/>
              <a:buFont typeface="Arial"/>
              <a:buNone/>
            </a:pPr>
            <a:r>
              <a:rPr b="0" i="0" lang="en" sz="900" u="none" cap="none" strike="noStrike">
                <a:solidFill>
                  <a:schemeClr val="dk1"/>
                </a:solidFill>
                <a:latin typeface="Montserrat"/>
                <a:ea typeface="Montserrat"/>
                <a:cs typeface="Montserrat"/>
                <a:sym typeface="Montserrat"/>
              </a:rPr>
              <a:t>Top 25 brand value ranking ($817M)  </a:t>
            </a:r>
            <a:r>
              <a:rPr b="1" i="0" lang="en" sz="900" u="none" cap="none" strike="noStrike">
                <a:solidFill>
                  <a:schemeClr val="dk1"/>
                </a:solidFill>
                <a:latin typeface="Montserrat"/>
                <a:ea typeface="Montserrat"/>
                <a:cs typeface="Montserrat"/>
                <a:sym typeface="Montserrat"/>
              </a:rPr>
              <a:t>Ranked 25</a:t>
            </a:r>
            <a:r>
              <a:rPr b="1" baseline="30000" i="0" lang="en" sz="900" u="none" cap="none" strike="noStrike">
                <a:solidFill>
                  <a:schemeClr val="dk1"/>
                </a:solidFill>
                <a:latin typeface="Montserrat"/>
                <a:ea typeface="Montserrat"/>
                <a:cs typeface="Montserrat"/>
                <a:sym typeface="Montserrat"/>
              </a:rPr>
              <a:t>th</a:t>
            </a:r>
            <a:r>
              <a:rPr b="0" baseline="30000" i="0" lang="en" sz="900" u="none" cap="none" strike="noStrike">
                <a:solidFill>
                  <a:schemeClr val="dk1"/>
                </a:solidFill>
                <a:latin typeface="Montserrat"/>
                <a:ea typeface="Montserrat"/>
                <a:cs typeface="Montserrat"/>
                <a:sym typeface="Montserrat"/>
              </a:rPr>
              <a:t>;</a:t>
            </a:r>
            <a:br>
              <a:rPr b="0" baseline="3000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AA+ Brand Strength rating</a:t>
            </a:r>
            <a:br>
              <a:rPr b="0" i="0" lang="en" sz="900" u="none" cap="none" strike="noStrike">
                <a:solidFill>
                  <a:schemeClr val="dk1"/>
                </a:solidFill>
                <a:latin typeface="Montserrat"/>
                <a:ea typeface="Montserrat"/>
                <a:cs typeface="Montserrat"/>
                <a:sym typeface="Montserrat"/>
              </a:rPr>
            </a:br>
            <a:r>
              <a:rPr b="1" i="0" lang="en" sz="900" u="none" cap="none" strike="noStrike">
                <a:solidFill>
                  <a:schemeClr val="dk1"/>
                </a:solidFill>
                <a:latin typeface="Montserrat"/>
                <a:ea typeface="Montserrat"/>
                <a:cs typeface="Montserrat"/>
                <a:sym typeface="Montserrat"/>
              </a:rPr>
              <a:t>Tied for 14th </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2"/>
              </a:buClr>
              <a:buSzPts val="800"/>
              <a:buFont typeface="Arial"/>
              <a:buNone/>
            </a:pPr>
            <a:r>
              <a:rPr b="0" i="0" lang="en" sz="800" u="none" cap="none" strike="noStrike">
                <a:solidFill>
                  <a:schemeClr val="dk2"/>
                </a:solidFill>
                <a:latin typeface="Montserrat"/>
                <a:ea typeface="Montserrat"/>
                <a:cs typeface="Montserrat"/>
                <a:sym typeface="Montserrat"/>
              </a:rPr>
              <a:t>Ahead of EPAM and LTI Mindtree</a:t>
            </a:r>
            <a:endParaRPr b="0" i="0" sz="800" u="none" cap="none" strike="noStrike">
              <a:solidFill>
                <a:schemeClr val="dk1"/>
              </a:solidFill>
              <a:latin typeface="Montserrat"/>
              <a:ea typeface="Montserrat"/>
              <a:cs typeface="Montserrat"/>
              <a:sym typeface="Montserrat"/>
            </a:endParaRPr>
          </a:p>
        </p:txBody>
      </p:sp>
      <p:sp>
        <p:nvSpPr>
          <p:cNvPr id="542" name="Google Shape;542;p11"/>
          <p:cNvSpPr txBox="1"/>
          <p:nvPr/>
        </p:nvSpPr>
        <p:spPr>
          <a:xfrm>
            <a:off x="7124568" y="3865585"/>
            <a:ext cx="1237500" cy="593400"/>
          </a:xfrm>
          <a:prstGeom prst="rect">
            <a:avLst/>
          </a:prstGeom>
          <a:noFill/>
          <a:ln>
            <a:noFill/>
          </a:ln>
        </p:spPr>
        <p:txBody>
          <a:bodyPr anchorCtr="0" anchor="t" bIns="34275" lIns="0" spcFirstLastPara="1" rIns="68575" wrap="square" tIns="34275">
            <a:noAutofit/>
          </a:bodyPr>
          <a:lstStyle/>
          <a:p>
            <a:pPr indent="0" lvl="0" marL="0" marR="0" rtl="0" algn="l">
              <a:lnSpc>
                <a:spcPct val="100000"/>
              </a:lnSpc>
              <a:spcBef>
                <a:spcPts val="0"/>
              </a:spcBef>
              <a:spcAft>
                <a:spcPts val="0"/>
              </a:spcAft>
              <a:buClr>
                <a:schemeClr val="dk1"/>
              </a:buClr>
              <a:buSzPts val="900"/>
              <a:buFont typeface="Arial"/>
              <a:buNone/>
            </a:pPr>
            <a:r>
              <a:rPr b="0" i="0" lang="en" sz="900" u="none" cap="none" strike="noStrike">
                <a:solidFill>
                  <a:schemeClr val="dk1"/>
                </a:solidFill>
                <a:latin typeface="Montserrat"/>
                <a:ea typeface="Montserrat"/>
                <a:cs typeface="Montserrat"/>
                <a:sym typeface="Montserrat"/>
              </a:rPr>
              <a:t>Industry percentile in overall Net Promoter Score</a:t>
            </a:r>
            <a:endParaRPr b="0" i="0" sz="1100" u="none" cap="none" strike="noStrike">
              <a:solidFill>
                <a:srgbClr val="000000"/>
              </a:solidFill>
              <a:latin typeface="Arial"/>
              <a:ea typeface="Arial"/>
              <a:cs typeface="Arial"/>
              <a:sym typeface="Arial"/>
            </a:endParaRPr>
          </a:p>
        </p:txBody>
      </p:sp>
      <p:sp>
        <p:nvSpPr>
          <p:cNvPr id="543" name="Google Shape;543;p11"/>
          <p:cNvSpPr txBox="1"/>
          <p:nvPr/>
        </p:nvSpPr>
        <p:spPr>
          <a:xfrm>
            <a:off x="7124568" y="2917370"/>
            <a:ext cx="1518000" cy="5613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900"/>
              <a:buFont typeface="Arial"/>
              <a:buNone/>
            </a:pPr>
            <a:r>
              <a:rPr b="1" i="0" lang="en" sz="900" u="none" cap="none" strike="noStrike">
                <a:solidFill>
                  <a:schemeClr val="dk1"/>
                </a:solidFill>
                <a:latin typeface="Montserrat"/>
                <a:ea typeface="Montserrat"/>
                <a:cs typeface="Montserrat"/>
                <a:sym typeface="Montserrat"/>
              </a:rPr>
              <a:t>Virtusa ranked </a:t>
            </a:r>
            <a:br>
              <a:rPr b="1" i="0" lang="en" sz="900" u="none" cap="none" strike="noStrike">
                <a:solidFill>
                  <a:schemeClr val="dk1"/>
                </a:solidFill>
                <a:latin typeface="Montserrat"/>
                <a:ea typeface="Montserrat"/>
                <a:cs typeface="Montserrat"/>
                <a:sym typeface="Montserrat"/>
              </a:rPr>
            </a:br>
            <a:r>
              <a:rPr b="1" i="0" lang="en" sz="900" u="none" cap="none" strike="noStrike">
                <a:solidFill>
                  <a:schemeClr val="dk1"/>
                </a:solidFill>
                <a:latin typeface="Montserrat"/>
                <a:ea typeface="Montserrat"/>
                <a:cs typeface="Montserrat"/>
                <a:sym typeface="Montserrat"/>
              </a:rPr>
              <a:t>8th out of the Top 50 </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900"/>
              <a:buFont typeface="Arial"/>
              <a:buNone/>
            </a:pPr>
            <a:r>
              <a:rPr b="0" i="0" lang="en" sz="900" u="none" cap="none" strike="noStrike">
                <a:solidFill>
                  <a:schemeClr val="dk1"/>
                </a:solidFill>
                <a:latin typeface="Montserrat"/>
                <a:ea typeface="Montserrat"/>
                <a:cs typeface="Montserrat"/>
                <a:sym typeface="Montserrat"/>
              </a:rPr>
              <a:t>Consulting Firms of 2024</a:t>
            </a:r>
            <a:endParaRPr b="0" i="0" sz="1100" u="none" cap="none" strike="noStrike">
              <a:solidFill>
                <a:srgbClr val="000000"/>
              </a:solidFill>
              <a:latin typeface="Arial"/>
              <a:ea typeface="Arial"/>
              <a:cs typeface="Arial"/>
              <a:sym typeface="Arial"/>
            </a:endParaRPr>
          </a:p>
        </p:txBody>
      </p:sp>
      <p:pic>
        <p:nvPicPr>
          <p:cNvPr descr="Brand-Finance-logo 1 - The Home Of Great South African News" id="544" name="Google Shape;544;p11"/>
          <p:cNvPicPr preferRelativeResize="0"/>
          <p:nvPr/>
        </p:nvPicPr>
        <p:blipFill rotWithShape="1">
          <a:blip r:embed="rId12">
            <a:alphaModFix/>
          </a:blip>
          <a:srcRect b="0" l="0" r="0" t="0"/>
          <a:stretch/>
        </p:blipFill>
        <p:spPr>
          <a:xfrm>
            <a:off x="6261962" y="1610711"/>
            <a:ext cx="605660" cy="605660"/>
          </a:xfrm>
          <a:prstGeom prst="rect">
            <a:avLst/>
          </a:prstGeom>
          <a:noFill/>
          <a:ln>
            <a:noFill/>
          </a:ln>
        </p:spPr>
      </p:pic>
      <p:sp>
        <p:nvSpPr>
          <p:cNvPr id="545" name="Google Shape;545;p11"/>
          <p:cNvSpPr txBox="1"/>
          <p:nvPr/>
        </p:nvSpPr>
        <p:spPr>
          <a:xfrm>
            <a:off x="6300118" y="3793940"/>
            <a:ext cx="815700" cy="651000"/>
          </a:xfrm>
          <a:prstGeom prst="rect">
            <a:avLst/>
          </a:prstGeom>
          <a:noFill/>
          <a:ln>
            <a:noFill/>
          </a:ln>
        </p:spPr>
        <p:txBody>
          <a:bodyPr anchorCtr="0" anchor="t" bIns="34275" lIns="68575" spcFirstLastPara="1" rIns="68575" wrap="square" tIns="34275">
            <a:spAutoFit/>
          </a:bodyPr>
          <a:lstStyle/>
          <a:p>
            <a:pPr indent="0" lvl="0" marL="0" marR="0" rtl="0" algn="l">
              <a:lnSpc>
                <a:spcPct val="90000"/>
              </a:lnSpc>
              <a:spcBef>
                <a:spcPts val="0"/>
              </a:spcBef>
              <a:spcAft>
                <a:spcPts val="0"/>
              </a:spcAft>
              <a:buClr>
                <a:schemeClr val="dk1"/>
              </a:buClr>
              <a:buSzPts val="2100"/>
              <a:buFont typeface="Montserrat"/>
              <a:buNone/>
            </a:pPr>
            <a:r>
              <a:rPr b="1" i="0" lang="en" sz="2100" u="none" cap="none" strike="noStrike">
                <a:solidFill>
                  <a:schemeClr val="dk1"/>
                </a:solidFill>
                <a:latin typeface="Montserrat"/>
                <a:ea typeface="Montserrat"/>
                <a:cs typeface="Montserrat"/>
                <a:sym typeface="Montserrat"/>
              </a:rPr>
              <a:t>Top </a:t>
            </a:r>
            <a:br>
              <a:rPr b="1" i="0" lang="en" sz="2100" u="none" cap="none" strike="noStrike">
                <a:solidFill>
                  <a:schemeClr val="dk1"/>
                </a:solidFill>
                <a:latin typeface="Montserrat"/>
                <a:ea typeface="Montserrat"/>
                <a:cs typeface="Montserrat"/>
                <a:sym typeface="Montserrat"/>
              </a:rPr>
            </a:br>
            <a:r>
              <a:rPr b="1" i="0" lang="en" sz="2100" u="none" cap="none" strike="noStrike">
                <a:solidFill>
                  <a:schemeClr val="dk1"/>
                </a:solidFill>
                <a:latin typeface="Montserrat"/>
                <a:ea typeface="Montserrat"/>
                <a:cs typeface="Montserrat"/>
                <a:sym typeface="Montserrat"/>
              </a:rPr>
              <a:t>10%</a:t>
            </a:r>
            <a:endParaRPr b="0" i="0" sz="2100" u="none" cap="none" strike="noStrike">
              <a:solidFill>
                <a:schemeClr val="dk1"/>
              </a:solidFill>
              <a:latin typeface="Montserrat"/>
              <a:ea typeface="Montserrat"/>
              <a:cs typeface="Montserrat"/>
              <a:sym typeface="Montserrat"/>
            </a:endParaRPr>
          </a:p>
        </p:txBody>
      </p:sp>
      <p:pic>
        <p:nvPicPr>
          <p:cNvPr descr="A logo of a light bulb&#10;&#10;AI-generated content may be incorrect." id="546" name="Google Shape;546;p11"/>
          <p:cNvPicPr preferRelativeResize="0"/>
          <p:nvPr/>
        </p:nvPicPr>
        <p:blipFill rotWithShape="1">
          <a:blip r:embed="rId13">
            <a:alphaModFix/>
          </a:blip>
          <a:srcRect b="0" l="0" r="0" t="0"/>
          <a:stretch/>
        </p:blipFill>
        <p:spPr>
          <a:xfrm>
            <a:off x="6101946" y="2747616"/>
            <a:ext cx="882965" cy="878589"/>
          </a:xfrm>
          <a:prstGeom prst="rect">
            <a:avLst/>
          </a:prstGeom>
          <a:noFill/>
          <a:ln>
            <a:noFill/>
          </a:ln>
        </p:spPr>
      </p:pic>
      <p:sp>
        <p:nvSpPr>
          <p:cNvPr id="547" name="Google Shape;547;p11"/>
          <p:cNvSpPr txBox="1"/>
          <p:nvPr/>
        </p:nvSpPr>
        <p:spPr>
          <a:xfrm>
            <a:off x="6192092" y="1164232"/>
            <a:ext cx="2508600" cy="313500"/>
          </a:xfrm>
          <a:prstGeom prst="rect">
            <a:avLst/>
          </a:prstGeom>
          <a:noFill/>
          <a:ln>
            <a:noFill/>
          </a:ln>
        </p:spPr>
        <p:txBody>
          <a:bodyPr anchorCtr="0" anchor="t" bIns="34275" lIns="68575" spcFirstLastPara="1" rIns="68575" wrap="square" tIns="0">
            <a:noAutofit/>
          </a:bodyPr>
          <a:lstStyle/>
          <a:p>
            <a:pPr indent="0" lvl="0" marL="0" marR="0" rtl="0" algn="l">
              <a:lnSpc>
                <a:spcPct val="90000"/>
              </a:lnSpc>
              <a:spcBef>
                <a:spcPts val="0"/>
              </a:spcBef>
              <a:spcAft>
                <a:spcPts val="0"/>
              </a:spcAft>
              <a:buClr>
                <a:schemeClr val="dk1"/>
              </a:buClr>
              <a:buSzPts val="1500"/>
              <a:buFont typeface="Montserrat"/>
              <a:buNone/>
            </a:pPr>
            <a:r>
              <a:rPr b="1" i="0" lang="en" sz="1500" u="none" cap="none" strike="noStrike">
                <a:solidFill>
                  <a:schemeClr val="dk1"/>
                </a:solidFill>
                <a:latin typeface="Montserrat"/>
                <a:ea typeface="Montserrat"/>
                <a:cs typeface="Montserrat"/>
                <a:sym typeface="Montserrat"/>
              </a:rPr>
              <a:t>Our brand is strong</a:t>
            </a:r>
            <a:endParaRPr b="0" i="0" sz="1100" u="none" cap="none" strike="noStrike">
              <a:solidFill>
                <a:srgbClr val="000000"/>
              </a:solidFill>
              <a:latin typeface="Arial"/>
              <a:ea typeface="Arial"/>
              <a:cs typeface="Arial"/>
              <a:sym typeface="Arial"/>
            </a:endParaRPr>
          </a:p>
        </p:txBody>
      </p:sp>
      <p:cxnSp>
        <p:nvCxnSpPr>
          <p:cNvPr id="548" name="Google Shape;548;p11"/>
          <p:cNvCxnSpPr/>
          <p:nvPr/>
        </p:nvCxnSpPr>
        <p:spPr>
          <a:xfrm rot="10800000">
            <a:off x="6227187" y="3709838"/>
            <a:ext cx="2387700" cy="0"/>
          </a:xfrm>
          <a:prstGeom prst="straightConnector1">
            <a:avLst/>
          </a:prstGeom>
          <a:noFill/>
          <a:ln cap="flat" cmpd="sng" w="9525">
            <a:solidFill>
              <a:srgbClr val="DED4FF"/>
            </a:solidFill>
            <a:prstDash val="solid"/>
            <a:miter lim="80"/>
            <a:headEnd len="sm" w="sm" type="none"/>
            <a:tailEnd len="sm" w="sm" type="none"/>
          </a:ln>
        </p:spPr>
      </p:cxnSp>
      <p:cxnSp>
        <p:nvCxnSpPr>
          <p:cNvPr id="549" name="Google Shape;549;p11"/>
          <p:cNvCxnSpPr/>
          <p:nvPr/>
        </p:nvCxnSpPr>
        <p:spPr>
          <a:xfrm rot="10800000">
            <a:off x="6227187" y="2663983"/>
            <a:ext cx="2387700" cy="0"/>
          </a:xfrm>
          <a:prstGeom prst="straightConnector1">
            <a:avLst/>
          </a:prstGeom>
          <a:noFill/>
          <a:ln cap="flat" cmpd="sng" w="9525">
            <a:solidFill>
              <a:srgbClr val="DED4FF"/>
            </a:solidFill>
            <a:prstDash val="solid"/>
            <a:miter lim="80"/>
            <a:headEnd len="sm" w="sm" type="none"/>
            <a:tailEnd len="sm" w="sm" type="none"/>
          </a:ln>
        </p:spPr>
      </p:cxnSp>
      <p:pic>
        <p:nvPicPr>
          <p:cNvPr id="550" name="Google Shape;550;p11"/>
          <p:cNvPicPr preferRelativeResize="0"/>
          <p:nvPr/>
        </p:nvPicPr>
        <p:blipFill rotWithShape="1">
          <a:blip r:embed="rId14">
            <a:alphaModFix/>
          </a:blip>
          <a:srcRect b="0" l="0" r="0" t="0"/>
          <a:stretch/>
        </p:blipFill>
        <p:spPr>
          <a:xfrm>
            <a:off x="473081" y="3780068"/>
            <a:ext cx="661396" cy="661396"/>
          </a:xfrm>
          <a:prstGeom prst="rect">
            <a:avLst/>
          </a:prstGeom>
          <a:noFill/>
          <a:ln>
            <a:noFill/>
          </a:ln>
        </p:spPr>
      </p:pic>
      <p:pic>
        <p:nvPicPr>
          <p:cNvPr id="551" name="Google Shape;551;p11"/>
          <p:cNvPicPr preferRelativeResize="0"/>
          <p:nvPr/>
        </p:nvPicPr>
        <p:blipFill rotWithShape="1">
          <a:blip r:embed="rId15">
            <a:alphaModFix/>
          </a:blip>
          <a:srcRect b="36122" l="37264" r="33265" t="36033"/>
          <a:stretch/>
        </p:blipFill>
        <p:spPr>
          <a:xfrm>
            <a:off x="441092" y="2653108"/>
            <a:ext cx="871463" cy="3222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12"/>
          <p:cNvSpPr txBox="1"/>
          <p:nvPr>
            <p:ph idx="1" type="body"/>
          </p:nvPr>
        </p:nvSpPr>
        <p:spPr>
          <a:xfrm>
            <a:off x="2373737" y="1788319"/>
            <a:ext cx="1512000" cy="247800"/>
          </a:xfrm>
          <a:prstGeom prst="rect">
            <a:avLst/>
          </a:prstGeom>
          <a:noFill/>
          <a:ln>
            <a:noFill/>
          </a:ln>
        </p:spPr>
        <p:txBody>
          <a:bodyPr anchorCtr="0" anchor="t" bIns="34275" lIns="0" spcFirstLastPara="1" rIns="68575" wrap="square" tIns="34275">
            <a:noAutofit/>
          </a:bodyPr>
          <a:lstStyle/>
          <a:p>
            <a:pPr indent="0" lvl="0" marL="0" marR="0" rtl="0" algn="l">
              <a:lnSpc>
                <a:spcPct val="100000"/>
              </a:lnSpc>
              <a:spcBef>
                <a:spcPts val="0"/>
              </a:spcBef>
              <a:spcAft>
                <a:spcPts val="0"/>
              </a:spcAft>
              <a:buClr>
                <a:schemeClr val="dk1"/>
              </a:buClr>
              <a:buSzPts val="1200"/>
              <a:buFont typeface="Arial"/>
              <a:buNone/>
            </a:pPr>
            <a:r>
              <a:rPr b="1" i="0" lang="en" sz="1200" u="none" cap="none" strike="noStrike">
                <a:solidFill>
                  <a:schemeClr val="dk1"/>
                </a:solidFill>
                <a:latin typeface="Montserrat"/>
                <a:ea typeface="Montserrat"/>
                <a:cs typeface="Montserrat"/>
                <a:sym typeface="Montserrat"/>
              </a:rPr>
              <a:t>Tech</a:t>
            </a:r>
            <a:br>
              <a:rPr b="1" i="0" lang="en" sz="1200" u="none" cap="none" strike="noStrike">
                <a:solidFill>
                  <a:schemeClr val="dk1"/>
                </a:solidFill>
                <a:latin typeface="Montserrat"/>
                <a:ea typeface="Montserrat"/>
                <a:cs typeface="Montserrat"/>
                <a:sym typeface="Montserrat"/>
              </a:rPr>
            </a:br>
            <a:r>
              <a:rPr b="1" i="0" lang="en" sz="1200" u="none" cap="none" strike="noStrike">
                <a:solidFill>
                  <a:schemeClr val="dk1"/>
                </a:solidFill>
                <a:latin typeface="Montserrat"/>
                <a:ea typeface="Montserrat"/>
                <a:cs typeface="Montserrat"/>
                <a:sym typeface="Montserrat"/>
              </a:rPr>
              <a:t>certified talent </a:t>
            </a:r>
            <a:endParaRPr b="0" i="0" sz="1100" u="none" cap="none" strike="noStrike">
              <a:solidFill>
                <a:srgbClr val="000000"/>
              </a:solidFill>
              <a:latin typeface="Arial"/>
              <a:ea typeface="Arial"/>
              <a:cs typeface="Arial"/>
              <a:sym typeface="Arial"/>
            </a:endParaRPr>
          </a:p>
        </p:txBody>
      </p:sp>
      <p:sp>
        <p:nvSpPr>
          <p:cNvPr id="558" name="Google Shape;558;p12"/>
          <p:cNvSpPr txBox="1"/>
          <p:nvPr>
            <p:ph type="title"/>
          </p:nvPr>
        </p:nvSpPr>
        <p:spPr>
          <a:xfrm>
            <a:off x="480060" y="342900"/>
            <a:ext cx="8125800" cy="705300"/>
          </a:xfrm>
          <a:prstGeom prst="rect">
            <a:avLst/>
          </a:prstGeom>
          <a:noFill/>
          <a:ln>
            <a:noFill/>
          </a:ln>
        </p:spPr>
        <p:txBody>
          <a:bodyPr anchorCtr="0" anchor="t" bIns="0" lIns="68575" spcFirstLastPara="1" rIns="0" wrap="square" tIns="0">
            <a:noAutofit/>
          </a:bodyPr>
          <a:lstStyle/>
          <a:p>
            <a:pPr indent="0" lvl="0" marL="0" rtl="0" algn="l">
              <a:lnSpc>
                <a:spcPct val="90000"/>
              </a:lnSpc>
              <a:spcBef>
                <a:spcPts val="0"/>
              </a:spcBef>
              <a:spcAft>
                <a:spcPts val="0"/>
              </a:spcAft>
              <a:buClr>
                <a:schemeClr val="dk1"/>
              </a:buClr>
              <a:buSzPts val="2600"/>
              <a:buFont typeface="Montserrat Light"/>
              <a:buNone/>
            </a:pPr>
            <a:r>
              <a:rPr b="0" lang="en" sz="2600">
                <a:latin typeface="Montserrat Light"/>
                <a:ea typeface="Montserrat Light"/>
                <a:cs typeface="Montserrat Light"/>
                <a:sym typeface="Montserrat Light"/>
              </a:rPr>
              <a:t>In summary, why Virtusa?</a:t>
            </a:r>
            <a:endParaRPr/>
          </a:p>
        </p:txBody>
      </p:sp>
      <p:sp>
        <p:nvSpPr>
          <p:cNvPr id="559" name="Google Shape;559;p12"/>
          <p:cNvSpPr txBox="1"/>
          <p:nvPr>
            <p:ph idx="2" type="body"/>
          </p:nvPr>
        </p:nvSpPr>
        <p:spPr>
          <a:xfrm>
            <a:off x="4106381" y="1788281"/>
            <a:ext cx="1601400" cy="247800"/>
          </a:xfrm>
          <a:prstGeom prst="rect">
            <a:avLst/>
          </a:prstGeom>
          <a:noFill/>
          <a:ln>
            <a:noFill/>
          </a:ln>
        </p:spPr>
        <p:txBody>
          <a:bodyPr anchorCtr="0" anchor="t" bIns="34275" lIns="0" spcFirstLastPara="1" rIns="68575" wrap="square" tIns="34275">
            <a:noAutofit/>
          </a:bodyPr>
          <a:lstStyle/>
          <a:p>
            <a:pPr indent="0" lvl="0" marL="0" marR="0" rtl="0" algn="l">
              <a:lnSpc>
                <a:spcPct val="100000"/>
              </a:lnSpc>
              <a:spcBef>
                <a:spcPts val="0"/>
              </a:spcBef>
              <a:spcAft>
                <a:spcPts val="0"/>
              </a:spcAft>
              <a:buClr>
                <a:schemeClr val="dk1"/>
              </a:buClr>
              <a:buSzPts val="1200"/>
              <a:buFont typeface="Arial"/>
              <a:buNone/>
            </a:pPr>
            <a:r>
              <a:rPr b="1" i="0" lang="en" sz="1200" u="none" cap="none" strike="noStrike">
                <a:solidFill>
                  <a:schemeClr val="dk1"/>
                </a:solidFill>
                <a:latin typeface="Montserrat"/>
                <a:ea typeface="Montserrat"/>
                <a:cs typeface="Montserrat"/>
                <a:sym typeface="Montserrat"/>
              </a:rPr>
              <a:t>Industry</a:t>
            </a:r>
            <a:br>
              <a:rPr b="1" i="0" lang="en" sz="1200" u="none" cap="none" strike="noStrike">
                <a:solidFill>
                  <a:schemeClr val="dk1"/>
                </a:solidFill>
                <a:latin typeface="Montserrat"/>
                <a:ea typeface="Montserrat"/>
                <a:cs typeface="Montserrat"/>
                <a:sym typeface="Montserrat"/>
              </a:rPr>
            </a:br>
            <a:r>
              <a:rPr b="1" i="0" lang="en" sz="1200" u="none" cap="none" strike="noStrike">
                <a:solidFill>
                  <a:schemeClr val="dk1"/>
                </a:solidFill>
                <a:latin typeface="Montserrat"/>
                <a:ea typeface="Montserrat"/>
                <a:cs typeface="Montserrat"/>
                <a:sym typeface="Montserrat"/>
              </a:rPr>
              <a:t>experts</a:t>
            </a:r>
            <a:endParaRPr b="0" i="0" sz="1100" u="none" cap="none" strike="noStrike">
              <a:solidFill>
                <a:srgbClr val="000000"/>
              </a:solidFill>
              <a:latin typeface="Arial"/>
              <a:ea typeface="Arial"/>
              <a:cs typeface="Arial"/>
              <a:sym typeface="Arial"/>
            </a:endParaRPr>
          </a:p>
        </p:txBody>
      </p:sp>
      <p:sp>
        <p:nvSpPr>
          <p:cNvPr id="560" name="Google Shape;560;p12"/>
          <p:cNvSpPr txBox="1"/>
          <p:nvPr>
            <p:ph idx="3" type="body"/>
          </p:nvPr>
        </p:nvSpPr>
        <p:spPr>
          <a:xfrm>
            <a:off x="530275" y="1788319"/>
            <a:ext cx="1512000" cy="247800"/>
          </a:xfrm>
          <a:prstGeom prst="rect">
            <a:avLst/>
          </a:prstGeom>
          <a:noFill/>
          <a:ln>
            <a:noFill/>
          </a:ln>
        </p:spPr>
        <p:txBody>
          <a:bodyPr anchorCtr="0" anchor="t" bIns="34275" lIns="0" spcFirstLastPara="1" rIns="68575" wrap="square" tIns="34275">
            <a:noAutofit/>
          </a:bodyPr>
          <a:lstStyle/>
          <a:p>
            <a:pPr indent="0" lvl="0" marL="0" marR="0" rtl="0" algn="l">
              <a:lnSpc>
                <a:spcPct val="100000"/>
              </a:lnSpc>
              <a:spcBef>
                <a:spcPts val="0"/>
              </a:spcBef>
              <a:spcAft>
                <a:spcPts val="0"/>
              </a:spcAft>
              <a:buClr>
                <a:schemeClr val="dk1"/>
              </a:buClr>
              <a:buSzPts val="1200"/>
              <a:buFont typeface="Arial"/>
              <a:buNone/>
            </a:pPr>
            <a:r>
              <a:rPr b="1" i="0" lang="en" sz="1200" u="none" cap="none" strike="noStrike">
                <a:solidFill>
                  <a:schemeClr val="dk1"/>
                </a:solidFill>
                <a:latin typeface="Montserrat"/>
                <a:ea typeface="Montserrat"/>
                <a:cs typeface="Montserrat"/>
                <a:sym typeface="Montserrat"/>
              </a:rPr>
              <a:t>Customer </a:t>
            </a:r>
            <a:br>
              <a:rPr b="1" i="0" lang="en" sz="1200" u="none" cap="none" strike="noStrike">
                <a:solidFill>
                  <a:schemeClr val="dk1"/>
                </a:solidFill>
                <a:latin typeface="Montserrat"/>
                <a:ea typeface="Montserrat"/>
                <a:cs typeface="Montserrat"/>
                <a:sym typeface="Montserrat"/>
              </a:rPr>
            </a:br>
            <a:r>
              <a:rPr b="1" i="0" lang="en" sz="1200" u="none" cap="none" strike="noStrike">
                <a:solidFill>
                  <a:schemeClr val="dk1"/>
                </a:solidFill>
                <a:latin typeface="Montserrat"/>
                <a:ea typeface="Montserrat"/>
                <a:cs typeface="Montserrat"/>
                <a:sym typeface="Montserrat"/>
              </a:rPr>
              <a:t>first mindset</a:t>
            </a:r>
            <a:endParaRPr b="0" i="0" sz="1100" u="none" cap="none" strike="noStrike">
              <a:solidFill>
                <a:srgbClr val="000000"/>
              </a:solidFill>
              <a:latin typeface="Arial"/>
              <a:ea typeface="Arial"/>
              <a:cs typeface="Arial"/>
              <a:sym typeface="Arial"/>
            </a:endParaRPr>
          </a:p>
        </p:txBody>
      </p:sp>
      <p:sp>
        <p:nvSpPr>
          <p:cNvPr id="561" name="Google Shape;561;p12"/>
          <p:cNvSpPr txBox="1"/>
          <p:nvPr>
            <p:ph idx="4" type="body"/>
          </p:nvPr>
        </p:nvSpPr>
        <p:spPr>
          <a:xfrm>
            <a:off x="5877587" y="1788319"/>
            <a:ext cx="1512000" cy="247800"/>
          </a:xfrm>
          <a:prstGeom prst="rect">
            <a:avLst/>
          </a:prstGeom>
          <a:noFill/>
          <a:ln>
            <a:noFill/>
          </a:ln>
        </p:spPr>
        <p:txBody>
          <a:bodyPr anchorCtr="0" anchor="t" bIns="34275" lIns="0" spcFirstLastPara="1" rIns="68575" wrap="square" tIns="34275">
            <a:noAutofit/>
          </a:bodyPr>
          <a:lstStyle/>
          <a:p>
            <a:pPr indent="0" lvl="0" marL="0" marR="0" rtl="0" algn="l">
              <a:lnSpc>
                <a:spcPct val="100000"/>
              </a:lnSpc>
              <a:spcBef>
                <a:spcPts val="0"/>
              </a:spcBef>
              <a:spcAft>
                <a:spcPts val="0"/>
              </a:spcAft>
              <a:buClr>
                <a:schemeClr val="dk1"/>
              </a:buClr>
              <a:buSzPts val="1200"/>
              <a:buFont typeface="Arial"/>
              <a:buNone/>
            </a:pPr>
            <a:r>
              <a:rPr b="1" i="0" lang="en" sz="1200" u="none" cap="none" strike="noStrike">
                <a:solidFill>
                  <a:schemeClr val="dk1"/>
                </a:solidFill>
                <a:latin typeface="Montserrat"/>
                <a:ea typeface="Montserrat"/>
                <a:cs typeface="Montserrat"/>
                <a:sym typeface="Montserrat"/>
              </a:rPr>
              <a:t>Partnership powered</a:t>
            </a:r>
            <a:endParaRPr b="0" i="0" sz="1100" u="none" cap="none" strike="noStrike">
              <a:solidFill>
                <a:srgbClr val="000000"/>
              </a:solidFill>
              <a:latin typeface="Arial"/>
              <a:ea typeface="Arial"/>
              <a:cs typeface="Arial"/>
              <a:sym typeface="Arial"/>
            </a:endParaRPr>
          </a:p>
        </p:txBody>
      </p:sp>
      <p:sp>
        <p:nvSpPr>
          <p:cNvPr id="562" name="Google Shape;562;p12"/>
          <p:cNvSpPr txBox="1"/>
          <p:nvPr>
            <p:ph idx="5" type="body"/>
          </p:nvPr>
        </p:nvSpPr>
        <p:spPr>
          <a:xfrm>
            <a:off x="7305902" y="1788319"/>
            <a:ext cx="998100" cy="247800"/>
          </a:xfrm>
          <a:prstGeom prst="rect">
            <a:avLst/>
          </a:prstGeom>
          <a:noFill/>
          <a:ln>
            <a:noFill/>
          </a:ln>
        </p:spPr>
        <p:txBody>
          <a:bodyPr anchorCtr="0" anchor="t" bIns="34275" lIns="0" spcFirstLastPara="1" rIns="68575" wrap="square" tIns="34275">
            <a:noAutofit/>
          </a:bodyPr>
          <a:lstStyle/>
          <a:p>
            <a:pPr indent="0" lvl="0" marL="0" marR="0" rtl="0" algn="l">
              <a:lnSpc>
                <a:spcPct val="100000"/>
              </a:lnSpc>
              <a:spcBef>
                <a:spcPts val="0"/>
              </a:spcBef>
              <a:spcAft>
                <a:spcPts val="0"/>
              </a:spcAft>
              <a:buClr>
                <a:schemeClr val="dk1"/>
              </a:buClr>
              <a:buSzPts val="1200"/>
              <a:buFont typeface="Arial"/>
              <a:buNone/>
            </a:pPr>
            <a:r>
              <a:rPr b="1" i="0" lang="en" sz="1200" u="none" cap="none" strike="noStrike">
                <a:solidFill>
                  <a:schemeClr val="dk1"/>
                </a:solidFill>
                <a:latin typeface="Montserrat"/>
                <a:ea typeface="Montserrat"/>
                <a:cs typeface="Montserrat"/>
                <a:sym typeface="Montserrat"/>
              </a:rPr>
              <a:t>Global </a:t>
            </a:r>
            <a:br>
              <a:rPr b="1" i="0" lang="en" sz="1200" u="none" cap="none" strike="noStrike">
                <a:solidFill>
                  <a:schemeClr val="dk1"/>
                </a:solidFill>
                <a:latin typeface="Montserrat"/>
                <a:ea typeface="Montserrat"/>
                <a:cs typeface="Montserrat"/>
                <a:sym typeface="Montserrat"/>
              </a:rPr>
            </a:br>
            <a:r>
              <a:rPr b="1" i="0" lang="en" sz="1200" u="none" cap="none" strike="noStrike">
                <a:solidFill>
                  <a:schemeClr val="dk1"/>
                </a:solidFill>
                <a:latin typeface="Montserrat"/>
                <a:ea typeface="Montserrat"/>
                <a:cs typeface="Montserrat"/>
                <a:sym typeface="Montserrat"/>
              </a:rPr>
              <a:t>scale</a:t>
            </a:r>
            <a:endParaRPr b="0" i="0" sz="1100" u="none" cap="none" strike="noStrike">
              <a:solidFill>
                <a:srgbClr val="000000"/>
              </a:solidFill>
              <a:latin typeface="Arial"/>
              <a:ea typeface="Arial"/>
              <a:cs typeface="Arial"/>
              <a:sym typeface="Arial"/>
            </a:endParaRPr>
          </a:p>
        </p:txBody>
      </p:sp>
      <p:sp>
        <p:nvSpPr>
          <p:cNvPr id="563" name="Google Shape;563;p12"/>
          <p:cNvSpPr/>
          <p:nvPr/>
        </p:nvSpPr>
        <p:spPr>
          <a:xfrm>
            <a:off x="2377863" y="2431593"/>
            <a:ext cx="1512300" cy="227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16,000+</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trained in AI-assisted engineering</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7+ </a:t>
            </a:r>
            <a:br>
              <a:rPr b="0" i="0" lang="en" sz="800" u="none" cap="none" strike="noStrike">
                <a:solidFill>
                  <a:schemeClr val="lt1"/>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years of average talent experience</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 </a:t>
            </a:r>
            <a:endParaRPr b="1"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2,500+ </a:t>
            </a:r>
            <a:endParaRPr b="1" i="0" sz="15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5E2CFE"/>
                </a:solidFill>
                <a:latin typeface="Montserrat"/>
                <a:ea typeface="Montserrat"/>
                <a:cs typeface="Montserrat"/>
                <a:sym typeface="Montserrat"/>
              </a:rPr>
              <a:t>certified infrastructure architects, solutions specialists,  and business consultants</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Medium"/>
              <a:ea typeface="Montserrat Medium"/>
              <a:cs typeface="Montserrat Medium"/>
              <a:sym typeface="Montserrat Medium"/>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Medium"/>
              <a:ea typeface="Montserrat Medium"/>
              <a:cs typeface="Montserrat Medium"/>
              <a:sym typeface="Montserrat Medium"/>
            </a:endParaRPr>
          </a:p>
        </p:txBody>
      </p:sp>
      <p:sp>
        <p:nvSpPr>
          <p:cNvPr id="564" name="Google Shape;564;p12"/>
          <p:cNvSpPr/>
          <p:nvPr/>
        </p:nvSpPr>
        <p:spPr>
          <a:xfrm>
            <a:off x="5979511" y="2431593"/>
            <a:ext cx="1101300" cy="149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30,000+</a:t>
            </a:r>
            <a:br>
              <a:rPr b="0" i="0" lang="en" sz="1500" u="none" cap="none" strike="noStrike">
                <a:solidFill>
                  <a:schemeClr val="lt1"/>
                </a:solidFill>
                <a:latin typeface="Montserrat Medium"/>
                <a:ea typeface="Montserrat Medium"/>
                <a:cs typeface="Montserrat Medium"/>
                <a:sym typeface="Montserrat Medium"/>
              </a:rPr>
            </a:br>
            <a:r>
              <a:rPr b="0" i="0" lang="en" sz="800" u="none" cap="none" strike="noStrike">
                <a:solidFill>
                  <a:srgbClr val="5E2CFE"/>
                </a:solidFill>
                <a:latin typeface="Montserrat"/>
                <a:ea typeface="Montserrat"/>
                <a:cs typeface="Montserrat"/>
                <a:sym typeface="Montserrat"/>
              </a:rPr>
              <a:t>world-class professionals</a:t>
            </a:r>
            <a:br>
              <a:rPr b="0" i="0" lang="en" sz="800" u="none" cap="none" strike="noStrike">
                <a:solidFill>
                  <a:schemeClr val="lt1"/>
                </a:solidFill>
                <a:latin typeface="Montserrat Medium"/>
                <a:ea typeface="Montserrat Medium"/>
                <a:cs typeface="Montserrat Medium"/>
                <a:sym typeface="Montserrat Medium"/>
              </a:rPr>
            </a:br>
            <a:r>
              <a:rPr b="0" i="0" lang="en" sz="800" u="none" cap="none" strike="noStrike">
                <a:solidFill>
                  <a:srgbClr val="5E2CFE"/>
                </a:solidFill>
                <a:latin typeface="Montserrat Medium"/>
                <a:ea typeface="Montserrat Medium"/>
                <a:cs typeface="Montserrat Medium"/>
                <a:sym typeface="Montserrat Medium"/>
              </a:rPr>
              <a:t> </a:t>
            </a:r>
            <a:br>
              <a:rPr b="1" i="0" lang="en" sz="1500" u="none" cap="none" strike="noStrike">
                <a:solidFill>
                  <a:schemeClr val="lt1"/>
                </a:solidFill>
                <a:latin typeface="Montserrat"/>
                <a:ea typeface="Montserrat"/>
                <a:cs typeface="Montserrat"/>
                <a:sym typeface="Montserrat"/>
              </a:rPr>
            </a:br>
            <a:r>
              <a:rPr b="1" i="0" lang="en" sz="1500" u="none" cap="none" strike="noStrike">
                <a:solidFill>
                  <a:srgbClr val="5E2CFE"/>
                </a:solidFill>
                <a:latin typeface="Montserrat"/>
                <a:ea typeface="Montserrat"/>
                <a:cs typeface="Montserrat"/>
                <a:sym typeface="Montserrat"/>
              </a:rPr>
              <a:t>79</a:t>
            </a:r>
            <a:endParaRPr b="0" i="0" sz="1400" u="none" cap="none" strike="noStrike">
              <a:solidFill>
                <a:srgbClr val="FFFFFF"/>
              </a:solidFill>
              <a:latin typeface="Montserrat"/>
              <a:ea typeface="Montserrat"/>
              <a:cs typeface="Montserrat"/>
              <a:sym typeface="Montserrat"/>
            </a:endParaRPr>
          </a:p>
          <a:p>
            <a:pPr indent="0" lvl="0" marL="0" marR="0" rtl="0" algn="l">
              <a:lnSpc>
                <a:spcPct val="11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locations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Medium"/>
              <a:ea typeface="Montserrat Medium"/>
              <a:cs typeface="Montserrat Medium"/>
              <a:sym typeface="Montserrat Medium"/>
            </a:endParaRPr>
          </a:p>
          <a:p>
            <a:pPr indent="0" lvl="0" marL="0" marR="0" rtl="0" algn="l">
              <a:lnSpc>
                <a:spcPct val="110000"/>
              </a:lnSpc>
              <a:spcBef>
                <a:spcPts val="0"/>
              </a:spcBef>
              <a:spcAft>
                <a:spcPts val="0"/>
              </a:spcAft>
              <a:buClr>
                <a:srgbClr val="5E2CFE"/>
              </a:buClr>
              <a:buSzPts val="1400"/>
              <a:buFont typeface="Montserrat"/>
              <a:buNone/>
            </a:pPr>
            <a:r>
              <a:rPr b="1" i="0" lang="en" sz="1400" u="none" cap="none" strike="noStrike">
                <a:solidFill>
                  <a:srgbClr val="5E2CFE"/>
                </a:solidFill>
                <a:latin typeface="Montserrat"/>
                <a:ea typeface="Montserrat"/>
                <a:cs typeface="Montserrat"/>
                <a:sym typeface="Montserrat"/>
              </a:rPr>
              <a:t>34</a:t>
            </a:r>
            <a:endParaRPr b="1" i="0" sz="14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countries</a:t>
            </a:r>
            <a:endParaRPr b="0" i="0" sz="800" u="none" cap="none" strike="noStrike">
              <a:solidFill>
                <a:srgbClr val="5E2CFE"/>
              </a:solidFill>
              <a:latin typeface="Montserrat"/>
              <a:ea typeface="Montserrat"/>
              <a:cs typeface="Montserrat"/>
              <a:sym typeface="Montserrat"/>
            </a:endParaRPr>
          </a:p>
        </p:txBody>
      </p:sp>
      <p:sp>
        <p:nvSpPr>
          <p:cNvPr id="565" name="Google Shape;565;p12"/>
          <p:cNvSpPr/>
          <p:nvPr/>
        </p:nvSpPr>
        <p:spPr>
          <a:xfrm>
            <a:off x="4134022" y="2431593"/>
            <a:ext cx="1419300" cy="227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12,000+ </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Industry trained professionals</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000000"/>
              </a:buClr>
              <a:buSzPts val="1500"/>
              <a:buFont typeface="Arial"/>
              <a:buNone/>
            </a:pPr>
            <a:r>
              <a:rPr b="1" i="0" lang="en" sz="1500" u="none" cap="none" strike="noStrike">
                <a:solidFill>
                  <a:srgbClr val="5E2CFE"/>
                </a:solidFill>
                <a:latin typeface="Montserrat"/>
                <a:ea typeface="Montserrat"/>
                <a:cs typeface="Montserrat"/>
                <a:sym typeface="Montserrat"/>
              </a:rPr>
              <a:t>100+ </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5E2CFE"/>
                </a:solidFill>
                <a:latin typeface="Montserrat"/>
                <a:ea typeface="Montserrat"/>
                <a:cs typeface="Montserrat"/>
                <a:sym typeface="Montserrat"/>
              </a:rPr>
              <a:t>banking and insurance customers</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800"/>
              <a:buFont typeface="Arial"/>
              <a:buNone/>
            </a:pPr>
            <a:r>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000000"/>
              </a:buClr>
              <a:buSzPts val="1500"/>
              <a:buFont typeface="Arial"/>
              <a:buNone/>
            </a:pPr>
            <a:r>
              <a:rPr b="1" i="0" lang="en" sz="1500" u="none" cap="none" strike="noStrike">
                <a:solidFill>
                  <a:srgbClr val="5E2CFE"/>
                </a:solidFill>
                <a:latin typeface="Montserrat"/>
                <a:ea typeface="Montserrat"/>
                <a:cs typeface="Montserrat"/>
                <a:sym typeface="Montserrat"/>
              </a:rPr>
              <a:t>8 </a:t>
            </a:r>
            <a:r>
              <a:rPr b="0" i="0" lang="en" sz="800" u="none" cap="none" strike="noStrike">
                <a:solidFill>
                  <a:srgbClr val="5E2CFE"/>
                </a:solidFill>
                <a:latin typeface="Montserrat"/>
                <a:ea typeface="Montserrat"/>
                <a:cs typeface="Montserrat"/>
                <a:sym typeface="Montserrat"/>
              </a:rPr>
              <a:t> </a:t>
            </a:r>
            <a:r>
              <a:rPr b="1" i="0" lang="en" sz="900" u="none" cap="none" strike="noStrike">
                <a:solidFill>
                  <a:srgbClr val="5E2CFE"/>
                </a:solidFill>
                <a:latin typeface="Montserrat"/>
                <a:ea typeface="Montserrat"/>
                <a:cs typeface="Montserrat"/>
                <a:sym typeface="Montserrat"/>
              </a:rPr>
              <a:t>out of top 10 </a:t>
            </a:r>
            <a:br>
              <a:rPr b="0" i="0" lang="en" sz="800" u="none" cap="none" strike="noStrike">
                <a:solidFill>
                  <a:schemeClr val="lt1"/>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healthcare insurers, telecommunication </a:t>
            </a:r>
            <a:br>
              <a:rPr b="0" i="0" lang="en" sz="800" u="none" cap="none" strike="noStrike">
                <a:solidFill>
                  <a:schemeClr val="lt1"/>
                </a:solidFill>
                <a:latin typeface="Montserrat"/>
                <a:ea typeface="Montserrat"/>
                <a:cs typeface="Montserrat"/>
                <a:sym typeface="Montserrat"/>
              </a:rPr>
            </a:br>
            <a:r>
              <a:rPr b="0" i="0" lang="en" sz="800" u="none" cap="none" strike="noStrike">
                <a:solidFill>
                  <a:srgbClr val="5E2CFE"/>
                </a:solidFill>
                <a:latin typeface="Montserrat"/>
                <a:ea typeface="Montserrat"/>
                <a:cs typeface="Montserrat"/>
                <a:sym typeface="Montserrat"/>
              </a:rPr>
              <a:t>companies across the globe</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800"/>
              <a:buFont typeface="Arial"/>
              <a:buNone/>
            </a:pPr>
            <a:r>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Medium"/>
              <a:ea typeface="Montserrat Medium"/>
              <a:cs typeface="Montserrat Medium"/>
              <a:sym typeface="Montserrat Medium"/>
            </a:endParaRPr>
          </a:p>
        </p:txBody>
      </p:sp>
      <p:sp>
        <p:nvSpPr>
          <p:cNvPr id="566" name="Google Shape;566;p12"/>
          <p:cNvSpPr/>
          <p:nvPr/>
        </p:nvSpPr>
        <p:spPr>
          <a:xfrm>
            <a:off x="545857" y="2433593"/>
            <a:ext cx="1400400" cy="2023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90%</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NPS scores that fall in the 90th percentile</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000000"/>
              </a:buClr>
              <a:buSzPts val="1500"/>
              <a:buFont typeface="Arial"/>
              <a:buNone/>
            </a:pPr>
            <a:r>
              <a:rPr b="1" i="0" lang="en" sz="1500" u="none" cap="none" strike="noStrike">
                <a:solidFill>
                  <a:srgbClr val="5E2CFE"/>
                </a:solidFill>
                <a:latin typeface="Montserrat"/>
                <a:ea typeface="Montserrat"/>
                <a:cs typeface="Montserrat"/>
                <a:sym typeface="Montserrat"/>
              </a:rPr>
              <a:t>8</a:t>
            </a:r>
            <a:r>
              <a:rPr b="1" baseline="30000" i="0" lang="en" sz="1500" u="none" cap="none" strike="noStrike">
                <a:solidFill>
                  <a:srgbClr val="5E2CFE"/>
                </a:solidFill>
                <a:latin typeface="Montserrat"/>
                <a:ea typeface="Montserrat"/>
                <a:cs typeface="Montserrat"/>
                <a:sym typeface="Montserrat"/>
              </a:rPr>
              <a:t>th </a:t>
            </a:r>
            <a:r>
              <a:rPr b="1" i="0" lang="en" sz="900" u="none" cap="none" strike="noStrike">
                <a:solidFill>
                  <a:srgbClr val="5E2CFE"/>
                </a:solidFill>
                <a:latin typeface="Montserrat"/>
                <a:ea typeface="Montserrat"/>
                <a:cs typeface="Montserrat"/>
                <a:sym typeface="Montserrat"/>
              </a:rPr>
              <a:t>out of the top 50 </a:t>
            </a:r>
            <a:r>
              <a:rPr b="0" i="0" lang="en" sz="800" u="none" cap="none" strike="noStrike">
                <a:solidFill>
                  <a:srgbClr val="5E2CFE"/>
                </a:solidFill>
                <a:latin typeface="Montserrat"/>
                <a:ea typeface="Montserrat"/>
                <a:cs typeface="Montserrat"/>
                <a:sym typeface="Montserrat"/>
              </a:rPr>
              <a:t>Consulting Firms of 2025</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000000"/>
              </a:buClr>
              <a:buSzPts val="1500"/>
              <a:buFont typeface="Arial"/>
              <a:buNone/>
            </a:pPr>
            <a:r>
              <a:rPr b="1" i="0" lang="en" sz="1500" u="none" cap="none" strike="noStrike">
                <a:solidFill>
                  <a:srgbClr val="5E2CFE"/>
                </a:solidFill>
                <a:latin typeface="Montserrat"/>
                <a:ea typeface="Montserrat"/>
                <a:cs typeface="Montserrat"/>
                <a:sym typeface="Montserrat"/>
              </a:rPr>
              <a:t>4.7 </a:t>
            </a:r>
            <a:r>
              <a:rPr b="1" i="0" lang="en" sz="900" u="none" cap="none" strike="noStrike">
                <a:solidFill>
                  <a:srgbClr val="5E2CFE"/>
                </a:solidFill>
                <a:latin typeface="Montserrat"/>
                <a:ea typeface="Montserrat"/>
                <a:cs typeface="Montserrat"/>
                <a:sym typeface="Montserrat"/>
              </a:rPr>
              <a:t>out of 5 stars </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800"/>
              <a:buFont typeface="Arial"/>
              <a:buNone/>
            </a:pPr>
            <a:r>
              <a:rPr b="0" i="0" lang="en" sz="800" u="none" cap="none" strike="noStrike">
                <a:solidFill>
                  <a:srgbClr val="5E2CFE"/>
                </a:solidFill>
                <a:latin typeface="Montserrat"/>
                <a:ea typeface="Montserrat"/>
                <a:cs typeface="Montserrat"/>
                <a:sym typeface="Montserrat"/>
              </a:rPr>
              <a:t>for Custom Software Development Services ratings on Gartner peer insights</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chemeClr val="lt1"/>
              </a:buClr>
              <a:buSzPts val="800"/>
              <a:buFont typeface="Arial"/>
              <a:buNone/>
            </a:pPr>
            <a:r>
              <a:t/>
            </a:r>
            <a:endParaRPr b="0" i="0" sz="800" u="none" cap="none" strike="noStrike">
              <a:solidFill>
                <a:srgbClr val="5E2CFE"/>
              </a:solidFill>
              <a:latin typeface="Montserrat"/>
              <a:ea typeface="Montserrat"/>
              <a:cs typeface="Montserrat"/>
              <a:sym typeface="Montserrat"/>
            </a:endParaRPr>
          </a:p>
        </p:txBody>
      </p:sp>
      <p:sp>
        <p:nvSpPr>
          <p:cNvPr id="567" name="Google Shape;567;p12"/>
          <p:cNvSpPr txBox="1"/>
          <p:nvPr/>
        </p:nvSpPr>
        <p:spPr>
          <a:xfrm>
            <a:off x="548637" y="1087913"/>
            <a:ext cx="5430000" cy="406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36312D"/>
              </a:buClr>
              <a:buSzPts val="1200"/>
              <a:buFont typeface="Montserrat"/>
              <a:buNone/>
            </a:pPr>
            <a:r>
              <a:rPr b="0" i="0" lang="en" sz="1200" u="none" cap="none" strike="noStrike">
                <a:solidFill>
                  <a:srgbClr val="36312D"/>
                </a:solidFill>
                <a:latin typeface="Montserrat"/>
                <a:ea typeface="Montserrat"/>
                <a:cs typeface="Montserrat"/>
                <a:sym typeface="Montserrat"/>
              </a:rPr>
              <a:t>We engineer the experiences that matter to your customers right alongside you because we understand your business as well as you do. </a:t>
            </a:r>
            <a:endParaRPr b="0" i="0" sz="1200" u="none" cap="none" strike="noStrike">
              <a:solidFill>
                <a:srgbClr val="36312D"/>
              </a:solidFill>
              <a:latin typeface="Montserrat"/>
              <a:ea typeface="Montserrat"/>
              <a:cs typeface="Montserrat"/>
              <a:sym typeface="Montserrat"/>
            </a:endParaRPr>
          </a:p>
        </p:txBody>
      </p:sp>
      <p:sp>
        <p:nvSpPr>
          <p:cNvPr id="568" name="Google Shape;568;p12"/>
          <p:cNvSpPr/>
          <p:nvPr/>
        </p:nvSpPr>
        <p:spPr>
          <a:xfrm>
            <a:off x="7305906" y="2431593"/>
            <a:ext cx="1101300" cy="1515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5000+</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partner certified engineers</a:t>
            </a:r>
            <a:endParaRPr b="0" i="0" sz="8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5E2CFE"/>
              </a:buClr>
              <a:buSzPts val="800"/>
              <a:buFont typeface="Montserrat"/>
              <a:buNone/>
            </a:pPr>
            <a:r>
              <a:rPr b="1" i="0" lang="en" sz="800" u="none" cap="none" strike="noStrike">
                <a:solidFill>
                  <a:srgbClr val="5E2CFE"/>
                </a:solidFill>
                <a:latin typeface="Montserrat"/>
                <a:ea typeface="Montserrat"/>
                <a:cs typeface="Montserrat"/>
                <a:sym typeface="Montserrat"/>
              </a:rPr>
              <a:t> </a:t>
            </a:r>
            <a:endParaRPr b="0" i="0" sz="11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100+</a:t>
            </a:r>
            <a:endParaRPr b="1" i="0" sz="1500" u="none" cap="none" strike="noStrike">
              <a:solidFill>
                <a:srgbClr val="5E2CFE"/>
              </a:solidFill>
              <a:latin typeface="Montserrat"/>
              <a:ea typeface="Montserrat"/>
              <a:cs typeface="Montserrat"/>
              <a:sym typeface="Montserrat"/>
            </a:endParaRPr>
          </a:p>
          <a:p>
            <a:pPr indent="0" lvl="0" marL="0" marR="0" rtl="0" algn="l">
              <a:lnSpc>
                <a:spcPct val="110000"/>
              </a:lnSpc>
              <a:spcBef>
                <a:spcPts val="0"/>
              </a:spcBef>
              <a:spcAft>
                <a:spcPts val="0"/>
              </a:spcAft>
              <a:buClr>
                <a:srgbClr val="5E2CFE"/>
              </a:buClr>
              <a:buSzPts val="800"/>
              <a:buFont typeface="Montserrat"/>
              <a:buNone/>
            </a:pPr>
            <a:r>
              <a:rPr b="0" i="0" lang="en" sz="800" u="none" cap="none" strike="noStrike">
                <a:solidFill>
                  <a:srgbClr val="5E2CFE"/>
                </a:solidFill>
                <a:latin typeface="Montserrat"/>
                <a:ea typeface="Montserrat"/>
                <a:cs typeface="Montserrat"/>
                <a:sym typeface="Montserrat"/>
              </a:rPr>
              <a:t>Alliance partners</a:t>
            </a:r>
            <a:endParaRPr b="0" i="0" sz="800" u="none" cap="none" strike="noStrike">
              <a:solidFill>
                <a:srgbClr val="5E2CFE"/>
              </a:solidFill>
              <a:latin typeface="Montserrat Medium"/>
              <a:ea typeface="Montserrat Medium"/>
              <a:cs typeface="Montserrat Medium"/>
              <a:sym typeface="Montserrat Medium"/>
            </a:endParaRPr>
          </a:p>
          <a:p>
            <a:pPr indent="0" lvl="0" marL="0" marR="0" rtl="0" algn="l">
              <a:lnSpc>
                <a:spcPct val="110000"/>
              </a:lnSpc>
              <a:spcBef>
                <a:spcPts val="0"/>
              </a:spcBef>
              <a:spcAft>
                <a:spcPts val="0"/>
              </a:spcAft>
              <a:buClr>
                <a:srgbClr val="000000"/>
              </a:buClr>
              <a:buSzPts val="800"/>
              <a:buFont typeface="Arial"/>
              <a:buNone/>
            </a:pPr>
            <a:r>
              <a:t/>
            </a:r>
            <a:endParaRPr b="0" i="0" sz="800" u="none" cap="none" strike="noStrike">
              <a:solidFill>
                <a:srgbClr val="5E2CFE"/>
              </a:solidFill>
              <a:latin typeface="Montserrat Medium"/>
              <a:ea typeface="Montserrat Medium"/>
              <a:cs typeface="Montserrat Medium"/>
              <a:sym typeface="Montserrat Medium"/>
            </a:endParaRPr>
          </a:p>
          <a:p>
            <a:pPr indent="0" lvl="0" marL="0" marR="0" rtl="0" algn="l">
              <a:lnSpc>
                <a:spcPct val="110000"/>
              </a:lnSpc>
              <a:spcBef>
                <a:spcPts val="0"/>
              </a:spcBef>
              <a:spcAft>
                <a:spcPts val="0"/>
              </a:spcAft>
              <a:buClr>
                <a:srgbClr val="5E2CFE"/>
              </a:buClr>
              <a:buSzPts val="1500"/>
              <a:buFont typeface="Montserrat"/>
              <a:buNone/>
            </a:pPr>
            <a:r>
              <a:rPr b="1" i="0" lang="en" sz="1500" u="none" cap="none" strike="noStrike">
                <a:solidFill>
                  <a:srgbClr val="5E2CFE"/>
                </a:solidFill>
                <a:latin typeface="Montserrat"/>
                <a:ea typeface="Montserrat"/>
                <a:cs typeface="Montserrat"/>
                <a:sym typeface="Montserrat"/>
              </a:rPr>
              <a:t>50+</a:t>
            </a:r>
            <a:br>
              <a:rPr b="0" i="0" lang="en" sz="800" u="none" cap="none" strike="noStrike">
                <a:solidFill>
                  <a:schemeClr val="lt1"/>
                </a:solidFill>
                <a:latin typeface="Montserrat Medium"/>
                <a:ea typeface="Montserrat Medium"/>
                <a:cs typeface="Montserrat Medium"/>
                <a:sym typeface="Montserrat Medium"/>
              </a:rPr>
            </a:br>
            <a:r>
              <a:rPr b="0" i="0" lang="en" sz="800" u="none" cap="none" strike="noStrike">
                <a:solidFill>
                  <a:srgbClr val="5E2CFE"/>
                </a:solidFill>
                <a:latin typeface="Montserrat"/>
                <a:ea typeface="Montserrat"/>
                <a:cs typeface="Montserrat"/>
                <a:sym typeface="Montserrat"/>
              </a:rPr>
              <a:t>marketplace solutions</a:t>
            </a:r>
            <a:endParaRPr b="0" i="0" sz="800" u="none" cap="none" strike="noStrike">
              <a:solidFill>
                <a:srgbClr val="5E2CFE"/>
              </a:solidFill>
              <a:latin typeface="Montserrat"/>
              <a:ea typeface="Montserrat"/>
              <a:cs typeface="Montserrat"/>
              <a:sym typeface="Montserrat"/>
            </a:endParaRPr>
          </a:p>
        </p:txBody>
      </p:sp>
      <p:sp>
        <p:nvSpPr>
          <p:cNvPr id="569" name="Google Shape;569;p12"/>
          <p:cNvSpPr txBox="1"/>
          <p:nvPr/>
        </p:nvSpPr>
        <p:spPr>
          <a:xfrm>
            <a:off x="6500018" y="482767"/>
            <a:ext cx="22074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7F7F7F"/>
              </a:buClr>
              <a:buSzPts val="800"/>
              <a:buFont typeface="Montserrat"/>
              <a:buNone/>
            </a:pPr>
            <a:r>
              <a:rPr b="0" i="0" lang="en" sz="800" u="none" cap="none" strike="noStrike">
                <a:solidFill>
                  <a:srgbClr val="7F7F7F"/>
                </a:solidFill>
                <a:latin typeface="Montserrat"/>
                <a:ea typeface="Montserrat"/>
                <a:cs typeface="Montserrat"/>
                <a:sym typeface="Montserrat"/>
              </a:rPr>
              <a:t>Founded in 1996 and privately held by EQT.</a:t>
            </a:r>
            <a:endParaRPr b="0" i="0" sz="1100" u="none" cap="none" strike="noStrike">
              <a:solidFill>
                <a:srgbClr val="000000"/>
              </a:solidFill>
              <a:latin typeface="Arial"/>
              <a:ea typeface="Arial"/>
              <a:cs typeface="Arial"/>
              <a:sym typeface="Arial"/>
            </a:endParaRPr>
          </a:p>
        </p:txBody>
      </p:sp>
      <p:cxnSp>
        <p:nvCxnSpPr>
          <p:cNvPr id="570" name="Google Shape;570;p12"/>
          <p:cNvCxnSpPr/>
          <p:nvPr/>
        </p:nvCxnSpPr>
        <p:spPr>
          <a:xfrm>
            <a:off x="7162224" y="1788628"/>
            <a:ext cx="0" cy="2619900"/>
          </a:xfrm>
          <a:prstGeom prst="straightConnector1">
            <a:avLst/>
          </a:prstGeom>
          <a:noFill/>
          <a:ln cap="flat" cmpd="sng" w="9525">
            <a:solidFill>
              <a:schemeClr val="lt2"/>
            </a:solidFill>
            <a:prstDash val="solid"/>
            <a:miter lim="80"/>
            <a:headEnd len="sm" w="sm" type="none"/>
            <a:tailEnd len="sm" w="sm" type="none"/>
          </a:ln>
        </p:spPr>
      </p:cxnSp>
      <p:cxnSp>
        <p:nvCxnSpPr>
          <p:cNvPr id="571" name="Google Shape;571;p12"/>
          <p:cNvCxnSpPr/>
          <p:nvPr/>
        </p:nvCxnSpPr>
        <p:spPr>
          <a:xfrm>
            <a:off x="5827903" y="1788628"/>
            <a:ext cx="0" cy="2619900"/>
          </a:xfrm>
          <a:prstGeom prst="straightConnector1">
            <a:avLst/>
          </a:prstGeom>
          <a:noFill/>
          <a:ln cap="flat" cmpd="sng" w="9525">
            <a:solidFill>
              <a:schemeClr val="lt2"/>
            </a:solidFill>
            <a:prstDash val="solid"/>
            <a:miter lim="80"/>
            <a:headEnd len="sm" w="sm" type="none"/>
            <a:tailEnd len="sm" w="sm" type="none"/>
          </a:ln>
        </p:spPr>
      </p:cxnSp>
      <p:cxnSp>
        <p:nvCxnSpPr>
          <p:cNvPr id="572" name="Google Shape;572;p12"/>
          <p:cNvCxnSpPr/>
          <p:nvPr/>
        </p:nvCxnSpPr>
        <p:spPr>
          <a:xfrm>
            <a:off x="3986213" y="1788628"/>
            <a:ext cx="0" cy="2619900"/>
          </a:xfrm>
          <a:prstGeom prst="straightConnector1">
            <a:avLst/>
          </a:prstGeom>
          <a:noFill/>
          <a:ln cap="flat" cmpd="sng" w="9525">
            <a:solidFill>
              <a:schemeClr val="lt2"/>
            </a:solidFill>
            <a:prstDash val="solid"/>
            <a:miter lim="80"/>
            <a:headEnd len="sm" w="sm" type="none"/>
            <a:tailEnd len="sm" w="sm" type="none"/>
          </a:ln>
        </p:spPr>
      </p:cxnSp>
      <p:cxnSp>
        <p:nvCxnSpPr>
          <p:cNvPr id="573" name="Google Shape;573;p12"/>
          <p:cNvCxnSpPr/>
          <p:nvPr/>
        </p:nvCxnSpPr>
        <p:spPr>
          <a:xfrm>
            <a:off x="2234181" y="1788628"/>
            <a:ext cx="0" cy="2619900"/>
          </a:xfrm>
          <a:prstGeom prst="straightConnector1">
            <a:avLst/>
          </a:prstGeom>
          <a:noFill/>
          <a:ln cap="flat" cmpd="sng" w="9525">
            <a:solidFill>
              <a:schemeClr val="lt2"/>
            </a:solidFill>
            <a:prstDash val="solid"/>
            <a:miter lim="8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3"/>
          <p:cNvSpPr/>
          <p:nvPr/>
        </p:nvSpPr>
        <p:spPr>
          <a:xfrm>
            <a:off x="932650" y="5518"/>
            <a:ext cx="2418615" cy="5129784"/>
          </a:xfrm>
          <a:custGeom>
            <a:rect b="b" l="l" r="r" t="t"/>
            <a:pathLst>
              <a:path extrusionOk="0" h="7543800" w="3556787">
                <a:moveTo>
                  <a:pt x="0" y="0"/>
                </a:moveTo>
                <a:lnTo>
                  <a:pt x="3556787" y="0"/>
                </a:lnTo>
                <a:lnTo>
                  <a:pt x="3556787" y="7543800"/>
                </a:lnTo>
                <a:lnTo>
                  <a:pt x="0" y="7543800"/>
                </a:lnTo>
                <a:lnTo>
                  <a:pt x="0" y="0"/>
                </a:lnTo>
                <a:close/>
              </a:path>
            </a:pathLst>
          </a:custGeom>
          <a:blipFill rotWithShape="1">
            <a:blip r:embed="rId3">
              <a:alphaModFix/>
            </a:blip>
            <a:stretch>
              <a:fillRect b="-180" l="-380" r="0" t="-19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79" name="Google Shape;579;p13"/>
          <p:cNvSpPr/>
          <p:nvPr/>
        </p:nvSpPr>
        <p:spPr>
          <a:xfrm>
            <a:off x="7017927" y="731659"/>
            <a:ext cx="672377" cy="647506"/>
          </a:xfrm>
          <a:custGeom>
            <a:rect b="b" l="l" r="r" t="t"/>
            <a:pathLst>
              <a:path extrusionOk="0" h="1269619" w="1318387">
                <a:moveTo>
                  <a:pt x="659130" y="0"/>
                </a:moveTo>
                <a:cubicBezTo>
                  <a:pt x="295148" y="0"/>
                  <a:pt x="0" y="284226"/>
                  <a:pt x="0" y="634746"/>
                </a:cubicBezTo>
                <a:cubicBezTo>
                  <a:pt x="0" y="985266"/>
                  <a:pt x="295148" y="1269619"/>
                  <a:pt x="659130" y="1269619"/>
                </a:cubicBezTo>
                <a:cubicBezTo>
                  <a:pt x="1023112" y="1269619"/>
                  <a:pt x="1318387" y="985393"/>
                  <a:pt x="1318387" y="634873"/>
                </a:cubicBezTo>
                <a:cubicBezTo>
                  <a:pt x="1318387" y="284353"/>
                  <a:pt x="1023239" y="0"/>
                  <a:pt x="659130" y="0"/>
                </a:cubicBezTo>
                <a:close/>
              </a:path>
            </a:pathLst>
          </a:custGeom>
          <a:blipFill rotWithShape="1">
            <a:blip r:embed="rId4">
              <a:alphaModFix/>
            </a:blip>
            <a:stretch>
              <a:fillRect b="-1410" l="-930" r="-1340" t="-139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80" name="Google Shape;580;p13"/>
          <p:cNvSpPr/>
          <p:nvPr/>
        </p:nvSpPr>
        <p:spPr>
          <a:xfrm>
            <a:off x="7017927" y="2547012"/>
            <a:ext cx="672377" cy="647506"/>
          </a:xfrm>
          <a:custGeom>
            <a:rect b="b" l="l" r="r" t="t"/>
            <a:pathLst>
              <a:path extrusionOk="0" h="1269619" w="1318387">
                <a:moveTo>
                  <a:pt x="659130" y="0"/>
                </a:moveTo>
                <a:cubicBezTo>
                  <a:pt x="295148" y="0"/>
                  <a:pt x="0" y="284226"/>
                  <a:pt x="0" y="634746"/>
                </a:cubicBezTo>
                <a:cubicBezTo>
                  <a:pt x="0" y="985266"/>
                  <a:pt x="295148" y="1269619"/>
                  <a:pt x="659130" y="1269619"/>
                </a:cubicBezTo>
                <a:cubicBezTo>
                  <a:pt x="1023112" y="1269619"/>
                  <a:pt x="1318387" y="985393"/>
                  <a:pt x="1318387" y="634873"/>
                </a:cubicBezTo>
                <a:cubicBezTo>
                  <a:pt x="1318387" y="284353"/>
                  <a:pt x="1023239" y="0"/>
                  <a:pt x="659130" y="0"/>
                </a:cubicBezTo>
                <a:close/>
              </a:path>
            </a:pathLst>
          </a:custGeom>
          <a:blipFill rotWithShape="1">
            <a:blip r:embed="rId5">
              <a:alphaModFix/>
            </a:blip>
            <a:stretch>
              <a:fillRect b="-1580" l="-1520" r="-1330" t="-151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81" name="Google Shape;581;p13"/>
          <p:cNvSpPr/>
          <p:nvPr/>
        </p:nvSpPr>
        <p:spPr>
          <a:xfrm rot="151567">
            <a:off x="4274458" y="1928381"/>
            <a:ext cx="2021104" cy="3064721"/>
          </a:xfrm>
          <a:custGeom>
            <a:rect b="b" l="l" r="r" t="t"/>
            <a:pathLst>
              <a:path extrusionOk="0" h="6003417" w="3959098">
                <a:moveTo>
                  <a:pt x="0" y="1143"/>
                </a:moveTo>
                <a:lnTo>
                  <a:pt x="1651" y="6003417"/>
                </a:lnTo>
                <a:lnTo>
                  <a:pt x="3959098" y="6002274"/>
                </a:lnTo>
                <a:lnTo>
                  <a:pt x="3958082" y="2425319"/>
                </a:lnTo>
                <a:lnTo>
                  <a:pt x="3957447" y="0"/>
                </a:lnTo>
                <a:lnTo>
                  <a:pt x="0" y="1143"/>
                </a:lnTo>
                <a:close/>
              </a:path>
            </a:pathLst>
          </a:custGeom>
          <a:blipFill rotWithShape="1">
            <a:blip r:embed="rId6">
              <a:alphaModFix/>
            </a:blip>
            <a:stretch>
              <a:fillRect b="-1770" l="-3000" r="0" t="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582" name="Google Shape;582;p13"/>
          <p:cNvGrpSpPr/>
          <p:nvPr/>
        </p:nvGrpSpPr>
        <p:grpSpPr>
          <a:xfrm>
            <a:off x="1373048" y="325369"/>
            <a:ext cx="596497" cy="138405"/>
            <a:chOff x="63500" y="63500"/>
            <a:chExt cx="876300" cy="203327"/>
          </a:xfrm>
        </p:grpSpPr>
        <p:sp>
          <p:nvSpPr>
            <p:cNvPr id="583" name="Google Shape;583;p13"/>
            <p:cNvSpPr/>
            <p:nvPr/>
          </p:nvSpPr>
          <p:spPr>
            <a:xfrm>
              <a:off x="519176" y="109347"/>
              <a:ext cx="129540" cy="157353"/>
            </a:xfrm>
            <a:custGeom>
              <a:rect b="b" l="l" r="r" t="t"/>
              <a:pathLst>
                <a:path extrusionOk="0" h="157353" w="129540">
                  <a:moveTo>
                    <a:pt x="64389" y="157353"/>
                  </a:moveTo>
                  <a:cubicBezTo>
                    <a:pt x="30099" y="157353"/>
                    <a:pt x="0" y="133096"/>
                    <a:pt x="0" y="89535"/>
                  </a:cubicBezTo>
                  <a:lnTo>
                    <a:pt x="0" y="0"/>
                  </a:lnTo>
                  <a:lnTo>
                    <a:pt x="35814" y="0"/>
                  </a:lnTo>
                  <a:lnTo>
                    <a:pt x="35814" y="92075"/>
                  </a:lnTo>
                  <a:cubicBezTo>
                    <a:pt x="35814" y="112141"/>
                    <a:pt x="46228" y="125349"/>
                    <a:pt x="64770" y="125349"/>
                  </a:cubicBezTo>
                  <a:cubicBezTo>
                    <a:pt x="83312" y="125349"/>
                    <a:pt x="93726" y="112141"/>
                    <a:pt x="93726" y="92075"/>
                  </a:cubicBezTo>
                  <a:lnTo>
                    <a:pt x="93726" y="0"/>
                  </a:lnTo>
                  <a:lnTo>
                    <a:pt x="129540" y="0"/>
                  </a:lnTo>
                  <a:lnTo>
                    <a:pt x="129540" y="89535"/>
                  </a:lnTo>
                  <a:cubicBezTo>
                    <a:pt x="129540" y="133223"/>
                    <a:pt x="98806" y="157353"/>
                    <a:pt x="64516" y="157353"/>
                  </a:cubicBezTo>
                </a:path>
              </a:pathLst>
            </a:custGeom>
            <a:solidFill>
              <a:srgbClr val="86838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84" name="Google Shape;584;p13"/>
            <p:cNvSpPr/>
            <p:nvPr/>
          </p:nvSpPr>
          <p:spPr>
            <a:xfrm>
              <a:off x="236601" y="63500"/>
              <a:ext cx="35052" cy="42291"/>
            </a:xfrm>
            <a:custGeom>
              <a:rect b="b" l="l" r="r" t="t"/>
              <a:pathLst>
                <a:path extrusionOk="0" h="42291" w="35052">
                  <a:moveTo>
                    <a:pt x="35052" y="0"/>
                  </a:moveTo>
                  <a:lnTo>
                    <a:pt x="0" y="0"/>
                  </a:lnTo>
                  <a:lnTo>
                    <a:pt x="0" y="42291"/>
                  </a:lnTo>
                  <a:cubicBezTo>
                    <a:pt x="18161" y="35560"/>
                    <a:pt x="31750" y="19558"/>
                    <a:pt x="35052" y="0"/>
                  </a:cubicBezTo>
                </a:path>
              </a:pathLst>
            </a:custGeom>
            <a:solidFill>
              <a:srgbClr val="86838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85" name="Google Shape;585;p13"/>
            <p:cNvSpPr/>
            <p:nvPr/>
          </p:nvSpPr>
          <p:spPr>
            <a:xfrm>
              <a:off x="236601" y="112903"/>
              <a:ext cx="35814" cy="150368"/>
            </a:xfrm>
            <a:custGeom>
              <a:rect b="b" l="l" r="r" t="t"/>
              <a:pathLst>
                <a:path extrusionOk="0" h="150368" w="35814">
                  <a:moveTo>
                    <a:pt x="0" y="0"/>
                  </a:moveTo>
                  <a:lnTo>
                    <a:pt x="0" y="150368"/>
                  </a:lnTo>
                  <a:lnTo>
                    <a:pt x="35814" y="150368"/>
                  </a:lnTo>
                  <a:lnTo>
                    <a:pt x="35814" y="49149"/>
                  </a:lnTo>
                  <a:cubicBezTo>
                    <a:pt x="34798" y="26543"/>
                    <a:pt x="20193" y="7493"/>
                    <a:pt x="0" y="0"/>
                  </a:cubicBezTo>
                </a:path>
              </a:pathLst>
            </a:custGeom>
            <a:solidFill>
              <a:srgbClr val="86838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86" name="Google Shape;586;p13"/>
            <p:cNvSpPr/>
            <p:nvPr/>
          </p:nvSpPr>
          <p:spPr>
            <a:xfrm>
              <a:off x="305054" y="109347"/>
              <a:ext cx="75565" cy="154051"/>
            </a:xfrm>
            <a:custGeom>
              <a:rect b="b" l="l" r="r" t="t"/>
              <a:pathLst>
                <a:path extrusionOk="0" h="154051" w="75565">
                  <a:moveTo>
                    <a:pt x="55118" y="0"/>
                  </a:moveTo>
                  <a:cubicBezTo>
                    <a:pt x="24638" y="0"/>
                    <a:pt x="0" y="24765"/>
                    <a:pt x="0" y="55245"/>
                  </a:cubicBezTo>
                  <a:lnTo>
                    <a:pt x="0" y="154051"/>
                  </a:lnTo>
                  <a:lnTo>
                    <a:pt x="35179" y="154051"/>
                  </a:lnTo>
                  <a:lnTo>
                    <a:pt x="35179" y="59690"/>
                  </a:lnTo>
                  <a:cubicBezTo>
                    <a:pt x="35179" y="44450"/>
                    <a:pt x="47498" y="32131"/>
                    <a:pt x="62738" y="32131"/>
                  </a:cubicBezTo>
                  <a:lnTo>
                    <a:pt x="75565" y="32131"/>
                  </a:lnTo>
                  <a:lnTo>
                    <a:pt x="75565" y="0"/>
                  </a:lnTo>
                  <a:close/>
                </a:path>
              </a:pathLst>
            </a:custGeom>
            <a:solidFill>
              <a:srgbClr val="86838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87" name="Google Shape;587;p13"/>
            <p:cNvSpPr/>
            <p:nvPr/>
          </p:nvSpPr>
          <p:spPr>
            <a:xfrm>
              <a:off x="668655" y="105537"/>
              <a:ext cx="125349" cy="161290"/>
            </a:xfrm>
            <a:custGeom>
              <a:rect b="b" l="l" r="r" t="t"/>
              <a:pathLst>
                <a:path extrusionOk="0" h="161290" w="125349">
                  <a:moveTo>
                    <a:pt x="79121" y="65405"/>
                  </a:moveTo>
                  <a:lnTo>
                    <a:pt x="54991" y="59690"/>
                  </a:lnTo>
                  <a:cubicBezTo>
                    <a:pt x="53848" y="59436"/>
                    <a:pt x="52832" y="59182"/>
                    <a:pt x="51816" y="58801"/>
                  </a:cubicBezTo>
                  <a:cubicBezTo>
                    <a:pt x="44831" y="56515"/>
                    <a:pt x="39751" y="51816"/>
                    <a:pt x="39751" y="45085"/>
                  </a:cubicBezTo>
                  <a:cubicBezTo>
                    <a:pt x="39751" y="37211"/>
                    <a:pt x="47625" y="30607"/>
                    <a:pt x="60960" y="30607"/>
                  </a:cubicBezTo>
                  <a:cubicBezTo>
                    <a:pt x="78359" y="30607"/>
                    <a:pt x="90297" y="40767"/>
                    <a:pt x="97282" y="50165"/>
                  </a:cubicBezTo>
                  <a:lnTo>
                    <a:pt x="119507" y="25781"/>
                  </a:lnTo>
                  <a:cubicBezTo>
                    <a:pt x="105410" y="11049"/>
                    <a:pt x="87757" y="0"/>
                    <a:pt x="61976" y="0"/>
                  </a:cubicBezTo>
                  <a:cubicBezTo>
                    <a:pt x="29591" y="0"/>
                    <a:pt x="5715" y="17272"/>
                    <a:pt x="5715" y="45847"/>
                  </a:cubicBezTo>
                  <a:cubicBezTo>
                    <a:pt x="5715" y="72517"/>
                    <a:pt x="23622" y="87376"/>
                    <a:pt x="52578" y="94615"/>
                  </a:cubicBezTo>
                  <a:lnTo>
                    <a:pt x="73025" y="99695"/>
                  </a:lnTo>
                  <a:cubicBezTo>
                    <a:pt x="75565" y="100330"/>
                    <a:pt x="77851" y="101092"/>
                    <a:pt x="79756" y="101854"/>
                  </a:cubicBezTo>
                  <a:cubicBezTo>
                    <a:pt x="88138" y="105156"/>
                    <a:pt x="90932" y="109474"/>
                    <a:pt x="90932" y="114935"/>
                  </a:cubicBezTo>
                  <a:cubicBezTo>
                    <a:pt x="90932" y="122555"/>
                    <a:pt x="85598" y="130683"/>
                    <a:pt x="66929" y="130683"/>
                  </a:cubicBezTo>
                  <a:cubicBezTo>
                    <a:pt x="48641" y="130683"/>
                    <a:pt x="33782" y="123063"/>
                    <a:pt x="22479" y="108331"/>
                  </a:cubicBezTo>
                  <a:lnTo>
                    <a:pt x="0" y="131445"/>
                  </a:lnTo>
                  <a:cubicBezTo>
                    <a:pt x="11938" y="146558"/>
                    <a:pt x="31750" y="161290"/>
                    <a:pt x="64135" y="161290"/>
                  </a:cubicBezTo>
                  <a:cubicBezTo>
                    <a:pt x="104648" y="161290"/>
                    <a:pt x="125349" y="140208"/>
                    <a:pt x="125349" y="113538"/>
                  </a:cubicBezTo>
                  <a:cubicBezTo>
                    <a:pt x="125349" y="86487"/>
                    <a:pt x="105918" y="71755"/>
                    <a:pt x="79502" y="65532"/>
                  </a:cubicBezTo>
                </a:path>
              </a:pathLst>
            </a:custGeom>
            <a:solidFill>
              <a:srgbClr val="86838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88" name="Google Shape;588;p13"/>
            <p:cNvSpPr/>
            <p:nvPr/>
          </p:nvSpPr>
          <p:spPr>
            <a:xfrm>
              <a:off x="401320" y="63500"/>
              <a:ext cx="94742" cy="200025"/>
            </a:xfrm>
            <a:custGeom>
              <a:rect b="b" l="l" r="r" t="t"/>
              <a:pathLst>
                <a:path extrusionOk="0" h="200025" w="94742">
                  <a:moveTo>
                    <a:pt x="94742" y="167386"/>
                  </a:moveTo>
                  <a:cubicBezTo>
                    <a:pt x="93726" y="167513"/>
                    <a:pt x="86487" y="168021"/>
                    <a:pt x="83312" y="168021"/>
                  </a:cubicBezTo>
                  <a:cubicBezTo>
                    <a:pt x="83312" y="168021"/>
                    <a:pt x="83312" y="168021"/>
                    <a:pt x="83312" y="168021"/>
                  </a:cubicBezTo>
                  <a:cubicBezTo>
                    <a:pt x="83312" y="168021"/>
                    <a:pt x="83185" y="168021"/>
                    <a:pt x="83185" y="168021"/>
                  </a:cubicBezTo>
                  <a:cubicBezTo>
                    <a:pt x="63119" y="168021"/>
                    <a:pt x="58039" y="162306"/>
                    <a:pt x="58039" y="140081"/>
                  </a:cubicBezTo>
                  <a:lnTo>
                    <a:pt x="58039" y="77851"/>
                  </a:lnTo>
                  <a:lnTo>
                    <a:pt x="58166" y="77851"/>
                  </a:lnTo>
                  <a:lnTo>
                    <a:pt x="94742" y="77851"/>
                  </a:lnTo>
                  <a:lnTo>
                    <a:pt x="94742" y="45847"/>
                  </a:lnTo>
                  <a:lnTo>
                    <a:pt x="58039" y="45847"/>
                  </a:lnTo>
                  <a:lnTo>
                    <a:pt x="57912" y="45847"/>
                  </a:lnTo>
                  <a:lnTo>
                    <a:pt x="57912" y="0"/>
                  </a:lnTo>
                  <a:lnTo>
                    <a:pt x="22606" y="0"/>
                  </a:lnTo>
                  <a:lnTo>
                    <a:pt x="22606" y="45847"/>
                  </a:lnTo>
                  <a:lnTo>
                    <a:pt x="0" y="45847"/>
                  </a:lnTo>
                  <a:lnTo>
                    <a:pt x="0" y="77851"/>
                  </a:lnTo>
                  <a:lnTo>
                    <a:pt x="22606" y="77851"/>
                  </a:lnTo>
                  <a:lnTo>
                    <a:pt x="22606" y="145415"/>
                  </a:lnTo>
                  <a:cubicBezTo>
                    <a:pt x="22606" y="184404"/>
                    <a:pt x="35433" y="200025"/>
                    <a:pt x="75692" y="200025"/>
                  </a:cubicBezTo>
                  <a:cubicBezTo>
                    <a:pt x="86995" y="200025"/>
                    <a:pt x="93726" y="199517"/>
                    <a:pt x="94742" y="199390"/>
                  </a:cubicBezTo>
                  <a:close/>
                </a:path>
              </a:pathLst>
            </a:custGeom>
            <a:solidFill>
              <a:srgbClr val="86838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89" name="Google Shape;589;p13"/>
            <p:cNvSpPr/>
            <p:nvPr/>
          </p:nvSpPr>
          <p:spPr>
            <a:xfrm>
              <a:off x="63500" y="109347"/>
              <a:ext cx="148336" cy="153924"/>
            </a:xfrm>
            <a:custGeom>
              <a:rect b="b" l="l" r="r" t="t"/>
              <a:pathLst>
                <a:path extrusionOk="0" h="153924" w="148336">
                  <a:moveTo>
                    <a:pt x="148336" y="0"/>
                  </a:moveTo>
                  <a:lnTo>
                    <a:pt x="93726" y="153924"/>
                  </a:lnTo>
                  <a:lnTo>
                    <a:pt x="54610" y="153924"/>
                  </a:lnTo>
                  <a:lnTo>
                    <a:pt x="0" y="0"/>
                  </a:lnTo>
                  <a:lnTo>
                    <a:pt x="36703" y="0"/>
                  </a:lnTo>
                  <a:lnTo>
                    <a:pt x="74041" y="112903"/>
                  </a:lnTo>
                  <a:lnTo>
                    <a:pt x="111506" y="0"/>
                  </a:lnTo>
                  <a:close/>
                </a:path>
              </a:pathLst>
            </a:custGeom>
            <a:solidFill>
              <a:srgbClr val="86838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590" name="Google Shape;590;p13"/>
            <p:cNvSpPr/>
            <p:nvPr/>
          </p:nvSpPr>
          <p:spPr>
            <a:xfrm>
              <a:off x="808736" y="105537"/>
              <a:ext cx="131064" cy="161290"/>
            </a:xfrm>
            <a:custGeom>
              <a:rect b="b" l="l" r="r" t="t"/>
              <a:pathLst>
                <a:path extrusionOk="0" h="161290" w="131064">
                  <a:moveTo>
                    <a:pt x="95885" y="145796"/>
                  </a:moveTo>
                  <a:cubicBezTo>
                    <a:pt x="96393" y="145415"/>
                    <a:pt x="96901" y="144907"/>
                    <a:pt x="97282" y="144653"/>
                  </a:cubicBezTo>
                  <a:lnTo>
                    <a:pt x="97282" y="157734"/>
                  </a:lnTo>
                  <a:lnTo>
                    <a:pt x="131064" y="157734"/>
                  </a:lnTo>
                  <a:lnTo>
                    <a:pt x="131064" y="58166"/>
                  </a:lnTo>
                  <a:cubicBezTo>
                    <a:pt x="131064" y="18923"/>
                    <a:pt x="103759" y="0"/>
                    <a:pt x="65405" y="0"/>
                  </a:cubicBezTo>
                  <a:cubicBezTo>
                    <a:pt x="41783" y="0"/>
                    <a:pt x="16764" y="10414"/>
                    <a:pt x="4445" y="32004"/>
                  </a:cubicBezTo>
                  <a:lnTo>
                    <a:pt x="28575" y="54483"/>
                  </a:lnTo>
                  <a:cubicBezTo>
                    <a:pt x="38354" y="36830"/>
                    <a:pt x="53213" y="32258"/>
                    <a:pt x="65278" y="32004"/>
                  </a:cubicBezTo>
                  <a:cubicBezTo>
                    <a:pt x="84328" y="31750"/>
                    <a:pt x="97409" y="44450"/>
                    <a:pt x="97409" y="60325"/>
                  </a:cubicBezTo>
                  <a:lnTo>
                    <a:pt x="97409" y="68707"/>
                  </a:lnTo>
                  <a:cubicBezTo>
                    <a:pt x="96774" y="68453"/>
                    <a:pt x="96139" y="68326"/>
                    <a:pt x="95377" y="68072"/>
                  </a:cubicBezTo>
                  <a:lnTo>
                    <a:pt x="95377" y="68072"/>
                  </a:lnTo>
                  <a:cubicBezTo>
                    <a:pt x="94361" y="67691"/>
                    <a:pt x="93091" y="67310"/>
                    <a:pt x="91694" y="66929"/>
                  </a:cubicBezTo>
                  <a:cubicBezTo>
                    <a:pt x="91313" y="66802"/>
                    <a:pt x="91059" y="66802"/>
                    <a:pt x="90678" y="66675"/>
                  </a:cubicBezTo>
                  <a:cubicBezTo>
                    <a:pt x="90424" y="66675"/>
                    <a:pt x="90297" y="66548"/>
                    <a:pt x="90043" y="66548"/>
                  </a:cubicBezTo>
                  <a:cubicBezTo>
                    <a:pt x="89662" y="66421"/>
                    <a:pt x="89281" y="66294"/>
                    <a:pt x="88900" y="66294"/>
                  </a:cubicBezTo>
                  <a:cubicBezTo>
                    <a:pt x="88519" y="66294"/>
                    <a:pt x="88138" y="66167"/>
                    <a:pt x="87757" y="66040"/>
                  </a:cubicBezTo>
                  <a:cubicBezTo>
                    <a:pt x="87630" y="66040"/>
                    <a:pt x="87376" y="65913"/>
                    <a:pt x="87249" y="65913"/>
                  </a:cubicBezTo>
                  <a:cubicBezTo>
                    <a:pt x="80518" y="64262"/>
                    <a:pt x="72009" y="62865"/>
                    <a:pt x="64135" y="62865"/>
                  </a:cubicBezTo>
                  <a:cubicBezTo>
                    <a:pt x="28702" y="62865"/>
                    <a:pt x="0" y="79248"/>
                    <a:pt x="0" y="114427"/>
                  </a:cubicBezTo>
                  <a:cubicBezTo>
                    <a:pt x="0" y="144018"/>
                    <a:pt x="23876" y="161290"/>
                    <a:pt x="51816" y="161290"/>
                  </a:cubicBezTo>
                  <a:cubicBezTo>
                    <a:pt x="71628" y="161290"/>
                    <a:pt x="86106" y="154432"/>
                    <a:pt x="95758" y="145923"/>
                  </a:cubicBezTo>
                  <a:close/>
                  <a:moveTo>
                    <a:pt x="58674" y="131064"/>
                  </a:moveTo>
                  <a:cubicBezTo>
                    <a:pt x="41910" y="131064"/>
                    <a:pt x="33782" y="122301"/>
                    <a:pt x="33782" y="111887"/>
                  </a:cubicBezTo>
                  <a:cubicBezTo>
                    <a:pt x="33782" y="98425"/>
                    <a:pt x="45593" y="91440"/>
                    <a:pt x="62992" y="91440"/>
                  </a:cubicBezTo>
                  <a:cubicBezTo>
                    <a:pt x="76708" y="91440"/>
                    <a:pt x="87503" y="94488"/>
                    <a:pt x="97282" y="98171"/>
                  </a:cubicBezTo>
                  <a:lnTo>
                    <a:pt x="97282" y="116967"/>
                  </a:lnTo>
                  <a:cubicBezTo>
                    <a:pt x="88900" y="124968"/>
                    <a:pt x="73406" y="131064"/>
                    <a:pt x="58674" y="131064"/>
                  </a:cubicBezTo>
                </a:path>
              </a:pathLst>
            </a:custGeom>
            <a:solidFill>
              <a:srgbClr val="86838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sp>
        <p:nvSpPr>
          <p:cNvPr id="591" name="Google Shape;591;p13"/>
          <p:cNvSpPr txBox="1"/>
          <p:nvPr/>
        </p:nvSpPr>
        <p:spPr>
          <a:xfrm>
            <a:off x="3551472" y="266372"/>
            <a:ext cx="2045400" cy="7758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1100"/>
              <a:buFont typeface="Arial"/>
              <a:buNone/>
            </a:pPr>
            <a:r>
              <a:rPr b="1" i="0" lang="en" sz="1100" u="none" cap="none" strike="noStrike">
                <a:solidFill>
                  <a:srgbClr val="36312D"/>
                </a:solidFill>
                <a:latin typeface="IBM Plex Sans"/>
                <a:ea typeface="IBM Plex Sans"/>
                <a:cs typeface="IBM Plex Sans"/>
                <a:sym typeface="IBM Plex Sans"/>
              </a:rPr>
              <a:t>Who we are</a:t>
            </a:r>
            <a:endParaRPr b="0" i="0" sz="11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Businesses today require transformational change at a scale and speed that defies traditional ways of working. We spark change through our Digital Transformation Studio that delivers deep digital engineering and industry expertise through client-specific and integrated agile scrum teams.</a:t>
            </a:r>
            <a:endParaRPr b="0" i="0" sz="1100" u="none" cap="none" strike="noStrike">
              <a:solidFill>
                <a:srgbClr val="000000"/>
              </a:solidFill>
              <a:latin typeface="Arial"/>
              <a:ea typeface="Arial"/>
              <a:cs typeface="Arial"/>
              <a:sym typeface="Arial"/>
            </a:endParaRPr>
          </a:p>
        </p:txBody>
      </p:sp>
      <p:sp>
        <p:nvSpPr>
          <p:cNvPr id="592" name="Google Shape;592;p13"/>
          <p:cNvSpPr txBox="1"/>
          <p:nvPr/>
        </p:nvSpPr>
        <p:spPr>
          <a:xfrm>
            <a:off x="3551471" y="1555664"/>
            <a:ext cx="15519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36312D"/>
                </a:solidFill>
                <a:latin typeface="IBM Plex Sans"/>
                <a:ea typeface="IBM Plex Sans"/>
                <a:cs typeface="IBM Plex Sans"/>
                <a:sym typeface="IBM Plex Sans"/>
              </a:rPr>
              <a:t>Virtusa’s core values</a:t>
            </a:r>
            <a:endParaRPr b="0" i="0" sz="1100" u="none" cap="none" strike="noStrike">
              <a:solidFill>
                <a:srgbClr val="000000"/>
              </a:solidFill>
              <a:latin typeface="Arial"/>
              <a:ea typeface="Arial"/>
              <a:cs typeface="Arial"/>
              <a:sym typeface="Arial"/>
            </a:endParaRPr>
          </a:p>
        </p:txBody>
      </p:sp>
      <p:sp>
        <p:nvSpPr>
          <p:cNvPr id="593" name="Google Shape;593;p13"/>
          <p:cNvSpPr txBox="1"/>
          <p:nvPr/>
        </p:nvSpPr>
        <p:spPr>
          <a:xfrm>
            <a:off x="4065080" y="1697984"/>
            <a:ext cx="21300" cy="771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 </a:t>
            </a:r>
            <a:endParaRPr b="0" i="0" sz="1100" u="none" cap="none" strike="noStrike">
              <a:solidFill>
                <a:srgbClr val="000000"/>
              </a:solidFill>
              <a:latin typeface="Arial"/>
              <a:ea typeface="Arial"/>
              <a:cs typeface="Arial"/>
              <a:sym typeface="Arial"/>
            </a:endParaRPr>
          </a:p>
        </p:txBody>
      </p:sp>
      <p:sp>
        <p:nvSpPr>
          <p:cNvPr id="594" name="Google Shape;594;p13"/>
          <p:cNvSpPr txBox="1"/>
          <p:nvPr/>
        </p:nvSpPr>
        <p:spPr>
          <a:xfrm>
            <a:off x="3542822" y="2531244"/>
            <a:ext cx="1368300" cy="11973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1100"/>
              <a:buFont typeface="Arial"/>
              <a:buNone/>
            </a:pPr>
            <a:r>
              <a:rPr b="1" i="0" lang="en" sz="1100" u="none" cap="none" strike="noStrike">
                <a:solidFill>
                  <a:srgbClr val="36312D"/>
                </a:solidFill>
                <a:latin typeface="IBM Plex Sans"/>
                <a:ea typeface="IBM Plex Sans"/>
                <a:cs typeface="IBM Plex Sans"/>
                <a:sym typeface="IBM Plex Sans"/>
              </a:rPr>
              <a:t>Virtusa’s PIRL values</a:t>
            </a:r>
            <a:endParaRPr b="0" i="0" sz="1100" u="none" cap="none" strike="noStrike">
              <a:solidFill>
                <a:srgbClr val="000000"/>
              </a:solidFill>
              <a:latin typeface="Arial"/>
              <a:ea typeface="Arial"/>
              <a:cs typeface="Arial"/>
              <a:sym typeface="Arial"/>
            </a:endParaRPr>
          </a:p>
          <a:p>
            <a:pPr indent="0" lvl="0" marL="0" marR="0" rtl="0" algn="l">
              <a:lnSpc>
                <a:spcPct val="139978"/>
              </a:lnSpc>
              <a:spcBef>
                <a:spcPts val="0"/>
              </a:spcBef>
              <a:spcAft>
                <a:spcPts val="0"/>
              </a:spcAft>
              <a:buClr>
                <a:srgbClr val="000000"/>
              </a:buClr>
              <a:buSzPts val="700"/>
              <a:buFont typeface="Arial"/>
              <a:buNone/>
            </a:pPr>
            <a:r>
              <a:rPr b="1" i="0" lang="en" sz="700" u="none" cap="none" strike="noStrike">
                <a:solidFill>
                  <a:srgbClr val="006AA5"/>
                </a:solidFill>
                <a:latin typeface="Montserrat"/>
                <a:ea typeface="Montserrat"/>
                <a:cs typeface="Montserrat"/>
                <a:sym typeface="Montserrat"/>
              </a:rPr>
              <a:t>Passion</a:t>
            </a:r>
            <a:endParaRPr b="0" i="0" sz="1100" u="none" cap="none" strike="noStrike">
              <a:solidFill>
                <a:srgbClr val="000000"/>
              </a:solidFill>
              <a:latin typeface="Arial"/>
              <a:ea typeface="Arial"/>
              <a:cs typeface="Arial"/>
              <a:sym typeface="Arial"/>
            </a:endParaRPr>
          </a:p>
          <a:p>
            <a:pPr indent="0" lvl="0" marL="0" marR="0" rtl="0" algn="l">
              <a:lnSpc>
                <a:spcPct val="135399"/>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To inspire our global teams to </a:t>
            </a:r>
            <a:endParaRPr b="0" i="0" sz="1100" u="none" cap="none" strike="noStrike">
              <a:solidFill>
                <a:srgbClr val="000000"/>
              </a:solidFill>
              <a:latin typeface="Arial"/>
              <a:ea typeface="Arial"/>
              <a:cs typeface="Arial"/>
              <a:sym typeface="Arial"/>
            </a:endParaRPr>
          </a:p>
          <a:p>
            <a:pPr indent="0" lvl="0" marL="0" marR="0" rtl="0" algn="l">
              <a:lnSpc>
                <a:spcPct val="135250"/>
              </a:lnSpc>
              <a:spcBef>
                <a:spcPts val="0"/>
              </a:spcBef>
              <a:spcAft>
                <a:spcPts val="0"/>
              </a:spcAft>
              <a:buClr>
                <a:srgbClr val="000000"/>
              </a:buClr>
              <a:buSzPts val="600"/>
              <a:buFont typeface="Arial"/>
              <a:buNone/>
            </a:pPr>
            <a:r>
              <a:rPr b="0" i="0" lang="en" sz="600" u="none" cap="none" strike="noStrike">
                <a:solidFill>
                  <a:srgbClr val="36312D"/>
                </a:solidFill>
                <a:latin typeface="Montserrat"/>
                <a:ea typeface="Montserrat"/>
                <a:cs typeface="Montserrat"/>
                <a:sym typeface="Montserrat"/>
              </a:rPr>
              <a:t>deliver extraordinary results</a:t>
            </a:r>
            <a:endParaRPr b="0" i="0" sz="1100" u="none" cap="none" strike="noStrike">
              <a:solidFill>
                <a:srgbClr val="000000"/>
              </a:solidFill>
              <a:latin typeface="Arial"/>
              <a:ea typeface="Arial"/>
              <a:cs typeface="Arial"/>
              <a:sym typeface="Arial"/>
            </a:endParaRPr>
          </a:p>
          <a:p>
            <a:pPr indent="0" lvl="0" marL="0" marR="0" rtl="0" algn="l">
              <a:lnSpc>
                <a:spcPct val="139978"/>
              </a:lnSpc>
              <a:spcBef>
                <a:spcPts val="0"/>
              </a:spcBef>
              <a:spcAft>
                <a:spcPts val="0"/>
              </a:spcAft>
              <a:buClr>
                <a:srgbClr val="000000"/>
              </a:buClr>
              <a:buSzPts val="700"/>
              <a:buFont typeface="Arial"/>
              <a:buNone/>
            </a:pPr>
            <a:r>
              <a:rPr b="1" i="0" lang="en" sz="700" u="none" cap="none" strike="noStrike">
                <a:solidFill>
                  <a:srgbClr val="006AA5"/>
                </a:solidFill>
                <a:latin typeface="Montserrat"/>
                <a:ea typeface="Montserrat"/>
                <a:cs typeface="Montserrat"/>
                <a:sym typeface="Montserrat"/>
              </a:rPr>
              <a:t>Innovation</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Apply intellectual curiosity to reimagine better business outcomes for our clients</a:t>
            </a:r>
            <a:endParaRPr b="0" i="0" sz="1100" u="none" cap="none" strike="noStrike">
              <a:solidFill>
                <a:srgbClr val="000000"/>
              </a:solidFill>
              <a:latin typeface="Arial"/>
              <a:ea typeface="Arial"/>
              <a:cs typeface="Arial"/>
              <a:sym typeface="Arial"/>
            </a:endParaRPr>
          </a:p>
        </p:txBody>
      </p:sp>
      <p:sp>
        <p:nvSpPr>
          <p:cNvPr id="595" name="Google Shape;595;p13"/>
          <p:cNvSpPr txBox="1"/>
          <p:nvPr/>
        </p:nvSpPr>
        <p:spPr>
          <a:xfrm>
            <a:off x="6006995" y="473840"/>
            <a:ext cx="898500" cy="6033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1100"/>
              <a:buFont typeface="Arial"/>
              <a:buNone/>
            </a:pPr>
            <a:r>
              <a:rPr b="1" i="0" lang="en" sz="1100" u="none" cap="none" strike="noStrike">
                <a:solidFill>
                  <a:srgbClr val="36312D"/>
                </a:solidFill>
                <a:latin typeface="IBM Plex Sans"/>
                <a:ea typeface="IBM Plex Sans"/>
                <a:cs typeface="IBM Plex Sans"/>
                <a:sym typeface="IBM Plex Sans"/>
              </a:rPr>
              <a:t>Testimonials</a:t>
            </a:r>
            <a:endParaRPr b="0" i="0" sz="1100" u="none" cap="none" strike="noStrike">
              <a:solidFill>
                <a:srgbClr val="000000"/>
              </a:solidFill>
              <a:latin typeface="Arial"/>
              <a:ea typeface="Arial"/>
              <a:cs typeface="Arial"/>
              <a:sym typeface="Arial"/>
            </a:endParaRPr>
          </a:p>
          <a:p>
            <a:pPr indent="0" lvl="0" marL="0" marR="0" rtl="0" algn="l">
              <a:lnSpc>
                <a:spcPct val="139978"/>
              </a:lnSpc>
              <a:spcBef>
                <a:spcPts val="0"/>
              </a:spcBef>
              <a:spcAft>
                <a:spcPts val="0"/>
              </a:spcAft>
              <a:buClr>
                <a:srgbClr val="000000"/>
              </a:buClr>
              <a:buSzPts val="700"/>
              <a:buFont typeface="Arial"/>
              <a:buNone/>
            </a:pPr>
            <a:r>
              <a:rPr b="1" i="0" lang="en" sz="700" u="none" cap="none" strike="noStrike">
                <a:solidFill>
                  <a:srgbClr val="006AA5"/>
                </a:solidFill>
                <a:latin typeface="Montserrat"/>
                <a:ea typeface="Montserrat"/>
                <a:cs typeface="Montserrat"/>
                <a:sym typeface="Montserrat"/>
              </a:rPr>
              <a:t>Parthasarathy S </a:t>
            </a:r>
            <a:endParaRPr b="0" i="0" sz="1100" u="none" cap="none" strike="noStrike">
              <a:solidFill>
                <a:srgbClr val="000000"/>
              </a:solidFill>
              <a:latin typeface="Arial"/>
              <a:ea typeface="Arial"/>
              <a:cs typeface="Arial"/>
              <a:sym typeface="Arial"/>
            </a:endParaRPr>
          </a:p>
          <a:p>
            <a:pPr indent="0" lvl="0" marL="0" marR="0" rtl="0" algn="l">
              <a:lnSpc>
                <a:spcPct val="133170"/>
              </a:lnSpc>
              <a:spcBef>
                <a:spcPts val="0"/>
              </a:spcBef>
              <a:spcAft>
                <a:spcPts val="0"/>
              </a:spcAft>
              <a:buClr>
                <a:srgbClr val="000000"/>
              </a:buClr>
              <a:buSzPts val="600"/>
              <a:buFont typeface="Arial"/>
              <a:buNone/>
            </a:pPr>
            <a:r>
              <a:rPr b="0" i="0" lang="en" sz="600" u="none" cap="none" strike="noStrike">
                <a:solidFill>
                  <a:srgbClr val="9B9896"/>
                </a:solidFill>
                <a:latin typeface="Montserrat"/>
                <a:ea typeface="Montserrat"/>
                <a:cs typeface="Montserrat"/>
                <a:sym typeface="Montserrat"/>
              </a:rPr>
              <a:t>Campus</a:t>
            </a:r>
            <a:r>
              <a:rPr b="0" i="0" lang="en" sz="600" u="none" cap="none" strike="noStrike">
                <a:solidFill>
                  <a:srgbClr val="000000"/>
                </a:solidFill>
                <a:latin typeface="Montserrat"/>
                <a:ea typeface="Montserrat"/>
                <a:cs typeface="Montserrat"/>
                <a:sym typeface="Montserrat"/>
              </a:rPr>
              <a:t> </a:t>
            </a:r>
            <a:r>
              <a:rPr b="0" i="0" lang="en" sz="600" u="none" cap="none" strike="noStrike">
                <a:solidFill>
                  <a:srgbClr val="9B9896"/>
                </a:solidFill>
                <a:latin typeface="Montserrat"/>
                <a:ea typeface="Montserrat"/>
                <a:cs typeface="Montserrat"/>
                <a:sym typeface="Montserrat"/>
              </a:rPr>
              <a:t>Intern (BE – CSE, RMK&amp; RMD </a:t>
            </a:r>
            <a:endParaRPr b="0" i="0" sz="1100" u="none" cap="none" strike="noStrike">
              <a:solidFill>
                <a:srgbClr val="000000"/>
              </a:solidFill>
              <a:latin typeface="Arial"/>
              <a:ea typeface="Arial"/>
              <a:cs typeface="Arial"/>
              <a:sym typeface="Arial"/>
            </a:endParaRPr>
          </a:p>
        </p:txBody>
      </p:sp>
      <p:sp>
        <p:nvSpPr>
          <p:cNvPr id="596" name="Google Shape;596;p13"/>
          <p:cNvSpPr txBox="1"/>
          <p:nvPr/>
        </p:nvSpPr>
        <p:spPr>
          <a:xfrm>
            <a:off x="3551464" y="3801868"/>
            <a:ext cx="1086900" cy="458700"/>
          </a:xfrm>
          <a:prstGeom prst="rect">
            <a:avLst/>
          </a:prstGeom>
          <a:noFill/>
          <a:ln>
            <a:noFill/>
          </a:ln>
        </p:spPr>
        <p:txBody>
          <a:bodyPr anchorCtr="0" anchor="t" bIns="0" lIns="0" spcFirstLastPara="1" rIns="0" wrap="square" tIns="0">
            <a:spAutoFit/>
          </a:bodyPr>
          <a:lstStyle/>
          <a:p>
            <a:pPr indent="0" lvl="0" marL="0" marR="0" rtl="0" algn="just">
              <a:lnSpc>
                <a:spcPct val="139978"/>
              </a:lnSpc>
              <a:spcBef>
                <a:spcPts val="0"/>
              </a:spcBef>
              <a:spcAft>
                <a:spcPts val="0"/>
              </a:spcAft>
              <a:buClr>
                <a:srgbClr val="000000"/>
              </a:buClr>
              <a:buSzPts val="700"/>
              <a:buFont typeface="Arial"/>
              <a:buNone/>
            </a:pPr>
            <a:r>
              <a:rPr b="1" i="0" lang="en" sz="700" u="none" cap="none" strike="noStrike">
                <a:solidFill>
                  <a:srgbClr val="006AA5"/>
                </a:solidFill>
                <a:latin typeface="Montserrat"/>
                <a:ea typeface="Montserrat"/>
                <a:cs typeface="Montserrat"/>
                <a:sym typeface="Montserrat"/>
              </a:rPr>
              <a:t>Respect</a:t>
            </a:r>
            <a:endParaRPr b="0" i="0" sz="11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Protect our environment, honor our diversity and treat everyone with dignity</a:t>
            </a:r>
            <a:endParaRPr b="0" i="0" sz="1100" u="none" cap="none" strike="noStrike">
              <a:solidFill>
                <a:srgbClr val="000000"/>
              </a:solidFill>
              <a:latin typeface="Arial"/>
              <a:ea typeface="Arial"/>
              <a:cs typeface="Arial"/>
              <a:sym typeface="Arial"/>
            </a:endParaRPr>
          </a:p>
        </p:txBody>
      </p:sp>
      <p:sp>
        <p:nvSpPr>
          <p:cNvPr id="597" name="Google Shape;597;p13"/>
          <p:cNvSpPr txBox="1"/>
          <p:nvPr/>
        </p:nvSpPr>
        <p:spPr>
          <a:xfrm>
            <a:off x="3551464" y="4363759"/>
            <a:ext cx="1167900" cy="458700"/>
          </a:xfrm>
          <a:prstGeom prst="rect">
            <a:avLst/>
          </a:prstGeom>
          <a:noFill/>
          <a:ln>
            <a:noFill/>
          </a:ln>
        </p:spPr>
        <p:txBody>
          <a:bodyPr anchorCtr="0" anchor="t" bIns="0" lIns="0" spcFirstLastPara="1" rIns="0" wrap="square" tIns="0">
            <a:spAutoFit/>
          </a:bodyPr>
          <a:lstStyle/>
          <a:p>
            <a:pPr indent="0" lvl="0" marL="0" marR="0" rtl="0" algn="l">
              <a:lnSpc>
                <a:spcPct val="139978"/>
              </a:lnSpc>
              <a:spcBef>
                <a:spcPts val="0"/>
              </a:spcBef>
              <a:spcAft>
                <a:spcPts val="0"/>
              </a:spcAft>
              <a:buClr>
                <a:srgbClr val="000000"/>
              </a:buClr>
              <a:buSzPts val="700"/>
              <a:buFont typeface="Arial"/>
              <a:buNone/>
            </a:pPr>
            <a:r>
              <a:rPr b="1" i="0" lang="en" sz="700" u="none" cap="none" strike="noStrike">
                <a:solidFill>
                  <a:srgbClr val="006AA5"/>
                </a:solidFill>
                <a:latin typeface="Montserrat"/>
                <a:ea typeface="Montserrat"/>
                <a:cs typeface="Montserrat"/>
                <a:sym typeface="Montserrat"/>
              </a:rPr>
              <a:t>Leadership</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Take personal responsibility when things go awry and always ascribe success to the team</a:t>
            </a:r>
            <a:endParaRPr b="0" i="0" sz="1100" u="none" cap="none" strike="noStrike">
              <a:solidFill>
                <a:srgbClr val="000000"/>
              </a:solidFill>
              <a:latin typeface="Arial"/>
              <a:ea typeface="Arial"/>
              <a:cs typeface="Arial"/>
              <a:sym typeface="Arial"/>
            </a:endParaRPr>
          </a:p>
        </p:txBody>
      </p:sp>
      <p:sp>
        <p:nvSpPr>
          <p:cNvPr id="598" name="Google Shape;598;p13"/>
          <p:cNvSpPr txBox="1"/>
          <p:nvPr/>
        </p:nvSpPr>
        <p:spPr>
          <a:xfrm>
            <a:off x="6006995" y="2728754"/>
            <a:ext cx="1030200" cy="581400"/>
          </a:xfrm>
          <a:prstGeom prst="rect">
            <a:avLst/>
          </a:prstGeom>
          <a:noFill/>
          <a:ln>
            <a:noFill/>
          </a:ln>
        </p:spPr>
        <p:txBody>
          <a:bodyPr anchorCtr="0" anchor="t" bIns="0" lIns="0" spcFirstLastPara="1" rIns="0" wrap="square" tIns="0">
            <a:spAutoFit/>
          </a:bodyPr>
          <a:lstStyle/>
          <a:p>
            <a:pPr indent="0" lvl="0" marL="0" marR="0" rtl="0" algn="l">
              <a:lnSpc>
                <a:spcPct val="119933"/>
              </a:lnSpc>
              <a:spcBef>
                <a:spcPts val="0"/>
              </a:spcBef>
              <a:spcAft>
                <a:spcPts val="0"/>
              </a:spcAft>
              <a:buClr>
                <a:srgbClr val="000000"/>
              </a:buClr>
              <a:buSzPts val="700"/>
              <a:buFont typeface="Arial"/>
              <a:buNone/>
            </a:pPr>
            <a:r>
              <a:rPr b="1" i="0" lang="en" sz="700" u="none" cap="none" strike="noStrike">
                <a:solidFill>
                  <a:srgbClr val="006AA5"/>
                </a:solidFill>
                <a:latin typeface="Montserrat"/>
                <a:ea typeface="Montserrat"/>
                <a:cs typeface="Montserrat"/>
                <a:sym typeface="Montserrat"/>
              </a:rPr>
              <a:t>Arumugam Pillai Chidambaram </a:t>
            </a:r>
            <a:endParaRPr b="0" i="0" sz="1100" u="none" cap="none" strike="noStrike">
              <a:solidFill>
                <a:srgbClr val="000000"/>
              </a:solidFill>
              <a:latin typeface="Arial"/>
              <a:ea typeface="Arial"/>
              <a:cs typeface="Arial"/>
              <a:sym typeface="Arial"/>
            </a:endParaRPr>
          </a:p>
          <a:p>
            <a:pPr indent="0" lvl="0" marL="0" marR="0" rtl="0" algn="l">
              <a:lnSpc>
                <a:spcPct val="133170"/>
              </a:lnSpc>
              <a:spcBef>
                <a:spcPts val="0"/>
              </a:spcBef>
              <a:spcAft>
                <a:spcPts val="0"/>
              </a:spcAft>
              <a:buClr>
                <a:srgbClr val="000000"/>
              </a:buClr>
              <a:buSzPts val="600"/>
              <a:buFont typeface="Arial"/>
              <a:buNone/>
            </a:pPr>
            <a:r>
              <a:rPr b="0" i="0" lang="en" sz="600" u="none" cap="none" strike="noStrike">
                <a:solidFill>
                  <a:srgbClr val="9B9896"/>
                </a:solidFill>
                <a:latin typeface="Montserrat"/>
                <a:ea typeface="Montserrat"/>
                <a:cs typeface="Montserrat"/>
                <a:sym typeface="Montserrat"/>
              </a:rPr>
              <a:t>AssociateArchitect- Technology</a:t>
            </a:r>
            <a:endParaRPr b="0" i="0" sz="1100" u="none" cap="none" strike="noStrike">
              <a:solidFill>
                <a:srgbClr val="000000"/>
              </a:solidFill>
              <a:latin typeface="Arial"/>
              <a:ea typeface="Arial"/>
              <a:cs typeface="Arial"/>
              <a:sym typeface="Arial"/>
            </a:endParaRPr>
          </a:p>
          <a:p>
            <a:pPr indent="0" lvl="0" marL="0" marR="0" rtl="0" algn="l">
              <a:lnSpc>
                <a:spcPct val="162534"/>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 Having joined Virtusa in 2010 </a:t>
            </a:r>
            <a:endParaRPr b="0" i="0" sz="1100" u="none" cap="none" strike="noStrike">
              <a:solidFill>
                <a:srgbClr val="000000"/>
              </a:solidFill>
              <a:latin typeface="Arial"/>
              <a:ea typeface="Arial"/>
              <a:cs typeface="Arial"/>
              <a:sym typeface="Arial"/>
            </a:endParaRPr>
          </a:p>
        </p:txBody>
      </p:sp>
      <p:sp>
        <p:nvSpPr>
          <p:cNvPr id="599" name="Google Shape;599;p13"/>
          <p:cNvSpPr txBox="1"/>
          <p:nvPr/>
        </p:nvSpPr>
        <p:spPr>
          <a:xfrm>
            <a:off x="6591280" y="1050396"/>
            <a:ext cx="23700" cy="92400"/>
          </a:xfrm>
          <a:prstGeom prst="rect">
            <a:avLst/>
          </a:prstGeom>
          <a:noFill/>
          <a:ln>
            <a:noFill/>
          </a:ln>
        </p:spPr>
        <p:txBody>
          <a:bodyPr anchorCtr="0" anchor="t" bIns="0" lIns="0" spcFirstLastPara="1" rIns="0" wrap="square" tIns="0">
            <a:spAutoFit/>
          </a:bodyPr>
          <a:lstStyle/>
          <a:p>
            <a:pPr indent="0" lvl="0" marL="0" marR="0" rtl="0" algn="l">
              <a:lnSpc>
                <a:spcPct val="133170"/>
              </a:lnSpc>
              <a:spcBef>
                <a:spcPts val="0"/>
              </a:spcBef>
              <a:spcAft>
                <a:spcPts val="0"/>
              </a:spcAft>
              <a:buClr>
                <a:srgbClr val="000000"/>
              </a:buClr>
              <a:buSzPts val="600"/>
              <a:buFont typeface="Arial"/>
              <a:buNone/>
            </a:pPr>
            <a:r>
              <a:rPr b="0" i="0" lang="en" sz="600" u="none" cap="none" strike="noStrike">
                <a:solidFill>
                  <a:srgbClr val="9B9896"/>
                </a:solidFill>
                <a:latin typeface="Montserrat"/>
                <a:ea typeface="Montserrat"/>
                <a:cs typeface="Montserrat"/>
                <a:sym typeface="Montserrat"/>
              </a:rPr>
              <a:t> </a:t>
            </a:r>
            <a:endParaRPr b="0" i="0" sz="1100" u="none" cap="none" strike="noStrike">
              <a:solidFill>
                <a:srgbClr val="000000"/>
              </a:solidFill>
              <a:latin typeface="Arial"/>
              <a:ea typeface="Arial"/>
              <a:cs typeface="Arial"/>
              <a:sym typeface="Arial"/>
            </a:endParaRPr>
          </a:p>
        </p:txBody>
      </p:sp>
      <p:sp>
        <p:nvSpPr>
          <p:cNvPr id="600" name="Google Shape;600;p13"/>
          <p:cNvSpPr txBox="1"/>
          <p:nvPr/>
        </p:nvSpPr>
        <p:spPr>
          <a:xfrm>
            <a:off x="6006996" y="1154130"/>
            <a:ext cx="1191000" cy="447900"/>
          </a:xfrm>
          <a:prstGeom prst="rect">
            <a:avLst/>
          </a:prstGeom>
          <a:noFill/>
          <a:ln>
            <a:noFill/>
          </a:ln>
        </p:spPr>
        <p:txBody>
          <a:bodyPr anchorCtr="0" anchor="t" bIns="0" lIns="0" spcFirstLastPara="1" rIns="0" wrap="square" tIns="0">
            <a:spAutoFit/>
          </a:bodyPr>
          <a:lstStyle/>
          <a:p>
            <a:pPr indent="0" lvl="0" marL="0" marR="0" rtl="0" algn="l">
              <a:lnSpc>
                <a:spcPct val="133170"/>
              </a:lnSpc>
              <a:spcBef>
                <a:spcPts val="0"/>
              </a:spcBef>
              <a:spcAft>
                <a:spcPts val="0"/>
              </a:spcAft>
              <a:buClr>
                <a:srgbClr val="000000"/>
              </a:buClr>
              <a:buSzPts val="600"/>
              <a:buFont typeface="Arial"/>
              <a:buNone/>
            </a:pPr>
            <a:r>
              <a:rPr b="0" i="0" lang="en" sz="600" u="none" cap="none" strike="noStrike">
                <a:solidFill>
                  <a:srgbClr val="9B9896"/>
                </a:solidFill>
                <a:latin typeface="Montserrat"/>
                <a:ea typeface="Montserrat"/>
                <a:cs typeface="Montserrat"/>
                <a:sym typeface="Montserrat"/>
              </a:rPr>
              <a:t>Group of Institutions, 2022 campus hire) </a:t>
            </a:r>
            <a:endParaRPr b="0" i="0" sz="1100" u="none" cap="none" strike="noStrike">
              <a:solidFill>
                <a:srgbClr val="000000"/>
              </a:solidFill>
              <a:latin typeface="Arial"/>
              <a:ea typeface="Arial"/>
              <a:cs typeface="Arial"/>
              <a:sym typeface="Arial"/>
            </a:endParaRPr>
          </a:p>
          <a:p>
            <a:pPr indent="0" lvl="0" marL="0" marR="0" rtl="0" algn="l">
              <a:lnSpc>
                <a:spcPct val="162534"/>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 Knowledge gained from the learning phase </a:t>
            </a:r>
            <a:endParaRPr b="0" i="0" sz="1100" u="none" cap="none" strike="noStrike">
              <a:solidFill>
                <a:srgbClr val="000000"/>
              </a:solidFill>
              <a:latin typeface="Arial"/>
              <a:ea typeface="Arial"/>
              <a:cs typeface="Arial"/>
              <a:sym typeface="Arial"/>
            </a:endParaRPr>
          </a:p>
        </p:txBody>
      </p:sp>
      <p:sp>
        <p:nvSpPr>
          <p:cNvPr id="601" name="Google Shape;601;p13"/>
          <p:cNvSpPr txBox="1"/>
          <p:nvPr/>
        </p:nvSpPr>
        <p:spPr>
          <a:xfrm>
            <a:off x="3551472" y="1749852"/>
            <a:ext cx="1737600" cy="77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Core values areanincredibly important component</a:t>
            </a:r>
            <a:endParaRPr b="0" i="0" sz="1100" u="none" cap="none" strike="noStrike">
              <a:solidFill>
                <a:srgbClr val="000000"/>
              </a:solidFill>
              <a:latin typeface="Arial"/>
              <a:ea typeface="Arial"/>
              <a:cs typeface="Arial"/>
              <a:sym typeface="Arial"/>
            </a:endParaRPr>
          </a:p>
        </p:txBody>
      </p:sp>
      <p:sp>
        <p:nvSpPr>
          <p:cNvPr id="602" name="Google Shape;602;p13"/>
          <p:cNvSpPr txBox="1"/>
          <p:nvPr/>
        </p:nvSpPr>
        <p:spPr>
          <a:xfrm>
            <a:off x="3551471" y="1853586"/>
            <a:ext cx="1721100" cy="192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of fostering a common, shared culture and building a strong people driven platform for growth. </a:t>
            </a:r>
            <a:endParaRPr b="0" i="0" sz="1100" u="none" cap="none" strike="noStrike">
              <a:solidFill>
                <a:srgbClr val="000000"/>
              </a:solidFill>
              <a:latin typeface="Arial"/>
              <a:ea typeface="Arial"/>
              <a:cs typeface="Arial"/>
              <a:sym typeface="Arial"/>
            </a:endParaRPr>
          </a:p>
        </p:txBody>
      </p:sp>
      <p:sp>
        <p:nvSpPr>
          <p:cNvPr id="603" name="Google Shape;603;p13"/>
          <p:cNvSpPr txBox="1"/>
          <p:nvPr/>
        </p:nvSpPr>
        <p:spPr>
          <a:xfrm>
            <a:off x="3551472" y="2095637"/>
            <a:ext cx="1502400" cy="2310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We believe core values are the essence of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who we are and who we should aspire to be.</a:t>
            </a:r>
            <a:endParaRPr b="0" i="0" sz="1100" u="none" cap="none" strike="noStrike">
              <a:solidFill>
                <a:srgbClr val="000000"/>
              </a:solidFill>
              <a:latin typeface="Arial"/>
              <a:ea typeface="Arial"/>
              <a:cs typeface="Arial"/>
              <a:sym typeface="Arial"/>
            </a:endParaRPr>
          </a:p>
        </p:txBody>
      </p:sp>
      <p:sp>
        <p:nvSpPr>
          <p:cNvPr id="604" name="Google Shape;604;p13"/>
          <p:cNvSpPr txBox="1"/>
          <p:nvPr/>
        </p:nvSpPr>
        <p:spPr>
          <a:xfrm>
            <a:off x="3551472" y="1066935"/>
            <a:ext cx="2020800" cy="231000"/>
          </a:xfrm>
          <a:prstGeom prst="rect">
            <a:avLst/>
          </a:prstGeom>
          <a:noFill/>
          <a:ln>
            <a:noFill/>
          </a:ln>
        </p:spPr>
        <p:txBody>
          <a:bodyPr anchorCtr="0" anchor="t" bIns="0" lIns="0" spcFirstLastPara="1" rIns="0" wrap="square" tIns="0">
            <a:spAutoFit/>
          </a:bodyPr>
          <a:lstStyle/>
          <a:p>
            <a:pPr indent="0" lvl="0" marL="0" marR="0" rtl="0" algn="l">
              <a:lnSpc>
                <a:spcPct val="2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Virtusa helps business move forward, faster by combining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deep industry expertise and frictionless technology delivery.</a:t>
            </a:r>
            <a:endParaRPr b="0" i="0" sz="1100" u="none" cap="none" strike="noStrike">
              <a:solidFill>
                <a:srgbClr val="000000"/>
              </a:solidFill>
              <a:latin typeface="Arial"/>
              <a:ea typeface="Arial"/>
              <a:cs typeface="Arial"/>
              <a:sym typeface="Arial"/>
            </a:endParaRPr>
          </a:p>
        </p:txBody>
      </p:sp>
      <p:sp>
        <p:nvSpPr>
          <p:cNvPr id="605" name="Google Shape;605;p13"/>
          <p:cNvSpPr txBox="1"/>
          <p:nvPr/>
        </p:nvSpPr>
        <p:spPr>
          <a:xfrm>
            <a:off x="6038738" y="1559103"/>
            <a:ext cx="1594200" cy="702300"/>
          </a:xfrm>
          <a:prstGeom prst="rect">
            <a:avLst/>
          </a:prstGeom>
          <a:noFill/>
          <a:ln>
            <a:noFill/>
          </a:ln>
        </p:spPr>
        <p:txBody>
          <a:bodyPr anchorCtr="0" anchor="t" bIns="0" lIns="0" spcFirstLastPara="1" rIns="0" wrap="square" tIns="0">
            <a:spAutoFit/>
          </a:bodyPr>
          <a:lstStyle/>
          <a:p>
            <a:pPr indent="0" lvl="0" marL="0" marR="0" rtl="0" algn="l">
              <a:lnSpc>
                <a:spcPct val="162534"/>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helped me contribute very well to my team during the Software development phase. And I even got appreciation from virtusa twice. The journey from an ECE student to a Software developer was just amazing. Thank you so much, Virtusa.”</a:t>
            </a:r>
            <a:endParaRPr b="0" i="0" sz="1100" u="none" cap="none" strike="noStrike">
              <a:solidFill>
                <a:srgbClr val="000000"/>
              </a:solidFill>
              <a:latin typeface="Arial"/>
              <a:ea typeface="Arial"/>
              <a:cs typeface="Arial"/>
              <a:sym typeface="Arial"/>
            </a:endParaRPr>
          </a:p>
        </p:txBody>
      </p:sp>
      <p:sp>
        <p:nvSpPr>
          <p:cNvPr id="606" name="Google Shape;606;p13"/>
          <p:cNvSpPr txBox="1"/>
          <p:nvPr/>
        </p:nvSpPr>
        <p:spPr>
          <a:xfrm>
            <a:off x="6038738" y="3348523"/>
            <a:ext cx="1734000" cy="1202700"/>
          </a:xfrm>
          <a:prstGeom prst="rect">
            <a:avLst/>
          </a:prstGeom>
          <a:noFill/>
          <a:ln>
            <a:noFill/>
          </a:ln>
        </p:spPr>
        <p:txBody>
          <a:bodyPr anchorCtr="0" anchor="t" bIns="0" lIns="0" spcFirstLastPara="1" rIns="0" wrap="square" tIns="0">
            <a:spAutoFit/>
          </a:bodyPr>
          <a:lstStyle/>
          <a:p>
            <a:pPr indent="0" lvl="0" marL="0" marR="0" rtl="0" algn="l">
              <a:lnSpc>
                <a:spcPct val="162534"/>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as a campus fresher, in my experience, I would say there is a lot to learn here compared to its counterparts. I have seen the company grow manifold, and if you showcase talent, there are no limits to your growth - ‘Where I budded as an apprentice and now blooming as an architect.’ I am grateful to the company for giving me a challenging work environment that has contributed immensely to my personal and professional growth. I am proud to be a Virtusan.”</a:t>
            </a:r>
            <a:endParaRPr b="0" i="0" sz="1100" u="none" cap="none" strike="noStrike">
              <a:solidFill>
                <a:srgbClr val="000000"/>
              </a:solidFill>
              <a:latin typeface="Arial"/>
              <a:ea typeface="Arial"/>
              <a:cs typeface="Arial"/>
              <a:sym typeface="Arial"/>
            </a:endParaRPr>
          </a:p>
        </p:txBody>
      </p:sp>
      <p:sp>
        <p:nvSpPr>
          <p:cNvPr id="607" name="Google Shape;607;p13"/>
          <p:cNvSpPr txBox="1"/>
          <p:nvPr/>
        </p:nvSpPr>
        <p:spPr>
          <a:xfrm>
            <a:off x="1347115" y="850304"/>
            <a:ext cx="1746300" cy="393600"/>
          </a:xfrm>
          <a:prstGeom prst="rect">
            <a:avLst/>
          </a:prstGeom>
          <a:noFill/>
          <a:ln>
            <a:noFill/>
          </a:ln>
        </p:spPr>
        <p:txBody>
          <a:bodyPr anchorCtr="0" anchor="t" bIns="0" lIns="0" spcFirstLastPara="1" rIns="0" wrap="square" tIns="0">
            <a:spAutoFit/>
          </a:bodyPr>
          <a:lstStyle/>
          <a:p>
            <a:pPr indent="0" lvl="0" marL="0" marR="0" rtl="0" algn="l">
              <a:lnSpc>
                <a:spcPct val="82830"/>
              </a:lnSpc>
              <a:spcBef>
                <a:spcPts val="0"/>
              </a:spcBef>
              <a:spcAft>
                <a:spcPts val="0"/>
              </a:spcAft>
              <a:buClr>
                <a:srgbClr val="000000"/>
              </a:buClr>
              <a:buSzPts val="2000"/>
              <a:buFont typeface="Arial"/>
              <a:buNone/>
            </a:pPr>
            <a:r>
              <a:rPr b="1" i="0" lang="en" sz="2000" u="none" cap="none" strike="noStrike">
                <a:solidFill>
                  <a:srgbClr val="36312D"/>
                </a:solidFill>
                <a:latin typeface="IBM Plex Sans"/>
                <a:ea typeface="IBM Plex Sans"/>
                <a:cs typeface="IBM Plex Sans"/>
                <a:sym typeface="IBM Plex Sans"/>
              </a:rPr>
              <a:t>Work</a:t>
            </a:r>
            <a:r>
              <a:rPr b="1" i="0" lang="en" sz="2000" u="none" cap="none" strike="noStrike">
                <a:solidFill>
                  <a:srgbClr val="00AAE8"/>
                </a:solidFill>
                <a:latin typeface="IBM Plex Sans"/>
                <a:ea typeface="IBM Plex Sans"/>
                <a:cs typeface="IBM Plex Sans"/>
                <a:sym typeface="IBM Plex Sans"/>
              </a:rPr>
              <a:t>@</a:t>
            </a:r>
            <a:r>
              <a:rPr b="1" i="0" lang="en" sz="2000" u="none" cap="none" strike="noStrike">
                <a:solidFill>
                  <a:srgbClr val="36312D"/>
                </a:solidFill>
                <a:latin typeface="IBM Plex Sans"/>
                <a:ea typeface="IBM Plex Sans"/>
                <a:cs typeface="IBM Plex Sans"/>
                <a:sym typeface="IBM Plex Sans"/>
              </a:rPr>
              <a:t>Virtusa</a:t>
            </a:r>
            <a:endParaRPr b="1" i="0" sz="2000" u="none" cap="none" strike="noStrike">
              <a:solidFill>
                <a:srgbClr val="36312D"/>
              </a:solidFill>
              <a:latin typeface="IBM Plex Sans"/>
              <a:ea typeface="IBM Plex Sans"/>
              <a:cs typeface="IBM Plex Sans"/>
              <a:sym typeface="IBM Plex Sans"/>
            </a:endParaRPr>
          </a:p>
          <a:p>
            <a:pPr indent="0" lvl="0" marL="0" marR="0" rtl="0" algn="l">
              <a:lnSpc>
                <a:spcPct val="250000"/>
              </a:lnSpc>
              <a:spcBef>
                <a:spcPts val="0"/>
              </a:spcBef>
              <a:spcAft>
                <a:spcPts val="0"/>
              </a:spcAft>
              <a:buClr>
                <a:srgbClr val="000000"/>
              </a:buClr>
              <a:buSzPts val="900"/>
              <a:buFont typeface="Arial"/>
              <a:buNone/>
            </a:pPr>
            <a:r>
              <a:rPr b="0" i="0" lang="en" sz="900" u="none" cap="none" strike="noStrike">
                <a:solidFill>
                  <a:srgbClr val="36312D"/>
                </a:solidFill>
                <a:latin typeface="Montserrat"/>
                <a:ea typeface="Montserrat"/>
                <a:cs typeface="Montserrat"/>
                <a:sym typeface="Montserrat"/>
              </a:rPr>
              <a:t>Company informational</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p:nvPr/>
        </p:nvSpPr>
        <p:spPr>
          <a:xfrm>
            <a:off x="5378806" y="1886029"/>
            <a:ext cx="2828797" cy="3254258"/>
          </a:xfrm>
          <a:custGeom>
            <a:rect b="b" l="l" r="r" t="t"/>
            <a:pathLst>
              <a:path extrusionOk="0" h="4785674" w="4159996">
                <a:moveTo>
                  <a:pt x="0" y="0"/>
                </a:moveTo>
                <a:lnTo>
                  <a:pt x="4159996" y="0"/>
                </a:lnTo>
                <a:lnTo>
                  <a:pt x="4159996" y="4785674"/>
                </a:lnTo>
                <a:lnTo>
                  <a:pt x="0" y="4785674"/>
                </a:lnTo>
                <a:lnTo>
                  <a:pt x="0" y="0"/>
                </a:lnTo>
                <a:close/>
              </a:path>
            </a:pathLst>
          </a:custGeom>
          <a:blipFill rotWithShape="1">
            <a:blip r:embed="rId3">
              <a:alphaModFix/>
            </a:blip>
            <a:stretch>
              <a:fillRect b="-280" l="-320" r="-310" t="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613" name="Google Shape;613;p14"/>
          <p:cNvSpPr/>
          <p:nvPr/>
        </p:nvSpPr>
        <p:spPr>
          <a:xfrm>
            <a:off x="7096207" y="69159"/>
            <a:ext cx="1114044" cy="2055366"/>
          </a:xfrm>
          <a:custGeom>
            <a:rect b="b" l="l" r="r" t="t"/>
            <a:pathLst>
              <a:path extrusionOk="0" h="3022597" w="1638300">
                <a:moveTo>
                  <a:pt x="0" y="0"/>
                </a:moveTo>
                <a:lnTo>
                  <a:pt x="1638300" y="0"/>
                </a:lnTo>
                <a:lnTo>
                  <a:pt x="1638300" y="3022597"/>
                </a:lnTo>
                <a:lnTo>
                  <a:pt x="0" y="3022597"/>
                </a:lnTo>
                <a:lnTo>
                  <a:pt x="0" y="0"/>
                </a:lnTo>
                <a:close/>
              </a:path>
            </a:pathLst>
          </a:custGeom>
          <a:blipFill rotWithShape="1">
            <a:blip r:embed="rId4">
              <a:alphaModFix/>
            </a:blip>
            <a:stretch>
              <a:fillRect b="0" l="0" r="0" t="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614" name="Google Shape;614;p14"/>
          <p:cNvSpPr txBox="1"/>
          <p:nvPr/>
        </p:nvSpPr>
        <p:spPr>
          <a:xfrm>
            <a:off x="3594690" y="255349"/>
            <a:ext cx="1959900" cy="25074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1100"/>
              <a:buFont typeface="Arial"/>
              <a:buNone/>
            </a:pPr>
            <a:r>
              <a:rPr b="1" i="0" lang="en" sz="1100" u="none" cap="none" strike="noStrike">
                <a:solidFill>
                  <a:srgbClr val="36312D"/>
                </a:solidFill>
                <a:latin typeface="IBM Plex Sans"/>
                <a:ea typeface="IBM Plex Sans"/>
                <a:cs typeface="IBM Plex Sans"/>
                <a:sym typeface="IBM Plex Sans"/>
              </a:rPr>
              <a:t>Corporate policies we uphold</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Public holidays</a:t>
            </a:r>
            <a:r>
              <a:rPr b="0" i="0" lang="en" sz="500" u="none" cap="none" strike="noStrike">
                <a:solidFill>
                  <a:srgbClr val="36312D"/>
                </a:solidFill>
                <a:latin typeface="Montserrat"/>
                <a:ea typeface="Montserrat"/>
                <a:cs typeface="Montserrat"/>
                <a:sym typeface="Montserrat"/>
              </a:rPr>
              <a:t> – Team members are entitled to 11 holidays in a year per calendar specified for their respective work location </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Smoke-free workplace</a:t>
            </a:r>
            <a:r>
              <a:rPr b="0" i="0" lang="en" sz="500" u="none" cap="none" strike="noStrike">
                <a:solidFill>
                  <a:srgbClr val="36312D"/>
                </a:solidFill>
                <a:latin typeface="Montserrat"/>
                <a:ea typeface="Montserrat"/>
                <a:cs typeface="Montserrat"/>
                <a:sym typeface="Montserrat"/>
              </a:rPr>
              <a:t> – Virtusa does not promote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smoking in the workplace </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Medical insurance</a:t>
            </a:r>
            <a:r>
              <a:rPr b="1" i="0" lang="en" sz="500" u="none" cap="none" strike="noStrike">
                <a:solidFill>
                  <a:srgbClr val="36312D"/>
                </a:solidFill>
                <a:latin typeface="Montserrat"/>
                <a:ea typeface="Montserrat"/>
                <a:cs typeface="Montserrat"/>
                <a:sym typeface="Montserrat"/>
              </a:rPr>
              <a:t> </a:t>
            </a:r>
            <a:r>
              <a:rPr b="0" i="0" lang="en" sz="500" u="none" cap="none" strike="noStrike">
                <a:solidFill>
                  <a:srgbClr val="36312D"/>
                </a:solidFill>
                <a:latin typeface="Montserrat"/>
                <a:ea typeface="Montserrat"/>
                <a:cs typeface="Montserrat"/>
                <a:sym typeface="Montserrat"/>
              </a:rPr>
              <a:t>- The company provides a basic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group medical insurance plan for all permanent team </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members and dependents</a:t>
            </a:r>
            <a:endParaRPr b="0" i="0" sz="1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Gratuity scheme</a:t>
            </a:r>
            <a:r>
              <a:rPr b="0" i="0" lang="en" sz="500" u="none" cap="none" strike="noStrike">
                <a:solidFill>
                  <a:srgbClr val="36312D"/>
                </a:solidFill>
                <a:latin typeface="Montserrat"/>
                <a:ea typeface="Montserrat"/>
                <a:cs typeface="Montserrat"/>
                <a:sym typeface="Montserrat"/>
              </a:rPr>
              <a:t> - Team members who have completed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more than five (5) continuous years of service are eligible </a:t>
            </a:r>
            <a:endParaRPr b="0" i="0" sz="1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for gratuity as per the provisions of the Payment of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Gratuity Act 1961</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Marriage gift</a:t>
            </a:r>
            <a:r>
              <a:rPr b="0" i="0" lang="en" sz="500" u="none" cap="none" strike="noStrike">
                <a:solidFill>
                  <a:srgbClr val="36312D"/>
                </a:solidFill>
                <a:latin typeface="Montserrat"/>
                <a:ea typeface="Montserrat"/>
                <a:cs typeface="Montserrat"/>
                <a:sym typeface="Montserrat"/>
              </a:rPr>
              <a:t> - All team members who get married during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their tenure in Virtusa will be presented with a gift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t/>
            </a:r>
            <a:endParaRPr b="0" i="0" sz="500" u="none" cap="none" strike="noStrike">
              <a:solidFill>
                <a:srgbClr val="36312D"/>
              </a:solidFill>
              <a:latin typeface="Montserrat"/>
              <a:ea typeface="Montserrat"/>
              <a:cs typeface="Montserrat"/>
              <a:sym typeface="Montserrat"/>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amount </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of Rs. 10, 000 (subject to tax deduction)</a:t>
            </a:r>
            <a:endParaRPr b="0" i="0" sz="1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Leave policy</a:t>
            </a:r>
            <a:r>
              <a:rPr b="1" i="0" lang="en" sz="500" u="none" cap="none" strike="noStrike">
                <a:solidFill>
                  <a:srgbClr val="36312D"/>
                </a:solidFill>
                <a:latin typeface="Montserrat"/>
                <a:ea typeface="Montserrat"/>
                <a:cs typeface="Montserrat"/>
                <a:sym typeface="Montserrat"/>
              </a:rPr>
              <a:t> </a:t>
            </a:r>
            <a:r>
              <a:rPr b="0" i="0" lang="en" sz="500" u="none" cap="none" strike="noStrike">
                <a:solidFill>
                  <a:srgbClr val="36312D"/>
                </a:solidFill>
                <a:latin typeface="Montserrat"/>
                <a:ea typeface="Montserrat"/>
                <a:cs typeface="Montserrat"/>
                <a:sym typeface="Montserrat"/>
              </a:rPr>
              <a:t>– The company offers various kinds of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leaves for the prosperous well being of co-workers, </a:t>
            </a:r>
            <a:endParaRPr b="0" i="0" sz="11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some of which are:</a:t>
            </a:r>
            <a:endParaRPr b="0" i="0" sz="1100" u="none" cap="none" strike="noStrike">
              <a:solidFill>
                <a:srgbClr val="000000"/>
              </a:solidFill>
              <a:latin typeface="Arial"/>
              <a:ea typeface="Arial"/>
              <a:cs typeface="Arial"/>
              <a:sym typeface="Arial"/>
            </a:endParaRPr>
          </a:p>
        </p:txBody>
      </p:sp>
      <p:sp>
        <p:nvSpPr>
          <p:cNvPr id="615" name="Google Shape;615;p14"/>
          <p:cNvSpPr/>
          <p:nvPr/>
        </p:nvSpPr>
        <p:spPr>
          <a:xfrm>
            <a:off x="2519199" y="1588929"/>
            <a:ext cx="604840" cy="403355"/>
          </a:xfrm>
          <a:custGeom>
            <a:rect b="b" l="l" r="r" t="t"/>
            <a:pathLst>
              <a:path extrusionOk="0" h="406403" w="635003">
                <a:moveTo>
                  <a:pt x="0" y="0"/>
                </a:moveTo>
                <a:lnTo>
                  <a:pt x="635003" y="0"/>
                </a:lnTo>
                <a:lnTo>
                  <a:pt x="635003" y="406403"/>
                </a:lnTo>
                <a:lnTo>
                  <a:pt x="0" y="406403"/>
                </a:lnTo>
                <a:lnTo>
                  <a:pt x="0" y="0"/>
                </a:lnTo>
                <a:close/>
              </a:path>
            </a:pathLst>
          </a:custGeom>
          <a:blipFill rotWithShape="1">
            <a:blip r:embed="rId5">
              <a:alphaModFix/>
            </a:blip>
            <a:stretch>
              <a:fillRect b="0" l="0" r="0" t="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616" name="Google Shape;616;p14"/>
          <p:cNvSpPr/>
          <p:nvPr/>
        </p:nvSpPr>
        <p:spPr>
          <a:xfrm>
            <a:off x="2530564" y="2084770"/>
            <a:ext cx="641113" cy="269417"/>
          </a:xfrm>
          <a:custGeom>
            <a:rect b="b" l="l" r="r" t="t"/>
            <a:pathLst>
              <a:path extrusionOk="0" h="271453" w="673084">
                <a:moveTo>
                  <a:pt x="0" y="0"/>
                </a:moveTo>
                <a:lnTo>
                  <a:pt x="673084" y="0"/>
                </a:lnTo>
                <a:lnTo>
                  <a:pt x="673084" y="271453"/>
                </a:lnTo>
                <a:lnTo>
                  <a:pt x="0" y="271453"/>
                </a:lnTo>
                <a:lnTo>
                  <a:pt x="0" y="0"/>
                </a:lnTo>
                <a:close/>
              </a:path>
            </a:pathLst>
          </a:custGeom>
          <a:blipFill rotWithShape="1">
            <a:blip r:embed="rId6">
              <a:alphaModFix/>
            </a:blip>
            <a:stretch>
              <a:fillRect b="-4940" l="-1950" r="-1930" t="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617" name="Google Shape;617;p14"/>
          <p:cNvSpPr/>
          <p:nvPr/>
        </p:nvSpPr>
        <p:spPr>
          <a:xfrm>
            <a:off x="2107580" y="555769"/>
            <a:ext cx="1069011" cy="527812"/>
          </a:xfrm>
          <a:custGeom>
            <a:rect b="b" l="l" r="r" t="t"/>
            <a:pathLst>
              <a:path extrusionOk="0" h="531800" w="1122321">
                <a:moveTo>
                  <a:pt x="0" y="0"/>
                </a:moveTo>
                <a:lnTo>
                  <a:pt x="1122321" y="0"/>
                </a:lnTo>
                <a:lnTo>
                  <a:pt x="1122321" y="531800"/>
                </a:lnTo>
                <a:lnTo>
                  <a:pt x="0" y="531800"/>
                </a:lnTo>
                <a:lnTo>
                  <a:pt x="0" y="0"/>
                </a:lnTo>
                <a:close/>
              </a:path>
            </a:pathLst>
          </a:custGeom>
          <a:blipFill rotWithShape="1">
            <a:blip r:embed="rId7">
              <a:alphaModFix/>
            </a:blip>
            <a:stretch>
              <a:fillRect b="0" l="0" r="0" t="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618" name="Google Shape;618;p14"/>
          <p:cNvSpPr txBox="1"/>
          <p:nvPr/>
        </p:nvSpPr>
        <p:spPr>
          <a:xfrm>
            <a:off x="515613" y="129769"/>
            <a:ext cx="2513400" cy="499200"/>
          </a:xfrm>
          <a:prstGeom prst="rect">
            <a:avLst/>
          </a:prstGeom>
          <a:noFill/>
          <a:ln>
            <a:noFill/>
          </a:ln>
        </p:spPr>
        <p:txBody>
          <a:bodyPr anchorCtr="0" anchor="t" bIns="0" lIns="0" spcFirstLastPara="1" rIns="0" wrap="square" tIns="0">
            <a:spAutoFit/>
          </a:bodyPr>
          <a:lstStyle/>
          <a:p>
            <a:pPr indent="0" lvl="0" marL="0" marR="0" rtl="0" algn="l">
              <a:lnSpc>
                <a:spcPct val="127062"/>
              </a:lnSpc>
              <a:spcBef>
                <a:spcPts val="0"/>
              </a:spcBef>
              <a:spcAft>
                <a:spcPts val="0"/>
              </a:spcAft>
              <a:buClr>
                <a:srgbClr val="000000"/>
              </a:buClr>
              <a:buSzPts val="1200"/>
              <a:buFont typeface="Arial"/>
              <a:buNone/>
            </a:pPr>
            <a:r>
              <a:rPr b="1" i="0" lang="en" sz="1200" u="none" cap="none" strike="noStrike">
                <a:solidFill>
                  <a:srgbClr val="36312D"/>
                </a:solidFill>
                <a:latin typeface="IBM Plex Sans"/>
                <a:ea typeface="IBM Plex Sans"/>
                <a:cs typeface="IBM Plex Sans"/>
                <a:sym typeface="IBM Plex Sans"/>
              </a:rPr>
              <a:t>Campus placement insights</a:t>
            </a:r>
            <a:endParaRPr b="0" i="0" sz="1100" u="none" cap="none" strike="noStrike">
              <a:solidFill>
                <a:srgbClr val="000000"/>
              </a:solidFill>
              <a:latin typeface="Arial"/>
              <a:ea typeface="Arial"/>
              <a:cs typeface="Arial"/>
              <a:sym typeface="Arial"/>
            </a:endParaRPr>
          </a:p>
          <a:p>
            <a:pPr indent="0" lvl="0" marL="0" marR="0" rtl="0" algn="l">
              <a:lnSpc>
                <a:spcPct val="139700"/>
              </a:lnSpc>
              <a:spcBef>
                <a:spcPts val="0"/>
              </a:spcBef>
              <a:spcAft>
                <a:spcPts val="0"/>
              </a:spcAft>
              <a:buClr>
                <a:srgbClr val="000000"/>
              </a:buClr>
              <a:buSzPts val="800"/>
              <a:buFont typeface="Arial"/>
              <a:buNone/>
            </a:pPr>
            <a:r>
              <a:rPr b="1" i="0" lang="en" sz="800" u="none" cap="none" strike="noStrike">
                <a:solidFill>
                  <a:srgbClr val="00AAE8"/>
                </a:solidFill>
                <a:latin typeface="Montserrat"/>
                <a:ea typeface="Montserrat"/>
                <a:cs typeface="Montserrat"/>
                <a:sym typeface="Montserrat"/>
              </a:rPr>
              <a:t>How to get hired? </a:t>
            </a:r>
            <a:endParaRPr b="0" i="0" sz="1100" u="none" cap="none" strike="noStrike">
              <a:solidFill>
                <a:srgbClr val="000000"/>
              </a:solidFill>
              <a:latin typeface="Arial"/>
              <a:ea typeface="Arial"/>
              <a:cs typeface="Arial"/>
              <a:sym typeface="Arial"/>
            </a:endParaRPr>
          </a:p>
          <a:p>
            <a:pPr indent="0" lvl="0" marL="0" marR="0" rtl="0" algn="l">
              <a:lnSpc>
                <a:spcPct val="226875"/>
              </a:lnSpc>
              <a:spcBef>
                <a:spcPts val="0"/>
              </a:spcBef>
              <a:spcAft>
                <a:spcPts val="0"/>
              </a:spcAft>
              <a:buClr>
                <a:srgbClr val="000000"/>
              </a:buClr>
              <a:buSzPts val="600"/>
              <a:buFont typeface="Arial"/>
              <a:buNone/>
            </a:pPr>
            <a:r>
              <a:rPr b="1" i="0" lang="en" sz="600" u="none" cap="none" strike="noStrike">
                <a:solidFill>
                  <a:srgbClr val="006AA5"/>
                </a:solidFill>
                <a:latin typeface="Montserrat"/>
                <a:ea typeface="Montserrat"/>
                <a:cs typeface="Montserrat"/>
                <a:sym typeface="Montserrat"/>
              </a:rPr>
              <a:t>Campus placement drive</a:t>
            </a:r>
            <a:r>
              <a:rPr b="0" i="0" lang="en" sz="600" u="none" cap="none" strike="noStrike">
                <a:solidFill>
                  <a:srgbClr val="36312D"/>
                </a:solidFill>
                <a:latin typeface="Montserrat"/>
                <a:ea typeface="Montserrat"/>
                <a:cs typeface="Montserrat"/>
                <a:sym typeface="Montserrat"/>
              </a:rPr>
              <a:t> </a:t>
            </a:r>
            <a:endParaRPr b="0" i="0" sz="1100" u="none" cap="none" strike="noStrike">
              <a:solidFill>
                <a:srgbClr val="000000"/>
              </a:solidFill>
              <a:latin typeface="Arial"/>
              <a:ea typeface="Arial"/>
              <a:cs typeface="Arial"/>
              <a:sym typeface="Arial"/>
            </a:endParaRPr>
          </a:p>
        </p:txBody>
      </p:sp>
      <p:sp>
        <p:nvSpPr>
          <p:cNvPr id="619" name="Google Shape;619;p14"/>
          <p:cNvSpPr txBox="1"/>
          <p:nvPr/>
        </p:nvSpPr>
        <p:spPr>
          <a:xfrm>
            <a:off x="531083" y="750072"/>
            <a:ext cx="934800" cy="92400"/>
          </a:xfrm>
          <a:prstGeom prst="rect">
            <a:avLst/>
          </a:prstGeom>
          <a:noFill/>
          <a:ln>
            <a:noFill/>
          </a:ln>
        </p:spPr>
        <p:txBody>
          <a:bodyPr anchorCtr="0" anchor="t" bIns="0" lIns="0" spcFirstLastPara="1" rIns="0" wrap="square" tIns="0">
            <a:spAutoFit/>
          </a:bodyPr>
          <a:lstStyle/>
          <a:p>
            <a:pPr indent="0" lvl="0" marL="0" marR="0" rtl="0" algn="l">
              <a:lnSpc>
                <a:spcPct val="226875"/>
              </a:lnSpc>
              <a:spcBef>
                <a:spcPts val="0"/>
              </a:spcBef>
              <a:spcAft>
                <a:spcPts val="0"/>
              </a:spcAft>
              <a:buClr>
                <a:srgbClr val="000000"/>
              </a:buClr>
              <a:buSzPts val="600"/>
              <a:buFont typeface="Arial"/>
              <a:buNone/>
            </a:pPr>
            <a:r>
              <a:rPr b="1" i="0" lang="en" sz="600" u="none" cap="none" strike="noStrike">
                <a:solidFill>
                  <a:srgbClr val="006AA5"/>
                </a:solidFill>
                <a:latin typeface="Montserrat"/>
                <a:ea typeface="Montserrat"/>
                <a:cs typeface="Montserrat"/>
                <a:sym typeface="Montserrat"/>
              </a:rPr>
              <a:t>Competitive hiring</a:t>
            </a:r>
            <a:r>
              <a:rPr b="0" i="0" lang="en" sz="600" u="none" cap="none" strike="noStrike">
                <a:solidFill>
                  <a:srgbClr val="36312D"/>
                </a:solidFill>
                <a:latin typeface="Montserrat"/>
                <a:ea typeface="Montserrat"/>
                <a:cs typeface="Montserrat"/>
                <a:sym typeface="Montserrat"/>
              </a:rPr>
              <a:t> </a:t>
            </a:r>
            <a:endParaRPr b="0" i="0" sz="1100" u="none" cap="none" strike="noStrike">
              <a:solidFill>
                <a:srgbClr val="000000"/>
              </a:solidFill>
              <a:latin typeface="Arial"/>
              <a:ea typeface="Arial"/>
              <a:cs typeface="Arial"/>
              <a:sym typeface="Arial"/>
            </a:endParaRPr>
          </a:p>
        </p:txBody>
      </p:sp>
      <p:sp>
        <p:nvSpPr>
          <p:cNvPr id="620" name="Google Shape;620;p14"/>
          <p:cNvSpPr txBox="1"/>
          <p:nvPr/>
        </p:nvSpPr>
        <p:spPr>
          <a:xfrm>
            <a:off x="515613" y="1133247"/>
            <a:ext cx="2488800" cy="469500"/>
          </a:xfrm>
          <a:prstGeom prst="rect">
            <a:avLst/>
          </a:prstGeom>
          <a:noFill/>
          <a:ln>
            <a:noFill/>
          </a:ln>
        </p:spPr>
        <p:txBody>
          <a:bodyPr anchorCtr="0" anchor="t" bIns="0" lIns="0" spcFirstLastPara="1" rIns="0" wrap="square" tIns="0">
            <a:spAutoFit/>
          </a:bodyPr>
          <a:lstStyle/>
          <a:p>
            <a:pPr indent="0" lvl="0" marL="0" marR="0" rtl="0" algn="l">
              <a:lnSpc>
                <a:spcPct val="136125"/>
              </a:lnSpc>
              <a:spcBef>
                <a:spcPts val="0"/>
              </a:spcBef>
              <a:spcAft>
                <a:spcPts val="0"/>
              </a:spcAft>
              <a:buClr>
                <a:srgbClr val="000000"/>
              </a:buClr>
              <a:buSzPts val="600"/>
              <a:buFont typeface="Arial"/>
              <a:buNone/>
            </a:pPr>
            <a:r>
              <a:rPr b="0" i="0" lang="en" sz="600" u="none" cap="none" strike="noStrike">
                <a:solidFill>
                  <a:srgbClr val="36312D"/>
                </a:solidFill>
                <a:latin typeface="Montserrat"/>
                <a:ea typeface="Montserrat"/>
                <a:cs typeface="Montserrat"/>
                <a:sym typeface="Montserrat"/>
              </a:rPr>
              <a:t>Team Graduate Talent Program runs numerous hiring initiatives to make the process of talent identification fun and interactive. Students can register themselves as and when we launch and inform the placement cell:</a:t>
            </a:r>
            <a:endParaRPr b="0" i="0" sz="1100" u="none" cap="none" strike="noStrike">
              <a:solidFill>
                <a:srgbClr val="000000"/>
              </a:solidFill>
              <a:latin typeface="Arial"/>
              <a:ea typeface="Arial"/>
              <a:cs typeface="Arial"/>
              <a:sym typeface="Arial"/>
            </a:endParaRPr>
          </a:p>
        </p:txBody>
      </p:sp>
      <p:sp>
        <p:nvSpPr>
          <p:cNvPr id="621" name="Google Shape;621;p14"/>
          <p:cNvSpPr txBox="1"/>
          <p:nvPr/>
        </p:nvSpPr>
        <p:spPr>
          <a:xfrm>
            <a:off x="489635" y="1652276"/>
            <a:ext cx="2028600" cy="415500"/>
          </a:xfrm>
          <a:prstGeom prst="rect">
            <a:avLst/>
          </a:prstGeom>
          <a:noFill/>
          <a:ln>
            <a:noFill/>
          </a:ln>
        </p:spPr>
        <p:txBody>
          <a:bodyPr anchorCtr="0" anchor="t" bIns="0" lIns="0" spcFirstLastPara="1" rIns="0" wrap="square" tIns="0">
            <a:spAutoFit/>
          </a:bodyPr>
          <a:lstStyle/>
          <a:p>
            <a:pPr indent="0" lvl="0" marL="0" marR="0" rtl="0" algn="l">
              <a:lnSpc>
                <a:spcPct val="175000"/>
              </a:lnSpc>
              <a:spcBef>
                <a:spcPts val="0"/>
              </a:spcBef>
              <a:spcAft>
                <a:spcPts val="0"/>
              </a:spcAft>
              <a:buClr>
                <a:srgbClr val="000000"/>
              </a:buClr>
              <a:buSzPts val="600"/>
              <a:buFont typeface="Arial"/>
              <a:buNone/>
            </a:pPr>
            <a:r>
              <a:rPr b="0" i="0" lang="en" sz="600" u="none" cap="none" strike="noStrike">
                <a:solidFill>
                  <a:srgbClr val="36312D"/>
                </a:solidFill>
                <a:latin typeface="Montserrat"/>
                <a:ea typeface="Montserrat"/>
                <a:cs typeface="Montserrat"/>
                <a:sym typeface="Montserrat"/>
              </a:rPr>
              <a:t>Open national hackathon Innovation contest exclusively for CoE students only Long-term internship offerings exclusively for CoE students only </a:t>
            </a:r>
            <a:endParaRPr b="0" i="0" sz="1100" u="none" cap="none" strike="noStrike">
              <a:solidFill>
                <a:srgbClr val="000000"/>
              </a:solidFill>
              <a:latin typeface="Arial"/>
              <a:ea typeface="Arial"/>
              <a:cs typeface="Arial"/>
              <a:sym typeface="Arial"/>
            </a:endParaRPr>
          </a:p>
        </p:txBody>
      </p:sp>
      <p:sp>
        <p:nvSpPr>
          <p:cNvPr id="622" name="Google Shape;622;p14"/>
          <p:cNvSpPr txBox="1"/>
          <p:nvPr/>
        </p:nvSpPr>
        <p:spPr>
          <a:xfrm>
            <a:off x="3594689" y="2792974"/>
            <a:ext cx="2007900" cy="2242200"/>
          </a:xfrm>
          <a:prstGeom prst="rect">
            <a:avLst/>
          </a:prstGeom>
          <a:noFill/>
          <a:ln>
            <a:noFill/>
          </a:ln>
        </p:spPr>
        <p:txBody>
          <a:bodyPr anchorCtr="0" anchor="t" bIns="0" lIns="0" spcFirstLastPara="1" rIns="0" wrap="square" tIns="0">
            <a:spAutoFit/>
          </a:bodyPr>
          <a:lstStyle/>
          <a:p>
            <a:pPr indent="0" lvl="0" marL="0" marR="0" rtl="0" algn="l">
              <a:lnSpc>
                <a:spcPct val="225068"/>
              </a:lnSpc>
              <a:spcBef>
                <a:spcPts val="0"/>
              </a:spcBef>
              <a:spcAft>
                <a:spcPts val="0"/>
              </a:spcAft>
              <a:buClr>
                <a:srgbClr val="000000"/>
              </a:buClr>
              <a:buSzPts val="500"/>
              <a:buFont typeface="Arial"/>
              <a:buNone/>
            </a:pPr>
            <a:r>
              <a:rPr b="1" i="0" lang="en" sz="500" u="none" cap="none" strike="noStrike">
                <a:solidFill>
                  <a:srgbClr val="36312D"/>
                </a:solidFill>
                <a:latin typeface="Montserrat"/>
                <a:ea typeface="Montserrat"/>
                <a:cs typeface="Montserrat"/>
                <a:sym typeface="Montserrat"/>
              </a:rPr>
              <a:t>Earned leave</a:t>
            </a:r>
            <a:r>
              <a:rPr b="0" i="0" lang="en" sz="500" u="none" cap="none" strike="noStrike">
                <a:solidFill>
                  <a:srgbClr val="868381"/>
                </a:solidFill>
                <a:latin typeface="Montserrat"/>
                <a:ea typeface="Montserrat"/>
                <a:cs typeface="Montserrat"/>
                <a:sym typeface="Montserrat"/>
              </a:rPr>
              <a:t> </a:t>
            </a:r>
            <a:r>
              <a:rPr b="0" i="0" lang="en" sz="500" u="none" cap="none" strike="noStrike">
                <a:solidFill>
                  <a:srgbClr val="36312D"/>
                </a:solidFill>
                <a:latin typeface="Montserrat"/>
                <a:ea typeface="Montserrat"/>
                <a:cs typeface="Montserrat"/>
                <a:sym typeface="Montserrat"/>
              </a:rPr>
              <a:t>- 21 days of earned leaves </a:t>
            </a:r>
            <a:endParaRPr b="0" i="0" sz="1100" u="none" cap="none" strike="noStrike">
              <a:solidFill>
                <a:srgbClr val="000000"/>
              </a:solidFill>
              <a:latin typeface="Arial"/>
              <a:ea typeface="Arial"/>
              <a:cs typeface="Arial"/>
              <a:sym typeface="Arial"/>
            </a:endParaRPr>
          </a:p>
          <a:p>
            <a:pPr indent="0" lvl="0" marL="0" marR="0" rtl="0" algn="l">
              <a:lnSpc>
                <a:spcPct val="75068"/>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will be credited in each calendar year</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1" i="0" lang="en" sz="500" u="none" cap="none" strike="noStrike">
                <a:solidFill>
                  <a:srgbClr val="36312D"/>
                </a:solidFill>
                <a:latin typeface="Montserrat"/>
                <a:ea typeface="Montserrat"/>
                <a:cs typeface="Montserrat"/>
                <a:sym typeface="Montserrat"/>
              </a:rPr>
              <a:t>Sick leave</a:t>
            </a:r>
            <a:r>
              <a:rPr b="0" i="0" lang="en" sz="500" u="none" cap="none" strike="noStrike">
                <a:solidFill>
                  <a:srgbClr val="868381"/>
                </a:solidFill>
                <a:latin typeface="Montserrat"/>
                <a:ea typeface="Montserrat"/>
                <a:cs typeface="Montserrat"/>
                <a:sym typeface="Montserrat"/>
              </a:rPr>
              <a:t> </a:t>
            </a:r>
            <a:r>
              <a:rPr b="0" i="0" lang="en" sz="500" u="none" cap="none" strike="noStrike">
                <a:solidFill>
                  <a:srgbClr val="36312D"/>
                </a:solidFill>
                <a:latin typeface="Montserrat"/>
                <a:ea typeface="Montserrat"/>
                <a:cs typeface="Montserrat"/>
                <a:sym typeface="Montserrat"/>
              </a:rPr>
              <a:t>- 6 days of sick leaves will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be credited in each calendar year</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1" i="0" lang="en" sz="500" u="none" cap="none" strike="noStrike">
                <a:solidFill>
                  <a:srgbClr val="36312D"/>
                </a:solidFill>
                <a:latin typeface="Montserrat"/>
                <a:ea typeface="Montserrat"/>
                <a:cs typeface="Montserrat"/>
                <a:sym typeface="Montserrat"/>
              </a:rPr>
              <a:t>Maternity leave </a:t>
            </a:r>
            <a:r>
              <a:rPr b="0" i="0" lang="en" sz="500" u="none" cap="none" strike="noStrike">
                <a:solidFill>
                  <a:srgbClr val="36312D"/>
                </a:solidFill>
                <a:latin typeface="Montserrat"/>
                <a:ea typeface="Montserrat"/>
                <a:cs typeface="Montserrat"/>
                <a:sym typeface="Montserrat"/>
              </a:rPr>
              <a:t>- 26 continuous calendar weeks </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Performance management system</a:t>
            </a:r>
            <a:r>
              <a:rPr b="0" i="0" lang="en" sz="500" u="none" cap="none" strike="noStrike">
                <a:solidFill>
                  <a:srgbClr val="36312D"/>
                </a:solidFill>
                <a:latin typeface="Montserrat"/>
                <a:ea typeface="Montserrat"/>
                <a:cs typeface="Montserrat"/>
                <a:sym typeface="Montserrat"/>
              </a:rPr>
              <a:t> - There are two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appraisal cycles in a year, namely Mid-Year Appraisal </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(April to September) and Year-End Appraisal (April to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March) and each cycle consists of phases like objective </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setting, assessment, normalization and review discussions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with the respective reporting managers</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Rewards &amp; recognition</a:t>
            </a:r>
            <a:r>
              <a:rPr b="0" i="0" lang="en" sz="500" u="none" cap="none" strike="noStrike">
                <a:solidFill>
                  <a:srgbClr val="36312D"/>
                </a:solidFill>
                <a:latin typeface="Montserrat"/>
                <a:ea typeface="Montserrat"/>
                <a:cs typeface="Montserrat"/>
                <a:sym typeface="Montserrat"/>
              </a:rPr>
              <a:t> – We celebrate our team members’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small accomplishments as big wins with awards such as </a:t>
            </a:r>
            <a:endParaRPr b="0" i="0" sz="11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the Stellar award, Eminent Leader award, Virtusa Dream </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Team award, and so on, to name a few</a:t>
            </a:r>
            <a:endParaRPr b="0" i="0" sz="1100" u="none" cap="none" strike="noStrike">
              <a:solidFill>
                <a:srgbClr val="000000"/>
              </a:solidFill>
              <a:latin typeface="Arial"/>
              <a:ea typeface="Arial"/>
              <a:cs typeface="Arial"/>
              <a:sym typeface="Arial"/>
            </a:endParaRPr>
          </a:p>
          <a:p>
            <a:pPr indent="0" lvl="0" marL="0" marR="0" rtl="0" algn="l">
              <a:lnSpc>
                <a:spcPct val="50000"/>
              </a:lnSpc>
              <a:spcBef>
                <a:spcPts val="0"/>
              </a:spcBef>
              <a:spcAft>
                <a:spcPts val="0"/>
              </a:spcAft>
              <a:buClr>
                <a:srgbClr val="000000"/>
              </a:buClr>
              <a:buSzPts val="500"/>
              <a:buFont typeface="Arial"/>
              <a:buNone/>
            </a:pPr>
            <a:r>
              <a:t/>
            </a:r>
            <a:endParaRPr b="0" i="0" sz="500" u="none" cap="none" strike="noStrike">
              <a:solidFill>
                <a:srgbClr val="36312D"/>
              </a:solidFill>
              <a:latin typeface="Montserrat"/>
              <a:ea typeface="Montserrat"/>
              <a:cs typeface="Montserrat"/>
              <a:sym typeface="Montserrat"/>
            </a:endParaRPr>
          </a:p>
          <a:p>
            <a:pPr indent="0" lvl="0" marL="0" marR="0" rtl="0" algn="l">
              <a:lnSpc>
                <a:spcPct val="137741"/>
              </a:lnSpc>
              <a:spcBef>
                <a:spcPts val="0"/>
              </a:spcBef>
              <a:spcAft>
                <a:spcPts val="0"/>
              </a:spcAft>
              <a:buClr>
                <a:srgbClr val="000000"/>
              </a:buClr>
              <a:buSzPts val="500"/>
              <a:buFont typeface="Arial"/>
              <a:buNone/>
            </a:pPr>
            <a:r>
              <a:rPr b="1" i="0" lang="en" sz="500" u="none" cap="none" strike="noStrike">
                <a:solidFill>
                  <a:srgbClr val="006AA5"/>
                </a:solidFill>
                <a:latin typeface="Montserrat"/>
                <a:ea typeface="Montserrat"/>
                <a:cs typeface="Montserrat"/>
                <a:sym typeface="Montserrat"/>
              </a:rPr>
              <a:t>Higher education</a:t>
            </a:r>
            <a:r>
              <a:rPr b="0" i="0" lang="en" sz="500" u="none" cap="none" strike="noStrike">
                <a:solidFill>
                  <a:srgbClr val="36312D"/>
                </a:solidFill>
                <a:latin typeface="Montserrat"/>
                <a:ea typeface="Montserrat"/>
                <a:cs typeface="Montserrat"/>
                <a:sym typeface="Montserrat"/>
              </a:rPr>
              <a:t> – 2 esteemed universities partnered to provide best educational support to the employees.</a:t>
            </a:r>
            <a:endParaRPr b="0" i="0" sz="1100" u="none" cap="none" strike="noStrike">
              <a:solidFill>
                <a:srgbClr val="000000"/>
              </a:solidFill>
              <a:latin typeface="Arial"/>
              <a:ea typeface="Arial"/>
              <a:cs typeface="Arial"/>
              <a:sym typeface="Arial"/>
            </a:endParaRPr>
          </a:p>
          <a:p>
            <a:pPr indent="0" lvl="0" marL="0" marR="0" rtl="0" algn="l">
              <a:lnSpc>
                <a:spcPct val="137741"/>
              </a:lnSpc>
              <a:spcBef>
                <a:spcPts val="0"/>
              </a:spcBef>
              <a:spcAft>
                <a:spcPts val="0"/>
              </a:spcAft>
              <a:buClr>
                <a:srgbClr val="000000"/>
              </a:buClr>
              <a:buSzPts val="500"/>
              <a:buFont typeface="Arial"/>
              <a:buNone/>
            </a:pPr>
            <a:r>
              <a:rPr b="0" i="0" lang="en" sz="500" u="none" cap="none" strike="noStrike">
                <a:solidFill>
                  <a:srgbClr val="36312D"/>
                </a:solidFill>
                <a:latin typeface="Montserrat"/>
                <a:ea typeface="Montserrat"/>
                <a:cs typeface="Montserrat"/>
                <a:sym typeface="Montserrat"/>
              </a:rPr>
              <a:t>IIT Madras &amp; BITS Pilani offers exclusive MTech program for Virtusa employees</a:t>
            </a:r>
            <a:endParaRPr b="0" i="0" sz="1100" u="none" cap="none" strike="noStrike">
              <a:solidFill>
                <a:srgbClr val="000000"/>
              </a:solidFill>
              <a:latin typeface="Arial"/>
              <a:ea typeface="Arial"/>
              <a:cs typeface="Arial"/>
              <a:sym typeface="Arial"/>
            </a:endParaRPr>
          </a:p>
        </p:txBody>
      </p:sp>
      <p:sp>
        <p:nvSpPr>
          <p:cNvPr id="623" name="Google Shape;623;p14"/>
          <p:cNvSpPr txBox="1"/>
          <p:nvPr/>
        </p:nvSpPr>
        <p:spPr>
          <a:xfrm>
            <a:off x="6094586" y="2199897"/>
            <a:ext cx="23700" cy="92400"/>
          </a:xfrm>
          <a:prstGeom prst="rect">
            <a:avLst/>
          </a:prstGeom>
          <a:noFill/>
          <a:ln>
            <a:noFill/>
          </a:ln>
        </p:spPr>
        <p:txBody>
          <a:bodyPr anchorCtr="0" anchor="t" bIns="0" lIns="0" spcFirstLastPara="1" rIns="0" wrap="square" tIns="0">
            <a:spAutoFit/>
          </a:bodyPr>
          <a:lstStyle/>
          <a:p>
            <a:pPr indent="0" lvl="0" marL="0" marR="0" rtl="0" algn="l">
              <a:lnSpc>
                <a:spcPct val="133170"/>
              </a:lnSpc>
              <a:spcBef>
                <a:spcPts val="0"/>
              </a:spcBef>
              <a:spcAft>
                <a:spcPts val="0"/>
              </a:spcAft>
              <a:buClr>
                <a:srgbClr val="000000"/>
              </a:buClr>
              <a:buSzPts val="600"/>
              <a:buFont typeface="Arial"/>
              <a:buNone/>
            </a:pPr>
            <a:r>
              <a:rPr b="0" i="0" lang="en" sz="600" u="none" cap="none" strike="noStrike">
                <a:solidFill>
                  <a:srgbClr val="36312D"/>
                </a:solidFill>
                <a:latin typeface="Montserrat"/>
                <a:ea typeface="Montserrat"/>
                <a:cs typeface="Montserrat"/>
                <a:sym typeface="Montserrat"/>
              </a:rPr>
              <a:t> </a:t>
            </a:r>
            <a:endParaRPr b="0" i="0" sz="1100" u="none" cap="none" strike="noStrike">
              <a:solidFill>
                <a:srgbClr val="000000"/>
              </a:solidFill>
              <a:latin typeface="Arial"/>
              <a:ea typeface="Arial"/>
              <a:cs typeface="Arial"/>
              <a:sym typeface="Arial"/>
            </a:endParaRPr>
          </a:p>
        </p:txBody>
      </p:sp>
      <p:sp>
        <p:nvSpPr>
          <p:cNvPr id="624" name="Google Shape;624;p14"/>
          <p:cNvSpPr txBox="1"/>
          <p:nvPr/>
        </p:nvSpPr>
        <p:spPr>
          <a:xfrm>
            <a:off x="6006515" y="1509013"/>
            <a:ext cx="1436700" cy="215400"/>
          </a:xfrm>
          <a:prstGeom prst="rect">
            <a:avLst/>
          </a:prstGeom>
          <a:noFill/>
          <a:ln>
            <a:noFill/>
          </a:ln>
        </p:spPr>
        <p:txBody>
          <a:bodyPr anchorCtr="0" anchor="t" bIns="0" lIns="0" spcFirstLastPara="1" rIns="0" wrap="square" tIns="0">
            <a:spAutoFit/>
          </a:bodyPr>
          <a:lstStyle/>
          <a:p>
            <a:pPr indent="0" lvl="0" marL="0" marR="0" rtl="0" algn="l">
              <a:lnSpc>
                <a:spcPct val="133170"/>
              </a:lnSpc>
              <a:spcBef>
                <a:spcPts val="0"/>
              </a:spcBef>
              <a:spcAft>
                <a:spcPts val="0"/>
              </a:spcAft>
              <a:buClr>
                <a:srgbClr val="000000"/>
              </a:buClr>
              <a:buSzPts val="600"/>
              <a:buFont typeface="Arial"/>
              <a:buNone/>
            </a:pPr>
            <a:r>
              <a:rPr b="0" i="0" lang="en" sz="600" u="none" cap="none" strike="noStrike">
                <a:solidFill>
                  <a:srgbClr val="36312D"/>
                </a:solidFill>
                <a:latin typeface="Montserrat"/>
                <a:ea typeface="Montserrat"/>
                <a:cs typeface="Montserrat"/>
                <a:sym typeface="Montserrat"/>
              </a:rPr>
              <a:t>We look forward to seeing you in our process and subsequently at work. </a:t>
            </a:r>
            <a:endParaRPr b="0" i="0" sz="1100" u="none" cap="none" strike="noStrike">
              <a:solidFill>
                <a:srgbClr val="000000"/>
              </a:solidFill>
              <a:latin typeface="Arial"/>
              <a:ea typeface="Arial"/>
              <a:cs typeface="Arial"/>
              <a:sym typeface="Arial"/>
            </a:endParaRPr>
          </a:p>
        </p:txBody>
      </p:sp>
      <p:sp>
        <p:nvSpPr>
          <p:cNvPr id="625" name="Google Shape;625;p14"/>
          <p:cNvSpPr txBox="1"/>
          <p:nvPr/>
        </p:nvSpPr>
        <p:spPr>
          <a:xfrm>
            <a:off x="6006516" y="1854117"/>
            <a:ext cx="1376700" cy="215400"/>
          </a:xfrm>
          <a:prstGeom prst="rect">
            <a:avLst/>
          </a:prstGeom>
          <a:noFill/>
          <a:ln>
            <a:noFill/>
          </a:ln>
        </p:spPr>
        <p:txBody>
          <a:bodyPr anchorCtr="0" anchor="t" bIns="0" lIns="0" spcFirstLastPara="1" rIns="0" wrap="square" tIns="0">
            <a:spAutoFit/>
          </a:bodyPr>
          <a:lstStyle/>
          <a:p>
            <a:pPr indent="0" lvl="0" marL="0" marR="0" rtl="0" algn="l">
              <a:lnSpc>
                <a:spcPct val="133170"/>
              </a:lnSpc>
              <a:spcBef>
                <a:spcPts val="0"/>
              </a:spcBef>
              <a:spcAft>
                <a:spcPts val="0"/>
              </a:spcAft>
              <a:buClr>
                <a:srgbClr val="000000"/>
              </a:buClr>
              <a:buSzPts val="600"/>
              <a:buFont typeface="Arial"/>
              <a:buNone/>
            </a:pPr>
            <a:r>
              <a:rPr b="0" i="0" lang="en" sz="600" u="none" cap="none" strike="noStrike">
                <a:solidFill>
                  <a:srgbClr val="36312D"/>
                </a:solidFill>
                <a:latin typeface="Montserrat"/>
                <a:ea typeface="Montserrat"/>
                <a:cs typeface="Montserrat"/>
                <a:sym typeface="Montserrat"/>
              </a:rPr>
              <a:t>To know more, follow our Instagram page </a:t>
            </a:r>
            <a:r>
              <a:rPr b="1" i="0" lang="en" sz="600" u="none" cap="none" strike="noStrike">
                <a:solidFill>
                  <a:srgbClr val="00AAE8"/>
                </a:solidFill>
                <a:latin typeface="Montserrat"/>
                <a:ea typeface="Montserrat"/>
                <a:cs typeface="Montserrat"/>
                <a:sym typeface="Montserrat"/>
              </a:rPr>
              <a:t>@GTP_Virtusa</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5"/>
          <p:cNvSpPr/>
          <p:nvPr/>
        </p:nvSpPr>
        <p:spPr>
          <a:xfrm>
            <a:off x="165254" y="544145"/>
            <a:ext cx="8663700" cy="4075800"/>
          </a:xfrm>
          <a:prstGeom prst="rect">
            <a:avLst/>
          </a:prstGeom>
          <a:solidFill>
            <a:srgbClr val="36312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631" name="Google Shape;631;p15"/>
          <p:cNvSpPr txBox="1"/>
          <p:nvPr>
            <p:ph type="title"/>
          </p:nvPr>
        </p:nvSpPr>
        <p:spPr>
          <a:xfrm>
            <a:off x="496288" y="1110336"/>
            <a:ext cx="1981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lt1"/>
              </a:buClr>
              <a:buSzPts val="1700"/>
              <a:buFont typeface="Georgia"/>
              <a:buNone/>
            </a:pPr>
            <a:r>
              <a:rPr lang="en" sz="1700">
                <a:solidFill>
                  <a:schemeClr val="lt1"/>
                </a:solidFill>
              </a:rPr>
              <a:t>Talent Engagements</a:t>
            </a:r>
            <a:endParaRPr/>
          </a:p>
        </p:txBody>
      </p:sp>
      <p:grpSp>
        <p:nvGrpSpPr>
          <p:cNvPr id="632" name="Google Shape;632;p15"/>
          <p:cNvGrpSpPr/>
          <p:nvPr/>
        </p:nvGrpSpPr>
        <p:grpSpPr>
          <a:xfrm>
            <a:off x="185548" y="2381003"/>
            <a:ext cx="4197464" cy="2136401"/>
            <a:chOff x="61036" y="3532193"/>
            <a:chExt cx="6724549" cy="2286388"/>
          </a:xfrm>
        </p:grpSpPr>
        <p:pic>
          <p:nvPicPr>
            <p:cNvPr descr="A group of people standing in a room&#10;&#10;Description automatically generated" id="633" name="Google Shape;633;p15"/>
            <p:cNvPicPr preferRelativeResize="0"/>
            <p:nvPr/>
          </p:nvPicPr>
          <p:blipFill rotWithShape="1">
            <a:blip r:embed="rId3">
              <a:alphaModFix/>
            </a:blip>
            <a:srcRect b="0" l="0" r="0" t="0"/>
            <a:stretch/>
          </p:blipFill>
          <p:spPr>
            <a:xfrm>
              <a:off x="4954462" y="3532193"/>
              <a:ext cx="1819471" cy="1195840"/>
            </a:xfrm>
            <a:prstGeom prst="rect">
              <a:avLst/>
            </a:prstGeom>
            <a:noFill/>
            <a:ln>
              <a:noFill/>
            </a:ln>
          </p:spPr>
        </p:pic>
        <p:pic>
          <p:nvPicPr>
            <p:cNvPr id="634" name="Google Shape;634;p15"/>
            <p:cNvPicPr preferRelativeResize="0"/>
            <p:nvPr/>
          </p:nvPicPr>
          <p:blipFill rotWithShape="1">
            <a:blip r:embed="rId4">
              <a:alphaModFix/>
            </a:blip>
            <a:srcRect b="0" l="0" r="0" t="0"/>
            <a:stretch/>
          </p:blipFill>
          <p:spPr>
            <a:xfrm>
              <a:off x="61036" y="4773469"/>
              <a:ext cx="1666088" cy="1045110"/>
            </a:xfrm>
            <a:prstGeom prst="rect">
              <a:avLst/>
            </a:prstGeom>
            <a:noFill/>
            <a:ln>
              <a:noFill/>
            </a:ln>
          </p:spPr>
        </p:pic>
        <p:pic>
          <p:nvPicPr>
            <p:cNvPr id="635" name="Google Shape;635;p15"/>
            <p:cNvPicPr preferRelativeResize="0"/>
            <p:nvPr/>
          </p:nvPicPr>
          <p:blipFill rotWithShape="1">
            <a:blip r:embed="rId5">
              <a:alphaModFix/>
            </a:blip>
            <a:srcRect b="0" l="0" r="0" t="0"/>
            <a:stretch/>
          </p:blipFill>
          <p:spPr>
            <a:xfrm>
              <a:off x="1757311" y="4773471"/>
              <a:ext cx="1427153" cy="1024283"/>
            </a:xfrm>
            <a:prstGeom prst="rect">
              <a:avLst/>
            </a:prstGeom>
            <a:noFill/>
            <a:ln cap="flat" cmpd="sng" w="14300">
              <a:solidFill>
                <a:schemeClr val="dk1"/>
              </a:solidFill>
              <a:prstDash val="solid"/>
              <a:miter lim="80"/>
              <a:headEnd len="sm" w="sm" type="none"/>
              <a:tailEnd len="sm" w="sm" type="none"/>
            </a:ln>
          </p:spPr>
        </p:pic>
        <p:pic>
          <p:nvPicPr>
            <p:cNvPr id="636" name="Google Shape;636;p15"/>
            <p:cNvPicPr preferRelativeResize="0"/>
            <p:nvPr/>
          </p:nvPicPr>
          <p:blipFill rotWithShape="1">
            <a:blip r:embed="rId6">
              <a:alphaModFix/>
            </a:blip>
            <a:srcRect b="0" l="0" r="0" t="0"/>
            <a:stretch/>
          </p:blipFill>
          <p:spPr>
            <a:xfrm>
              <a:off x="3214650" y="4773471"/>
              <a:ext cx="1719665" cy="1045110"/>
            </a:xfrm>
            <a:prstGeom prst="rect">
              <a:avLst/>
            </a:prstGeom>
            <a:noFill/>
            <a:ln>
              <a:noFill/>
            </a:ln>
          </p:spPr>
        </p:pic>
        <p:pic>
          <p:nvPicPr>
            <p:cNvPr descr="A group of people standing in an office&#10;&#10;Description automatically generated with medium confidence" id="637" name="Google Shape;637;p15"/>
            <p:cNvPicPr preferRelativeResize="0"/>
            <p:nvPr/>
          </p:nvPicPr>
          <p:blipFill rotWithShape="1">
            <a:blip r:embed="rId7">
              <a:alphaModFix/>
            </a:blip>
            <a:srcRect b="0" l="0" r="0" t="0"/>
            <a:stretch/>
          </p:blipFill>
          <p:spPr>
            <a:xfrm>
              <a:off x="4841816" y="4795409"/>
              <a:ext cx="1943769" cy="1023172"/>
            </a:xfrm>
            <a:prstGeom prst="rect">
              <a:avLst/>
            </a:prstGeom>
            <a:noFill/>
            <a:ln>
              <a:noFill/>
            </a:ln>
          </p:spPr>
        </p:pic>
        <p:pic>
          <p:nvPicPr>
            <p:cNvPr descr="A group of people standing in a room&#10;&#10;Description automatically generated" id="638" name="Google Shape;638;p15"/>
            <p:cNvPicPr preferRelativeResize="0"/>
            <p:nvPr/>
          </p:nvPicPr>
          <p:blipFill rotWithShape="1">
            <a:blip r:embed="rId8">
              <a:alphaModFix/>
            </a:blip>
            <a:srcRect b="0" l="0" r="0" t="0"/>
            <a:stretch/>
          </p:blipFill>
          <p:spPr>
            <a:xfrm>
              <a:off x="61036" y="3532193"/>
              <a:ext cx="1682471" cy="1187473"/>
            </a:xfrm>
            <a:prstGeom prst="rect">
              <a:avLst/>
            </a:prstGeom>
            <a:noFill/>
            <a:ln>
              <a:noFill/>
            </a:ln>
          </p:spPr>
        </p:pic>
        <p:pic>
          <p:nvPicPr>
            <p:cNvPr descr="A collage of people in a room&#10;&#10;Description automatically generated" id="639" name="Google Shape;639;p15"/>
            <p:cNvPicPr preferRelativeResize="0"/>
            <p:nvPr/>
          </p:nvPicPr>
          <p:blipFill rotWithShape="1">
            <a:blip r:embed="rId9">
              <a:alphaModFix/>
            </a:blip>
            <a:srcRect b="0" l="0" r="0" t="0"/>
            <a:stretch/>
          </p:blipFill>
          <p:spPr>
            <a:xfrm>
              <a:off x="1775305" y="3532193"/>
              <a:ext cx="1604770" cy="1195839"/>
            </a:xfrm>
            <a:prstGeom prst="rect">
              <a:avLst/>
            </a:prstGeom>
            <a:noFill/>
            <a:ln>
              <a:noFill/>
            </a:ln>
          </p:spPr>
        </p:pic>
        <p:pic>
          <p:nvPicPr>
            <p:cNvPr descr="A collage of people in a room&#10;&#10;Description automatically generated" id="640" name="Google Shape;640;p15"/>
            <p:cNvPicPr preferRelativeResize="0"/>
            <p:nvPr/>
          </p:nvPicPr>
          <p:blipFill rotWithShape="1">
            <a:blip r:embed="rId10">
              <a:alphaModFix/>
            </a:blip>
            <a:srcRect b="0" l="0" r="0" t="0"/>
            <a:stretch/>
          </p:blipFill>
          <p:spPr>
            <a:xfrm>
              <a:off x="3411874" y="3532193"/>
              <a:ext cx="1510789" cy="1212845"/>
            </a:xfrm>
            <a:prstGeom prst="rect">
              <a:avLst/>
            </a:prstGeom>
            <a:noFill/>
            <a:ln>
              <a:noFill/>
            </a:ln>
          </p:spPr>
        </p:pic>
      </p:grpSp>
      <p:sp>
        <p:nvSpPr>
          <p:cNvPr id="641" name="Google Shape;641;p15"/>
          <p:cNvSpPr/>
          <p:nvPr/>
        </p:nvSpPr>
        <p:spPr>
          <a:xfrm flipH="1">
            <a:off x="1562642" y="1480184"/>
            <a:ext cx="1083495" cy="1083495"/>
          </a:xfrm>
          <a:custGeom>
            <a:rect b="b" l="l" r="r" t="t"/>
            <a:pathLst>
              <a:path extrusionOk="0" h="1952243" w="1952243">
                <a:moveTo>
                  <a:pt x="1952244" y="975932"/>
                </a:moveTo>
                <a:cubicBezTo>
                  <a:pt x="1416939" y="967645"/>
                  <a:pt x="984599" y="535305"/>
                  <a:pt x="976312" y="0"/>
                </a:cubicBezTo>
                <a:lnTo>
                  <a:pt x="975932" y="0"/>
                </a:lnTo>
                <a:cubicBezTo>
                  <a:pt x="967645" y="535305"/>
                  <a:pt x="535305" y="967645"/>
                  <a:pt x="0" y="975932"/>
                </a:cubicBezTo>
                <a:lnTo>
                  <a:pt x="0" y="976312"/>
                </a:lnTo>
                <a:cubicBezTo>
                  <a:pt x="535305" y="984599"/>
                  <a:pt x="967645" y="1416939"/>
                  <a:pt x="975932" y="1952244"/>
                </a:cubicBezTo>
                <a:lnTo>
                  <a:pt x="976312" y="1952244"/>
                </a:lnTo>
                <a:cubicBezTo>
                  <a:pt x="984599" y="1416939"/>
                  <a:pt x="1416939" y="984599"/>
                  <a:pt x="1952244" y="976312"/>
                </a:cubicBezTo>
                <a:lnTo>
                  <a:pt x="1952244" y="975932"/>
                </a:lnTo>
                <a:close/>
              </a:path>
            </a:pathLst>
          </a:custGeom>
          <a:solidFill>
            <a:srgbClr val="E0DEE4">
              <a:alpha val="58039"/>
            </a:srgbClr>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36312D"/>
              </a:solidFill>
              <a:latin typeface="Arial"/>
              <a:ea typeface="Arial"/>
              <a:cs typeface="Arial"/>
              <a:sym typeface="Arial"/>
            </a:endParaRPr>
          </a:p>
        </p:txBody>
      </p:sp>
      <p:pic>
        <p:nvPicPr>
          <p:cNvPr descr="A screenshot of a computer&#10;&#10;Description automatically generated with medium confidence" id="642" name="Google Shape;642;p15"/>
          <p:cNvPicPr preferRelativeResize="0"/>
          <p:nvPr/>
        </p:nvPicPr>
        <p:blipFill rotWithShape="1">
          <a:blip r:embed="rId11">
            <a:alphaModFix/>
          </a:blip>
          <a:srcRect b="0" l="0" r="0" t="0"/>
          <a:stretch/>
        </p:blipFill>
        <p:spPr>
          <a:xfrm>
            <a:off x="4441911" y="2380112"/>
            <a:ext cx="2330074" cy="1204416"/>
          </a:xfrm>
          <a:prstGeom prst="rect">
            <a:avLst/>
          </a:prstGeom>
          <a:noFill/>
          <a:ln>
            <a:noFill/>
          </a:ln>
        </p:spPr>
      </p:pic>
      <p:pic>
        <p:nvPicPr>
          <p:cNvPr id="643" name="Google Shape;643;p15"/>
          <p:cNvPicPr preferRelativeResize="0"/>
          <p:nvPr/>
        </p:nvPicPr>
        <p:blipFill rotWithShape="1">
          <a:blip r:embed="rId12">
            <a:alphaModFix/>
          </a:blip>
          <a:srcRect b="0" l="0" r="0" t="0"/>
          <a:stretch/>
        </p:blipFill>
        <p:spPr>
          <a:xfrm>
            <a:off x="6831083" y="2380112"/>
            <a:ext cx="1910294" cy="1175147"/>
          </a:xfrm>
          <a:prstGeom prst="rect">
            <a:avLst/>
          </a:prstGeom>
          <a:noFill/>
          <a:ln>
            <a:noFill/>
          </a:ln>
        </p:spPr>
      </p:pic>
      <p:pic>
        <p:nvPicPr>
          <p:cNvPr descr="A group of people standing in a room&#10;&#10;Description automatically generated with medium confidence" id="644" name="Google Shape;644;p15"/>
          <p:cNvPicPr preferRelativeResize="0"/>
          <p:nvPr/>
        </p:nvPicPr>
        <p:blipFill rotWithShape="1">
          <a:blip r:embed="rId13">
            <a:alphaModFix/>
          </a:blip>
          <a:srcRect b="0" l="0" r="0" t="0"/>
          <a:stretch/>
        </p:blipFill>
        <p:spPr>
          <a:xfrm>
            <a:off x="2646137" y="593284"/>
            <a:ext cx="2175384" cy="1700517"/>
          </a:xfrm>
          <a:prstGeom prst="rect">
            <a:avLst/>
          </a:prstGeom>
          <a:noFill/>
          <a:ln>
            <a:noFill/>
          </a:ln>
        </p:spPr>
      </p:pic>
      <p:pic>
        <p:nvPicPr>
          <p:cNvPr descr="A group of people posing for a photo&#10;&#10;Description automatically generated" id="645" name="Google Shape;645;p15"/>
          <p:cNvPicPr preferRelativeResize="0"/>
          <p:nvPr/>
        </p:nvPicPr>
        <p:blipFill rotWithShape="1">
          <a:blip r:embed="rId14">
            <a:alphaModFix/>
          </a:blip>
          <a:srcRect b="0" l="0" r="0" t="0"/>
          <a:stretch/>
        </p:blipFill>
        <p:spPr>
          <a:xfrm>
            <a:off x="4841886" y="616934"/>
            <a:ext cx="2330074" cy="1668437"/>
          </a:xfrm>
          <a:prstGeom prst="rect">
            <a:avLst/>
          </a:prstGeom>
          <a:noFill/>
          <a:ln>
            <a:noFill/>
          </a:ln>
        </p:spPr>
      </p:pic>
      <p:pic>
        <p:nvPicPr>
          <p:cNvPr descr="Graphical user interface, text&#10;&#10;Description automatically generated with medium confidence" id="646" name="Google Shape;646;p15"/>
          <p:cNvPicPr preferRelativeResize="0"/>
          <p:nvPr/>
        </p:nvPicPr>
        <p:blipFill rotWithShape="1">
          <a:blip r:embed="rId15">
            <a:alphaModFix/>
          </a:blip>
          <a:srcRect b="0" l="0" r="0" t="0"/>
          <a:stretch/>
        </p:blipFill>
        <p:spPr>
          <a:xfrm>
            <a:off x="4449047" y="3561488"/>
            <a:ext cx="1533888" cy="1005788"/>
          </a:xfrm>
          <a:prstGeom prst="rect">
            <a:avLst/>
          </a:prstGeom>
          <a:noFill/>
          <a:ln>
            <a:noFill/>
          </a:ln>
        </p:spPr>
      </p:pic>
      <p:pic>
        <p:nvPicPr>
          <p:cNvPr descr="image" id="647" name="Google Shape;647;p15"/>
          <p:cNvPicPr preferRelativeResize="0"/>
          <p:nvPr/>
        </p:nvPicPr>
        <p:blipFill rotWithShape="1">
          <a:blip r:embed="rId16">
            <a:alphaModFix/>
          </a:blip>
          <a:srcRect b="0" l="0" r="0" t="0"/>
          <a:stretch/>
        </p:blipFill>
        <p:spPr>
          <a:xfrm>
            <a:off x="6049166" y="3617919"/>
            <a:ext cx="1456425" cy="949357"/>
          </a:xfrm>
          <a:prstGeom prst="rect">
            <a:avLst/>
          </a:prstGeom>
          <a:noFill/>
          <a:ln>
            <a:noFill/>
          </a:ln>
        </p:spPr>
      </p:pic>
      <p:pic>
        <p:nvPicPr>
          <p:cNvPr descr="A picture containing indoor, person, ceiling&#10;&#10;Description automatically generated" id="648" name="Google Shape;648;p15"/>
          <p:cNvPicPr preferRelativeResize="0"/>
          <p:nvPr/>
        </p:nvPicPr>
        <p:blipFill rotWithShape="1">
          <a:blip r:embed="rId17">
            <a:alphaModFix/>
          </a:blip>
          <a:srcRect b="11398" l="0" r="0" t="34198"/>
          <a:stretch/>
        </p:blipFill>
        <p:spPr>
          <a:xfrm>
            <a:off x="7231057" y="611114"/>
            <a:ext cx="1506543" cy="1700516"/>
          </a:xfrm>
          <a:prstGeom prst="rect">
            <a:avLst/>
          </a:prstGeom>
          <a:noFill/>
          <a:ln>
            <a:noFill/>
          </a:ln>
        </p:spPr>
      </p:pic>
      <p:pic>
        <p:nvPicPr>
          <p:cNvPr id="649" name="Google Shape;649;p15"/>
          <p:cNvPicPr preferRelativeResize="0"/>
          <p:nvPr/>
        </p:nvPicPr>
        <p:blipFill rotWithShape="1">
          <a:blip r:embed="rId18">
            <a:alphaModFix/>
          </a:blip>
          <a:srcRect b="0" l="0" r="0" t="0"/>
          <a:stretch/>
        </p:blipFill>
        <p:spPr>
          <a:xfrm>
            <a:off x="7571823" y="3617919"/>
            <a:ext cx="1165776" cy="981436"/>
          </a:xfrm>
          <a:prstGeom prst="rect">
            <a:avLst/>
          </a:prstGeom>
          <a:noFill/>
          <a:ln>
            <a:noFill/>
          </a:ln>
        </p:spPr>
      </p:pic>
    </p:spTree>
  </p:cSld>
  <p:clrMapOvr>
    <a:masterClrMapping/>
  </p:clrMapOvr>
  <mc:AlternateContent>
    <mc:Choice Requires="p14">
      <p:transition spd="slow" p14:dur="2000">
        <p14:prism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6"/>
          <p:cNvSpPr txBox="1"/>
          <p:nvPr/>
        </p:nvSpPr>
        <p:spPr>
          <a:xfrm>
            <a:off x="422391" y="557729"/>
            <a:ext cx="7198500" cy="7053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3E1F8E"/>
              </a:buClr>
              <a:buSzPts val="3000"/>
              <a:buFont typeface="Georgia"/>
              <a:buNone/>
            </a:pPr>
            <a:r>
              <a:rPr b="1" i="0" lang="en" sz="3000" u="none" cap="none" strike="noStrike">
                <a:solidFill>
                  <a:srgbClr val="3E1F8E"/>
                </a:solidFill>
                <a:latin typeface="Georgia"/>
                <a:ea typeface="Georgia"/>
                <a:cs typeface="Georgia"/>
                <a:sym typeface="Georgia"/>
              </a:rPr>
              <a:t>Eligibility &amp; Offer Details</a:t>
            </a:r>
            <a:endParaRPr b="0" i="0" sz="1100" u="none" cap="none" strike="noStrike">
              <a:solidFill>
                <a:srgbClr val="000000"/>
              </a:solidFill>
              <a:latin typeface="Arial"/>
              <a:ea typeface="Arial"/>
              <a:cs typeface="Arial"/>
              <a:sym typeface="Arial"/>
            </a:endParaRPr>
          </a:p>
        </p:txBody>
      </p:sp>
      <p:sp>
        <p:nvSpPr>
          <p:cNvPr id="655" name="Google Shape;655;p16"/>
          <p:cNvSpPr txBox="1"/>
          <p:nvPr/>
        </p:nvSpPr>
        <p:spPr>
          <a:xfrm>
            <a:off x="422391" y="1371978"/>
            <a:ext cx="5807400" cy="2349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36312D"/>
              </a:buClr>
              <a:buSzPts val="1100"/>
              <a:buFont typeface="Arial"/>
              <a:buNone/>
            </a:pPr>
            <a:r>
              <a:rPr b="1" i="0" lang="en" sz="1100" u="none" cap="none" strike="noStrike">
                <a:solidFill>
                  <a:schemeClr val="dk1"/>
                </a:solidFill>
                <a:latin typeface="Arial"/>
                <a:ea typeface="Arial"/>
                <a:cs typeface="Arial"/>
                <a:sym typeface="Arial"/>
              </a:rPr>
              <a:t>Criterion for eligibility:</a:t>
            </a:r>
            <a:endParaRPr b="0" i="0" sz="1100" u="none" cap="none" strike="noStrike">
              <a:solidFill>
                <a:schemeClr val="dk1"/>
              </a:solidFill>
              <a:latin typeface="Arial"/>
              <a:ea typeface="Arial"/>
              <a:cs typeface="Arial"/>
              <a:sym typeface="Arial"/>
            </a:endParaRPr>
          </a:p>
          <a:p>
            <a:pPr indent="-127000" lvl="0" marL="127000" marR="0" rtl="0" algn="l">
              <a:lnSpc>
                <a:spcPct val="100000"/>
              </a:lnSpc>
              <a:spcBef>
                <a:spcPts val="9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65% aggregate across 10th, 12th and degree </a:t>
            </a:r>
            <a:endParaRPr b="0" i="0" sz="1100" u="none" cap="none" strike="noStrike">
              <a:solidFill>
                <a:schemeClr val="dk1"/>
              </a:solidFill>
              <a:latin typeface="Arial"/>
              <a:ea typeface="Arial"/>
              <a:cs typeface="Arial"/>
              <a:sym typeface="Arial"/>
            </a:endParaRPr>
          </a:p>
          <a:p>
            <a:pPr indent="-127000" lvl="0" marL="127000" marR="0" rtl="0" algn="l">
              <a:lnSpc>
                <a:spcPct val="100000"/>
              </a:lnSpc>
              <a:spcBef>
                <a:spcPts val="9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Stream: BE, BTech- IT, CSE &amp; Computer science related branches</a:t>
            </a:r>
            <a:endParaRPr b="0" i="0" sz="1100" u="none" cap="none" strike="noStrike">
              <a:solidFill>
                <a:schemeClr val="dk1"/>
              </a:solidFill>
              <a:latin typeface="Arial"/>
              <a:ea typeface="Arial"/>
              <a:cs typeface="Arial"/>
              <a:sym typeface="Arial"/>
            </a:endParaRPr>
          </a:p>
          <a:p>
            <a:pPr indent="-127000" lvl="0" marL="127000" marR="0" rtl="0" algn="l">
              <a:lnSpc>
                <a:spcPct val="100000"/>
              </a:lnSpc>
              <a:spcBef>
                <a:spcPts val="9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No active backlogs</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Offers: </a:t>
            </a:r>
            <a:endParaRPr b="0" i="0" sz="1100" u="none" cap="none" strike="noStrike">
              <a:solidFill>
                <a:schemeClr val="dk1"/>
              </a:solidFill>
              <a:latin typeface="Arial"/>
              <a:ea typeface="Arial"/>
              <a:cs typeface="Arial"/>
              <a:sym typeface="Arial"/>
            </a:endParaRPr>
          </a:p>
          <a:p>
            <a:pPr indent="-215900" lvl="0" marL="215900" marR="0" rtl="0" algn="l">
              <a:lnSpc>
                <a:spcPct val="100000"/>
              </a:lnSpc>
              <a:spcBef>
                <a:spcPts val="9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2 type of offers</a:t>
            </a:r>
            <a:endParaRPr b="0" i="0" sz="1100" u="none" cap="none" strike="noStrike">
              <a:solidFill>
                <a:schemeClr val="dk1"/>
              </a:solidFill>
              <a:latin typeface="Arial"/>
              <a:ea typeface="Arial"/>
              <a:cs typeface="Arial"/>
              <a:sym typeface="Arial"/>
            </a:endParaRPr>
          </a:p>
          <a:p>
            <a:pPr indent="-222250" lvl="1" marL="558800" marR="0" rtl="0" algn="l">
              <a:lnSpc>
                <a:spcPct val="100000"/>
              </a:lnSpc>
              <a:spcBef>
                <a:spcPts val="9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Regular coders-</a:t>
            </a:r>
            <a:r>
              <a:rPr b="0" i="0" lang="en" sz="1100" u="none" cap="none" strike="noStrike">
                <a:solidFill>
                  <a:schemeClr val="dk1"/>
                </a:solidFill>
                <a:latin typeface="Arial"/>
                <a:ea typeface="Arial"/>
                <a:cs typeface="Arial"/>
                <a:sym typeface="Arial"/>
              </a:rPr>
              <a:t> can do basic to intermediate coding; </a:t>
            </a:r>
            <a:r>
              <a:rPr b="1" i="0" lang="en" sz="1100" u="none" cap="none" strike="noStrike">
                <a:solidFill>
                  <a:schemeClr val="dk1"/>
                </a:solidFill>
                <a:latin typeface="Arial"/>
                <a:ea typeface="Arial"/>
                <a:cs typeface="Arial"/>
                <a:sym typeface="Arial"/>
              </a:rPr>
              <a:t>5LPA</a:t>
            </a:r>
            <a:endParaRPr b="0" i="0" sz="1100" u="none" cap="none" strike="noStrike">
              <a:solidFill>
                <a:schemeClr val="dk1"/>
              </a:solidFill>
              <a:latin typeface="Arial"/>
              <a:ea typeface="Arial"/>
              <a:cs typeface="Arial"/>
              <a:sym typeface="Arial"/>
            </a:endParaRPr>
          </a:p>
          <a:p>
            <a:pPr indent="-222250" lvl="1" marL="558800" marR="0" rtl="0" algn="l">
              <a:lnSpc>
                <a:spcPct val="100000"/>
              </a:lnSpc>
              <a:spcBef>
                <a:spcPts val="5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Power coders- </a:t>
            </a:r>
            <a:r>
              <a:rPr b="0" i="0" lang="en" sz="1100" u="none" cap="none" strike="noStrike">
                <a:solidFill>
                  <a:schemeClr val="dk1"/>
                </a:solidFill>
                <a:latin typeface="Arial"/>
                <a:ea typeface="Arial"/>
                <a:cs typeface="Arial"/>
                <a:sym typeface="Arial"/>
              </a:rPr>
              <a:t>can do intermediate to high level coding- </a:t>
            </a:r>
            <a:r>
              <a:rPr b="0" i="0" lang="en" sz="1100" u="none" cap="none" strike="noStrike">
                <a:solidFill>
                  <a:schemeClr val="dk1"/>
                </a:solidFill>
                <a:latin typeface="Arial"/>
                <a:ea typeface="Arial"/>
                <a:cs typeface="Arial"/>
                <a:sym typeface="Arial"/>
              </a:rPr>
              <a:t>gets higher package; </a:t>
            </a:r>
            <a:r>
              <a:rPr b="1" i="0" lang="en" sz="1100" u="none" cap="none" strike="noStrike">
                <a:solidFill>
                  <a:schemeClr val="dk1"/>
                </a:solidFill>
                <a:latin typeface="Arial"/>
                <a:ea typeface="Arial"/>
                <a:cs typeface="Arial"/>
                <a:sym typeface="Arial"/>
              </a:rPr>
              <a:t>6.5LPA</a:t>
            </a:r>
            <a:endParaRPr b="0" i="0" sz="11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2000">
        <p14:prism dir="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7"/>
          <p:cNvSpPr txBox="1"/>
          <p:nvPr/>
        </p:nvSpPr>
        <p:spPr>
          <a:xfrm>
            <a:off x="422391" y="296879"/>
            <a:ext cx="7198500" cy="7053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3E1F8E"/>
              </a:buClr>
              <a:buSzPts val="3600"/>
              <a:buFont typeface="Georgia"/>
              <a:buNone/>
            </a:pPr>
            <a:r>
              <a:rPr b="1" i="0" lang="en" sz="3600" u="none" cap="none" strike="noStrike">
                <a:solidFill>
                  <a:srgbClr val="3E1F8E"/>
                </a:solidFill>
                <a:latin typeface="Georgia"/>
                <a:ea typeface="Georgia"/>
                <a:cs typeface="Georgia"/>
                <a:sym typeface="Georgia"/>
              </a:rPr>
              <a:t>Interview process</a:t>
            </a:r>
            <a:endParaRPr b="0" i="0" sz="1100" u="none" cap="none" strike="noStrike">
              <a:solidFill>
                <a:srgbClr val="000000"/>
              </a:solidFill>
              <a:latin typeface="Arial"/>
              <a:ea typeface="Arial"/>
              <a:cs typeface="Arial"/>
              <a:sym typeface="Arial"/>
            </a:endParaRPr>
          </a:p>
        </p:txBody>
      </p:sp>
      <p:sp>
        <p:nvSpPr>
          <p:cNvPr id="661" name="Google Shape;661;p17"/>
          <p:cNvSpPr txBox="1"/>
          <p:nvPr/>
        </p:nvSpPr>
        <p:spPr>
          <a:xfrm>
            <a:off x="422391" y="3025058"/>
            <a:ext cx="3873000" cy="1793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532ABE"/>
              </a:buClr>
              <a:buSzPts val="1100"/>
              <a:buFont typeface="Arial"/>
              <a:buNone/>
            </a:pPr>
            <a:r>
              <a:rPr b="1" i="0" lang="en" sz="1100" u="none" cap="none" strike="noStrike">
                <a:solidFill>
                  <a:srgbClr val="532ABE"/>
                </a:solidFill>
                <a:latin typeface="Arial"/>
                <a:ea typeface="Arial"/>
                <a:cs typeface="Arial"/>
                <a:sym typeface="Arial"/>
              </a:rPr>
              <a:t>Stage 2- Coding Event- 150 mins</a:t>
            </a:r>
            <a:endParaRPr b="0" i="0" sz="1100" u="none" cap="none" strike="noStrike">
              <a:solidFill>
                <a:srgbClr val="000000"/>
              </a:solidFill>
              <a:latin typeface="Arial"/>
              <a:ea typeface="Arial"/>
              <a:cs typeface="Arial"/>
              <a:sym typeface="Arial"/>
            </a:endParaRPr>
          </a:p>
          <a:p>
            <a:pPr indent="-215900" lvl="0" marL="215900" marR="0" rtl="0" algn="l">
              <a:lnSpc>
                <a:spcPct val="100000"/>
              </a:lnSpc>
              <a:spcBef>
                <a:spcPts val="9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3 coding questions to crack</a:t>
            </a:r>
            <a:endParaRPr b="0" i="0" sz="1100" u="none" cap="none" strike="noStrike">
              <a:solidFill>
                <a:srgbClr val="000000"/>
              </a:solidFill>
              <a:latin typeface="Arial"/>
              <a:ea typeface="Arial"/>
              <a:cs typeface="Arial"/>
              <a:sym typeface="Arial"/>
            </a:endParaRPr>
          </a:p>
          <a:p>
            <a:pPr indent="-215900" lvl="0" marL="215900" marR="0" rtl="0" algn="l">
              <a:lnSpc>
                <a:spcPct val="100000"/>
              </a:lnSpc>
              <a:spcBef>
                <a:spcPts val="5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To be conducted in campus – invigilation by Virtusa</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53353"/>
              </a:buClr>
              <a:buSzPts val="1100"/>
              <a:buFont typeface="Arial"/>
              <a:buNone/>
            </a:pPr>
            <a:r>
              <a:rPr b="1" i="0" lang="en" sz="1100" u="none" cap="none" strike="noStrike">
                <a:solidFill>
                  <a:srgbClr val="053353"/>
                </a:solidFill>
                <a:latin typeface="Arial"/>
                <a:ea typeface="Arial"/>
                <a:cs typeface="Arial"/>
                <a:sym typeface="Arial"/>
              </a:rPr>
              <a:t>Stage 3- Technical &amp; Communication Interview</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Discussion with the technical panel in Virtusa office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AAE8"/>
              </a:buClr>
              <a:buSzPts val="1100"/>
              <a:buFont typeface="Arial"/>
              <a:buNone/>
            </a:pPr>
            <a:r>
              <a:rPr b="1" i="0" lang="en" sz="1100" u="none" cap="none" strike="noStrike">
                <a:solidFill>
                  <a:srgbClr val="00AAE8"/>
                </a:solidFill>
                <a:latin typeface="Arial"/>
                <a:ea typeface="Arial"/>
                <a:cs typeface="Arial"/>
                <a:sym typeface="Arial"/>
              </a:rPr>
              <a:t>Stage 4- HR Interview</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Discussion with the HR panel</a:t>
            </a:r>
            <a:endParaRPr b="0" i="0" sz="1100" u="none" cap="none" strike="noStrike">
              <a:solidFill>
                <a:srgbClr val="000000"/>
              </a:solidFill>
              <a:latin typeface="Arial"/>
              <a:ea typeface="Arial"/>
              <a:cs typeface="Arial"/>
              <a:sym typeface="Arial"/>
            </a:endParaRPr>
          </a:p>
        </p:txBody>
      </p:sp>
      <p:sp>
        <p:nvSpPr>
          <p:cNvPr id="662" name="Google Shape;662;p17"/>
          <p:cNvSpPr txBox="1"/>
          <p:nvPr/>
        </p:nvSpPr>
        <p:spPr>
          <a:xfrm>
            <a:off x="422391" y="1020110"/>
            <a:ext cx="6243000" cy="1041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894DFF"/>
              </a:buClr>
              <a:buSzPts val="1100"/>
              <a:buFont typeface="Arial"/>
              <a:buNone/>
            </a:pPr>
            <a:r>
              <a:rPr b="1" i="0" lang="en" sz="1100" u="none" cap="none" strike="noStrike">
                <a:solidFill>
                  <a:srgbClr val="894DFF"/>
                </a:solidFill>
                <a:latin typeface="Arial"/>
                <a:ea typeface="Arial"/>
                <a:cs typeface="Arial"/>
                <a:sym typeface="Arial"/>
              </a:rPr>
              <a:t>Stage 1- Initial assessment(MCQ + Coding)- 271 Minutes (251 Minutes + 20 Minutes Break)+</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894DFF"/>
              </a:buClr>
              <a:buSzPts val="1100"/>
              <a:buFont typeface="Arial"/>
              <a:buNone/>
            </a:pPr>
            <a:r>
              <a:rPr b="1" i="0" lang="en" sz="1100" u="none" cap="none" strike="noStrike">
                <a:solidFill>
                  <a:srgbClr val="894DFF"/>
                </a:solidFill>
                <a:latin typeface="Arial"/>
                <a:ea typeface="Arial"/>
                <a:cs typeface="Arial"/>
                <a:sym typeface="Arial"/>
              </a:rPr>
              <a:t>Speech X (Speaking + Listening)- 45 mins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To be conducted in campus – invigilation by college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Includes topics-</a:t>
            </a:r>
            <a:endParaRPr b="0" i="0" sz="1100" u="none" cap="none" strike="noStrike">
              <a:solidFill>
                <a:srgbClr val="000000"/>
              </a:solidFill>
              <a:latin typeface="Arial"/>
              <a:ea typeface="Arial"/>
              <a:cs typeface="Arial"/>
              <a:sym typeface="Arial"/>
            </a:endParaRPr>
          </a:p>
        </p:txBody>
      </p:sp>
      <p:graphicFrame>
        <p:nvGraphicFramePr>
          <p:cNvPr id="663" name="Google Shape;663;p17"/>
          <p:cNvGraphicFramePr/>
          <p:nvPr/>
        </p:nvGraphicFramePr>
        <p:xfrm>
          <a:off x="3702467" y="1784551"/>
          <a:ext cx="3000000" cy="3000000"/>
        </p:xfrm>
        <a:graphic>
          <a:graphicData uri="http://schemas.openxmlformats.org/drawingml/2006/table">
            <a:tbl>
              <a:tblPr>
                <a:noFill/>
                <a:tableStyleId>{B8DA7938-C4DD-4422-957C-2B2A7D6E2E49}</a:tableStyleId>
              </a:tblPr>
              <a:tblGrid>
                <a:gridCol w="1897925"/>
                <a:gridCol w="1974975"/>
              </a:tblGrid>
              <a:tr h="137150">
                <a:tc>
                  <a:txBody>
                    <a:bodyPr/>
                    <a:lstStyle/>
                    <a:p>
                      <a:pPr indent="0" lvl="0" marL="50800" marR="0" rtl="0" algn="l">
                        <a:lnSpc>
                          <a:spcPct val="100000"/>
                        </a:lnSpc>
                        <a:spcBef>
                          <a:spcPts val="0"/>
                        </a:spcBef>
                        <a:spcAft>
                          <a:spcPts val="0"/>
                        </a:spcAft>
                        <a:buClr>
                          <a:srgbClr val="000000"/>
                        </a:buClr>
                        <a:buSzPts val="800"/>
                        <a:buFont typeface="Arial"/>
                        <a:buNone/>
                      </a:pPr>
                      <a:r>
                        <a:rPr b="1" lang="en" sz="800" u="none" cap="none" strike="noStrike"/>
                        <a:t>Analytical Ability and Problem Solving</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rgbClr val="000000"/>
                        </a:buClr>
                        <a:buSzPts val="800"/>
                        <a:buFont typeface="Arial"/>
                        <a:buNone/>
                      </a:pPr>
                      <a:r>
                        <a:rPr b="1" lang="en" sz="800" u="none" cap="none" strike="noStrike"/>
                        <a:t>Technical Skills</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r h="137150">
                <a:tc>
                  <a:txBody>
                    <a:bodyPr/>
                    <a:lstStyle/>
                    <a:p>
                      <a:pPr indent="0" lvl="0" marL="50800" marR="0" rtl="0" algn="l">
                        <a:lnSpc>
                          <a:spcPct val="100000"/>
                        </a:lnSpc>
                        <a:spcBef>
                          <a:spcPts val="0"/>
                        </a:spcBef>
                        <a:spcAft>
                          <a:spcPts val="0"/>
                        </a:spcAft>
                        <a:buClr>
                          <a:srgbClr val="000000"/>
                        </a:buClr>
                        <a:buSzPts val="800"/>
                        <a:buFont typeface="Arial"/>
                        <a:buNone/>
                      </a:pPr>
                      <a:r>
                        <a:rPr b="1" lang="en" sz="800" u="none" cap="none" strike="noStrike"/>
                        <a:t>Numerical Ability</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rgbClr val="000000"/>
                        </a:buClr>
                        <a:buSzPts val="800"/>
                        <a:buFont typeface="Arial"/>
                        <a:buNone/>
                      </a:pPr>
                      <a:r>
                        <a:rPr lang="en" sz="800" u="none" cap="none" strike="noStrike"/>
                        <a:t>Data Structures</a:t>
                      </a:r>
                      <a:endParaRPr b="0" i="0" sz="800" u="none" cap="none" strike="noStrike">
                        <a:solidFill>
                          <a:srgbClr val="000000"/>
                        </a:solidFill>
                        <a:latin typeface="Arial"/>
                        <a:ea typeface="Arial"/>
                        <a:cs typeface="Arial"/>
                        <a:sym typeface="Arial"/>
                      </a:endParaRPr>
                    </a:p>
                  </a:txBody>
                  <a:tcPr marT="0" marB="0" marR="0" marL="703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r h="137150">
                <a:tc>
                  <a:txBody>
                    <a:bodyPr/>
                    <a:lstStyle/>
                    <a:p>
                      <a:pPr indent="0" lvl="0" marL="50800" marR="0" rtl="0" algn="l">
                        <a:lnSpc>
                          <a:spcPct val="100000"/>
                        </a:lnSpc>
                        <a:spcBef>
                          <a:spcPts val="0"/>
                        </a:spcBef>
                        <a:spcAft>
                          <a:spcPts val="0"/>
                        </a:spcAft>
                        <a:buClr>
                          <a:srgbClr val="000000"/>
                        </a:buClr>
                        <a:buSzPts val="800"/>
                        <a:buFont typeface="Arial"/>
                        <a:buNone/>
                      </a:pPr>
                      <a:r>
                        <a:rPr b="1" lang="en" sz="800" u="none" cap="none" strike="noStrike"/>
                        <a:t>Grammar and Vocabulary</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rgbClr val="000000"/>
                        </a:buClr>
                        <a:buSzPts val="800"/>
                        <a:buFont typeface="Arial"/>
                        <a:buNone/>
                      </a:pPr>
                      <a:r>
                        <a:rPr lang="en" sz="800" u="none" cap="none" strike="noStrike"/>
                        <a:t>OOPS Concept</a:t>
                      </a:r>
                      <a:endParaRPr b="0" i="0" sz="800" u="none" cap="none" strike="noStrike">
                        <a:solidFill>
                          <a:srgbClr val="000000"/>
                        </a:solidFill>
                        <a:latin typeface="Arial"/>
                        <a:ea typeface="Arial"/>
                        <a:cs typeface="Arial"/>
                        <a:sym typeface="Arial"/>
                      </a:endParaRPr>
                    </a:p>
                  </a:txBody>
                  <a:tcPr marT="0" marB="0" marR="0" marL="703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r h="137150">
                <a:tc>
                  <a:txBody>
                    <a:bodyPr/>
                    <a:lstStyle/>
                    <a:p>
                      <a:pPr indent="0" lvl="0" marL="50800" marR="0" rtl="0" algn="l">
                        <a:lnSpc>
                          <a:spcPct val="100000"/>
                        </a:lnSpc>
                        <a:spcBef>
                          <a:spcPts val="0"/>
                        </a:spcBef>
                        <a:spcAft>
                          <a:spcPts val="0"/>
                        </a:spcAft>
                        <a:buClr>
                          <a:srgbClr val="000000"/>
                        </a:buClr>
                        <a:buSzPts val="800"/>
                        <a:buFont typeface="Arial"/>
                        <a:buNone/>
                      </a:pPr>
                      <a:r>
                        <a:rPr b="1" lang="en" sz="800" u="none" cap="none" strike="noStrike"/>
                        <a:t>Reading Comprehension</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rgbClr val="000000"/>
                        </a:buClr>
                        <a:buSzPts val="800"/>
                        <a:buFont typeface="Arial"/>
                        <a:buNone/>
                      </a:pPr>
                      <a:r>
                        <a:rPr lang="en" sz="800" u="none" cap="none" strike="noStrike"/>
                        <a:t>Operating System General concepts</a:t>
                      </a:r>
                      <a:endParaRPr b="0" i="0" sz="800" u="none" cap="none" strike="noStrike">
                        <a:solidFill>
                          <a:srgbClr val="000000"/>
                        </a:solidFill>
                        <a:latin typeface="Arial"/>
                        <a:ea typeface="Arial"/>
                        <a:cs typeface="Arial"/>
                        <a:sym typeface="Arial"/>
                      </a:endParaRPr>
                    </a:p>
                  </a:txBody>
                  <a:tcPr marT="0" marB="0" marR="0" marL="703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r h="137150">
                <a:tc>
                  <a:txBody>
                    <a:bodyPr/>
                    <a:lstStyle/>
                    <a:p>
                      <a:pPr indent="0" lvl="0" marL="50800" marR="0" rtl="0" algn="l">
                        <a:lnSpc>
                          <a:spcPct val="100000"/>
                        </a:lnSpc>
                        <a:spcBef>
                          <a:spcPts val="0"/>
                        </a:spcBef>
                        <a:spcAft>
                          <a:spcPts val="0"/>
                        </a:spcAft>
                        <a:buClr>
                          <a:srgbClr val="000000"/>
                        </a:buClr>
                        <a:buSzPts val="800"/>
                        <a:buFont typeface="Arial"/>
                        <a:buNone/>
                      </a:pPr>
                      <a:r>
                        <a:rPr b="1" lang="en" sz="800" u="none" cap="none" strike="noStrike"/>
                        <a:t>Writing Skills</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chemeClr val="dk1"/>
                        </a:buClr>
                        <a:buSzPts val="800"/>
                        <a:buFont typeface="Arial"/>
                        <a:buNone/>
                      </a:pPr>
                      <a:r>
                        <a:rPr lang="en" sz="800" u="none" cap="none" strike="noStrike"/>
                        <a:t>MySQL - Basics , MySQL – Joins</a:t>
                      </a:r>
                      <a:endParaRPr b="0" i="0" sz="800" u="none" cap="none" strike="noStrike">
                        <a:solidFill>
                          <a:srgbClr val="000000"/>
                        </a:solidFill>
                        <a:latin typeface="Arial"/>
                        <a:ea typeface="Arial"/>
                        <a:cs typeface="Arial"/>
                        <a:sym typeface="Arial"/>
                      </a:endParaRPr>
                    </a:p>
                  </a:txBody>
                  <a:tcPr marT="0" marB="0" marR="0" marL="703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r h="137150">
                <a:tc>
                  <a:txBody>
                    <a:bodyPr/>
                    <a:lstStyle/>
                    <a:p>
                      <a:pPr indent="0" lvl="0" marL="50800" marR="0" rtl="0" algn="l">
                        <a:lnSpc>
                          <a:spcPct val="100000"/>
                        </a:lnSpc>
                        <a:spcBef>
                          <a:spcPts val="0"/>
                        </a:spcBef>
                        <a:spcAft>
                          <a:spcPts val="0"/>
                        </a:spcAft>
                        <a:buClr>
                          <a:srgbClr val="000000"/>
                        </a:buClr>
                        <a:buSzPts val="800"/>
                        <a:buFont typeface="Arial"/>
                        <a:buNone/>
                      </a:pPr>
                      <a:r>
                        <a:rPr b="1" lang="en" sz="800" u="none" cap="none" strike="noStrike"/>
                        <a:t>Coding</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chemeClr val="dk1"/>
                        </a:buClr>
                        <a:buSzPts val="800"/>
                        <a:buFont typeface="Arial"/>
                        <a:buNone/>
                      </a:pPr>
                      <a:r>
                        <a:rPr lang="en" sz="800" u="none" cap="none" strike="noStrike"/>
                        <a:t>ANSI SQL, SQL – Joins</a:t>
                      </a:r>
                      <a:endParaRPr b="0" i="0" sz="800" u="none" cap="none" strike="noStrike">
                        <a:solidFill>
                          <a:srgbClr val="000000"/>
                        </a:solidFill>
                        <a:latin typeface="Arial"/>
                        <a:ea typeface="Arial"/>
                        <a:cs typeface="Arial"/>
                        <a:sym typeface="Arial"/>
                      </a:endParaRPr>
                    </a:p>
                  </a:txBody>
                  <a:tcPr marT="0" marB="0" marR="0" marL="703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r h="137150">
                <a:tc>
                  <a:txBody>
                    <a:bodyPr/>
                    <a:lstStyle/>
                    <a:p>
                      <a:pPr indent="0" lvl="0" marL="50800" marR="0" rtl="0" algn="l">
                        <a:lnSpc>
                          <a:spcPct val="100000"/>
                        </a:lnSpc>
                        <a:spcBef>
                          <a:spcPts val="0"/>
                        </a:spcBef>
                        <a:spcAft>
                          <a:spcPts val="0"/>
                        </a:spcAft>
                        <a:buClr>
                          <a:srgbClr val="000000"/>
                        </a:buClr>
                        <a:buSzPts val="800"/>
                        <a:buFont typeface="Arial"/>
                        <a:buNone/>
                      </a:pPr>
                      <a:r>
                        <a:rPr b="1" lang="en" sz="800" u="none" cap="none" strike="noStrike"/>
                        <a:t>Power coding</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rgbClr val="000000"/>
                        </a:buClr>
                        <a:buSzPts val="800"/>
                        <a:buFont typeface="Arial"/>
                        <a:buNone/>
                      </a:pPr>
                      <a:r>
                        <a:rPr lang="en" sz="800" u="none" cap="none" strike="noStrike"/>
                        <a:t>MySQL – Subqueries</a:t>
                      </a:r>
                      <a:endParaRPr b="0" i="0" sz="800" u="none" cap="none" strike="noStrike">
                        <a:solidFill>
                          <a:srgbClr val="000000"/>
                        </a:solidFill>
                        <a:latin typeface="Arial"/>
                        <a:ea typeface="Arial"/>
                        <a:cs typeface="Arial"/>
                        <a:sym typeface="Arial"/>
                      </a:endParaRPr>
                    </a:p>
                  </a:txBody>
                  <a:tcPr marT="0" marB="0" marR="0" marL="703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r h="137150">
                <a:tc>
                  <a:txBody>
                    <a:bodyPr/>
                    <a:lstStyle/>
                    <a:p>
                      <a:pPr indent="0" lvl="0" marL="5080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Arial"/>
                          <a:ea typeface="Arial"/>
                          <a:cs typeface="Arial"/>
                          <a:sym typeface="Arial"/>
                        </a:rPr>
                        <a:t>Pseudo Code - Basic Programming</a:t>
                      </a:r>
                      <a:endParaRPr sz="1100" u="none" cap="none" strike="noStrike"/>
                    </a:p>
                  </a:txBody>
                  <a:tcPr marT="0" marB="0" marR="0" marL="703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r h="137150">
                <a:tc>
                  <a:txBody>
                    <a:bodyPr/>
                    <a:lstStyle/>
                    <a:p>
                      <a:pPr indent="0" lvl="0" marL="5080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Arial"/>
                        <a:ea typeface="Arial"/>
                        <a:cs typeface="Arial"/>
                        <a:sym typeface="Arial"/>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c>
                  <a:txBody>
                    <a:bodyPr/>
                    <a:lstStyle/>
                    <a:p>
                      <a:pPr indent="0" lvl="0" marL="5080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Arial"/>
                          <a:ea typeface="Arial"/>
                          <a:cs typeface="Arial"/>
                          <a:sym typeface="Arial"/>
                        </a:rPr>
                        <a:t>Pseudocode - recursion</a:t>
                      </a:r>
                      <a:endParaRPr sz="1100" u="none" cap="none" strike="noStrike"/>
                    </a:p>
                  </a:txBody>
                  <a:tcPr marT="0" marB="0" marR="0" marL="703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DE8FF"/>
                    </a:solidFill>
                  </a:tcPr>
                </a:tc>
              </a:tr>
            </a:tbl>
          </a:graphicData>
        </a:graphic>
      </p:graphicFrame>
    </p:spTree>
  </p:cSld>
  <p:clrMapOvr>
    <a:masterClrMapping/>
  </p:clrMapOvr>
  <mc:AlternateContent>
    <mc:Choice Requires="p14">
      <p:transition spd="slow" p14:dur="2000">
        <p14:prism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Custom 5">
      <a:dk1>
        <a:srgbClr val="161B28"/>
      </a:dk1>
      <a:lt1>
        <a:srgbClr val="FFFFFF"/>
      </a:lt1>
      <a:dk2>
        <a:srgbClr val="5E2CFE"/>
      </a:dk2>
      <a:lt2>
        <a:srgbClr val="01F475"/>
      </a:lt2>
      <a:accent1>
        <a:srgbClr val="383599"/>
      </a:accent1>
      <a:accent2>
        <a:srgbClr val="1E2345"/>
      </a:accent2>
      <a:accent3>
        <a:srgbClr val="00434A"/>
      </a:accent3>
      <a:accent4>
        <a:srgbClr val="052C2A"/>
      </a:accent4>
      <a:accent5>
        <a:srgbClr val="C105B2"/>
      </a:accent5>
      <a:accent6>
        <a:srgbClr val="FB4049"/>
      </a:accent6>
      <a:hlink>
        <a:srgbClr val="5E2CFE"/>
      </a:hlink>
      <a:folHlink>
        <a:srgbClr val="5E2CF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